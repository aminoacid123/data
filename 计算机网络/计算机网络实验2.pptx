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9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54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46BCBF-B275-4D57-8BB4-685010B02CF5}" type="datetimeFigureOut">
              <a:rPr lang="zh-CN" altLang="en-US" smtClean="0"/>
              <a:t>2018/3/22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C88BB4-54D7-483A-8433-1AC71D7110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82586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一次性的</a:t>
            </a:r>
            <a:r>
              <a:rPr lang="en-US" altLang="zh-CN" dirty="0"/>
              <a:t>ping</a:t>
            </a:r>
            <a:r>
              <a:rPr lang="zh-CN" altLang="en-US" dirty="0"/>
              <a:t>，不需要持续发送或接受数据包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C88BB4-54D7-483A-8433-1AC71D71102E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23350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A2CAA-38A2-4177-B43E-4BA86BD0D5F8}" type="datetimeFigureOut">
              <a:rPr lang="zh-CN" altLang="en-US" smtClean="0"/>
              <a:t>2018/3/22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3A9FD-47FB-43FB-A30A-71FC0250845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A2CAA-38A2-4177-B43E-4BA86BD0D5F8}" type="datetimeFigureOut">
              <a:rPr lang="zh-CN" altLang="en-US" smtClean="0"/>
              <a:t>2018/3/22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3A9FD-47FB-43FB-A30A-71FC0250845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A2CAA-38A2-4177-B43E-4BA86BD0D5F8}" type="datetimeFigureOut">
              <a:rPr lang="zh-CN" altLang="en-US" smtClean="0"/>
              <a:t>2018/3/22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3A9FD-47FB-43FB-A30A-71FC0250845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A2CAA-38A2-4177-B43E-4BA86BD0D5F8}" type="datetimeFigureOut">
              <a:rPr lang="zh-CN" altLang="en-US" smtClean="0"/>
              <a:t>2018/3/22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3A9FD-47FB-43FB-A30A-71FC0250845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A2CAA-38A2-4177-B43E-4BA86BD0D5F8}" type="datetimeFigureOut">
              <a:rPr lang="zh-CN" altLang="en-US" smtClean="0"/>
              <a:t>2018/3/22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3A9FD-47FB-43FB-A30A-71FC0250845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A2CAA-38A2-4177-B43E-4BA86BD0D5F8}" type="datetimeFigureOut">
              <a:rPr lang="zh-CN" altLang="en-US" smtClean="0"/>
              <a:t>2018/3/22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3A9FD-47FB-43FB-A30A-71FC0250845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A2CAA-38A2-4177-B43E-4BA86BD0D5F8}" type="datetimeFigureOut">
              <a:rPr lang="zh-CN" altLang="en-US" smtClean="0"/>
              <a:t>2018/3/22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3A9FD-47FB-43FB-A30A-71FC0250845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A2CAA-38A2-4177-B43E-4BA86BD0D5F8}" type="datetimeFigureOut">
              <a:rPr lang="zh-CN" altLang="en-US" smtClean="0"/>
              <a:t>2018/3/22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3A9FD-47FB-43FB-A30A-71FC0250845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A2CAA-38A2-4177-B43E-4BA86BD0D5F8}" type="datetimeFigureOut">
              <a:rPr lang="zh-CN" altLang="en-US" smtClean="0"/>
              <a:t>2018/3/22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3A9FD-47FB-43FB-A30A-71FC0250845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A2CAA-38A2-4177-B43E-4BA86BD0D5F8}" type="datetimeFigureOut">
              <a:rPr lang="zh-CN" altLang="en-US" smtClean="0"/>
              <a:t>2018/3/22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3A9FD-47FB-43FB-A30A-71FC0250845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A2CAA-38A2-4177-B43E-4BA86BD0D5F8}" type="datetimeFigureOut">
              <a:rPr lang="zh-CN" altLang="en-US" smtClean="0"/>
              <a:t>2018/3/22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3A9FD-47FB-43FB-A30A-71FC0250845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BA2CAA-38A2-4177-B43E-4BA86BD0D5F8}" type="datetimeFigureOut">
              <a:rPr lang="zh-CN" altLang="en-US" smtClean="0"/>
              <a:t>2018/3/22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B3A9FD-47FB-43FB-A30A-71FC0250845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://csnet.nju.edu.cn/forum.php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3999" y="1122363"/>
            <a:ext cx="9144001" cy="2387600"/>
          </a:xfrm>
        </p:spPr>
        <p:txBody>
          <a:bodyPr>
            <a:normAutofit/>
          </a:bodyPr>
          <a:lstStyle/>
          <a:p>
            <a:r>
              <a:rPr lang="zh-CN" altLang="en-US" dirty="0"/>
              <a:t>实验</a:t>
            </a:r>
            <a:r>
              <a:rPr lang="en-US" altLang="zh-CN" dirty="0"/>
              <a:t>2</a:t>
            </a:r>
            <a:r>
              <a:rPr lang="zh-CN" altLang="en-US" dirty="0"/>
              <a:t>：</a:t>
            </a:r>
            <a:r>
              <a:rPr lang="en-US" altLang="zh-CN" dirty="0"/>
              <a:t>RAW SOCKET </a:t>
            </a:r>
            <a:r>
              <a:rPr lang="zh-CN" altLang="en-US" dirty="0"/>
              <a:t>编程与以太网帧分析基础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4315912"/>
            <a:ext cx="9144000" cy="1655762"/>
          </a:xfrm>
        </p:spPr>
        <p:txBody>
          <a:bodyPr/>
          <a:lstStyle/>
          <a:p>
            <a:r>
              <a:rPr lang="zh-CN" altLang="en-US" dirty="0"/>
              <a:t>何昕</a:t>
            </a:r>
            <a:endParaRPr lang="en-US" altLang="zh-CN" dirty="0"/>
          </a:p>
          <a:p>
            <a:r>
              <a:rPr lang="en-US" altLang="zh-CN" dirty="0"/>
              <a:t>2018.3.22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实验课日程表</a:t>
            </a:r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23628630"/>
              </p:ext>
            </p:extLst>
          </p:nvPr>
        </p:nvGraphicFramePr>
        <p:xfrm>
          <a:off x="845402" y="2687320"/>
          <a:ext cx="10508398" cy="14833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4004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566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512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实验课日期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实验任务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实验报告截至时间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2018-03-08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u="none" strike="noStrike" kern="1200" baseline="0" dirty="0"/>
                        <a:t>实验</a:t>
                      </a:r>
                      <a:r>
                        <a:rPr lang="en-US" altLang="zh-CN" sz="1800" u="none" strike="noStrike" kern="1200" baseline="0" dirty="0"/>
                        <a:t>1</a:t>
                      </a:r>
                      <a:r>
                        <a:rPr lang="zh-CN" altLang="en-US" sz="1800" u="none" strike="noStrike" kern="1200" baseline="0" dirty="0"/>
                        <a:t>  基本网络工具集使用和协议数据单元（</a:t>
                      </a:r>
                      <a:r>
                        <a:rPr lang="en-US" altLang="zh-CN" sz="1800" u="none" strike="noStrike" kern="1200" baseline="0" dirty="0"/>
                        <a:t>PDU</a:t>
                      </a:r>
                      <a:r>
                        <a:rPr lang="zh-CN" altLang="en-US" sz="1800" u="none" strike="noStrike" kern="1200" baseline="0" dirty="0"/>
                        <a:t>）观测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2018-03-21 23:59:59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2018-03-22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u="none" strike="noStrike" kern="1200" baseline="0" dirty="0">
                          <a:solidFill>
                            <a:srgbClr val="FF0000"/>
                          </a:solidFill>
                        </a:rPr>
                        <a:t>实验</a:t>
                      </a:r>
                      <a:r>
                        <a:rPr lang="en-US" altLang="zh-CN" sz="1800" u="none" strike="noStrike" kern="1200" baseline="0" dirty="0">
                          <a:solidFill>
                            <a:srgbClr val="FF0000"/>
                          </a:solidFill>
                        </a:rPr>
                        <a:t>2</a:t>
                      </a:r>
                      <a:r>
                        <a:rPr lang="zh-CN" altLang="en-US" sz="1800" u="none" strike="noStrike" kern="1200" baseline="0" dirty="0">
                          <a:solidFill>
                            <a:srgbClr val="FF0000"/>
                          </a:solidFill>
                        </a:rPr>
                        <a:t>  </a:t>
                      </a:r>
                      <a:r>
                        <a:rPr lang="en-US" altLang="zh-CN" sz="1800" u="none" strike="noStrike" kern="1200" baseline="0" dirty="0">
                          <a:solidFill>
                            <a:srgbClr val="FF0000"/>
                          </a:solidFill>
                        </a:rPr>
                        <a:t>RAW SOCKET </a:t>
                      </a:r>
                      <a:r>
                        <a:rPr lang="zh-CN" altLang="en-US" sz="1800" u="none" strike="noStrike" kern="1200" baseline="0" dirty="0">
                          <a:solidFill>
                            <a:srgbClr val="FF0000"/>
                          </a:solidFill>
                        </a:rPr>
                        <a:t>编程与以太网帧分析基础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2018-04-18 23:59:59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solidFill>
                            <a:srgbClr val="FF0000"/>
                          </a:solidFill>
                        </a:rPr>
                        <a:t>实验课日期仅供参考，以各班群公告为准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实验拓扑与虚拟机配置（同实验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6570" y="1616075"/>
            <a:ext cx="4754239" cy="4351338"/>
          </a:xfrm>
          <a:prstGeom prst="rect">
            <a:avLst/>
          </a:prstGeom>
        </p:spPr>
      </p:pic>
      <p:grpSp>
        <p:nvGrpSpPr>
          <p:cNvPr id="8" name="组合 7"/>
          <p:cNvGrpSpPr/>
          <p:nvPr/>
        </p:nvGrpSpPr>
        <p:grpSpPr>
          <a:xfrm>
            <a:off x="5646986" y="1816009"/>
            <a:ext cx="5048750" cy="4351338"/>
            <a:chOff x="5646986" y="1816009"/>
            <a:chExt cx="5048750" cy="4351338"/>
          </a:xfrm>
        </p:grpSpPr>
        <p:pic>
          <p:nvPicPr>
            <p:cNvPr id="5" name="内容占位符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646986" y="1816009"/>
              <a:ext cx="5048750" cy="4351338"/>
            </a:xfrm>
            <a:prstGeom prst="rect">
              <a:avLst/>
            </a:prstGeom>
          </p:spPr>
        </p:pic>
        <p:sp>
          <p:nvSpPr>
            <p:cNvPr id="6" name="圆角矩形 5"/>
            <p:cNvSpPr/>
            <p:nvPr/>
          </p:nvSpPr>
          <p:spPr>
            <a:xfrm>
              <a:off x="5741670" y="4880610"/>
              <a:ext cx="3360420" cy="937260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圆角矩形 6"/>
            <p:cNvSpPr/>
            <p:nvPr/>
          </p:nvSpPr>
          <p:spPr>
            <a:xfrm>
              <a:off x="5741670" y="2514600"/>
              <a:ext cx="1318260" cy="232410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Linux</a:t>
            </a:r>
            <a:r>
              <a:rPr lang="zh-CN" altLang="en-US"/>
              <a:t>配置示例（</a:t>
            </a:r>
            <a:r>
              <a:rPr lang="zh-CN" altLang="en-US" dirty="0"/>
              <a:t>同实验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838200" y="1645920"/>
            <a:ext cx="10515600" cy="5025389"/>
          </a:xfrm>
        </p:spPr>
        <p:txBody>
          <a:bodyPr>
            <a:normAutofit lnSpcReduction="10000"/>
          </a:bodyPr>
          <a:lstStyle/>
          <a:p>
            <a:r>
              <a:rPr lang="en-US" altLang="zh-CN" dirty="0"/>
              <a:t>PC</a:t>
            </a:r>
          </a:p>
          <a:p>
            <a:pPr lvl="1"/>
            <a:r>
              <a:rPr lang="en-US" altLang="zh-CN" dirty="0" err="1"/>
              <a:t>sudo</a:t>
            </a:r>
            <a:r>
              <a:rPr lang="en-US" altLang="zh-CN" dirty="0"/>
              <a:t> </a:t>
            </a:r>
            <a:r>
              <a:rPr lang="en-US" altLang="zh-CN" dirty="0" err="1"/>
              <a:t>su</a:t>
            </a:r>
            <a:endParaRPr lang="en-US" altLang="zh-CN" dirty="0"/>
          </a:p>
          <a:p>
            <a:pPr lvl="1"/>
            <a:r>
              <a:rPr lang="en-US" altLang="zh-CN" dirty="0"/>
              <a:t>service network-manager stop</a:t>
            </a:r>
          </a:p>
          <a:p>
            <a:pPr lvl="1"/>
            <a:r>
              <a:rPr lang="en-US" altLang="zh-CN" dirty="0" err="1"/>
              <a:t>ifconfig</a:t>
            </a:r>
            <a:r>
              <a:rPr lang="en-US" altLang="zh-CN" dirty="0"/>
              <a:t> eth0 192.168.x.2 </a:t>
            </a:r>
            <a:r>
              <a:rPr lang="en-US" altLang="zh-CN" dirty="0" err="1"/>
              <a:t>netmask</a:t>
            </a:r>
            <a:r>
              <a:rPr lang="en-US" altLang="zh-CN" dirty="0"/>
              <a:t> 255.255.255.0</a:t>
            </a:r>
          </a:p>
          <a:p>
            <a:pPr lvl="1"/>
            <a:r>
              <a:rPr lang="en-US" altLang="zh-CN" dirty="0"/>
              <a:t>route add default </a:t>
            </a:r>
            <a:r>
              <a:rPr lang="en-US" altLang="zh-CN" dirty="0" err="1"/>
              <a:t>gw</a:t>
            </a:r>
            <a:r>
              <a:rPr lang="en-US" altLang="zh-CN" dirty="0"/>
              <a:t> 192.168.x.1</a:t>
            </a:r>
          </a:p>
          <a:p>
            <a:r>
              <a:rPr lang="en-US" altLang="zh-CN" dirty="0"/>
              <a:t>Router</a:t>
            </a:r>
          </a:p>
          <a:p>
            <a:pPr lvl="1"/>
            <a:r>
              <a:rPr lang="en-US" altLang="zh-CN" dirty="0" err="1"/>
              <a:t>sudo</a:t>
            </a:r>
            <a:r>
              <a:rPr lang="en-US" altLang="zh-CN" dirty="0"/>
              <a:t> </a:t>
            </a:r>
            <a:r>
              <a:rPr lang="en-US" altLang="zh-CN" dirty="0" err="1"/>
              <a:t>su</a:t>
            </a:r>
            <a:endParaRPr lang="en-US" altLang="zh-CN" dirty="0"/>
          </a:p>
          <a:p>
            <a:pPr lvl="1"/>
            <a:r>
              <a:rPr lang="en-US" altLang="zh-CN" dirty="0"/>
              <a:t>service network-manager stop</a:t>
            </a:r>
          </a:p>
          <a:p>
            <a:pPr lvl="1"/>
            <a:r>
              <a:rPr lang="en-US" altLang="zh-CN" dirty="0" err="1"/>
              <a:t>ifconfig</a:t>
            </a:r>
            <a:r>
              <a:rPr lang="en-US" altLang="zh-CN" dirty="0"/>
              <a:t> eth0 192.168.x.1 </a:t>
            </a:r>
            <a:r>
              <a:rPr lang="en-US" altLang="zh-CN" dirty="0" err="1"/>
              <a:t>netmask</a:t>
            </a:r>
            <a:r>
              <a:rPr lang="en-US" altLang="zh-CN" dirty="0"/>
              <a:t> 255.255.255.0</a:t>
            </a:r>
          </a:p>
          <a:p>
            <a:pPr lvl="1"/>
            <a:r>
              <a:rPr lang="en-US" altLang="zh-CN" dirty="0" err="1"/>
              <a:t>ifconfig</a:t>
            </a:r>
            <a:r>
              <a:rPr lang="en-US" altLang="zh-CN" dirty="0"/>
              <a:t> eth1 192.168.y.1 </a:t>
            </a:r>
            <a:r>
              <a:rPr lang="en-US" altLang="zh-CN" dirty="0" err="1"/>
              <a:t>netmask</a:t>
            </a:r>
            <a:r>
              <a:rPr lang="en-US" altLang="zh-CN" dirty="0"/>
              <a:t> 255.255.255.0</a:t>
            </a:r>
          </a:p>
          <a:p>
            <a:pPr lvl="1"/>
            <a:r>
              <a:rPr lang="en-US" altLang="zh-CN" dirty="0" err="1"/>
              <a:t>ip</a:t>
            </a:r>
            <a:r>
              <a:rPr lang="en-US" altLang="zh-CN" dirty="0"/>
              <a:t> route add 192.168.x.0/24 via 192.168.x.1</a:t>
            </a:r>
          </a:p>
          <a:p>
            <a:pPr lvl="1"/>
            <a:r>
              <a:rPr lang="en-US" altLang="zh-CN" dirty="0" err="1"/>
              <a:t>ip</a:t>
            </a:r>
            <a:r>
              <a:rPr lang="en-US" altLang="zh-CN" dirty="0"/>
              <a:t> route add 192.168.y.0/24 via 192.168.y.1</a:t>
            </a:r>
          </a:p>
          <a:p>
            <a:pPr lvl="1"/>
            <a:r>
              <a:rPr lang="en-US" altLang="zh-CN" dirty="0"/>
              <a:t>echo 1 &gt; /</a:t>
            </a:r>
            <a:r>
              <a:rPr lang="en-US" altLang="zh-CN" dirty="0" err="1"/>
              <a:t>proc</a:t>
            </a:r>
            <a:r>
              <a:rPr lang="en-US" altLang="zh-CN" dirty="0"/>
              <a:t>/sys/net/ipv4/</a:t>
            </a:r>
            <a:r>
              <a:rPr lang="en-US" altLang="zh-CN" dirty="0" err="1"/>
              <a:t>ip_forward</a:t>
            </a:r>
            <a:endParaRPr lang="zh-CN" altLang="en-US" dirty="0"/>
          </a:p>
          <a:p>
            <a:pPr marL="457200" lvl="1" indent="0">
              <a:buNone/>
            </a:pPr>
            <a:endParaRPr lang="zh-CN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任务</a:t>
            </a:r>
            <a:r>
              <a:rPr lang="en-US" altLang="zh-CN" dirty="0"/>
              <a:t>1</a:t>
            </a:r>
            <a:r>
              <a:rPr lang="zh-CN" altLang="en-US" dirty="0"/>
              <a:t>：编写抓包程序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199" y="1606549"/>
            <a:ext cx="10822497" cy="5127626"/>
          </a:xfrm>
        </p:spPr>
        <p:txBody>
          <a:bodyPr>
            <a:normAutofit/>
          </a:bodyPr>
          <a:lstStyle/>
          <a:p>
            <a:r>
              <a:rPr lang="zh-CN" altLang="en-US" dirty="0"/>
              <a:t>任务要求</a:t>
            </a:r>
            <a:endParaRPr lang="en-US" altLang="zh-CN" dirty="0"/>
          </a:p>
          <a:p>
            <a:pPr lvl="1"/>
            <a:r>
              <a:rPr lang="zh-CN" altLang="en-US" dirty="0"/>
              <a:t>使用</a:t>
            </a:r>
            <a:r>
              <a:rPr lang="en-US" altLang="zh-CN" dirty="0"/>
              <a:t>RAW SOCKET</a:t>
            </a:r>
            <a:r>
              <a:rPr lang="zh-CN" altLang="en-US" dirty="0"/>
              <a:t>在链路层抓取数据包，并对上层协议进行简单分析，</a:t>
            </a:r>
            <a:r>
              <a:rPr lang="zh-CN" altLang="en-US" dirty="0">
                <a:solidFill>
                  <a:srgbClr val="FF0000"/>
                </a:solidFill>
              </a:rPr>
              <a:t>可参考实验教材</a:t>
            </a:r>
            <a:r>
              <a:rPr lang="en-US" altLang="zh-CN" dirty="0">
                <a:solidFill>
                  <a:srgbClr val="FF0000"/>
                </a:solidFill>
              </a:rPr>
              <a:t>22~23</a:t>
            </a:r>
            <a:r>
              <a:rPr lang="zh-CN" altLang="en-US" dirty="0">
                <a:solidFill>
                  <a:srgbClr val="FF0000"/>
                </a:solidFill>
              </a:rPr>
              <a:t>页抓包示例程序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zh-CN" altLang="en-US" dirty="0"/>
              <a:t>修改实验教材中的示例程序，使其支持</a:t>
            </a:r>
            <a:r>
              <a:rPr lang="en-US" altLang="zh-CN" dirty="0"/>
              <a:t>ARP</a:t>
            </a:r>
            <a:r>
              <a:rPr lang="zh-CN" altLang="en-US" dirty="0"/>
              <a:t>协议，</a:t>
            </a:r>
            <a:r>
              <a:rPr lang="zh-CN" altLang="en-US" dirty="0">
                <a:solidFill>
                  <a:srgbClr val="FF0000"/>
                </a:solidFill>
              </a:rPr>
              <a:t>可参考实验教材</a:t>
            </a:r>
            <a:r>
              <a:rPr lang="en-US" altLang="zh-CN" dirty="0">
                <a:solidFill>
                  <a:srgbClr val="FF0000"/>
                </a:solidFill>
              </a:rPr>
              <a:t>19-21</a:t>
            </a:r>
            <a:r>
              <a:rPr lang="zh-CN" altLang="en-US" dirty="0">
                <a:solidFill>
                  <a:srgbClr val="FF0000"/>
                </a:solidFill>
              </a:rPr>
              <a:t>页下方的以太网帧结构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/>
              <a:t>实验步骤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1. </a:t>
            </a:r>
            <a:r>
              <a:rPr lang="zh-CN" altLang="en-US" dirty="0"/>
              <a:t>搭建实验拓扑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2. </a:t>
            </a:r>
            <a:r>
              <a:rPr lang="zh-CN" altLang="en-US" dirty="0"/>
              <a:t>使用</a:t>
            </a:r>
            <a:r>
              <a:rPr lang="en-US" altLang="zh-CN" dirty="0">
                <a:solidFill>
                  <a:srgbClr val="FF0000"/>
                </a:solidFill>
              </a:rPr>
              <a:t>vim </a:t>
            </a:r>
            <a:r>
              <a:rPr lang="en-US" altLang="zh-CN" dirty="0" err="1">
                <a:solidFill>
                  <a:srgbClr val="FF0000"/>
                </a:solidFill>
              </a:rPr>
              <a:t>raw_socket.c</a:t>
            </a:r>
            <a:r>
              <a:rPr lang="zh-CN" altLang="en-US" dirty="0"/>
              <a:t>命令建立</a:t>
            </a:r>
            <a:r>
              <a:rPr lang="en-US" altLang="zh-CN" dirty="0"/>
              <a:t>C/C++</a:t>
            </a:r>
            <a:r>
              <a:rPr lang="zh-CN" altLang="en-US" dirty="0"/>
              <a:t>文件，编写相关代码</a:t>
            </a:r>
          </a:p>
          <a:p>
            <a:pPr marL="457200" lvl="1" indent="0">
              <a:buNone/>
            </a:pPr>
            <a:r>
              <a:rPr lang="en-US" altLang="zh-CN" dirty="0"/>
              <a:t>3. </a:t>
            </a:r>
            <a:r>
              <a:rPr lang="zh-CN" altLang="en-US" dirty="0"/>
              <a:t>编写完成，按</a:t>
            </a:r>
            <a:r>
              <a:rPr lang="en-US" altLang="zh-CN" dirty="0"/>
              <a:t>esc</a:t>
            </a:r>
            <a:r>
              <a:rPr lang="zh-CN" altLang="en-US" dirty="0"/>
              <a:t>退出编辑模式，使用</a:t>
            </a:r>
            <a:r>
              <a:rPr lang="zh-CN" altLang="en-US" dirty="0">
                <a:solidFill>
                  <a:srgbClr val="FF0000"/>
                </a:solidFill>
              </a:rPr>
              <a:t>：</a:t>
            </a:r>
            <a:r>
              <a:rPr lang="en-US" altLang="zh-CN" dirty="0">
                <a:solidFill>
                  <a:srgbClr val="FF0000"/>
                </a:solidFill>
              </a:rPr>
              <a:t>wq</a:t>
            </a:r>
            <a:r>
              <a:rPr lang="zh-CN" altLang="en-US" dirty="0"/>
              <a:t>退出并保存</a:t>
            </a:r>
            <a:r>
              <a:rPr lang="en-US" altLang="zh-CN" dirty="0" err="1"/>
              <a:t>raw_socket.c</a:t>
            </a:r>
            <a:r>
              <a:rPr lang="zh-CN" altLang="en-US" dirty="0"/>
              <a:t>文件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4. </a:t>
            </a:r>
            <a:r>
              <a:rPr lang="zh-CN" altLang="en-US" dirty="0"/>
              <a:t>使用 </a:t>
            </a:r>
            <a:r>
              <a:rPr lang="en-US" altLang="zh-CN" dirty="0" err="1">
                <a:solidFill>
                  <a:srgbClr val="FF0000"/>
                </a:solidFill>
              </a:rPr>
              <a:t>gcc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en-US" altLang="zh-CN" dirty="0" err="1">
                <a:solidFill>
                  <a:srgbClr val="FF0000"/>
                </a:solidFill>
              </a:rPr>
              <a:t>raw_socket.c</a:t>
            </a:r>
            <a:r>
              <a:rPr lang="en-US" altLang="zh-CN" dirty="0">
                <a:solidFill>
                  <a:srgbClr val="FF0000"/>
                </a:solidFill>
              </a:rPr>
              <a:t> -o </a:t>
            </a:r>
            <a:r>
              <a:rPr lang="en-US" altLang="zh-CN" dirty="0" err="1">
                <a:solidFill>
                  <a:srgbClr val="FF0000"/>
                </a:solidFill>
              </a:rPr>
              <a:t>raw_socket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zh-CN" altLang="en-US" dirty="0"/>
              <a:t>命令编译源代码为可执行文件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5. </a:t>
            </a:r>
            <a:r>
              <a:rPr lang="zh-CN" altLang="en-US" dirty="0">
                <a:solidFill>
                  <a:srgbClr val="FF0000"/>
                </a:solidFill>
              </a:rPr>
              <a:t>使用 </a:t>
            </a:r>
            <a:r>
              <a:rPr lang="en-US" altLang="zh-CN" dirty="0" err="1">
                <a:solidFill>
                  <a:srgbClr val="FF0000"/>
                </a:solidFill>
              </a:rPr>
              <a:t>sudo</a:t>
            </a:r>
            <a:r>
              <a:rPr lang="en-US" altLang="zh-CN" dirty="0">
                <a:solidFill>
                  <a:srgbClr val="FF0000"/>
                </a:solidFill>
              </a:rPr>
              <a:t> ./</a:t>
            </a:r>
            <a:r>
              <a:rPr lang="en-US" altLang="zh-CN" dirty="0" err="1">
                <a:solidFill>
                  <a:srgbClr val="FF0000"/>
                </a:solidFill>
              </a:rPr>
              <a:t>raw_socket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zh-CN" altLang="en-US" dirty="0"/>
              <a:t>命令执行程序，使主机间相互通信，观察程序输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    </a:t>
            </a:r>
            <a:r>
              <a:rPr lang="zh-CN" altLang="en-US" dirty="0"/>
              <a:t>出是否正确</a:t>
            </a:r>
            <a:r>
              <a:rPr lang="en-US" altLang="zh-CN" dirty="0"/>
              <a:t> </a:t>
            </a:r>
            <a:endParaRPr lang="zh-CN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任务</a:t>
            </a:r>
            <a:r>
              <a:rPr lang="en-US" altLang="zh-CN" dirty="0"/>
              <a:t>2</a:t>
            </a:r>
            <a:r>
              <a:rPr lang="zh-CN" altLang="en-US" dirty="0"/>
              <a:t>：编写</a:t>
            </a:r>
            <a:r>
              <a:rPr lang="en-US" altLang="zh-CN" dirty="0"/>
              <a:t>ping</a:t>
            </a:r>
            <a:r>
              <a:rPr lang="zh-CN" altLang="en-US" dirty="0"/>
              <a:t>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62608" y="1462405"/>
            <a:ext cx="11335406" cy="5741670"/>
          </a:xfrm>
        </p:spPr>
        <p:txBody>
          <a:bodyPr>
            <a:normAutofit/>
          </a:bodyPr>
          <a:lstStyle/>
          <a:p>
            <a:r>
              <a:rPr lang="zh-CN" altLang="en-US" dirty="0"/>
              <a:t>任务要求</a:t>
            </a:r>
            <a:endParaRPr lang="en-US" altLang="zh-CN" dirty="0"/>
          </a:p>
          <a:p>
            <a:pPr lvl="1"/>
            <a:r>
              <a:rPr lang="zh-CN" altLang="en-US" dirty="0"/>
              <a:t>使用</a:t>
            </a:r>
            <a:r>
              <a:rPr lang="en-US" altLang="zh-CN" dirty="0"/>
              <a:t>RAW SOCKET</a:t>
            </a:r>
            <a:r>
              <a:rPr lang="zh-CN" altLang="en-US" dirty="0"/>
              <a:t>编写</a:t>
            </a:r>
            <a:r>
              <a:rPr lang="en-US" altLang="zh-CN" dirty="0"/>
              <a:t>ping</a:t>
            </a:r>
            <a:r>
              <a:rPr lang="zh-CN" altLang="en-US" dirty="0"/>
              <a:t>程序。请阅读实验教材第</a:t>
            </a:r>
            <a:r>
              <a:rPr lang="en-US" altLang="zh-CN" dirty="0"/>
              <a:t>24</a:t>
            </a:r>
            <a:r>
              <a:rPr lang="zh-CN" altLang="en-US" dirty="0"/>
              <a:t>页补充内容，使用 </a:t>
            </a:r>
            <a:r>
              <a:rPr lang="en-US" altLang="zh-CN" b="1" dirty="0">
                <a:solidFill>
                  <a:srgbClr val="FF0000"/>
                </a:solidFill>
              </a:rPr>
              <a:t>socket(AF_INET, SOCKET_RAW, IPPTOTO_ICMP) </a:t>
            </a:r>
            <a:r>
              <a:rPr lang="zh-CN" altLang="en-US" dirty="0"/>
              <a:t>创建</a:t>
            </a:r>
            <a:r>
              <a:rPr lang="en-US" altLang="zh-CN" dirty="0"/>
              <a:t>RAW SOCKET</a:t>
            </a:r>
            <a:r>
              <a:rPr lang="zh-CN" altLang="en-US" dirty="0"/>
              <a:t>，并查阅</a:t>
            </a:r>
            <a:r>
              <a:rPr lang="zh-CN" altLang="en-US" dirty="0">
                <a:solidFill>
                  <a:srgbClr val="FF0000"/>
                </a:solidFill>
              </a:rPr>
              <a:t>相关资料（实验教材</a:t>
            </a:r>
            <a:r>
              <a:rPr lang="en-US" altLang="zh-CN" dirty="0">
                <a:solidFill>
                  <a:srgbClr val="FF0000"/>
                </a:solidFill>
              </a:rPr>
              <a:t>2.0</a:t>
            </a:r>
            <a:r>
              <a:rPr lang="zh-CN" altLang="en-US" dirty="0">
                <a:solidFill>
                  <a:srgbClr val="FF0000"/>
                </a:solidFill>
              </a:rPr>
              <a:t>或</a:t>
            </a:r>
            <a:r>
              <a:rPr lang="en-US" altLang="zh-CN" dirty="0">
                <a:solidFill>
                  <a:srgbClr val="FF0000"/>
                </a:solidFill>
              </a:rPr>
              <a:t>2.02</a:t>
            </a:r>
            <a:r>
              <a:rPr lang="zh-CN" altLang="en-US" dirty="0">
                <a:solidFill>
                  <a:srgbClr val="FF0000"/>
                </a:solidFill>
              </a:rPr>
              <a:t>版附录</a:t>
            </a:r>
            <a:r>
              <a:rPr lang="en-US" altLang="zh-CN" dirty="0">
                <a:solidFill>
                  <a:srgbClr val="FF0000"/>
                </a:solidFill>
              </a:rPr>
              <a:t>2</a:t>
            </a:r>
            <a:r>
              <a:rPr lang="zh-CN" altLang="en-US" dirty="0">
                <a:solidFill>
                  <a:srgbClr val="FF0000"/>
                </a:solidFill>
              </a:rPr>
              <a:t>）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/>
            <a:r>
              <a:rPr lang="zh-CN" altLang="en-US" dirty="0"/>
              <a:t>查阅</a:t>
            </a:r>
            <a:r>
              <a:rPr lang="en-US" altLang="zh-CN" dirty="0"/>
              <a:t>ICMP</a:t>
            </a:r>
            <a:r>
              <a:rPr lang="zh-CN" altLang="en-US" dirty="0"/>
              <a:t>协议的报文格式及</a:t>
            </a:r>
            <a:r>
              <a:rPr lang="en-US" altLang="zh-CN" dirty="0"/>
              <a:t>ping</a:t>
            </a:r>
            <a:r>
              <a:rPr lang="zh-CN" altLang="en-US" dirty="0"/>
              <a:t>命令的执行流程，构造</a:t>
            </a:r>
            <a:r>
              <a:rPr lang="en-US" altLang="zh-CN" dirty="0"/>
              <a:t>ping</a:t>
            </a:r>
            <a:r>
              <a:rPr lang="zh-CN" altLang="en-US" dirty="0"/>
              <a:t>命令使用的</a:t>
            </a:r>
            <a:r>
              <a:rPr lang="en-US" altLang="zh-CN" dirty="0"/>
              <a:t>ICMP</a:t>
            </a:r>
            <a:r>
              <a:rPr lang="zh-CN" altLang="en-US" dirty="0"/>
              <a:t>报文，发送</a:t>
            </a:r>
            <a:r>
              <a:rPr lang="en-US" altLang="zh-CN" dirty="0"/>
              <a:t>Echo Request</a:t>
            </a:r>
            <a:r>
              <a:rPr lang="zh-CN" altLang="en-US" dirty="0"/>
              <a:t>类型的</a:t>
            </a:r>
            <a:r>
              <a:rPr lang="en-US" altLang="zh-CN" dirty="0"/>
              <a:t>ICMP</a:t>
            </a:r>
            <a:r>
              <a:rPr lang="zh-CN" altLang="en-US" dirty="0"/>
              <a:t>数据包。</a:t>
            </a:r>
            <a:endParaRPr lang="en-US" altLang="zh-CN" dirty="0"/>
          </a:p>
          <a:p>
            <a:pPr lvl="1"/>
            <a:r>
              <a:rPr lang="zh-CN" altLang="en-US" dirty="0"/>
              <a:t>接收并解析</a:t>
            </a:r>
            <a:r>
              <a:rPr lang="en-US" altLang="zh-CN" dirty="0"/>
              <a:t>ICMP</a:t>
            </a:r>
            <a:r>
              <a:rPr lang="zh-CN" altLang="en-US" dirty="0"/>
              <a:t>数据包，找到</a:t>
            </a:r>
            <a:r>
              <a:rPr lang="en-US" altLang="zh-CN" dirty="0"/>
              <a:t>Echo Reply</a:t>
            </a:r>
            <a:r>
              <a:rPr lang="zh-CN" altLang="en-US" dirty="0"/>
              <a:t>类型的</a:t>
            </a:r>
            <a:r>
              <a:rPr lang="en-US" altLang="zh-CN" dirty="0"/>
              <a:t>ICMP</a:t>
            </a:r>
            <a:r>
              <a:rPr lang="zh-CN" altLang="en-US" dirty="0"/>
              <a:t>数据包，检查</a:t>
            </a:r>
            <a:r>
              <a:rPr lang="en-US" altLang="zh-CN" dirty="0"/>
              <a:t>IP</a:t>
            </a:r>
            <a:r>
              <a:rPr lang="zh-CN" altLang="en-US" dirty="0"/>
              <a:t>地址是否正确，计算“发送</a:t>
            </a:r>
            <a:r>
              <a:rPr lang="en-US" altLang="zh-CN" dirty="0"/>
              <a:t>-</a:t>
            </a:r>
            <a:r>
              <a:rPr lang="zh-CN" altLang="en-US" dirty="0"/>
              <a:t>接收”时间间隔。</a:t>
            </a:r>
            <a:r>
              <a:rPr lang="zh-CN" altLang="en-US" dirty="0">
                <a:sym typeface="+mn-ea"/>
              </a:rPr>
              <a:t>将源</a:t>
            </a:r>
            <a:r>
              <a:rPr lang="en-US" altLang="zh-CN" dirty="0">
                <a:sym typeface="+mn-ea"/>
              </a:rPr>
              <a:t>IP</a:t>
            </a:r>
            <a:r>
              <a:rPr lang="zh-CN" altLang="en-US" dirty="0">
                <a:sym typeface="+mn-ea"/>
              </a:rPr>
              <a:t>，</a:t>
            </a:r>
            <a:r>
              <a:rPr lang="zh-CN" altLang="en-US" dirty="0"/>
              <a:t>目的</a:t>
            </a:r>
            <a:r>
              <a:rPr lang="en-US" altLang="zh-CN" dirty="0"/>
              <a:t>IP</a:t>
            </a:r>
            <a:r>
              <a:rPr lang="zh-CN" altLang="en-US" dirty="0"/>
              <a:t>与其时间间隔输出至屏幕。</a:t>
            </a:r>
          </a:p>
          <a:p>
            <a:pPr lvl="1"/>
            <a:endParaRPr lang="en-US" altLang="zh-CN" dirty="0"/>
          </a:p>
          <a:p>
            <a:r>
              <a:rPr lang="zh-CN" altLang="en-US" dirty="0"/>
              <a:t>实验步骤</a:t>
            </a:r>
            <a:endParaRPr lang="en-US" altLang="zh-CN" dirty="0"/>
          </a:p>
          <a:p>
            <a:pPr lvl="1"/>
            <a:r>
              <a:rPr lang="en-US" altLang="zh-CN" dirty="0"/>
              <a:t>1. </a:t>
            </a:r>
            <a:r>
              <a:rPr lang="zh-CN" altLang="en-US" dirty="0"/>
              <a:t>搭建实验拓扑</a:t>
            </a:r>
            <a:endParaRPr lang="en-US" altLang="zh-CN" dirty="0"/>
          </a:p>
          <a:p>
            <a:pPr lvl="1"/>
            <a:r>
              <a:rPr lang="en-US" altLang="zh-CN" dirty="0"/>
              <a:t>2. </a:t>
            </a:r>
            <a:r>
              <a:rPr lang="zh-CN" altLang="en-US" dirty="0"/>
              <a:t>使用</a:t>
            </a:r>
            <a:r>
              <a:rPr lang="en-US" altLang="zh-CN" dirty="0"/>
              <a:t>C/C++</a:t>
            </a:r>
            <a:r>
              <a:rPr lang="zh-CN" altLang="en-US" dirty="0"/>
              <a:t>语言编写相关代码，保存为</a:t>
            </a:r>
            <a:r>
              <a:rPr lang="en-US" altLang="zh-CN" dirty="0" err="1">
                <a:solidFill>
                  <a:srgbClr val="FF0000"/>
                </a:solidFill>
              </a:rPr>
              <a:t>raw_socket_ping.c</a:t>
            </a:r>
            <a:r>
              <a:rPr lang="zh-CN" altLang="en-US" dirty="0"/>
              <a:t>文件</a:t>
            </a:r>
            <a:endParaRPr lang="en-US" altLang="zh-CN" dirty="0"/>
          </a:p>
          <a:p>
            <a:pPr lvl="1"/>
            <a:r>
              <a:rPr lang="en-US" altLang="zh-CN" dirty="0"/>
              <a:t>3. </a:t>
            </a:r>
            <a:r>
              <a:rPr lang="zh-CN" altLang="en-US" dirty="0"/>
              <a:t>编译并运行，检查结果是否正确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7215" y="4588510"/>
            <a:ext cx="6966585" cy="10210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实验验收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1. </a:t>
            </a:r>
            <a:r>
              <a:rPr lang="zh-CN" altLang="en-US" dirty="0"/>
              <a:t>两个程序执行正确</a:t>
            </a:r>
            <a:endParaRPr lang="en-US" altLang="zh-CN" dirty="0"/>
          </a:p>
          <a:p>
            <a:r>
              <a:rPr lang="en-US" altLang="zh-CN" dirty="0"/>
              <a:t>2. </a:t>
            </a:r>
            <a:r>
              <a:rPr lang="zh-CN" altLang="en-US" dirty="0"/>
              <a:t>问题回答正确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作业提交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本次实验需要提交</a:t>
            </a:r>
            <a:r>
              <a:rPr lang="zh-CN" altLang="en-US" dirty="0">
                <a:solidFill>
                  <a:srgbClr val="FF0000"/>
                </a:solidFill>
              </a:rPr>
              <a:t>实验报告</a:t>
            </a:r>
            <a:r>
              <a:rPr lang="zh-CN" altLang="en-US" dirty="0"/>
              <a:t>与</a:t>
            </a:r>
            <a:r>
              <a:rPr lang="zh-CN" altLang="en-US" dirty="0">
                <a:solidFill>
                  <a:srgbClr val="FF0000"/>
                </a:solidFill>
              </a:rPr>
              <a:t>程序源码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zh-CN" altLang="en-US" dirty="0"/>
              <a:t>实验报告内容请参考实验教材</a:t>
            </a:r>
            <a:r>
              <a:rPr lang="en-US" altLang="zh-CN" dirty="0"/>
              <a:t>16~17</a:t>
            </a:r>
            <a:r>
              <a:rPr lang="zh-CN" altLang="en-US" dirty="0"/>
              <a:t>页</a:t>
            </a:r>
            <a:endParaRPr lang="en-US" altLang="zh-CN" dirty="0"/>
          </a:p>
          <a:p>
            <a:pPr lvl="1"/>
            <a:r>
              <a:rPr lang="zh-CN" altLang="en-US" dirty="0"/>
              <a:t>程序源码关键部分请给出注释</a:t>
            </a:r>
            <a:endParaRPr lang="en-US" altLang="zh-CN" dirty="0"/>
          </a:p>
          <a:p>
            <a:r>
              <a:rPr lang="zh-CN" altLang="en-US" dirty="0"/>
              <a:t>实验课作业提交论坛及邮箱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>
                <a:hlinkClick r:id="rId2"/>
              </a:rPr>
              <a:t>http://csnet.nju.edu.cn/forum.php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njunet18s@163.com</a:t>
            </a:r>
          </a:p>
          <a:p>
            <a:r>
              <a:rPr lang="zh-CN" altLang="en-US" dirty="0"/>
              <a:t>截止时间</a:t>
            </a:r>
            <a:endParaRPr lang="en-US" altLang="zh-CN" dirty="0"/>
          </a:p>
          <a:p>
            <a:pPr lvl="1"/>
            <a:r>
              <a:rPr lang="en-US" altLang="zh-CN" dirty="0">
                <a:solidFill>
                  <a:srgbClr val="FF0000"/>
                </a:solidFill>
              </a:rPr>
              <a:t>2018-04-18 23:59:59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作业提交名单（邮箱）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E07221B3-C913-4A24-A4C0-CFD68578CE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9327598"/>
              </p:ext>
            </p:extLst>
          </p:nvPr>
        </p:nvGraphicFramePr>
        <p:xfrm>
          <a:off x="601851" y="1608275"/>
          <a:ext cx="10515604" cy="3904759"/>
        </p:xfrm>
        <a:graphic>
          <a:graphicData uri="http://schemas.openxmlformats.org/drawingml/2006/table">
            <a:tbl>
              <a:tblPr bandRow="1">
                <a:tableStyleId>{7DF18680-E054-41AD-8BC1-D1AEF772440D}</a:tableStyleId>
              </a:tblPr>
              <a:tblGrid>
                <a:gridCol w="955964">
                  <a:extLst>
                    <a:ext uri="{9D8B030D-6E8A-4147-A177-3AD203B41FA5}">
                      <a16:colId xmlns:a16="http://schemas.microsoft.com/office/drawing/2014/main" val="2373738073"/>
                    </a:ext>
                  </a:extLst>
                </a:gridCol>
                <a:gridCol w="955964">
                  <a:extLst>
                    <a:ext uri="{9D8B030D-6E8A-4147-A177-3AD203B41FA5}">
                      <a16:colId xmlns:a16="http://schemas.microsoft.com/office/drawing/2014/main" val="3804768391"/>
                    </a:ext>
                  </a:extLst>
                </a:gridCol>
                <a:gridCol w="955964">
                  <a:extLst>
                    <a:ext uri="{9D8B030D-6E8A-4147-A177-3AD203B41FA5}">
                      <a16:colId xmlns:a16="http://schemas.microsoft.com/office/drawing/2014/main" val="4195256172"/>
                    </a:ext>
                  </a:extLst>
                </a:gridCol>
                <a:gridCol w="955964">
                  <a:extLst>
                    <a:ext uri="{9D8B030D-6E8A-4147-A177-3AD203B41FA5}">
                      <a16:colId xmlns:a16="http://schemas.microsoft.com/office/drawing/2014/main" val="2230798890"/>
                    </a:ext>
                  </a:extLst>
                </a:gridCol>
                <a:gridCol w="955964">
                  <a:extLst>
                    <a:ext uri="{9D8B030D-6E8A-4147-A177-3AD203B41FA5}">
                      <a16:colId xmlns:a16="http://schemas.microsoft.com/office/drawing/2014/main" val="1515048201"/>
                    </a:ext>
                  </a:extLst>
                </a:gridCol>
                <a:gridCol w="955964">
                  <a:extLst>
                    <a:ext uri="{9D8B030D-6E8A-4147-A177-3AD203B41FA5}">
                      <a16:colId xmlns:a16="http://schemas.microsoft.com/office/drawing/2014/main" val="521885978"/>
                    </a:ext>
                  </a:extLst>
                </a:gridCol>
                <a:gridCol w="955964">
                  <a:extLst>
                    <a:ext uri="{9D8B030D-6E8A-4147-A177-3AD203B41FA5}">
                      <a16:colId xmlns:a16="http://schemas.microsoft.com/office/drawing/2014/main" val="2480928111"/>
                    </a:ext>
                  </a:extLst>
                </a:gridCol>
                <a:gridCol w="955964">
                  <a:extLst>
                    <a:ext uri="{9D8B030D-6E8A-4147-A177-3AD203B41FA5}">
                      <a16:colId xmlns:a16="http://schemas.microsoft.com/office/drawing/2014/main" val="587572315"/>
                    </a:ext>
                  </a:extLst>
                </a:gridCol>
                <a:gridCol w="955964">
                  <a:extLst>
                    <a:ext uri="{9D8B030D-6E8A-4147-A177-3AD203B41FA5}">
                      <a16:colId xmlns:a16="http://schemas.microsoft.com/office/drawing/2014/main" val="3601874109"/>
                    </a:ext>
                  </a:extLst>
                </a:gridCol>
                <a:gridCol w="955964">
                  <a:extLst>
                    <a:ext uri="{9D8B030D-6E8A-4147-A177-3AD203B41FA5}">
                      <a16:colId xmlns:a16="http://schemas.microsoft.com/office/drawing/2014/main" val="3439290947"/>
                    </a:ext>
                  </a:extLst>
                </a:gridCol>
                <a:gridCol w="955964">
                  <a:extLst>
                    <a:ext uri="{9D8B030D-6E8A-4147-A177-3AD203B41FA5}">
                      <a16:colId xmlns:a16="http://schemas.microsoft.com/office/drawing/2014/main" val="2387653522"/>
                    </a:ext>
                  </a:extLst>
                </a:gridCol>
              </a:tblGrid>
              <a:tr h="643679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刘宇涛</a:t>
                      </a:r>
                      <a:endParaRPr lang="zh-CN" altLang="en-US" b="1" dirty="0">
                        <a:solidFill>
                          <a:sysClr val="windowText" lastClr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i="0" kern="1200" dirty="0">
                          <a:solidFill>
                            <a:schemeClr val="dk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贠晓鹏</a:t>
                      </a:r>
                      <a:endParaRPr lang="zh-CN" altLang="en-US" b="1" dirty="0">
                        <a:solidFill>
                          <a:sysClr val="windowText" lastClr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i="0" kern="1200" dirty="0">
                          <a:solidFill>
                            <a:schemeClr val="dk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周科 </a:t>
                      </a:r>
                      <a:endParaRPr lang="zh-CN" altLang="en-US" b="1" dirty="0">
                        <a:solidFill>
                          <a:sysClr val="windowText" lastClr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i="0" kern="1200" dirty="0">
                          <a:solidFill>
                            <a:schemeClr val="dk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曹越</a:t>
                      </a:r>
                      <a:endParaRPr lang="zh-CN" altLang="en-US" b="1" dirty="0">
                        <a:solidFill>
                          <a:sysClr val="windowText" lastClr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i="0" kern="1200" dirty="0">
                          <a:solidFill>
                            <a:schemeClr val="dk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杨丽鹤</a:t>
                      </a:r>
                      <a:endParaRPr lang="zh-CN" altLang="en-US" b="1" dirty="0">
                        <a:solidFill>
                          <a:sysClr val="windowText" lastClr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i="0" kern="1200" dirty="0">
                          <a:solidFill>
                            <a:schemeClr val="dk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朱寅</a:t>
                      </a:r>
                      <a:endParaRPr lang="zh-CN" altLang="en-US" b="1" dirty="0">
                        <a:solidFill>
                          <a:sysClr val="windowText" lastClr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i="0" kern="1200" dirty="0">
                          <a:solidFill>
                            <a:schemeClr val="dk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张谨玉</a:t>
                      </a:r>
                      <a:endParaRPr lang="zh-CN" altLang="en-US" b="1" dirty="0">
                        <a:solidFill>
                          <a:sysClr val="windowText" lastClr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i="0" kern="1200" dirty="0">
                          <a:solidFill>
                            <a:schemeClr val="dk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刁含顺</a:t>
                      </a:r>
                      <a:endParaRPr lang="zh-CN" altLang="en-US" b="1" dirty="0">
                        <a:solidFill>
                          <a:sysClr val="windowText" lastClr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i="0" kern="1200" dirty="0">
                          <a:solidFill>
                            <a:schemeClr val="dk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谢子尧</a:t>
                      </a:r>
                      <a:endParaRPr lang="zh-CN" altLang="en-US" b="1" dirty="0">
                        <a:solidFill>
                          <a:sysClr val="windowText" lastClr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i="0" kern="1200" dirty="0">
                          <a:solidFill>
                            <a:schemeClr val="dk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杨明</a:t>
                      </a:r>
                      <a:endParaRPr lang="zh-CN" altLang="en-US" b="1" dirty="0">
                        <a:solidFill>
                          <a:sysClr val="windowText" lastClr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i="0" kern="1200" dirty="0">
                          <a:solidFill>
                            <a:schemeClr val="dk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高慧涵</a:t>
                      </a:r>
                      <a:endParaRPr lang="zh-CN" altLang="en-US" b="1" dirty="0">
                        <a:solidFill>
                          <a:sysClr val="windowText" lastClr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5989863"/>
                  </a:ext>
                </a:extLst>
              </a:tr>
              <a:tr h="64367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i="0" kern="1200" dirty="0">
                          <a:solidFill>
                            <a:schemeClr val="dk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韩传兵</a:t>
                      </a:r>
                      <a:endParaRPr lang="zh-CN" altLang="en-US" b="1" dirty="0">
                        <a:solidFill>
                          <a:sysClr val="windowText" lastClr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i="0" kern="1200" dirty="0">
                          <a:solidFill>
                            <a:schemeClr val="dk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施霄航</a:t>
                      </a:r>
                      <a:endParaRPr lang="zh-CN" altLang="en-US" b="1" dirty="0">
                        <a:solidFill>
                          <a:sysClr val="windowText" lastClr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i="0" kern="1200" dirty="0">
                          <a:solidFill>
                            <a:schemeClr val="dk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葛瑞崟</a:t>
                      </a:r>
                      <a:endParaRPr lang="zh-CN" altLang="en-US" b="1" dirty="0">
                        <a:solidFill>
                          <a:sysClr val="windowText" lastClr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i="0" kern="1200" dirty="0">
                          <a:solidFill>
                            <a:schemeClr val="dk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贾聪</a:t>
                      </a:r>
                      <a:endParaRPr lang="zh-CN" altLang="en-US" b="1" dirty="0">
                        <a:solidFill>
                          <a:sysClr val="windowText" lastClr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i="0" kern="1200" dirty="0">
                          <a:solidFill>
                            <a:schemeClr val="dk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刘泽超</a:t>
                      </a:r>
                      <a:endParaRPr lang="zh-CN" altLang="en-US" b="1" dirty="0">
                        <a:solidFill>
                          <a:sysClr val="windowText" lastClr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i="0" kern="1200" dirty="0">
                          <a:solidFill>
                            <a:schemeClr val="dk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郑元昊</a:t>
                      </a:r>
                      <a:endParaRPr lang="zh-CN" altLang="en-US" b="1" dirty="0">
                        <a:solidFill>
                          <a:sysClr val="windowText" lastClr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i="0" kern="1200" dirty="0">
                          <a:solidFill>
                            <a:schemeClr val="dk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郭效玮</a:t>
                      </a:r>
                      <a:endParaRPr lang="zh-CN" altLang="en-US" b="1" dirty="0">
                        <a:solidFill>
                          <a:sysClr val="windowText" lastClr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i="0" kern="1200" dirty="0">
                          <a:solidFill>
                            <a:schemeClr val="dk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崔容皓</a:t>
                      </a:r>
                      <a:endParaRPr lang="zh-CN" altLang="en-US" b="1" dirty="0">
                        <a:solidFill>
                          <a:sysClr val="windowText" lastClr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i="0" kern="1200" dirty="0">
                          <a:solidFill>
                            <a:schemeClr val="dk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梁瀚中</a:t>
                      </a:r>
                      <a:endParaRPr lang="zh-CN" altLang="en-US" b="1" dirty="0">
                        <a:solidFill>
                          <a:sysClr val="windowText" lastClr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i="0" kern="1200" dirty="0">
                          <a:solidFill>
                            <a:schemeClr val="dk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孟华</a:t>
                      </a:r>
                      <a:endParaRPr lang="zh-CN" altLang="en-US" b="1" dirty="0">
                        <a:solidFill>
                          <a:sysClr val="windowText" lastClr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i="0" kern="1200" dirty="0">
                          <a:solidFill>
                            <a:schemeClr val="dk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朱峰熠</a:t>
                      </a:r>
                      <a:endParaRPr lang="zh-CN" altLang="en-US" b="1" dirty="0">
                        <a:solidFill>
                          <a:sysClr val="windowText" lastClr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5233567"/>
                  </a:ext>
                </a:extLst>
              </a:tr>
              <a:tr h="64367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i="0" kern="1200" dirty="0">
                          <a:solidFill>
                            <a:schemeClr val="dk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江嘉晉</a:t>
                      </a:r>
                      <a:endParaRPr lang="zh-CN" altLang="en-US" b="1" dirty="0">
                        <a:solidFill>
                          <a:sysClr val="windowText" lastClr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i="0" kern="1200" dirty="0">
                          <a:solidFill>
                            <a:schemeClr val="dk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孙楚涛</a:t>
                      </a:r>
                      <a:endParaRPr lang="zh-CN" altLang="en-US" b="1" dirty="0">
                        <a:solidFill>
                          <a:sysClr val="windowText" lastClr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i="0" kern="1200" dirty="0">
                          <a:solidFill>
                            <a:schemeClr val="dk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高精成</a:t>
                      </a:r>
                      <a:endParaRPr lang="zh-CN" altLang="en-US" b="1" dirty="0">
                        <a:solidFill>
                          <a:sysClr val="windowText" lastClr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i="0" kern="1200" dirty="0">
                          <a:solidFill>
                            <a:schemeClr val="dk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顾海阳</a:t>
                      </a:r>
                      <a:endParaRPr lang="zh-CN" altLang="en-US" b="1" dirty="0">
                        <a:solidFill>
                          <a:sysClr val="windowText" lastClr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i="0" kern="1200" dirty="0">
                          <a:solidFill>
                            <a:schemeClr val="dk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施雨杰</a:t>
                      </a:r>
                      <a:endParaRPr lang="zh-CN" altLang="en-US" b="1" dirty="0">
                        <a:solidFill>
                          <a:sysClr val="windowText" lastClr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i="0" kern="1200" dirty="0">
                          <a:solidFill>
                            <a:schemeClr val="dk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吴雨昕</a:t>
                      </a:r>
                      <a:endParaRPr lang="zh-CN" altLang="en-US" b="1" dirty="0">
                        <a:solidFill>
                          <a:sysClr val="windowText" lastClr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i="0" kern="1200" dirty="0">
                          <a:solidFill>
                            <a:schemeClr val="dk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姚金兵</a:t>
                      </a:r>
                      <a:endParaRPr lang="zh-CN" altLang="en-US" b="1" dirty="0">
                        <a:solidFill>
                          <a:sysClr val="windowText" lastClr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i="0" kern="1200" dirty="0">
                          <a:solidFill>
                            <a:schemeClr val="dk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汤思怡</a:t>
                      </a:r>
                      <a:endParaRPr lang="zh-CN" altLang="en-US" b="1" dirty="0">
                        <a:solidFill>
                          <a:sysClr val="windowText" lastClr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i="0" kern="1200" dirty="0">
                          <a:solidFill>
                            <a:schemeClr val="dk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刘琰</a:t>
                      </a:r>
                      <a:endParaRPr lang="zh-CN" altLang="en-US" b="1" dirty="0">
                        <a:solidFill>
                          <a:sysClr val="windowText" lastClr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i="0" kern="1200" dirty="0">
                          <a:solidFill>
                            <a:schemeClr val="dk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魏煜昂</a:t>
                      </a:r>
                      <a:endParaRPr lang="zh-CN" altLang="en-US" b="1" dirty="0">
                        <a:solidFill>
                          <a:sysClr val="windowText" lastClr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i="0" kern="1200" dirty="0">
                          <a:solidFill>
                            <a:schemeClr val="dk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丁一凡</a:t>
                      </a:r>
                      <a:endParaRPr lang="zh-CN" altLang="en-US" b="1" dirty="0">
                        <a:solidFill>
                          <a:sysClr val="windowText" lastClr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0318710"/>
                  </a:ext>
                </a:extLst>
              </a:tr>
              <a:tr h="64367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i="0" kern="1200" dirty="0">
                          <a:solidFill>
                            <a:schemeClr val="dk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吴刚</a:t>
                      </a:r>
                      <a:endParaRPr lang="zh-CN" altLang="en-US" b="1" dirty="0">
                        <a:solidFill>
                          <a:sysClr val="windowText" lastClr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i="0" kern="1200" dirty="0">
                          <a:solidFill>
                            <a:schemeClr val="dk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王奕琛</a:t>
                      </a:r>
                      <a:endParaRPr lang="zh-CN" altLang="en-US" b="1" dirty="0">
                        <a:solidFill>
                          <a:sysClr val="windowText" lastClr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i="0" kern="1200" dirty="0">
                          <a:solidFill>
                            <a:schemeClr val="dk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何峰彬</a:t>
                      </a:r>
                      <a:endParaRPr lang="zh-CN" altLang="en-US" b="1" dirty="0">
                        <a:solidFill>
                          <a:sysClr val="windowText" lastClr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i="0" kern="1200" dirty="0">
                          <a:solidFill>
                            <a:schemeClr val="dk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向扬帆</a:t>
                      </a:r>
                      <a:endParaRPr lang="zh-CN" altLang="en-US" b="1" dirty="0">
                        <a:solidFill>
                          <a:sysClr val="windowText" lastClr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i="0" kern="1200" dirty="0">
                          <a:solidFill>
                            <a:schemeClr val="dk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陈楚阳</a:t>
                      </a:r>
                      <a:endParaRPr lang="zh-CN" altLang="en-US" b="1" dirty="0">
                        <a:solidFill>
                          <a:sysClr val="windowText" lastClr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i="0" kern="1200" dirty="0">
                          <a:solidFill>
                            <a:schemeClr val="dk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朱向荣</a:t>
                      </a:r>
                      <a:endParaRPr lang="zh-CN" altLang="en-US" b="1" dirty="0">
                        <a:solidFill>
                          <a:sysClr val="windowText" lastClr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i="0" kern="1200" dirty="0">
                          <a:solidFill>
                            <a:schemeClr val="dk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成浩月</a:t>
                      </a:r>
                      <a:endParaRPr lang="zh-CN" altLang="en-US" b="1" dirty="0">
                        <a:solidFill>
                          <a:sysClr val="windowText" lastClr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i="0" kern="1200" dirty="0">
                          <a:solidFill>
                            <a:schemeClr val="dk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李宸玮</a:t>
                      </a:r>
                      <a:endParaRPr lang="zh-CN" altLang="en-US" b="1" dirty="0">
                        <a:solidFill>
                          <a:sysClr val="windowText" lastClr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i="0" kern="1200" dirty="0">
                          <a:solidFill>
                            <a:schemeClr val="dk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杨志凡</a:t>
                      </a:r>
                      <a:endParaRPr lang="zh-CN" altLang="en-US" b="1" dirty="0">
                        <a:solidFill>
                          <a:sysClr val="windowText" lastClr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i="0" kern="1200" dirty="0">
                          <a:solidFill>
                            <a:schemeClr val="dk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李冰心</a:t>
                      </a:r>
                      <a:endParaRPr lang="zh-CN" altLang="en-US" b="1" dirty="0">
                        <a:solidFill>
                          <a:sysClr val="windowText" lastClr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i="0" kern="1200" dirty="0">
                          <a:solidFill>
                            <a:schemeClr val="dk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邓钱</a:t>
                      </a:r>
                      <a:endParaRPr lang="zh-CN" altLang="en-US" b="1" dirty="0">
                        <a:solidFill>
                          <a:sysClr val="windowText" lastClr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2857854"/>
                  </a:ext>
                </a:extLst>
              </a:tr>
              <a:tr h="68636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i="0" kern="1200" dirty="0">
                          <a:solidFill>
                            <a:schemeClr val="dk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吴御洲</a:t>
                      </a:r>
                      <a:endParaRPr lang="zh-CN" altLang="en-US" b="1" dirty="0">
                        <a:solidFill>
                          <a:sysClr val="windowText" lastClr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i="0" kern="1200" dirty="0">
                          <a:solidFill>
                            <a:schemeClr val="dk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李秋霖</a:t>
                      </a:r>
                      <a:endParaRPr lang="zh-CN" altLang="en-US" b="1" dirty="0">
                        <a:solidFill>
                          <a:sysClr val="windowText" lastClr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i="0" kern="1200" dirty="0">
                          <a:solidFill>
                            <a:schemeClr val="dk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李高岩</a:t>
                      </a:r>
                      <a:endParaRPr lang="zh-CN" altLang="en-US" b="1" dirty="0">
                        <a:solidFill>
                          <a:sysClr val="windowText" lastClr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i="0" kern="1200" dirty="0">
                          <a:solidFill>
                            <a:schemeClr val="dk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李颖</a:t>
                      </a:r>
                      <a:endParaRPr lang="zh-CN" altLang="en-US" b="1" dirty="0">
                        <a:solidFill>
                          <a:sysClr val="windowText" lastClr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i="0" kern="1200" dirty="0">
                          <a:solidFill>
                            <a:schemeClr val="dk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赵伟凡</a:t>
                      </a:r>
                      <a:endParaRPr lang="zh-CN" altLang="en-US" b="1" dirty="0">
                        <a:solidFill>
                          <a:sysClr val="windowText" lastClr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i="0" kern="1200" dirty="0">
                          <a:solidFill>
                            <a:schemeClr val="dk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陈蔓青</a:t>
                      </a:r>
                      <a:endParaRPr lang="zh-CN" altLang="en-US" b="1" dirty="0">
                        <a:solidFill>
                          <a:sysClr val="windowText" lastClr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i="0" kern="1200" dirty="0">
                          <a:solidFill>
                            <a:schemeClr val="dk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方睿阳</a:t>
                      </a:r>
                      <a:endParaRPr lang="zh-CN" altLang="en-US" b="1" dirty="0">
                        <a:solidFill>
                          <a:sysClr val="windowText" lastClr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solidFill>
                            <a:sysClr val="windowText" lastClr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张弛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i="0" kern="1200" dirty="0">
                          <a:solidFill>
                            <a:schemeClr val="dk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王荆涛</a:t>
                      </a:r>
                      <a:endParaRPr lang="zh-CN" altLang="en-US" b="1" dirty="0">
                        <a:solidFill>
                          <a:sysClr val="windowText" lastClr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solidFill>
                            <a:sysClr val="windowText" lastClr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吴昊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i="0" kern="1200" dirty="0">
                          <a:solidFill>
                            <a:schemeClr val="dk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方鹏</a:t>
                      </a:r>
                      <a:endParaRPr lang="zh-CN" altLang="en-US" b="1" dirty="0">
                        <a:solidFill>
                          <a:sysClr val="windowText" lastClr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algn="ctr"/>
                      <a:endParaRPr lang="zh-CN" altLang="en-US" b="1" dirty="0">
                        <a:solidFill>
                          <a:sysClr val="windowText" lastClr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1027278"/>
                  </a:ext>
                </a:extLst>
              </a:tr>
              <a:tr h="64367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i="0" kern="1200" dirty="0">
                          <a:solidFill>
                            <a:schemeClr val="dk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祁特</a:t>
                      </a:r>
                      <a:endParaRPr lang="zh-CN" altLang="en-US" b="1" dirty="0">
                        <a:solidFill>
                          <a:sysClr val="windowText" lastClr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i="0" kern="1200" dirty="0">
                          <a:solidFill>
                            <a:schemeClr val="dk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戴佳平</a:t>
                      </a:r>
                      <a:endParaRPr lang="zh-CN" altLang="en-US" b="1" dirty="0">
                        <a:solidFill>
                          <a:sysClr val="windowText" lastClr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i="0" kern="1200" dirty="0">
                          <a:solidFill>
                            <a:schemeClr val="dk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周梓康</a:t>
                      </a:r>
                      <a:endParaRPr lang="zh-CN" altLang="en-US" b="1" dirty="0">
                        <a:solidFill>
                          <a:sysClr val="windowText" lastClr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solidFill>
                            <a:sysClr val="windowText" lastClr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陈昕元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i="0" kern="1200" dirty="0">
                          <a:solidFill>
                            <a:schemeClr val="dk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丁黄陈</a:t>
                      </a:r>
                      <a:endParaRPr lang="zh-CN" altLang="en-US" b="1" dirty="0">
                        <a:solidFill>
                          <a:sysClr val="windowText" lastClr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i="0" kern="1200" dirty="0">
                          <a:solidFill>
                            <a:schemeClr val="dk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阮伟琦</a:t>
                      </a:r>
                      <a:endParaRPr lang="zh-CN" altLang="en-US" b="1" dirty="0">
                        <a:solidFill>
                          <a:sysClr val="windowText" lastClr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i="0" kern="1200" dirty="0">
                          <a:solidFill>
                            <a:schemeClr val="dk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周宇航</a:t>
                      </a:r>
                      <a:endParaRPr lang="zh-CN" altLang="en-US" b="1" dirty="0">
                        <a:solidFill>
                          <a:sysClr val="windowText" lastClr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i="0" kern="1200" dirty="0">
                          <a:solidFill>
                            <a:schemeClr val="dk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田广财</a:t>
                      </a:r>
                      <a:endParaRPr lang="zh-CN" altLang="en-US" b="1" dirty="0">
                        <a:solidFill>
                          <a:sysClr val="windowText" lastClr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i="0" kern="1200" dirty="0">
                          <a:solidFill>
                            <a:schemeClr val="dk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郑元昊</a:t>
                      </a:r>
                      <a:endParaRPr lang="zh-CN" altLang="en-US" b="1" dirty="0">
                        <a:solidFill>
                          <a:sysClr val="windowText" lastClr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solidFill>
                            <a:sysClr val="windowText" lastClr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陈昕元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solidFill>
                            <a:sysClr val="windowText" lastClr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王荆涛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8812004"/>
                  </a:ext>
                </a:extLst>
              </a:tr>
            </a:tbl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2491B731-5C97-493A-AA5F-AC7F652F3641}"/>
              </a:ext>
            </a:extLst>
          </p:cNvPr>
          <p:cNvSpPr txBox="1"/>
          <p:nvPr/>
        </p:nvSpPr>
        <p:spPr>
          <a:xfrm>
            <a:off x="1498592" y="5784989"/>
            <a:ext cx="87221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/>
              <a:t>提交作业邮件主题：</a:t>
            </a:r>
            <a:r>
              <a:rPr lang="en-US" altLang="zh-CN" sz="4000" dirty="0" err="1"/>
              <a:t>lab</a:t>
            </a:r>
            <a:r>
              <a:rPr lang="en-US" altLang="zh-CN" sz="4000" dirty="0" err="1">
                <a:solidFill>
                  <a:srgbClr val="FF0000"/>
                </a:solidFill>
              </a:rPr>
              <a:t>X</a:t>
            </a:r>
            <a:r>
              <a:rPr lang="en-US" altLang="zh-CN" sz="4000" dirty="0"/>
              <a:t>_</a:t>
            </a:r>
            <a:r>
              <a:rPr lang="zh-CN" altLang="en-US" sz="4000" dirty="0">
                <a:solidFill>
                  <a:srgbClr val="FF0000"/>
                </a:solidFill>
              </a:rPr>
              <a:t>学号</a:t>
            </a:r>
            <a:r>
              <a:rPr lang="zh-CN" altLang="en-US" sz="4000" dirty="0"/>
              <a:t>（</a:t>
            </a:r>
            <a:r>
              <a:rPr lang="zh-CN" altLang="en-US" sz="4000" dirty="0">
                <a:solidFill>
                  <a:srgbClr val="FF0000"/>
                </a:solidFill>
              </a:rPr>
              <a:t>姓名</a:t>
            </a:r>
            <a:r>
              <a:rPr lang="zh-CN" altLang="en-US" sz="4000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16304277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726</Words>
  <Application>Microsoft Office PowerPoint</Application>
  <PresentationFormat>宽屏</PresentationFormat>
  <Paragraphs>132</Paragraphs>
  <Slides>9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4" baseType="lpstr">
      <vt:lpstr>等线</vt:lpstr>
      <vt:lpstr>等线 Light</vt:lpstr>
      <vt:lpstr>宋体</vt:lpstr>
      <vt:lpstr>Arial</vt:lpstr>
      <vt:lpstr>Office 主题​​</vt:lpstr>
      <vt:lpstr>实验2：RAW SOCKET 编程与以太网帧分析基础</vt:lpstr>
      <vt:lpstr>实验课日程表</vt:lpstr>
      <vt:lpstr>实验拓扑与虚拟机配置（同实验1）</vt:lpstr>
      <vt:lpstr>Linux配置示例（同实验1）</vt:lpstr>
      <vt:lpstr>任务1：编写抓包程序</vt:lpstr>
      <vt:lpstr>任务2：编写ping程序</vt:lpstr>
      <vt:lpstr>实验验收</vt:lpstr>
      <vt:lpstr>作业提交</vt:lpstr>
      <vt:lpstr>作业提交名单（邮箱）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dell</dc:creator>
  <cp:lastModifiedBy>hexinwyt@163.com</cp:lastModifiedBy>
  <cp:revision>124</cp:revision>
  <dcterms:created xsi:type="dcterms:W3CDTF">2017-09-19T10:37:00Z</dcterms:created>
  <dcterms:modified xsi:type="dcterms:W3CDTF">2018-03-22T05:49:33Z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2052-10.1.0.7224</vt:lpwstr>
  </property>
</Properties>
</file>