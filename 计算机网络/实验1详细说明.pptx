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4" r:id="rId7"/>
    <p:sldId id="268" r:id="rId8"/>
    <p:sldId id="261" r:id="rId9"/>
    <p:sldId id="256" r:id="rId10"/>
    <p:sldId id="262" r:id="rId11"/>
    <p:sldId id="265" r:id="rId12"/>
    <p:sldId id="267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1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7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73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97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04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64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19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0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971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26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98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E2FAB-2A96-4275-8B32-6F53DF0FFC0F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F961F-E322-4E7B-99DE-F390018F6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41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junet18s@163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P_address#IP_subnetworks" TargetMode="External"/><Relationship Id="rId2" Type="http://schemas.openxmlformats.org/officeDocument/2006/relationships/hyperlink" Target="https://en.wikipedia.org/wiki/IP_address#IPv4_addres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Gateway_(telecommunications)#Internet_gateway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r>
              <a:rPr lang="zh-CN" altLang="en-US" dirty="0"/>
              <a:t>要求（田臣老师班）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4"/>
            <a:ext cx="11138453" cy="480377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作业</a:t>
            </a:r>
            <a:endParaRPr lang="en-US" altLang="zh-CN" dirty="0"/>
          </a:p>
          <a:p>
            <a:pPr lvl="1"/>
            <a:r>
              <a:rPr lang="zh-CN" altLang="en-US" dirty="0" smtClean="0"/>
              <a:t>作业</a:t>
            </a:r>
            <a:r>
              <a:rPr lang="zh-CN" altLang="en-US" dirty="0" smtClean="0"/>
              <a:t>与截止日期在课程</a:t>
            </a:r>
            <a:r>
              <a:rPr lang="en-US" altLang="zh-CN" dirty="0" smtClean="0"/>
              <a:t>QQ</a:t>
            </a:r>
            <a:r>
              <a:rPr lang="zh-CN" altLang="en-US" dirty="0" smtClean="0"/>
              <a:t>群群公告公布</a:t>
            </a:r>
            <a:endParaRPr lang="en-US" altLang="zh-CN" dirty="0" smtClean="0"/>
          </a:p>
          <a:p>
            <a:pPr lvl="1"/>
            <a:r>
              <a:rPr lang="zh-CN" altLang="en-US" dirty="0"/>
              <a:t>需要</a:t>
            </a:r>
            <a:r>
              <a:rPr lang="zh-CN" altLang="en-US" dirty="0" smtClean="0"/>
              <a:t>提交纸质版，收发时间：实验课或答疑期间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作业对错不影响成绩，请尽力完成，并按时提交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作业</a:t>
            </a:r>
            <a:r>
              <a:rPr lang="zh-CN" altLang="en-US" dirty="0" smtClean="0"/>
              <a:t>占总成绩</a:t>
            </a:r>
            <a:r>
              <a:rPr lang="en-US" altLang="zh-CN" dirty="0" smtClean="0"/>
              <a:t>15</a:t>
            </a:r>
            <a:r>
              <a:rPr lang="en-US" altLang="zh-CN" dirty="0" smtClean="0"/>
              <a:t>%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9797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zh-CN" altLang="en-US" dirty="0" smtClean="0"/>
              <a:t>要求（田臣老师班）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8817" cy="4351338"/>
          </a:xfrm>
        </p:spPr>
        <p:txBody>
          <a:bodyPr/>
          <a:lstStyle/>
          <a:p>
            <a:r>
              <a:rPr lang="zh-CN" altLang="en-US" dirty="0" smtClean="0"/>
              <a:t>实验（共</a:t>
            </a:r>
            <a:r>
              <a:rPr lang="en-US" altLang="zh-CN" dirty="0" smtClean="0"/>
              <a:t>7</a:t>
            </a:r>
            <a:r>
              <a:rPr lang="zh-CN" altLang="en-US" dirty="0" smtClean="0"/>
              <a:t>次实验课，包含</a:t>
            </a:r>
            <a:r>
              <a:rPr lang="en-US" altLang="zh-CN" dirty="0" smtClean="0"/>
              <a:t>5~6</a:t>
            </a:r>
            <a:r>
              <a:rPr lang="zh-CN" altLang="en-US" dirty="0" smtClean="0"/>
              <a:t>个实验）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</a:t>
            </a:r>
            <a:r>
              <a:rPr lang="en-US" altLang="zh-CN" dirty="0" smtClean="0"/>
              <a:t>2~3</a:t>
            </a:r>
            <a:r>
              <a:rPr lang="zh-CN" altLang="en-US" dirty="0" smtClean="0"/>
              <a:t>个</a:t>
            </a:r>
            <a:r>
              <a:rPr lang="zh-CN" altLang="en-US" dirty="0" smtClean="0"/>
              <a:t>实验需要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编程，涉及</a:t>
            </a:r>
            <a:r>
              <a:rPr lang="en-US" altLang="zh-CN" dirty="0" smtClean="0"/>
              <a:t>socket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raw socket</a:t>
            </a:r>
            <a:r>
              <a:rPr lang="zh-CN" altLang="en-US" dirty="0" smtClean="0"/>
              <a:t>，请提前准备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所有实验需要由助教验收，并提交实验</a:t>
            </a:r>
            <a:r>
              <a:rPr lang="zh-CN" altLang="en-US" dirty="0" smtClean="0"/>
              <a:t>报告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实验</a:t>
            </a:r>
            <a:r>
              <a:rPr lang="zh-CN" altLang="en-US" dirty="0" smtClean="0"/>
              <a:t>占总成绩</a:t>
            </a:r>
            <a:r>
              <a:rPr lang="en-US" altLang="zh-CN" dirty="0" smtClean="0"/>
              <a:t>25%</a:t>
            </a:r>
            <a:r>
              <a:rPr lang="zh-CN" altLang="en-US" dirty="0" smtClean="0"/>
              <a:t>，每缺一次扣</a:t>
            </a:r>
            <a:r>
              <a:rPr lang="en-US" altLang="zh-CN" dirty="0"/>
              <a:t>5</a:t>
            </a:r>
            <a:r>
              <a:rPr lang="en-US" altLang="zh-CN" dirty="0" smtClean="0"/>
              <a:t>%</a:t>
            </a:r>
          </a:p>
          <a:p>
            <a:pPr lvl="1"/>
            <a:r>
              <a:rPr lang="zh-CN" altLang="en-US" dirty="0" smtClean="0"/>
              <a:t>实验验收时间：实验课或答疑期间</a:t>
            </a:r>
            <a:endParaRPr lang="en-US" altLang="zh-CN" dirty="0" smtClean="0"/>
          </a:p>
          <a:p>
            <a:pPr lvl="1"/>
            <a:r>
              <a:rPr lang="zh-CN" altLang="en-US" dirty="0"/>
              <a:t>实验报</a:t>
            </a:r>
            <a:r>
              <a:rPr lang="zh-CN" altLang="en-US" dirty="0" smtClean="0"/>
              <a:t>告提交邮箱：</a:t>
            </a:r>
            <a:r>
              <a:rPr lang="en-US" altLang="zh-CN" dirty="0" smtClean="0">
                <a:hlinkClick r:id="rId2"/>
              </a:rPr>
              <a:t>njunet18s@163.com</a:t>
            </a:r>
            <a:endParaRPr lang="en-US" altLang="zh-CN" dirty="0" smtClean="0"/>
          </a:p>
          <a:p>
            <a:pPr lvl="2"/>
            <a:r>
              <a:rPr lang="zh-CN" altLang="en-US" dirty="0"/>
              <a:t>标</a:t>
            </a:r>
            <a:r>
              <a:rPr lang="zh-CN" altLang="en-US" dirty="0" smtClean="0"/>
              <a:t>题：</a:t>
            </a:r>
            <a:r>
              <a:rPr lang="en-US" altLang="zh-CN" dirty="0" smtClean="0"/>
              <a:t>[</a:t>
            </a:r>
            <a:r>
              <a:rPr lang="zh-CN" altLang="en-US" dirty="0" smtClean="0"/>
              <a:t>第</a:t>
            </a:r>
            <a:r>
              <a:rPr lang="en-US" altLang="zh-CN" dirty="0" smtClean="0"/>
              <a:t>X</a:t>
            </a:r>
            <a:r>
              <a:rPr lang="zh-CN" altLang="en-US" dirty="0" smtClean="0"/>
              <a:t>次</a:t>
            </a:r>
            <a:r>
              <a:rPr lang="en-US" altLang="zh-CN" dirty="0" smtClean="0"/>
              <a:t>][</a:t>
            </a:r>
            <a:r>
              <a:rPr lang="zh-CN" altLang="en-US" dirty="0" smtClean="0"/>
              <a:t>学号</a:t>
            </a:r>
            <a:r>
              <a:rPr lang="en-US" altLang="zh-CN" dirty="0" smtClean="0"/>
              <a:t>][</a:t>
            </a:r>
            <a:r>
              <a:rPr lang="zh-CN" altLang="en-US" dirty="0" smtClean="0"/>
              <a:t>姓名</a:t>
            </a:r>
            <a:r>
              <a:rPr lang="en-US" altLang="zh-CN" dirty="0" smtClean="0"/>
              <a:t>]</a:t>
            </a:r>
          </a:p>
          <a:p>
            <a:pPr lvl="2"/>
            <a:r>
              <a:rPr lang="zh-CN" altLang="en-US" dirty="0" smtClean="0"/>
              <a:t>实验报告与源代码（如果有）存放至单一压缩包作为附件发送</a:t>
            </a:r>
            <a:endParaRPr lang="en-US" altLang="zh-CN" dirty="0" smtClean="0"/>
          </a:p>
          <a:p>
            <a:pPr lvl="1"/>
            <a:r>
              <a:rPr lang="zh-CN" altLang="en-US" dirty="0"/>
              <a:t>为</a:t>
            </a:r>
            <a:r>
              <a:rPr lang="zh-CN" altLang="en-US" dirty="0" smtClean="0"/>
              <a:t>了方便课下实验，实验课可以自备笔记本电脑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978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实验课日程表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742545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7695">
                  <a:extLst>
                    <a:ext uri="{9D8B030D-6E8A-4147-A177-3AD203B41FA5}">
                      <a16:colId xmlns:a16="http://schemas.microsoft.com/office/drawing/2014/main" val="1331680845"/>
                    </a:ext>
                  </a:extLst>
                </a:gridCol>
                <a:gridCol w="6356684">
                  <a:extLst>
                    <a:ext uri="{9D8B030D-6E8A-4147-A177-3AD203B41FA5}">
                      <a16:colId xmlns:a16="http://schemas.microsoft.com/office/drawing/2014/main" val="852608964"/>
                    </a:ext>
                  </a:extLst>
                </a:gridCol>
                <a:gridCol w="2751221">
                  <a:extLst>
                    <a:ext uri="{9D8B030D-6E8A-4147-A177-3AD203B41FA5}">
                      <a16:colId xmlns:a16="http://schemas.microsoft.com/office/drawing/2014/main" val="258001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实验课日期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实验报告截至时间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29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2018-03-08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baseline="0" dirty="0"/>
                        <a:t>实验</a:t>
                      </a:r>
                      <a:r>
                        <a:rPr lang="en-US" altLang="zh-CN" sz="1800" u="none" strike="noStrike" kern="1200" baseline="0" dirty="0"/>
                        <a:t>1</a:t>
                      </a:r>
                      <a:r>
                        <a:rPr lang="zh-CN" altLang="en-US" sz="1800" u="none" strike="noStrike" kern="1200" baseline="0" dirty="0"/>
                        <a:t>  基本网络工具集使用和</a:t>
                      </a:r>
                      <a:r>
                        <a:rPr lang="zh-CN" altLang="en-US" sz="1800" u="none" strike="noStrike" kern="1200" baseline="0" dirty="0" smtClean="0"/>
                        <a:t>协议数据单元观测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2018-03-25 </a:t>
                      </a:r>
                      <a:r>
                        <a:rPr lang="en-US" altLang="zh-CN" dirty="0"/>
                        <a:t>23:59:59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8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2018-03-22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实验</a:t>
                      </a:r>
                      <a:r>
                        <a:rPr lang="en-US" altLang="zh-CN" dirty="0" smtClean="0"/>
                        <a:t>2  RAW SOCKET</a:t>
                      </a:r>
                      <a:r>
                        <a:rPr lang="zh-CN" altLang="en-US" dirty="0" smtClean="0"/>
                        <a:t>编程与以太网帧分析基础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2018-04-08 23:59:59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7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2018-04-05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清明假期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2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2018-04-19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2018-05-06 23:59:59</a:t>
                      </a:r>
                      <a:endParaRPr lang="zh-CN" altLang="en-US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63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2018-05-03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2018-05-20 23:59:59</a:t>
                      </a:r>
                      <a:endParaRPr lang="zh-CN" altLang="en-US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9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2018-05-17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2018-06-03 23:59:59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0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2018-05-31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2018-06-17 23:59:59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8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2018-06-14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2018-06-24 </a:t>
                      </a:r>
                      <a:r>
                        <a:rPr lang="en-US" altLang="zh-CN" dirty="0" smtClean="0"/>
                        <a:t>23:59:59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648657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实验课日期仅供参考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，如有变动，以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群公告为准   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田臣老师班课程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QQ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群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：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724791341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379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72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推荐环境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Windows</a:t>
            </a:r>
            <a:r>
              <a:rPr lang="zh-CN" altLang="en-US" dirty="0" smtClean="0"/>
              <a:t>操作系统</a:t>
            </a:r>
            <a:r>
              <a:rPr lang="en-US" altLang="zh-CN" dirty="0" smtClean="0"/>
              <a:t>+VMware</a:t>
            </a:r>
            <a:r>
              <a:rPr lang="zh-CN" altLang="en-US" dirty="0" smtClean="0"/>
              <a:t>虚拟机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MacOS</a:t>
            </a:r>
            <a:r>
              <a:rPr lang="zh-CN" altLang="en-US" dirty="0" smtClean="0"/>
              <a:t>也可以完成绝大多数实验内容，配置稍有不同，请参考群文件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虚拟机内安装</a:t>
            </a:r>
            <a:r>
              <a:rPr lang="en-US" altLang="zh-CN" dirty="0"/>
              <a:t>Ubuntu </a:t>
            </a:r>
            <a:r>
              <a:rPr lang="en-US" altLang="zh-CN" dirty="0" smtClean="0"/>
              <a:t>9.04</a:t>
            </a:r>
            <a:r>
              <a:rPr lang="zh-CN" altLang="en-US" dirty="0" smtClean="0"/>
              <a:t>操作系统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可以使用已经配置好的虚拟机文件（群文件</a:t>
            </a:r>
            <a:r>
              <a:rPr lang="en-US" altLang="zh-CN" dirty="0" smtClean="0"/>
              <a:t>/</a:t>
            </a:r>
            <a:r>
              <a:rPr lang="zh-CN" altLang="en-US" dirty="0" smtClean="0"/>
              <a:t>网盘</a:t>
            </a:r>
            <a:r>
              <a:rPr lang="en-US" altLang="zh-CN" dirty="0" smtClean="0"/>
              <a:t>/</a:t>
            </a:r>
            <a:r>
              <a:rPr lang="zh-CN" altLang="en-US" dirty="0" smtClean="0"/>
              <a:t>实验室）</a:t>
            </a:r>
            <a:endParaRPr lang="en-US" altLang="zh-CN" dirty="0" smtClean="0"/>
          </a:p>
          <a:p>
            <a:pPr lvl="2"/>
            <a:r>
              <a:rPr lang="zh-CN" altLang="en-US" dirty="0"/>
              <a:t>不</a:t>
            </a:r>
            <a:r>
              <a:rPr lang="zh-CN" altLang="en-US" dirty="0" smtClean="0"/>
              <a:t>推荐</a:t>
            </a:r>
            <a:r>
              <a:rPr lang="en-US" altLang="zh-CN" dirty="0"/>
              <a:t>Ubuntu </a:t>
            </a:r>
            <a:r>
              <a:rPr lang="en-US" altLang="zh-CN" dirty="0" smtClean="0"/>
              <a:t>14.04/16.04</a:t>
            </a:r>
            <a:r>
              <a:rPr lang="zh-CN" altLang="en-US" dirty="0" smtClean="0"/>
              <a:t>，网络配置稍有不同，可能导致部分实验难度增大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相关问题建议在课程</a:t>
            </a:r>
            <a:r>
              <a:rPr lang="en-US" altLang="zh-CN" dirty="0" smtClean="0"/>
              <a:t>QQ</a:t>
            </a:r>
            <a:r>
              <a:rPr lang="zh-CN" altLang="en-US" dirty="0" smtClean="0"/>
              <a:t>群内讨论（可匿名）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你的问题其他同学可能也会遇到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2482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预备知识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请提前阅读实验课教材，相关概念可参考课本或维基百科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pPr lvl="1"/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en.wikipedia.org/wiki/IP_address#IPv4_addresses</a:t>
            </a:r>
            <a:endParaRPr lang="en-US" altLang="zh-CN" dirty="0" smtClean="0"/>
          </a:p>
          <a:p>
            <a:r>
              <a:rPr lang="zh-CN" altLang="en-US" dirty="0" smtClean="0"/>
              <a:t>子网</a:t>
            </a:r>
            <a:endParaRPr lang="en-US" altLang="zh-CN" dirty="0" smtClean="0"/>
          </a:p>
          <a:p>
            <a:pPr lvl="1"/>
            <a:r>
              <a:rPr lang="en-US" altLang="zh-CN" dirty="0">
                <a:hlinkClick r:id="rId3"/>
              </a:rPr>
              <a:t>https://</a:t>
            </a:r>
            <a:r>
              <a:rPr lang="en-US" altLang="zh-CN" dirty="0" smtClean="0">
                <a:hlinkClick r:id="rId3"/>
              </a:rPr>
              <a:t>en.wikipedia.org/wiki/IP_address#IP_subnetworks</a:t>
            </a:r>
            <a:endParaRPr lang="en-US" altLang="zh-CN" dirty="0" smtClean="0"/>
          </a:p>
          <a:p>
            <a:r>
              <a:rPr lang="zh-CN" altLang="en-US" dirty="0" smtClean="0"/>
              <a:t>网关</a:t>
            </a:r>
            <a:endParaRPr lang="en-US" altLang="zh-CN" dirty="0" smtClean="0"/>
          </a:p>
          <a:p>
            <a:pPr lvl="1"/>
            <a:r>
              <a:rPr lang="en-US" altLang="zh-CN" dirty="0">
                <a:hlinkClick r:id="rId4"/>
              </a:rPr>
              <a:t>https://en.wikipedia.org/wiki/Gateway_(telecommunications)#</a:t>
            </a:r>
            <a:r>
              <a:rPr lang="en-US" altLang="zh-CN" dirty="0" smtClean="0">
                <a:hlinkClick r:id="rId4"/>
              </a:rPr>
              <a:t>Internet_gateway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71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3115"/>
          </a:xfrm>
        </p:spPr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 smtClean="0"/>
              <a:t>地址：四</a:t>
            </a:r>
            <a:r>
              <a:rPr lang="zh-CN" altLang="en-US" dirty="0"/>
              <a:t>字节的地址，每个</a:t>
            </a:r>
            <a:r>
              <a:rPr lang="zh-CN" altLang="en-US" dirty="0" smtClean="0"/>
              <a:t>字节取值范围</a:t>
            </a:r>
            <a:r>
              <a:rPr lang="en-US" altLang="zh-CN" dirty="0" smtClean="0"/>
              <a:t>0~255</a:t>
            </a:r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192.168.105.1</a:t>
            </a:r>
          </a:p>
          <a:p>
            <a:pPr lvl="1"/>
            <a:r>
              <a:rPr lang="en-US" altLang="zh-CN" dirty="0"/>
              <a:t>IP</a:t>
            </a:r>
            <a:r>
              <a:rPr lang="zh-CN" altLang="en-US" dirty="0"/>
              <a:t>地址不是指计算机地址，而是指</a:t>
            </a:r>
            <a:r>
              <a:rPr lang="zh-CN" altLang="en-US" dirty="0">
                <a:solidFill>
                  <a:srgbClr val="FF0000"/>
                </a:solidFill>
              </a:rPr>
              <a:t>网卡</a:t>
            </a:r>
            <a:r>
              <a:rPr lang="zh-CN" altLang="en-US" dirty="0" smtClean="0">
                <a:solidFill>
                  <a:srgbClr val="FF0000"/>
                </a:solidFill>
              </a:rPr>
              <a:t>地址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 smtClean="0"/>
              <a:t>子网掩码：四字节数值，前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个比特全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，后</a:t>
            </a:r>
            <a:r>
              <a:rPr lang="en-US" altLang="zh-CN" dirty="0" smtClean="0"/>
              <a:t>(32-k)</a:t>
            </a:r>
            <a:r>
              <a:rPr lang="zh-CN" altLang="en-US" dirty="0" smtClean="0"/>
              <a:t>个比特全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 smtClean="0"/>
              <a:t>例如：</a:t>
            </a:r>
            <a:r>
              <a:rPr lang="en-US" altLang="zh-CN" dirty="0" smtClean="0"/>
              <a:t>255.255.48.0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11111111 11111111 11000000 00000000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子网</a:t>
            </a:r>
            <a:r>
              <a:rPr lang="zh-CN" altLang="en-US" dirty="0" smtClean="0"/>
              <a:t>号：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地址与子网掩码按位与运算的结果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11000000 10101000 01101001 00000001 &amp;  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192.168.105.1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/>
              <a:t>11111111 11111111 11000000 </a:t>
            </a:r>
            <a:r>
              <a:rPr lang="en-US" altLang="zh-CN" dirty="0" smtClean="0"/>
              <a:t>00000000 =  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255.255.48.0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/>
              <a:t>11000000 </a:t>
            </a:r>
            <a:r>
              <a:rPr lang="en-US" altLang="zh-CN" dirty="0" smtClean="0"/>
              <a:t>10101000 01000000 </a:t>
            </a:r>
            <a:r>
              <a:rPr lang="en-US" altLang="zh-CN" dirty="0"/>
              <a:t>00000000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192.168.64.0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子网：对于给定的子网掩码，如果两个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地址的子网号相同，那么两个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地址属于同一个子网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600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路由规则：不同子网中的两台主机通信</a:t>
            </a:r>
            <a:r>
              <a:rPr lang="zh-CN" altLang="en-US" dirty="0"/>
              <a:t>时</a:t>
            </a:r>
            <a:r>
              <a:rPr lang="zh-CN" altLang="en-US" dirty="0" smtClean="0"/>
              <a:t>，主机或路由器会</a:t>
            </a:r>
            <a:r>
              <a:rPr lang="zh-CN" altLang="en-US" dirty="0"/>
              <a:t>按照特定</a:t>
            </a:r>
            <a:r>
              <a:rPr lang="zh-CN" altLang="en-US" dirty="0" smtClean="0"/>
              <a:t>规则转发数据包 </a:t>
            </a:r>
            <a:r>
              <a:rPr lang="zh-CN" altLang="en-US" dirty="0"/>
              <a:t>，这些规则</a:t>
            </a:r>
            <a:r>
              <a:rPr lang="zh-CN" altLang="en-US" dirty="0" smtClean="0"/>
              <a:t>称为路由规则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注意：同一子网内的两台主机通信时，不需要路由规则帮助转发</a:t>
            </a:r>
            <a:endParaRPr lang="en-US" altLang="zh-CN" dirty="0" smtClean="0"/>
          </a:p>
          <a:p>
            <a:r>
              <a:rPr lang="zh-CN" altLang="en-US" dirty="0" smtClean="0"/>
              <a:t>网关：路由规则中，下一跳的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r>
              <a:rPr lang="zh-CN" altLang="en-US" dirty="0" smtClean="0"/>
              <a:t>默认网关：</a:t>
            </a:r>
            <a:r>
              <a:rPr lang="zh-CN" altLang="en-US" dirty="0"/>
              <a:t>路由规则中，</a:t>
            </a:r>
            <a:r>
              <a:rPr lang="zh-CN" altLang="en-US" dirty="0" smtClean="0"/>
              <a:t>默认</a:t>
            </a:r>
            <a:r>
              <a:rPr lang="zh-CN" altLang="en-US" dirty="0"/>
              <a:t>的下一跳的</a:t>
            </a:r>
            <a:r>
              <a:rPr lang="en-US" altLang="zh-CN" dirty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当路由规则中不包含 关于目的主机的转发规则 时，数据包将被转发至默认网关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61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常用网络命令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ifconfig</a:t>
            </a:r>
            <a:r>
              <a:rPr lang="zh-CN" altLang="en-US" dirty="0" smtClean="0"/>
              <a:t>：显示或配置网卡信息，执行后可看到类似上图的信息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网卡的本地名称：</a:t>
            </a:r>
            <a:r>
              <a:rPr lang="en-US" altLang="zh-CN" dirty="0" smtClean="0"/>
              <a:t>eth0</a:t>
            </a:r>
          </a:p>
          <a:p>
            <a:pPr lvl="1"/>
            <a:r>
              <a:rPr lang="en-US" altLang="zh-CN" dirty="0" err="1" smtClean="0"/>
              <a:t>ip</a:t>
            </a:r>
            <a:r>
              <a:rPr lang="zh-CN" altLang="en-US" dirty="0" smtClean="0"/>
              <a:t>地址：</a:t>
            </a:r>
            <a:r>
              <a:rPr lang="en-US" altLang="zh-CN" dirty="0" smtClean="0"/>
              <a:t>138.197.193.246</a:t>
            </a:r>
          </a:p>
          <a:p>
            <a:pPr lvl="1"/>
            <a:r>
              <a:rPr lang="zh-CN" altLang="en-US" dirty="0"/>
              <a:t>子网</a:t>
            </a:r>
            <a:r>
              <a:rPr lang="zh-CN" altLang="en-US" dirty="0" smtClean="0"/>
              <a:t>掩码：</a:t>
            </a:r>
            <a:r>
              <a:rPr lang="en-US" altLang="zh-CN" dirty="0" smtClean="0"/>
              <a:t>255.255.240.0</a:t>
            </a:r>
          </a:p>
          <a:p>
            <a:pPr lvl="1"/>
            <a:r>
              <a:rPr lang="zh-CN" altLang="en-US" dirty="0"/>
              <a:t>子网</a:t>
            </a:r>
            <a:r>
              <a:rPr lang="zh-CN" altLang="en-US" dirty="0" smtClean="0"/>
              <a:t>号：</a:t>
            </a:r>
            <a:r>
              <a:rPr lang="en-US" altLang="zh-CN" dirty="0" err="1" smtClean="0"/>
              <a:t>ip</a:t>
            </a:r>
            <a:r>
              <a:rPr lang="zh-CN" altLang="en-US" dirty="0" smtClean="0"/>
              <a:t>地址与子网掩码</a:t>
            </a:r>
            <a:r>
              <a:rPr lang="zh-CN" altLang="en-US" b="1" dirty="0" smtClean="0"/>
              <a:t>按位与</a:t>
            </a:r>
            <a:r>
              <a:rPr lang="zh-CN" altLang="en-US" dirty="0" smtClean="0"/>
              <a:t> </a:t>
            </a:r>
            <a:r>
              <a:rPr lang="en-US" altLang="zh-CN" dirty="0" smtClean="0"/>
              <a:t>138.197.192.0 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193&amp;240=192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ping</a:t>
            </a:r>
            <a:r>
              <a:rPr lang="zh-CN" altLang="en-US" dirty="0" smtClean="0"/>
              <a:t>：检查两台主机是否可以互相通信（即网络是否连通）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使用方法：</a:t>
            </a:r>
            <a:r>
              <a:rPr lang="en-US" altLang="zh-CN" dirty="0" smtClean="0"/>
              <a:t>ping </a:t>
            </a:r>
            <a:r>
              <a:rPr lang="zh-CN" altLang="en-US" dirty="0" smtClean="0"/>
              <a:t>对方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如果看到类似下图的信息，说明两台主机间的网络已经连通</a:t>
            </a:r>
            <a:endParaRPr lang="en-US" altLang="zh-CN" dirty="0" smtClean="0"/>
          </a:p>
          <a:p>
            <a:r>
              <a:rPr lang="zh-CN" altLang="en-US" dirty="0" smtClean="0"/>
              <a:t>其他命令详见实验课教材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C3383A-0CFE-4ECB-AC66-1721BCFD0C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8657" y="174951"/>
            <a:ext cx="5094749" cy="16135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0244" y="5541689"/>
            <a:ext cx="6033162" cy="87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3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37953" y="1122363"/>
            <a:ext cx="10916094" cy="2387600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实验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：基本</a:t>
            </a:r>
            <a:r>
              <a:rPr lang="zh-CN" altLang="en-US" sz="3600" dirty="0"/>
              <a:t>网络工具集使用和协议数据单元</a:t>
            </a:r>
            <a:r>
              <a:rPr lang="zh-CN" altLang="en-US" sz="3600" dirty="0" smtClean="0"/>
              <a:t>观测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2000" dirty="0" smtClean="0"/>
          </a:p>
          <a:p>
            <a:r>
              <a:rPr lang="zh-CN" altLang="en-US" sz="2000" dirty="0" smtClean="0"/>
              <a:t>田冰川 </a:t>
            </a:r>
            <a:r>
              <a:rPr lang="en-US" altLang="zh-CN" sz="2000" smtClean="0"/>
              <a:t>&amp; </a:t>
            </a:r>
            <a:r>
              <a:rPr lang="zh-CN" altLang="en-US" sz="2000" smtClean="0"/>
              <a:t>赵</a:t>
            </a:r>
            <a:r>
              <a:rPr lang="zh-CN" altLang="en-US" sz="2000" dirty="0" smtClean="0"/>
              <a:t>扬 </a:t>
            </a:r>
            <a:endParaRPr lang="en-US" altLang="zh-CN" sz="2000" dirty="0" smtClean="0"/>
          </a:p>
          <a:p>
            <a:r>
              <a:rPr lang="en-US" altLang="zh-CN" sz="2000" dirty="0" smtClean="0"/>
              <a:t>2018-03-08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6308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实验拓扑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8" y="1825624"/>
            <a:ext cx="5179021" cy="4736791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VMware</a:t>
            </a:r>
            <a:r>
              <a:rPr lang="zh-CN" altLang="en-US" dirty="0" smtClean="0"/>
              <a:t>搭建右图拓扑，使得两台主机可以相互通信</a:t>
            </a:r>
            <a:endParaRPr lang="en-US" altLang="zh-CN" dirty="0" smtClean="0"/>
          </a:p>
          <a:p>
            <a:r>
              <a:rPr lang="zh-CN" altLang="en-US" dirty="0" smtClean="0"/>
              <a:t>交换机</a:t>
            </a:r>
            <a:endParaRPr lang="en-US" altLang="zh-CN" dirty="0" smtClean="0"/>
          </a:p>
          <a:p>
            <a:pPr lvl="1"/>
            <a:r>
              <a:rPr lang="zh-CN" altLang="en-US" dirty="0"/>
              <a:t>同</a:t>
            </a:r>
            <a:r>
              <a:rPr lang="zh-CN" altLang="en-US" dirty="0" smtClean="0"/>
              <a:t>一子网下的网卡由交换机直接相连，即可实现相互通信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smtClean="0"/>
              <a:t>VMware</a:t>
            </a:r>
            <a:r>
              <a:rPr lang="zh-CN" altLang="en-US" dirty="0" smtClean="0"/>
              <a:t>模拟交换机</a:t>
            </a:r>
            <a:endParaRPr lang="en-US" altLang="zh-CN" dirty="0" smtClean="0"/>
          </a:p>
          <a:p>
            <a:r>
              <a:rPr lang="zh-CN" altLang="en-US" dirty="0" smtClean="0"/>
              <a:t>路由器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不同子网下的网卡需要通过路由器转发数据，才能实现相互通信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使用虚拟机代替路由器</a:t>
            </a:r>
            <a:endParaRPr lang="en-US" altLang="zh-CN" dirty="0" smtClean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4DF9FB-F84C-4947-B563-E751EF2AD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796" y="956032"/>
            <a:ext cx="5324259" cy="48730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FFCAB5-2E83-44FC-8571-71ECF16C937C}"/>
              </a:ext>
            </a:extLst>
          </p:cNvPr>
          <p:cNvSpPr txBox="1"/>
          <p:nvPr/>
        </p:nvSpPr>
        <p:spPr>
          <a:xfrm>
            <a:off x="8231195" y="587652"/>
            <a:ext cx="1480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</a:rPr>
              <a:t>路由器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zh-CN" altLang="en-US" b="1" dirty="0">
                <a:solidFill>
                  <a:srgbClr val="0070C0"/>
                </a:solidFill>
              </a:rPr>
              <a:t>虚拟机替代</a:t>
            </a:r>
            <a:r>
              <a:rPr lang="en-US" altLang="zh-CN" b="1" dirty="0">
                <a:solidFill>
                  <a:srgbClr val="0070C0"/>
                </a:solidFill>
              </a:rPr>
              <a:t>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6420AE-1500-4D30-85CE-9C57036BD67F}"/>
              </a:ext>
            </a:extLst>
          </p:cNvPr>
          <p:cNvSpPr txBox="1"/>
          <p:nvPr/>
        </p:nvSpPr>
        <p:spPr>
          <a:xfrm>
            <a:off x="7070496" y="1233983"/>
            <a:ext cx="1427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网卡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192.168.2.1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8CFBC3-A7EC-4099-9BDC-6C40004DC6CA}"/>
              </a:ext>
            </a:extLst>
          </p:cNvPr>
          <p:cNvSpPr txBox="1"/>
          <p:nvPr/>
        </p:nvSpPr>
        <p:spPr>
          <a:xfrm>
            <a:off x="9681691" y="1230540"/>
            <a:ext cx="1541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网卡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192.168.3.1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C840E0-8083-4649-BE9A-509ECB381D19}"/>
              </a:ext>
            </a:extLst>
          </p:cNvPr>
          <p:cNvSpPr txBox="1"/>
          <p:nvPr/>
        </p:nvSpPr>
        <p:spPr>
          <a:xfrm>
            <a:off x="6080557" y="2883763"/>
            <a:ext cx="106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交换机</a:t>
            </a:r>
            <a:r>
              <a:rPr lang="en-US" altLang="zh-CN" b="1" dirty="0" smtClean="0">
                <a:solidFill>
                  <a:srgbClr val="0070C0"/>
                </a:solidFill>
              </a:rPr>
              <a:t>1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(</a:t>
            </a:r>
            <a:r>
              <a:rPr lang="zh-CN" altLang="en-US" b="1" dirty="0" smtClean="0">
                <a:solidFill>
                  <a:srgbClr val="0070C0"/>
                </a:solidFill>
              </a:rPr>
              <a:t>子网</a:t>
            </a:r>
            <a:r>
              <a:rPr lang="en-US" altLang="zh-CN" b="1" dirty="0" smtClean="0">
                <a:solidFill>
                  <a:srgbClr val="0070C0"/>
                </a:solidFill>
              </a:rPr>
              <a:t>A)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2B0A5F-0985-492F-9587-105AF82B048E}"/>
              </a:ext>
            </a:extLst>
          </p:cNvPr>
          <p:cNvSpPr txBox="1"/>
          <p:nvPr/>
        </p:nvSpPr>
        <p:spPr>
          <a:xfrm>
            <a:off x="11078694" y="2883480"/>
            <a:ext cx="106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交换机</a:t>
            </a:r>
            <a:r>
              <a:rPr lang="en-US" altLang="zh-CN" b="1" dirty="0" smtClean="0">
                <a:solidFill>
                  <a:srgbClr val="0070C0"/>
                </a:solidFill>
              </a:rPr>
              <a:t>2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(</a:t>
            </a:r>
            <a:r>
              <a:rPr lang="zh-CN" altLang="en-US" b="1" dirty="0" smtClean="0">
                <a:solidFill>
                  <a:srgbClr val="0070C0"/>
                </a:solidFill>
              </a:rPr>
              <a:t>子网</a:t>
            </a:r>
            <a:r>
              <a:rPr lang="en-US" altLang="zh-CN" b="1" dirty="0" smtClean="0">
                <a:solidFill>
                  <a:srgbClr val="0070C0"/>
                </a:solidFill>
              </a:rPr>
              <a:t>B)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89835C-4E4B-47DD-8437-D3274F317CFB}"/>
              </a:ext>
            </a:extLst>
          </p:cNvPr>
          <p:cNvSpPr txBox="1"/>
          <p:nvPr/>
        </p:nvSpPr>
        <p:spPr>
          <a:xfrm>
            <a:off x="5974495" y="4531625"/>
            <a:ext cx="1146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主机</a:t>
            </a:r>
            <a:r>
              <a:rPr lang="en-US" altLang="zh-CN" b="1" dirty="0" smtClean="0">
                <a:solidFill>
                  <a:srgbClr val="0070C0"/>
                </a:solidFill>
              </a:rPr>
              <a:t>1</a:t>
            </a:r>
          </a:p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（虚拟机）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FE4824-560C-4A42-9934-28F593687EB8}"/>
              </a:ext>
            </a:extLst>
          </p:cNvPr>
          <p:cNvSpPr txBox="1"/>
          <p:nvPr/>
        </p:nvSpPr>
        <p:spPr>
          <a:xfrm>
            <a:off x="10798873" y="4531626"/>
            <a:ext cx="1180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主机</a:t>
            </a:r>
            <a:r>
              <a:rPr lang="en-US" altLang="zh-CN" b="1" dirty="0" smtClean="0">
                <a:solidFill>
                  <a:srgbClr val="0070C0"/>
                </a:solidFill>
              </a:rPr>
              <a:t>2</a:t>
            </a:r>
          </a:p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（虚拟机）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87BE5B-30BF-4AC1-8570-227016B3897D}"/>
              </a:ext>
            </a:extLst>
          </p:cNvPr>
          <p:cNvSpPr txBox="1"/>
          <p:nvPr/>
        </p:nvSpPr>
        <p:spPr>
          <a:xfrm>
            <a:off x="7628638" y="4319812"/>
            <a:ext cx="1635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网卡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192.168.2.2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B57250-36BD-46C5-9F56-EC49E1FDF48A}"/>
              </a:ext>
            </a:extLst>
          </p:cNvPr>
          <p:cNvSpPr txBox="1"/>
          <p:nvPr/>
        </p:nvSpPr>
        <p:spPr>
          <a:xfrm>
            <a:off x="9368425" y="4319812"/>
            <a:ext cx="1376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网卡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192.168.3.2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98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实验步骤：</a:t>
            </a:r>
            <a:r>
              <a:rPr lang="en-US" altLang="zh-CN" dirty="0" smtClean="0"/>
              <a:t>VMware</a:t>
            </a:r>
            <a:r>
              <a:rPr lang="zh-CN" altLang="en-US" dirty="0" smtClean="0"/>
              <a:t>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7062888" cy="4847368"/>
          </a:xfrm>
        </p:spPr>
        <p:txBody>
          <a:bodyPr/>
          <a:lstStyle/>
          <a:p>
            <a:r>
              <a:rPr lang="zh-CN" altLang="en-US" dirty="0" smtClean="0"/>
              <a:t>打开</a:t>
            </a:r>
            <a:r>
              <a:rPr lang="en-US" altLang="zh-CN" dirty="0" smtClean="0"/>
              <a:t>VMware</a:t>
            </a:r>
            <a:r>
              <a:rPr lang="zh-CN" altLang="en-US" dirty="0" smtClean="0"/>
              <a:t>，添加虚拟机文件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共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个虚拟机</a:t>
            </a:r>
            <a:endParaRPr lang="en-US" altLang="zh-CN" dirty="0" smtClean="0"/>
          </a:p>
          <a:p>
            <a:r>
              <a:rPr lang="zh-CN" altLang="en-US" dirty="0" smtClean="0"/>
              <a:t>添加交换机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打开</a:t>
            </a:r>
            <a:r>
              <a:rPr lang="en-US" altLang="zh-CN" dirty="0" smtClean="0"/>
              <a:t> </a:t>
            </a:r>
            <a:r>
              <a:rPr lang="zh-CN" altLang="en-US" dirty="0" smtClean="0"/>
              <a:t>编辑 → 虚拟网络编辑器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按照右图所示，添加并配置</a:t>
            </a:r>
            <a:r>
              <a:rPr lang="en-US" altLang="zh-CN" dirty="0" smtClean="0"/>
              <a:t>VMnet2/3</a:t>
            </a:r>
          </a:p>
          <a:p>
            <a:pPr lvl="1"/>
            <a:r>
              <a:rPr lang="zh-CN" altLang="en-US" dirty="0" smtClean="0"/>
              <a:t>选择仅主机模式，去掉红框中的两个√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子网</a:t>
            </a:r>
            <a:r>
              <a:rPr lang="en-US" altLang="zh-CN" dirty="0" smtClean="0"/>
              <a:t>IP</a:t>
            </a:r>
            <a:r>
              <a:rPr lang="zh-CN" altLang="en-US" dirty="0" smtClean="0"/>
              <a:t>即子网号，可任选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建议分别配置为</a:t>
            </a:r>
            <a:r>
              <a:rPr lang="en-US" altLang="zh-CN" dirty="0" smtClean="0"/>
              <a:t>192.168.2.0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192.168.3.0</a:t>
            </a:r>
          </a:p>
          <a:p>
            <a:r>
              <a:rPr lang="zh-CN" altLang="en-US" dirty="0" smtClean="0"/>
              <a:t>按照实验教材说明，为虚拟机增删网卡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网卡数目请参考本次实验的网络拓扑图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注意：请正确选择网卡所连接的交换机</a:t>
            </a:r>
            <a:endParaRPr lang="zh-CN" altLang="en-US" dirty="0"/>
          </a:p>
        </p:txBody>
      </p:sp>
      <p:pic>
        <p:nvPicPr>
          <p:cNvPr id="5" name="内容占位符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088" y="1825625"/>
            <a:ext cx="4139220" cy="3567446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7995772" y="4333080"/>
            <a:ext cx="2755042" cy="7631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95772" y="2379613"/>
            <a:ext cx="1080776" cy="1892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522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878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实验步骤：路由器配置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059004"/>
            <a:ext cx="10474843" cy="571606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开机并登录后，使用 </a:t>
            </a:r>
            <a:r>
              <a:rPr lang="en-US" altLang="zh-CN" sz="2000" dirty="0" err="1"/>
              <a:t>Ctrl+Alt+T</a:t>
            </a:r>
            <a:r>
              <a:rPr lang="en-US" altLang="zh-CN" sz="2000" dirty="0"/>
              <a:t> </a:t>
            </a:r>
            <a:r>
              <a:rPr lang="zh-CN" altLang="en-US" sz="2000" dirty="0"/>
              <a:t>打开</a:t>
            </a:r>
            <a:r>
              <a:rPr lang="en-US" altLang="zh-CN" sz="2000" dirty="0"/>
              <a:t>terminal</a:t>
            </a:r>
          </a:p>
          <a:p>
            <a:r>
              <a:rPr lang="zh-CN" altLang="en-US" sz="2000" dirty="0"/>
              <a:t>输入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su</a:t>
            </a:r>
            <a:r>
              <a:rPr lang="en-US" altLang="zh-CN" sz="2000" dirty="0"/>
              <a:t> </a:t>
            </a:r>
            <a:r>
              <a:rPr lang="zh-CN" altLang="en-US" sz="2000" dirty="0"/>
              <a:t>获取管理员权限</a:t>
            </a:r>
            <a:endParaRPr lang="en-US" altLang="zh-CN" sz="2000" dirty="0"/>
          </a:p>
          <a:p>
            <a:r>
              <a:rPr lang="zh-CN" altLang="en-US" sz="2000" dirty="0"/>
              <a:t>输入 </a:t>
            </a:r>
            <a:r>
              <a:rPr lang="en-US" altLang="zh-CN" sz="2000" dirty="0"/>
              <a:t>service network-manager stop</a:t>
            </a:r>
            <a:r>
              <a:rPr lang="zh-CN" altLang="en-US" sz="2000" dirty="0"/>
              <a:t> 关闭</a:t>
            </a:r>
            <a:r>
              <a:rPr lang="en-US" altLang="zh-CN" sz="2000" dirty="0"/>
              <a:t>Ubuntu</a:t>
            </a:r>
            <a:r>
              <a:rPr lang="zh-CN" altLang="en-US" sz="2000" dirty="0"/>
              <a:t>网络管理服务</a:t>
            </a:r>
            <a:endParaRPr lang="en-US" altLang="zh-CN" sz="2000" dirty="0"/>
          </a:p>
          <a:p>
            <a:pPr lvl="1"/>
            <a:r>
              <a:rPr lang="zh-CN" altLang="en-US" sz="1800" b="1" dirty="0">
                <a:solidFill>
                  <a:srgbClr val="FF0000"/>
                </a:solidFill>
              </a:rPr>
              <a:t>部分带有图形界面的虚拟机存在此服务，不关闭无法正确配置</a:t>
            </a:r>
            <a:r>
              <a:rPr lang="en-US" altLang="zh-CN" sz="1800" b="1" dirty="0">
                <a:solidFill>
                  <a:srgbClr val="FF0000"/>
                </a:solidFill>
              </a:rPr>
              <a:t>IP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地址</a:t>
            </a:r>
            <a:endParaRPr lang="en-US" altLang="zh-CN" sz="1800" b="1" dirty="0" smtClean="0">
              <a:solidFill>
                <a:srgbClr val="FF0000"/>
              </a:solidFill>
            </a:endParaRPr>
          </a:p>
          <a:p>
            <a:r>
              <a:rPr lang="zh-CN" altLang="en-US" sz="2000" dirty="0" smtClean="0"/>
              <a:t>输入下列指令配置</a:t>
            </a:r>
            <a:r>
              <a:rPr lang="en-US" altLang="zh-CN" sz="2000" dirty="0"/>
              <a:t>IP</a:t>
            </a:r>
            <a:r>
              <a:rPr lang="zh-CN" altLang="en-US" sz="2000" dirty="0" smtClean="0"/>
              <a:t>地址</a:t>
            </a:r>
            <a:endParaRPr lang="en-US" altLang="zh-CN" sz="2000" dirty="0" smtClean="0"/>
          </a:p>
          <a:p>
            <a:pPr lvl="1"/>
            <a:r>
              <a:rPr lang="en-US" altLang="zh-CN" sz="1800" dirty="0" err="1"/>
              <a:t>ifconfig</a:t>
            </a:r>
            <a:r>
              <a:rPr lang="en-US" altLang="zh-CN" sz="1800" dirty="0"/>
              <a:t> eth0 192.168.2.1 </a:t>
            </a:r>
            <a:r>
              <a:rPr lang="en-US" altLang="zh-CN" sz="1800" dirty="0" err="1"/>
              <a:t>netmask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255.255.255.0</a:t>
            </a:r>
          </a:p>
          <a:p>
            <a:pPr lvl="1"/>
            <a:r>
              <a:rPr lang="en-US" altLang="zh-CN" sz="1800" dirty="0" err="1"/>
              <a:t>ifconfig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eth1 192.168.3.1 </a:t>
            </a:r>
            <a:r>
              <a:rPr lang="en-US" altLang="zh-CN" sz="1800" dirty="0" err="1"/>
              <a:t>netmask</a:t>
            </a:r>
            <a:r>
              <a:rPr lang="en-US" altLang="zh-CN" sz="1800" dirty="0"/>
              <a:t> 255.255.255.0</a:t>
            </a:r>
          </a:p>
          <a:p>
            <a:pPr lvl="1"/>
            <a:r>
              <a:rPr lang="zh-CN" altLang="en-US" sz="1800" b="1" dirty="0" smtClean="0">
                <a:solidFill>
                  <a:srgbClr val="FF0000"/>
                </a:solidFill>
              </a:rPr>
              <a:t>对于有多个网卡的虚拟机，请</a:t>
            </a:r>
            <a:r>
              <a:rPr lang="zh-CN" altLang="en-US" sz="1800" b="1" dirty="0">
                <a:solidFill>
                  <a:srgbClr val="FF0000"/>
                </a:solidFill>
              </a:rPr>
              <a:t>首先使用</a:t>
            </a:r>
            <a:r>
              <a:rPr lang="en-US" altLang="zh-CN" sz="1800" b="1" dirty="0" err="1">
                <a:solidFill>
                  <a:srgbClr val="FF0000"/>
                </a:solidFill>
              </a:rPr>
              <a:t>ifconfig</a:t>
            </a:r>
            <a:r>
              <a:rPr lang="zh-CN" altLang="en-US" sz="1800" b="1" dirty="0">
                <a:solidFill>
                  <a:srgbClr val="FF0000"/>
                </a:solidFill>
              </a:rPr>
              <a:t>查看网卡名称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，此处网卡顺序</a:t>
            </a:r>
            <a:r>
              <a:rPr lang="zh-CN" altLang="en-US" sz="1800" b="1" dirty="0">
                <a:solidFill>
                  <a:srgbClr val="FF0000"/>
                </a:solidFill>
              </a:rPr>
              <a:t>与</a:t>
            </a:r>
            <a:r>
              <a:rPr lang="en-US" altLang="zh-CN" sz="1800" b="1" dirty="0">
                <a:solidFill>
                  <a:srgbClr val="FF0000"/>
                </a:solidFill>
              </a:rPr>
              <a:t>VMware</a:t>
            </a:r>
            <a:r>
              <a:rPr lang="zh-CN" altLang="en-US" sz="1800" b="1" dirty="0">
                <a:solidFill>
                  <a:srgbClr val="FF0000"/>
                </a:solidFill>
              </a:rPr>
              <a:t>虚拟机设备中网卡出现的顺序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一致。请务必注意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IP</a:t>
            </a:r>
            <a:r>
              <a:rPr lang="zh-CN" altLang="en-US" sz="1800" b="1" dirty="0">
                <a:solidFill>
                  <a:srgbClr val="FF0000"/>
                </a:solidFill>
              </a:rPr>
              <a:t>对应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关系，不要</a:t>
            </a:r>
            <a:r>
              <a:rPr lang="zh-CN" altLang="en-US" sz="1800" b="1" dirty="0">
                <a:solidFill>
                  <a:srgbClr val="FF0000"/>
                </a:solidFill>
              </a:rPr>
              <a:t>配错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zh-CN" altLang="en-US" sz="2000" dirty="0" smtClean="0"/>
              <a:t>输入下列指令配置路由表</a:t>
            </a:r>
            <a:endParaRPr lang="en-US" altLang="zh-CN" sz="2000" dirty="0" smtClean="0"/>
          </a:p>
          <a:p>
            <a:pPr lvl="1"/>
            <a:r>
              <a:rPr lang="en-US" altLang="zh-CN" sz="1800" dirty="0" err="1"/>
              <a:t>ip</a:t>
            </a:r>
            <a:r>
              <a:rPr lang="en-US" altLang="zh-CN" sz="1800" dirty="0"/>
              <a:t> route add </a:t>
            </a:r>
            <a:r>
              <a:rPr lang="en-US" altLang="zh-CN" sz="1800" dirty="0" smtClean="0"/>
              <a:t>192.168.2.0/24 </a:t>
            </a:r>
            <a:r>
              <a:rPr lang="en-US" altLang="zh-CN" sz="1800" dirty="0"/>
              <a:t>via </a:t>
            </a:r>
            <a:r>
              <a:rPr lang="en-US" altLang="zh-CN" sz="1800" dirty="0" smtClean="0"/>
              <a:t>192.168.2.1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ip</a:t>
            </a:r>
            <a:r>
              <a:rPr lang="en-US" altLang="zh-CN" sz="1800" dirty="0"/>
              <a:t> route add </a:t>
            </a:r>
            <a:r>
              <a:rPr lang="en-US" altLang="zh-CN" sz="1800" dirty="0" smtClean="0"/>
              <a:t>192.168.3.0/24 </a:t>
            </a:r>
            <a:r>
              <a:rPr lang="en-US" altLang="zh-CN" sz="1800" dirty="0"/>
              <a:t>via </a:t>
            </a:r>
            <a:r>
              <a:rPr lang="en-US" altLang="zh-CN" sz="1800" dirty="0" smtClean="0"/>
              <a:t>192.168.3.1</a:t>
            </a:r>
            <a:endParaRPr lang="en-US" altLang="zh-CN" sz="1800" dirty="0"/>
          </a:p>
          <a:p>
            <a:pPr lvl="1"/>
            <a:r>
              <a:rPr lang="zh-CN" altLang="en-US" sz="1800" dirty="0" smtClean="0"/>
              <a:t>含义：发往子网</a:t>
            </a:r>
            <a:r>
              <a:rPr lang="en-US" altLang="zh-CN" sz="1800" dirty="0" smtClean="0"/>
              <a:t>192.168.2.0/24</a:t>
            </a:r>
            <a:r>
              <a:rPr lang="zh-CN" altLang="en-US" sz="1800" dirty="0" smtClean="0"/>
              <a:t>的数据包，将通过</a:t>
            </a:r>
            <a:r>
              <a:rPr lang="en-US" altLang="zh-CN" sz="1800" dirty="0" smtClean="0"/>
              <a:t>IP</a:t>
            </a:r>
            <a:r>
              <a:rPr lang="zh-CN" altLang="en-US" sz="1800" dirty="0" smtClean="0"/>
              <a:t>地址为</a:t>
            </a:r>
            <a:r>
              <a:rPr lang="en-US" altLang="zh-CN" sz="1800" dirty="0" smtClean="0"/>
              <a:t>192.168.2.1</a:t>
            </a:r>
            <a:r>
              <a:rPr lang="zh-CN" altLang="en-US" sz="1800" dirty="0" smtClean="0"/>
              <a:t>的网卡发送出去</a:t>
            </a:r>
            <a:endParaRPr lang="en-US" altLang="zh-CN" sz="1800" dirty="0" smtClean="0"/>
          </a:p>
          <a:p>
            <a:pPr lvl="1"/>
            <a:r>
              <a:rPr lang="zh-CN" altLang="en-US" sz="1800" b="1" dirty="0" smtClean="0">
                <a:solidFill>
                  <a:srgbClr val="FF0000"/>
                </a:solidFill>
              </a:rPr>
              <a:t>某些</a:t>
            </a:r>
            <a:r>
              <a:rPr lang="zh-CN" altLang="en-US" sz="1800" b="1" dirty="0">
                <a:solidFill>
                  <a:srgbClr val="FF0000"/>
                </a:solidFill>
              </a:rPr>
              <a:t>主机在设置完</a:t>
            </a:r>
            <a:r>
              <a:rPr lang="en-US" altLang="zh-CN" sz="1800" b="1" dirty="0">
                <a:solidFill>
                  <a:srgbClr val="FF0000"/>
                </a:solidFill>
              </a:rPr>
              <a:t>IP</a:t>
            </a:r>
            <a:r>
              <a:rPr lang="zh-CN" altLang="en-US" sz="1800" b="1" dirty="0">
                <a:solidFill>
                  <a:srgbClr val="FF0000"/>
                </a:solidFill>
              </a:rPr>
              <a:t>后路由表已经自动添加，如发生冲突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可用</a:t>
            </a:r>
            <a:r>
              <a:rPr lang="en-US" altLang="zh-CN" sz="1800" b="1" dirty="0" err="1">
                <a:solidFill>
                  <a:srgbClr val="FF0000"/>
                </a:solidFill>
              </a:rPr>
              <a:t>ip</a:t>
            </a:r>
            <a:r>
              <a:rPr lang="en-US" altLang="zh-CN" sz="1800" b="1" dirty="0">
                <a:solidFill>
                  <a:srgbClr val="FF0000"/>
                </a:solidFill>
              </a:rPr>
              <a:t> route 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del XXX 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删除</a:t>
            </a:r>
            <a:endParaRPr lang="en-US" altLang="zh-CN" sz="1800" b="1" dirty="0" smtClean="0">
              <a:solidFill>
                <a:srgbClr val="FF0000"/>
              </a:solidFill>
            </a:endParaRPr>
          </a:p>
          <a:p>
            <a:r>
              <a:rPr lang="zh-CN" altLang="en-US" sz="2200" dirty="0" smtClean="0"/>
              <a:t>输入 </a:t>
            </a:r>
            <a:r>
              <a:rPr lang="en-US" altLang="zh-CN" sz="2200" dirty="0"/>
              <a:t>echo 1 &gt; /</a:t>
            </a:r>
            <a:r>
              <a:rPr lang="en-US" altLang="zh-CN" sz="2200" dirty="0" err="1" smtClean="0"/>
              <a:t>proc</a:t>
            </a:r>
            <a:r>
              <a:rPr lang="en-US" altLang="zh-CN" sz="2200" dirty="0" smtClean="0"/>
              <a:t>/sys/net/ipv4/</a:t>
            </a:r>
            <a:r>
              <a:rPr lang="en-US" altLang="zh-CN" sz="2200" dirty="0" err="1" smtClean="0"/>
              <a:t>ip_forward</a:t>
            </a:r>
            <a:r>
              <a:rPr lang="zh-CN" altLang="en-US" sz="2200" dirty="0" smtClean="0"/>
              <a:t> 开启数据包转发功能</a:t>
            </a:r>
            <a:endParaRPr lang="en-US" altLang="zh-CN" sz="2200" dirty="0" smtClean="0"/>
          </a:p>
          <a:p>
            <a:pPr lvl="1"/>
            <a:r>
              <a:rPr lang="zh-CN" altLang="en-US" sz="1800" dirty="0" smtClean="0"/>
              <a:t>主机默认不会转发途经自己的数据包，作为路由器使用的主机需要手动开启该功能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945456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实验步骤：主机网络配置（以主机</a:t>
            </a:r>
            <a:r>
              <a:rPr lang="en-US" altLang="zh-CN" dirty="0" smtClean="0"/>
              <a:t>1</a:t>
            </a:r>
            <a:r>
              <a:rPr lang="zh-CN" altLang="en-US" dirty="0" smtClean="0"/>
              <a:t>为例）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8771" cy="483886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开机并登录后，使用 </a:t>
            </a:r>
            <a:r>
              <a:rPr lang="en-US" altLang="zh-CN" dirty="0" err="1" smtClean="0"/>
              <a:t>Ctrl+Alt+T</a:t>
            </a:r>
            <a:r>
              <a:rPr lang="en-US" altLang="zh-CN" dirty="0" smtClean="0"/>
              <a:t> </a:t>
            </a:r>
            <a:r>
              <a:rPr lang="zh-CN" altLang="en-US" dirty="0" smtClean="0"/>
              <a:t>打开</a:t>
            </a:r>
            <a:r>
              <a:rPr lang="en-US" altLang="zh-CN" dirty="0"/>
              <a:t>terminal</a:t>
            </a:r>
            <a:endParaRPr lang="en-US" altLang="zh-CN" dirty="0" smtClean="0"/>
          </a:p>
          <a:p>
            <a:r>
              <a:rPr lang="zh-CN" altLang="en-US" dirty="0" smtClean="0"/>
              <a:t>输入 </a:t>
            </a:r>
            <a:r>
              <a:rPr lang="en-US" altLang="zh-CN" dirty="0" err="1" smtClean="0"/>
              <a:t>sudo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su</a:t>
            </a:r>
            <a:r>
              <a:rPr lang="en-US" altLang="zh-CN" dirty="0" smtClean="0"/>
              <a:t> </a:t>
            </a:r>
            <a:r>
              <a:rPr lang="zh-CN" altLang="en-US" dirty="0" smtClean="0"/>
              <a:t>获取管理员权限</a:t>
            </a:r>
            <a:endParaRPr lang="en-US" altLang="zh-CN" dirty="0" smtClean="0"/>
          </a:p>
          <a:p>
            <a:r>
              <a:rPr lang="zh-CN" altLang="en-US" dirty="0" smtClean="0"/>
              <a:t>输入 </a:t>
            </a:r>
            <a:r>
              <a:rPr lang="en-US" altLang="zh-CN" dirty="0" smtClean="0"/>
              <a:t>service </a:t>
            </a:r>
            <a:r>
              <a:rPr lang="en-US" altLang="zh-CN" dirty="0"/>
              <a:t>network-manager </a:t>
            </a:r>
            <a:r>
              <a:rPr lang="en-US" altLang="zh-CN" dirty="0" smtClean="0"/>
              <a:t>stop</a:t>
            </a:r>
            <a:r>
              <a:rPr lang="zh-CN" altLang="en-US" dirty="0" smtClean="0"/>
              <a:t> 关闭</a:t>
            </a:r>
            <a:r>
              <a:rPr lang="en-US" altLang="zh-CN" dirty="0" smtClean="0"/>
              <a:t>Ubuntu</a:t>
            </a:r>
            <a:r>
              <a:rPr lang="zh-CN" altLang="en-US" dirty="0" smtClean="0"/>
              <a:t>网络管理服务</a:t>
            </a:r>
            <a:endParaRPr lang="en-US" altLang="zh-CN" dirty="0" smtClean="0"/>
          </a:p>
          <a:p>
            <a:r>
              <a:rPr lang="zh-CN" altLang="en-US" dirty="0" smtClean="0"/>
              <a:t>输入 </a:t>
            </a:r>
            <a:r>
              <a:rPr lang="en-US" altLang="zh-CN" dirty="0" err="1" smtClean="0"/>
              <a:t>ifconfig</a:t>
            </a:r>
            <a:r>
              <a:rPr lang="en-US" altLang="zh-CN" dirty="0" smtClean="0"/>
              <a:t> </a:t>
            </a:r>
            <a:r>
              <a:rPr lang="en-US" altLang="zh-CN" dirty="0"/>
              <a:t>eth0 </a:t>
            </a:r>
            <a:r>
              <a:rPr lang="en-US" altLang="zh-CN" dirty="0" smtClean="0"/>
              <a:t>192.168.2.2 </a:t>
            </a:r>
            <a:r>
              <a:rPr lang="en-US" altLang="zh-CN" dirty="0" err="1"/>
              <a:t>netmask</a:t>
            </a:r>
            <a:r>
              <a:rPr lang="en-US" altLang="zh-CN" dirty="0"/>
              <a:t> </a:t>
            </a:r>
            <a:r>
              <a:rPr lang="en-US" altLang="zh-CN" dirty="0" smtClean="0"/>
              <a:t>255.255.255.0 </a:t>
            </a:r>
            <a:r>
              <a:rPr lang="zh-CN" altLang="en-US" dirty="0" smtClean="0"/>
              <a:t>配置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r>
              <a:rPr lang="zh-CN" altLang="en-US" dirty="0" smtClean="0"/>
              <a:t>输入 </a:t>
            </a:r>
            <a:r>
              <a:rPr lang="en-US" altLang="zh-CN" dirty="0" smtClean="0"/>
              <a:t>route </a:t>
            </a:r>
            <a:r>
              <a:rPr lang="en-US" altLang="zh-CN" dirty="0"/>
              <a:t>add default </a:t>
            </a:r>
            <a:r>
              <a:rPr lang="en-US" altLang="zh-CN" dirty="0" err="1"/>
              <a:t>gw</a:t>
            </a:r>
            <a:r>
              <a:rPr lang="en-US" altLang="zh-CN" dirty="0"/>
              <a:t> </a:t>
            </a:r>
            <a:r>
              <a:rPr lang="en-US" altLang="zh-CN" dirty="0" smtClean="0"/>
              <a:t>192.168.2.1</a:t>
            </a:r>
            <a:r>
              <a:rPr lang="zh-CN" altLang="en-US" dirty="0"/>
              <a:t> </a:t>
            </a:r>
            <a:r>
              <a:rPr lang="zh-CN" altLang="en-US" dirty="0" smtClean="0"/>
              <a:t>添加默认网关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主机不需要配置路由规则，只需要将所有数据包转发至子网中的路由器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由路由器根据路由规则，在子网间进行转发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主机</a:t>
            </a:r>
            <a:r>
              <a:rPr lang="en-US" altLang="zh-CN" dirty="0" smtClean="0"/>
              <a:t>2</a:t>
            </a:r>
            <a:r>
              <a:rPr lang="zh-CN" altLang="en-US" dirty="0" smtClean="0"/>
              <a:t>可用类似方式配置，注意主机</a:t>
            </a:r>
            <a:r>
              <a:rPr lang="en-US" altLang="zh-CN" dirty="0" smtClean="0"/>
              <a:t>2</a:t>
            </a:r>
            <a:r>
              <a:rPr lang="zh-CN" altLang="en-US" dirty="0" smtClean="0"/>
              <a:t>应使用另一个子网中的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8508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实验步骤：验证网络是否连通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通过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命令，检查主机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、主机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、路由器是否可以相互通信</a:t>
            </a:r>
            <a:endParaRPr lang="en-US" altLang="zh-CN" dirty="0" smtClean="0"/>
          </a:p>
          <a:p>
            <a:r>
              <a:rPr lang="zh-CN" altLang="en-US" dirty="0" smtClean="0"/>
              <a:t>执行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命令期间，在任意一台主机上运行</a:t>
            </a:r>
            <a:r>
              <a:rPr lang="en-US" altLang="zh-CN" dirty="0" err="1" smtClean="0"/>
              <a:t>wireshark</a:t>
            </a:r>
            <a:r>
              <a:rPr lang="zh-CN" altLang="en-US" dirty="0" smtClean="0"/>
              <a:t>，观察数据包格式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29409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验收与报告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835873" cy="4351338"/>
          </a:xfrm>
        </p:spPr>
        <p:txBody>
          <a:bodyPr/>
          <a:lstStyle/>
          <a:p>
            <a:r>
              <a:rPr lang="zh-CN" altLang="en-US" dirty="0" smtClean="0"/>
              <a:t>搭建右图所示拓扑</a:t>
            </a:r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命令验证三个主机与两个路由器可以相互通信</a:t>
            </a:r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wireshark</a:t>
            </a:r>
            <a:r>
              <a:rPr lang="zh-CN" altLang="en-US" dirty="0" smtClean="0"/>
              <a:t>抓取数据包，在数据包中找出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地址等信息</a:t>
            </a:r>
            <a:endParaRPr lang="en-US" altLang="zh-CN" dirty="0" smtClean="0"/>
          </a:p>
          <a:p>
            <a:r>
              <a:rPr lang="zh-CN" altLang="en-US" dirty="0" smtClean="0"/>
              <a:t>实验报告内容可以参考实验指导书</a:t>
            </a:r>
            <a:endParaRPr lang="en-US" altLang="zh-CN" dirty="0" smtClean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01043F-4381-460C-A718-77EAADC6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471" y="725786"/>
            <a:ext cx="7590329" cy="43002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C4258F8-87E1-4840-A805-3957ABC84B3C}"/>
              </a:ext>
            </a:extLst>
          </p:cNvPr>
          <p:cNvSpPr txBox="1"/>
          <p:nvPr/>
        </p:nvSpPr>
        <p:spPr>
          <a:xfrm>
            <a:off x="6092155" y="2404031"/>
            <a:ext cx="106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交换机</a:t>
            </a:r>
            <a:r>
              <a:rPr lang="en-US" altLang="zh-CN" b="1" dirty="0" smtClean="0">
                <a:solidFill>
                  <a:srgbClr val="0070C0"/>
                </a:solidFill>
              </a:rPr>
              <a:t>1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(</a:t>
            </a:r>
            <a:r>
              <a:rPr lang="zh-CN" altLang="en-US" b="1" dirty="0">
                <a:solidFill>
                  <a:srgbClr val="0070C0"/>
                </a:solidFill>
              </a:rPr>
              <a:t>子网</a:t>
            </a:r>
            <a:r>
              <a:rPr lang="en-US" altLang="zh-CN" b="1" dirty="0" smtClean="0">
                <a:solidFill>
                  <a:srgbClr val="0070C0"/>
                </a:solidFill>
              </a:rPr>
              <a:t>1</a:t>
            </a:r>
            <a:r>
              <a:rPr lang="en-US" altLang="zh-CN" b="1" dirty="0">
                <a:solidFill>
                  <a:srgbClr val="0070C0"/>
                </a:solidFill>
              </a:rPr>
              <a:t>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483C67-402C-4E80-B2AE-BA599E530BED}"/>
              </a:ext>
            </a:extLst>
          </p:cNvPr>
          <p:cNvSpPr txBox="1"/>
          <p:nvPr/>
        </p:nvSpPr>
        <p:spPr>
          <a:xfrm>
            <a:off x="9311016" y="2453256"/>
            <a:ext cx="106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交换机</a:t>
            </a:r>
            <a:r>
              <a:rPr lang="en-US" altLang="zh-CN" b="1" dirty="0" smtClean="0">
                <a:solidFill>
                  <a:srgbClr val="0070C0"/>
                </a:solidFill>
              </a:rPr>
              <a:t>2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(</a:t>
            </a:r>
            <a:r>
              <a:rPr lang="zh-CN" altLang="en-US" b="1" dirty="0">
                <a:solidFill>
                  <a:srgbClr val="0070C0"/>
                </a:solidFill>
              </a:rPr>
              <a:t>子网</a:t>
            </a:r>
            <a:r>
              <a:rPr lang="en-US" altLang="zh-CN" b="1" dirty="0" smtClean="0">
                <a:solidFill>
                  <a:srgbClr val="0070C0"/>
                </a:solidFill>
              </a:rPr>
              <a:t>2</a:t>
            </a:r>
            <a:r>
              <a:rPr lang="en-US" altLang="zh-CN" b="1" dirty="0">
                <a:solidFill>
                  <a:srgbClr val="0070C0"/>
                </a:solidFill>
              </a:rPr>
              <a:t>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987B3F-D0F4-48A2-A84F-47BA79E54A83}"/>
              </a:ext>
            </a:extLst>
          </p:cNvPr>
          <p:cNvSpPr txBox="1"/>
          <p:nvPr/>
        </p:nvSpPr>
        <p:spPr>
          <a:xfrm>
            <a:off x="7803499" y="152530"/>
            <a:ext cx="1060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交换机</a:t>
            </a:r>
            <a:r>
              <a:rPr lang="en-US" altLang="zh-CN" b="1" dirty="0" smtClean="0">
                <a:solidFill>
                  <a:srgbClr val="0070C0"/>
                </a:solidFill>
              </a:rPr>
              <a:t>3</a:t>
            </a: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(</a:t>
            </a:r>
            <a:r>
              <a:rPr lang="zh-CN" altLang="en-US" b="1" dirty="0" smtClean="0">
                <a:solidFill>
                  <a:srgbClr val="0070C0"/>
                </a:solidFill>
              </a:rPr>
              <a:t>子网</a:t>
            </a:r>
            <a:r>
              <a:rPr lang="en-US" altLang="zh-CN" b="1" dirty="0" smtClean="0">
                <a:solidFill>
                  <a:srgbClr val="0070C0"/>
                </a:solidFill>
              </a:rPr>
              <a:t>3)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62873A-5065-4B69-9697-CC7F6627D19B}"/>
              </a:ext>
            </a:extLst>
          </p:cNvPr>
          <p:cNvSpPr txBox="1"/>
          <p:nvPr/>
        </p:nvSpPr>
        <p:spPr>
          <a:xfrm>
            <a:off x="5226871" y="4042956"/>
            <a:ext cx="1480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终端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zh-CN" altLang="en-US" b="1" dirty="0" smtClean="0">
                <a:solidFill>
                  <a:srgbClr val="0070C0"/>
                </a:solidFill>
              </a:rPr>
              <a:t>虚拟机</a:t>
            </a:r>
            <a:r>
              <a:rPr lang="en-US" altLang="zh-CN" b="1" dirty="0" smtClean="0">
                <a:solidFill>
                  <a:srgbClr val="0070C0"/>
                </a:solidFill>
              </a:rPr>
              <a:t>)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924D96-EC17-4628-8DFF-44A65E4F70D3}"/>
              </a:ext>
            </a:extLst>
          </p:cNvPr>
          <p:cNvSpPr txBox="1"/>
          <p:nvPr/>
        </p:nvSpPr>
        <p:spPr>
          <a:xfrm>
            <a:off x="9707506" y="4121737"/>
            <a:ext cx="1480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终端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zh-CN" altLang="en-US" b="1" dirty="0" smtClean="0">
                <a:solidFill>
                  <a:srgbClr val="0070C0"/>
                </a:solidFill>
              </a:rPr>
              <a:t>虚拟机</a:t>
            </a:r>
            <a:r>
              <a:rPr lang="en-US" altLang="zh-CN" b="1" dirty="0" smtClean="0">
                <a:solidFill>
                  <a:srgbClr val="0070C0"/>
                </a:solidFill>
              </a:rPr>
              <a:t>)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371467-9937-41F5-843E-87C4F4A81EEA}"/>
              </a:ext>
            </a:extLst>
          </p:cNvPr>
          <p:cNvSpPr txBox="1"/>
          <p:nvPr/>
        </p:nvSpPr>
        <p:spPr>
          <a:xfrm>
            <a:off x="5557550" y="590850"/>
            <a:ext cx="1480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路由器</a:t>
            </a:r>
            <a:r>
              <a:rPr lang="en-US" altLang="zh-CN" b="1" dirty="0" smtClean="0">
                <a:solidFill>
                  <a:srgbClr val="0070C0"/>
                </a:solidFill>
              </a:rPr>
              <a:t>1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zh-CN" altLang="en-US" b="1" dirty="0">
                <a:solidFill>
                  <a:srgbClr val="0070C0"/>
                </a:solidFill>
              </a:rPr>
              <a:t>虚拟机替代</a:t>
            </a:r>
            <a:r>
              <a:rPr lang="en-US" altLang="zh-CN" b="1" dirty="0">
                <a:solidFill>
                  <a:srgbClr val="0070C0"/>
                </a:solidFill>
              </a:rPr>
              <a:t>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E37DC9-9D45-41EF-9F43-2C3DF42548AD}"/>
              </a:ext>
            </a:extLst>
          </p:cNvPr>
          <p:cNvSpPr txBox="1"/>
          <p:nvPr/>
        </p:nvSpPr>
        <p:spPr>
          <a:xfrm>
            <a:off x="9434865" y="530712"/>
            <a:ext cx="1480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070C0"/>
                </a:solidFill>
              </a:rPr>
              <a:t>路由器</a:t>
            </a:r>
            <a:r>
              <a:rPr lang="en-US" altLang="zh-CN" b="1" dirty="0" smtClean="0">
                <a:solidFill>
                  <a:srgbClr val="0070C0"/>
                </a:solidFill>
              </a:rPr>
              <a:t>2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zh-CN" altLang="en-US" b="1" dirty="0">
                <a:solidFill>
                  <a:srgbClr val="0070C0"/>
                </a:solidFill>
              </a:rPr>
              <a:t>虚拟机替代</a:t>
            </a:r>
            <a:r>
              <a:rPr lang="en-US" altLang="zh-CN" b="1" dirty="0">
                <a:solidFill>
                  <a:srgbClr val="0070C0"/>
                </a:solidFill>
              </a:rPr>
              <a:t>)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99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1306</Words>
  <Application>Microsoft Office PowerPoint</Application>
  <PresentationFormat>宽屏</PresentationFormat>
  <Paragraphs>175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作业要求（田臣老师班）</vt:lpstr>
      <vt:lpstr>实验要求（田臣老师班）</vt:lpstr>
      <vt:lpstr>实验课日程表</vt:lpstr>
      <vt:lpstr>实验环境</vt:lpstr>
      <vt:lpstr>预备知识</vt:lpstr>
      <vt:lpstr>基本概念简介</vt:lpstr>
      <vt:lpstr>基本概念简介</vt:lpstr>
      <vt:lpstr>Linux常用网络命令</vt:lpstr>
      <vt:lpstr>实验1：基本网络工具集使用和协议数据单元观测</vt:lpstr>
      <vt:lpstr>实验拓扑</vt:lpstr>
      <vt:lpstr>实验步骤：VMware配置</vt:lpstr>
      <vt:lpstr>实验步骤：路由器配置</vt:lpstr>
      <vt:lpstr>实验步骤：主机网络配置（以主机1为例）</vt:lpstr>
      <vt:lpstr>实验步骤：验证网络是否连通</vt:lpstr>
      <vt:lpstr>验收与报告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TBC</dc:creator>
  <cp:lastModifiedBy>dell</cp:lastModifiedBy>
  <cp:revision>248</cp:revision>
  <dcterms:created xsi:type="dcterms:W3CDTF">2018-02-28T11:21:59Z</dcterms:created>
  <dcterms:modified xsi:type="dcterms:W3CDTF">2018-03-07T07:44:57Z</dcterms:modified>
</cp:coreProperties>
</file>