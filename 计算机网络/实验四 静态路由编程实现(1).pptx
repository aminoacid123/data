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65" r:id="rId3"/>
    <p:sldId id="260" r:id="rId4"/>
    <p:sldId id="257" r:id="rId5"/>
    <p:sldId id="262" r:id="rId6"/>
    <p:sldId id="266" r:id="rId7"/>
    <p:sldId id="258" r:id="rId8"/>
    <p:sldId id="261" r:id="rId9"/>
    <p:sldId id="267" r:id="rId10"/>
    <p:sldId id="268" r:id="rId11"/>
    <p:sldId id="269" r:id="rId12"/>
    <p:sldId id="270" r:id="rId13"/>
    <p:sldId id="271" r:id="rId14"/>
    <p:sldId id="272" r:id="rId15"/>
    <p:sldId id="273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87E33277-8AE8-4813-ACD7-2F2A03A5C121}">
          <p14:sldIdLst>
            <p14:sldId id="256"/>
            <p14:sldId id="265"/>
            <p14:sldId id="260"/>
            <p14:sldId id="257"/>
            <p14:sldId id="262"/>
            <p14:sldId id="266"/>
            <p14:sldId id="258"/>
            <p14:sldId id="261"/>
            <p14:sldId id="267"/>
            <p14:sldId id="268"/>
            <p14:sldId id="269"/>
            <p14:sldId id="270"/>
            <p14:sldId id="271"/>
            <p14:sldId id="27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95" autoAdjust="0"/>
  </p:normalViewPr>
  <p:slideViewPr>
    <p:cSldViewPr snapToGrid="0">
      <p:cViewPr varScale="1">
        <p:scale>
          <a:sx n="72" d="100"/>
          <a:sy n="72" d="100"/>
        </p:scale>
        <p:origin x="10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022816-AE3E-4B8B-8402-AAB7C798AAEA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90E25D-CD2D-454C-876D-7BC5622C15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93235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0E25D-CD2D-454C-876D-7BC5622C157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293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890E25D-CD2D-454C-876D-7BC5622C157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9515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486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446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8338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8182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16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3029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70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3993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8406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306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6135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26C9D-9A0E-4BFB-82F1-55497B54A73C}" type="datetimeFigureOut">
              <a:rPr lang="zh-CN" altLang="en-US" smtClean="0"/>
              <a:t>2018/5/3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4A122F-8219-43FE-BD9D-785840DC7A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49697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sz="3600" dirty="0">
                <a:solidFill>
                  <a:prstClr val="black"/>
                </a:solidFill>
                <a:latin typeface="Calibri" panose="020F0502020204030204"/>
                <a:ea typeface="等线" panose="02010600030101010101" pitchFamily="2" charset="-122"/>
              </a:rPr>
              <a:t>实验四 静态路由编程实现</a:t>
            </a:r>
            <a:endParaRPr lang="zh-CN" altLang="en-US" sz="40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558777"/>
            <a:ext cx="6858000" cy="1868356"/>
          </a:xfrm>
        </p:spPr>
        <p:txBody>
          <a:bodyPr>
            <a:normAutofit/>
          </a:bodyPr>
          <a:lstStyle/>
          <a:p>
            <a:pPr algn="r"/>
            <a:endParaRPr lang="en-US" altLang="zh-CN" dirty="0"/>
          </a:p>
          <a:p>
            <a:r>
              <a:rPr lang="zh-CN" altLang="en-US" sz="2000" dirty="0"/>
              <a:t>周华平</a:t>
            </a:r>
            <a:endParaRPr lang="en-US" altLang="zh-CN" sz="2000" dirty="0"/>
          </a:p>
          <a:p>
            <a:r>
              <a:rPr lang="en-US" altLang="zh-CN" sz="2000" dirty="0" smtClean="0"/>
              <a:t>2018.5.3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318252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实验课日程表</a:t>
            </a:r>
            <a:endParaRPr lang="zh-CN" altLang="en-US" dirty="0"/>
          </a:p>
        </p:txBody>
      </p:sp>
      <p:graphicFrame>
        <p:nvGraphicFramePr>
          <p:cNvPr id="4" name="内容占位符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216345"/>
              </p:ext>
            </p:extLst>
          </p:nvPr>
        </p:nvGraphicFramePr>
        <p:xfrm>
          <a:off x="628650" y="2226469"/>
          <a:ext cx="7886700" cy="28194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055771">
                  <a:extLst>
                    <a:ext uri="{9D8B030D-6E8A-4147-A177-3AD203B41FA5}">
                      <a16:colId xmlns:a16="http://schemas.microsoft.com/office/drawing/2014/main" val="1331680845"/>
                    </a:ext>
                  </a:extLst>
                </a:gridCol>
                <a:gridCol w="4767513">
                  <a:extLst>
                    <a:ext uri="{9D8B030D-6E8A-4147-A177-3AD203B41FA5}">
                      <a16:colId xmlns:a16="http://schemas.microsoft.com/office/drawing/2014/main" val="852608964"/>
                    </a:ext>
                  </a:extLst>
                </a:gridCol>
                <a:gridCol w="2063416">
                  <a:extLst>
                    <a:ext uri="{9D8B030D-6E8A-4147-A177-3AD203B41FA5}">
                      <a16:colId xmlns:a16="http://schemas.microsoft.com/office/drawing/2014/main" val="258001500"/>
                    </a:ext>
                  </a:extLst>
                </a:gridCol>
              </a:tblGrid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实验课日期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实验任务</a:t>
                      </a: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/>
                        <a:t>实验</a:t>
                      </a:r>
                      <a:r>
                        <a:rPr lang="zh-CN" altLang="en-US" sz="1400" dirty="0" smtClean="0"/>
                        <a:t>报告截止时间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19299220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2018-03-08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u="none" strike="noStrike" kern="1200" baseline="0" dirty="0"/>
                        <a:t>实验</a:t>
                      </a:r>
                      <a:r>
                        <a:rPr lang="en-US" altLang="zh-CN" sz="1400" u="none" strike="noStrike" kern="1200" baseline="0" dirty="0"/>
                        <a:t>1</a:t>
                      </a:r>
                      <a:r>
                        <a:rPr lang="zh-CN" altLang="en-US" sz="1400" u="none" strike="noStrike" kern="1200" baseline="0" dirty="0"/>
                        <a:t>  基本网络工具集使用和</a:t>
                      </a:r>
                      <a:r>
                        <a:rPr lang="zh-CN" altLang="en-US" sz="1400" u="none" strike="noStrike" kern="1200" baseline="0" dirty="0" smtClean="0"/>
                        <a:t>协议数据单元观测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2018-03-21 </a:t>
                      </a:r>
                      <a:r>
                        <a:rPr lang="en-US" altLang="zh-CN" sz="1400" dirty="0"/>
                        <a:t>23:59:59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298216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2018-03-22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dirty="0" smtClean="0"/>
                        <a:t>实验</a:t>
                      </a:r>
                      <a:r>
                        <a:rPr lang="en-US" altLang="zh-CN" sz="1400" dirty="0" smtClean="0"/>
                        <a:t>2  RAW SOCKET</a:t>
                      </a:r>
                      <a:r>
                        <a:rPr lang="zh-CN" altLang="en-US" sz="1400" dirty="0" smtClean="0"/>
                        <a:t>编程与以太网帧分析基础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2018-04-18 23:59:59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9078787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2018-04-05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zh-CN" altLang="en-US" sz="1400" dirty="0" smtClean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清明假期</a:t>
                      </a:r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92049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2018-04-19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 dirty="0" smtClean="0"/>
                        <a:t>实验</a:t>
                      </a:r>
                      <a:r>
                        <a:rPr lang="en-US" altLang="zh-CN" sz="1400" u="none" strike="noStrike" kern="1200" baseline="0" dirty="0" smtClean="0"/>
                        <a:t>3</a:t>
                      </a:r>
                      <a:r>
                        <a:rPr lang="zh-CN" altLang="en-US" sz="1400" u="none" strike="noStrike" kern="1200" baseline="0" dirty="0" smtClean="0"/>
                        <a:t>  子网划分和</a:t>
                      </a:r>
                      <a:r>
                        <a:rPr lang="en-US" altLang="zh-CN" sz="1400" u="none" strike="noStrike" kern="1200" baseline="0" dirty="0" smtClean="0"/>
                        <a:t>NAT </a:t>
                      </a:r>
                      <a:r>
                        <a:rPr lang="zh-CN" altLang="en-US" sz="1400" u="none" strike="noStrike" kern="1200" baseline="0" dirty="0" smtClean="0"/>
                        <a:t>配置</a:t>
                      </a:r>
                      <a:endParaRPr lang="zh-CN" altLang="en-US" sz="1400" dirty="0" smtClean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2018-05-06 23:59:59</a:t>
                      </a:r>
                      <a:endParaRPr lang="zh-CN" altLang="en-US" sz="1400" dirty="0" smtClean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9633704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>
                          <a:solidFill>
                            <a:srgbClr val="FF0000"/>
                          </a:solidFill>
                        </a:rPr>
                        <a:t>2018-05-03</a:t>
                      </a:r>
                      <a:endParaRPr lang="zh-CN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u="none" strike="noStrike" kern="1200" baseline="0" dirty="0" smtClean="0">
                          <a:solidFill>
                            <a:srgbClr val="FF0000"/>
                          </a:solidFill>
                        </a:rPr>
                        <a:t>实验</a:t>
                      </a:r>
                      <a:r>
                        <a:rPr lang="en-US" altLang="zh-CN" sz="1400" u="none" strike="noStrike" kern="1200" baseline="0" dirty="0" smtClean="0">
                          <a:solidFill>
                            <a:srgbClr val="FF0000"/>
                          </a:solidFill>
                        </a:rPr>
                        <a:t>4</a:t>
                      </a:r>
                      <a:r>
                        <a:rPr lang="zh-CN" altLang="en-US" sz="1400" u="none" strike="noStrike" kern="1200" baseline="0" dirty="0" smtClean="0">
                          <a:solidFill>
                            <a:srgbClr val="FF0000"/>
                          </a:solidFill>
                        </a:rPr>
                        <a:t>  静态路由编程实现</a:t>
                      </a:r>
                      <a:endParaRPr lang="zh-CN" altLang="en-US" sz="14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>
                          <a:solidFill>
                            <a:srgbClr val="FF0000"/>
                          </a:solidFill>
                        </a:rPr>
                        <a:t>2018-05-16 23:59:59</a:t>
                      </a:r>
                      <a:endParaRPr lang="zh-CN" altLang="en-US" sz="1400" dirty="0" smtClean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199264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2018-05-17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2018-05-30 23:59:59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507148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2018-05-31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smtClean="0"/>
                        <a:t>2018-06-13 23:59:59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48696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smtClean="0"/>
                        <a:t>2018-06-14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smtClean="0"/>
                        <a:t>2018-06-24 </a:t>
                      </a:r>
                      <a:r>
                        <a:rPr lang="en-US" altLang="zh-CN" sz="1400" dirty="0" smtClean="0"/>
                        <a:t>23:59:59</a:t>
                      </a:r>
                      <a:endParaRPr lang="zh-CN" altLang="en-US" sz="1400" dirty="0"/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2648657"/>
                  </a:ext>
                </a:extLst>
              </a:tr>
              <a:tr h="278130">
                <a:tc gridSpan="3">
                  <a:txBody>
                    <a:bodyPr/>
                    <a:lstStyle/>
                    <a:p>
                      <a:pPr algn="ctr"/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实验课日期仅供参考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，如有变动，以</a:t>
                      </a:r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群公告为准    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田臣老师班课程</a:t>
                      </a:r>
                      <a:r>
                        <a:rPr lang="en-US" altLang="zh-CN" sz="1400" b="1" dirty="0">
                          <a:solidFill>
                            <a:srgbClr val="FF0000"/>
                          </a:solidFill>
                        </a:rPr>
                        <a:t>QQ</a:t>
                      </a:r>
                      <a:r>
                        <a:rPr lang="zh-CN" altLang="en-US" sz="1400" b="1" dirty="0">
                          <a:solidFill>
                            <a:srgbClr val="FF0000"/>
                          </a:solidFill>
                        </a:rPr>
                        <a:t>群</a:t>
                      </a:r>
                      <a:r>
                        <a:rPr lang="zh-CN" altLang="en-US" sz="1400" b="1" dirty="0" smtClean="0">
                          <a:solidFill>
                            <a:srgbClr val="FF0000"/>
                          </a:solidFill>
                        </a:rPr>
                        <a:t>：</a:t>
                      </a:r>
                      <a:r>
                        <a:rPr lang="en-US" altLang="zh-CN" sz="1400" b="1" dirty="0" smtClean="0">
                          <a:solidFill>
                            <a:srgbClr val="FF0000"/>
                          </a:solidFill>
                        </a:rPr>
                        <a:t>724791341</a:t>
                      </a:r>
                      <a:endParaRPr lang="zh-CN" alt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 marL="68580" marR="68580" marT="34290" marB="3429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53797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50974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实验拓扑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我们要在</a:t>
            </a:r>
            <a:r>
              <a:rPr lang="en-US" altLang="zh-CN" dirty="0"/>
              <a:t>Router1</a:t>
            </a:r>
            <a:r>
              <a:rPr lang="zh-CN" altLang="en-US" dirty="0"/>
              <a:t>、</a:t>
            </a:r>
            <a:r>
              <a:rPr lang="en-US" altLang="zh-CN" dirty="0"/>
              <a:t>Router2</a:t>
            </a:r>
            <a:r>
              <a:rPr lang="zh-CN" altLang="en-US" dirty="0"/>
              <a:t>上实现静态路由的编程，</a:t>
            </a:r>
            <a:r>
              <a:rPr lang="en-US" altLang="zh-CN" dirty="0"/>
              <a:t>PC1</a:t>
            </a:r>
            <a:r>
              <a:rPr lang="zh-CN" altLang="en-US" dirty="0"/>
              <a:t>、</a:t>
            </a:r>
            <a:r>
              <a:rPr lang="en-US" altLang="zh-CN" dirty="0"/>
              <a:t>PC2</a:t>
            </a:r>
            <a:r>
              <a:rPr lang="zh-CN" altLang="en-US" dirty="0"/>
              <a:t>实现</a:t>
            </a:r>
            <a:r>
              <a:rPr lang="en-US" altLang="zh-CN" dirty="0"/>
              <a:t>ICMP</a:t>
            </a:r>
            <a:r>
              <a:rPr lang="zh-CN" altLang="en-US" dirty="0"/>
              <a:t>的收发</a:t>
            </a:r>
            <a:r>
              <a:rPr lang="zh-CN" altLang="en-US" dirty="0" smtClean="0"/>
              <a:t>程序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39" y="2798716"/>
            <a:ext cx="7675388" cy="3436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060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图片 4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628" y="1462087"/>
            <a:ext cx="8325588" cy="4791429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</p:spPr>
        <p:txBody>
          <a:bodyPr/>
          <a:lstStyle/>
          <a:p>
            <a:r>
              <a:rPr lang="en-US" altLang="zh-CN" dirty="0"/>
              <a:t>Router</a:t>
            </a:r>
            <a:r>
              <a:rPr lang="zh-CN" altLang="en-US" dirty="0" smtClean="0"/>
              <a:t>的</a:t>
            </a:r>
            <a:r>
              <a:rPr lang="zh-CN" altLang="en-US" dirty="0"/>
              <a:t>结构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H="1" flipV="1">
            <a:off x="3763926" y="5171677"/>
            <a:ext cx="817496" cy="10818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3695878" y="3993589"/>
            <a:ext cx="885544" cy="225992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3800517" y="6254507"/>
            <a:ext cx="1682871" cy="36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2</a:t>
            </a:r>
            <a:r>
              <a:rPr lang="zh-CN" altLang="en-US" dirty="0">
                <a:solidFill>
                  <a:srgbClr val="FF0000"/>
                </a:solidFill>
              </a:rPr>
              <a:t>、路由表查询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1796831" y="2738073"/>
            <a:ext cx="908092" cy="125551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>
            <a:off x="1796831" y="2741384"/>
            <a:ext cx="908092" cy="2485582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955244" y="2366352"/>
            <a:ext cx="1682871" cy="36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1</a:t>
            </a:r>
            <a:r>
              <a:rPr lang="zh-CN" altLang="en-US" dirty="0">
                <a:solidFill>
                  <a:srgbClr val="FF0000"/>
                </a:solidFill>
              </a:rPr>
              <a:t>、数据报进入</a:t>
            </a:r>
          </a:p>
        </p:txBody>
      </p:sp>
      <p:cxnSp>
        <p:nvCxnSpPr>
          <p:cNvPr id="19" name="直接箭头连接符 18"/>
          <p:cNvCxnSpPr>
            <a:stCxn id="20" idx="2"/>
          </p:cNvCxnSpPr>
          <p:nvPr/>
        </p:nvCxnSpPr>
        <p:spPr>
          <a:xfrm flipH="1">
            <a:off x="4929256" y="3028152"/>
            <a:ext cx="993117" cy="965437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4965781" y="2659811"/>
            <a:ext cx="1913183" cy="36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3</a:t>
            </a:r>
            <a:r>
              <a:rPr lang="zh-CN" altLang="en-US" dirty="0">
                <a:solidFill>
                  <a:srgbClr val="FF0000"/>
                </a:solidFill>
              </a:rPr>
              <a:t>、经过交换网络</a:t>
            </a:r>
          </a:p>
        </p:txBody>
      </p:sp>
      <p:sp>
        <p:nvSpPr>
          <p:cNvPr id="28" name="文本框 27"/>
          <p:cNvSpPr txBox="1"/>
          <p:nvPr/>
        </p:nvSpPr>
        <p:spPr>
          <a:xfrm>
            <a:off x="6274270" y="6177953"/>
            <a:ext cx="1682871" cy="36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4</a:t>
            </a:r>
            <a:r>
              <a:rPr lang="zh-CN" altLang="en-US" dirty="0">
                <a:solidFill>
                  <a:srgbClr val="FF0000"/>
                </a:solidFill>
              </a:rPr>
              <a:t>、数据报离开</a:t>
            </a:r>
          </a:p>
        </p:txBody>
      </p:sp>
      <p:sp>
        <p:nvSpPr>
          <p:cNvPr id="29" name="文本框 28"/>
          <p:cNvSpPr txBox="1"/>
          <p:nvPr/>
        </p:nvSpPr>
        <p:spPr>
          <a:xfrm>
            <a:off x="3280781" y="1457283"/>
            <a:ext cx="3178293" cy="3683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路由选择处理器（静态路由）</a:t>
            </a:r>
          </a:p>
        </p:txBody>
      </p:sp>
      <p:cxnSp>
        <p:nvCxnSpPr>
          <p:cNvPr id="42" name="直接箭头连接符 41"/>
          <p:cNvCxnSpPr/>
          <p:nvPr/>
        </p:nvCxnSpPr>
        <p:spPr>
          <a:xfrm flipH="1" flipV="1">
            <a:off x="6124353" y="5162325"/>
            <a:ext cx="940126" cy="1014638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 flipV="1">
            <a:off x="6094582" y="3993589"/>
            <a:ext cx="969898" cy="218337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36492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7" grpId="0"/>
      <p:bldP spid="20" grpId="0"/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Router</a:t>
            </a:r>
            <a:r>
              <a:rPr lang="zh-CN" altLang="en-US" dirty="0"/>
              <a:t>的三个表项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 smtClean="0"/>
              <a:t>Router</a:t>
            </a:r>
            <a:r>
              <a:rPr lang="zh-CN" altLang="en-US" dirty="0" smtClean="0"/>
              <a:t>维护</a:t>
            </a:r>
            <a:r>
              <a:rPr lang="en-US" altLang="zh-CN" dirty="0" smtClean="0"/>
              <a:t>3</a:t>
            </a:r>
            <a:r>
              <a:rPr lang="zh-CN" altLang="en-US" dirty="0" smtClean="0"/>
              <a:t>个表项：路由表</a:t>
            </a:r>
            <a:r>
              <a:rPr lang="en-US" altLang="zh-CN" dirty="0" smtClean="0"/>
              <a:t>(route/</a:t>
            </a:r>
            <a:r>
              <a:rPr lang="en-US" altLang="zh-CN" dirty="0" err="1" smtClean="0"/>
              <a:t>ip</a:t>
            </a:r>
            <a:r>
              <a:rPr lang="en-US" altLang="zh-CN" dirty="0" smtClean="0"/>
              <a:t> route)</a:t>
            </a:r>
            <a:r>
              <a:rPr lang="zh-CN" altLang="en-US" dirty="0" smtClean="0"/>
              <a:t>，</a:t>
            </a:r>
            <a:r>
              <a:rPr lang="en-US" altLang="zh-CN" dirty="0" smtClean="0"/>
              <a:t>ARP</a:t>
            </a:r>
            <a:r>
              <a:rPr lang="zh-CN" altLang="en-US" dirty="0" smtClean="0"/>
              <a:t>表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arp</a:t>
            </a:r>
            <a:r>
              <a:rPr lang="en-US" altLang="zh-CN" dirty="0" smtClean="0"/>
              <a:t>)</a:t>
            </a:r>
            <a:r>
              <a:rPr lang="zh-CN" altLang="en-US" dirty="0" smtClean="0"/>
              <a:t>，设备表</a:t>
            </a:r>
            <a:r>
              <a:rPr lang="en-US" altLang="zh-CN" dirty="0" smtClean="0"/>
              <a:t>(</a:t>
            </a:r>
            <a:r>
              <a:rPr lang="en-US" altLang="zh-CN" dirty="0" err="1" smtClean="0"/>
              <a:t>ifconfig</a:t>
            </a:r>
            <a:r>
              <a:rPr lang="en-US" altLang="zh-CN" dirty="0"/>
              <a:t>)</a:t>
            </a:r>
            <a:endParaRPr lang="en-US" altLang="zh-CN" dirty="0" smtClean="0"/>
          </a:p>
          <a:p>
            <a:r>
              <a:rPr lang="zh-CN" altLang="en-US" dirty="0" smtClean="0"/>
              <a:t>路由表用来</a:t>
            </a:r>
            <a:r>
              <a:rPr lang="zh-CN" altLang="en-US" dirty="0"/>
              <a:t>查找转发的设备</a:t>
            </a:r>
            <a:r>
              <a:rPr lang="zh-CN" altLang="en-US" dirty="0" smtClean="0"/>
              <a:t>接口，需要手工配置</a:t>
            </a:r>
            <a:endParaRPr lang="en-US" altLang="zh-CN" dirty="0" smtClean="0"/>
          </a:p>
          <a:p>
            <a:r>
              <a:rPr lang="zh-CN" altLang="en-US" dirty="0" smtClean="0"/>
              <a:t>设备表用来描述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地址和物理接口的绑定关系，需要手工配置</a:t>
            </a:r>
            <a:endParaRPr lang="en-US" altLang="zh-CN" dirty="0"/>
          </a:p>
          <a:p>
            <a:r>
              <a:rPr lang="en-US" altLang="zh-CN" dirty="0"/>
              <a:t>ARP</a:t>
            </a:r>
            <a:r>
              <a:rPr lang="zh-CN" altLang="en-US" dirty="0"/>
              <a:t>表</a:t>
            </a:r>
            <a:r>
              <a:rPr lang="zh-CN" altLang="en-US" dirty="0" smtClean="0"/>
              <a:t>用来</a:t>
            </a:r>
            <a:r>
              <a:rPr lang="zh-CN" altLang="en-US" dirty="0"/>
              <a:t>查找</a:t>
            </a:r>
            <a:r>
              <a:rPr lang="zh-CN" altLang="en-US" dirty="0" smtClean="0"/>
              <a:t>下</a:t>
            </a:r>
            <a:r>
              <a:rPr lang="zh-CN" altLang="en-US" dirty="0"/>
              <a:t>一跳的</a:t>
            </a:r>
            <a:r>
              <a:rPr lang="en-US" altLang="zh-CN" dirty="0"/>
              <a:t>MAC</a:t>
            </a:r>
            <a:r>
              <a:rPr lang="zh-CN" altLang="en-US" dirty="0" smtClean="0"/>
              <a:t>地址，需要通过</a:t>
            </a:r>
            <a:r>
              <a:rPr lang="en-US" altLang="zh-CN" dirty="0" smtClean="0"/>
              <a:t>ARP</a:t>
            </a:r>
            <a:r>
              <a:rPr lang="zh-CN" altLang="en-US" dirty="0" smtClean="0"/>
              <a:t>协议生成</a:t>
            </a:r>
            <a:endParaRPr lang="en-US" altLang="zh-CN" dirty="0" smtClean="0"/>
          </a:p>
          <a:p>
            <a:endParaRPr lang="zh-CN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318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ARP</a:t>
            </a:r>
            <a:r>
              <a:rPr lang="zh-CN" altLang="en-US" dirty="0" smtClean="0"/>
              <a:t>协议</a:t>
            </a:r>
            <a:r>
              <a:rPr lang="en-US" altLang="zh-CN" dirty="0" smtClean="0"/>
              <a:t>(</a:t>
            </a:r>
            <a:r>
              <a:rPr lang="zh-CN" altLang="en-US" dirty="0" smtClean="0"/>
              <a:t>选做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路由表中的下一跳地址为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</a:t>
            </a:r>
            <a:endParaRPr lang="en-US" altLang="zh-CN" dirty="0" smtClean="0"/>
          </a:p>
          <a:p>
            <a:r>
              <a:rPr lang="zh-CN" altLang="en-US" dirty="0"/>
              <a:t>我们</a:t>
            </a:r>
            <a:r>
              <a:rPr lang="zh-CN" altLang="en-US" dirty="0" smtClean="0"/>
              <a:t>需要通过该</a:t>
            </a:r>
            <a:r>
              <a:rPr lang="en-US" altLang="zh-CN" dirty="0" smtClean="0"/>
              <a:t>IP</a:t>
            </a:r>
            <a:r>
              <a:rPr lang="zh-CN" altLang="en-US" dirty="0" smtClean="0"/>
              <a:t>地址找到对应物理接口的</a:t>
            </a:r>
            <a:r>
              <a:rPr lang="en-US" altLang="zh-CN" dirty="0" smtClean="0"/>
              <a:t>MAC</a:t>
            </a:r>
            <a:r>
              <a:rPr lang="zh-CN" altLang="en-US" dirty="0" smtClean="0"/>
              <a:t>地址</a:t>
            </a:r>
            <a:r>
              <a:rPr lang="zh-CN" altLang="en-US" dirty="0"/>
              <a:t>：</a:t>
            </a:r>
            <a:r>
              <a:rPr lang="en-US" altLang="zh-CN" dirty="0" smtClean="0"/>
              <a:t>IP Address-&gt;MAC Address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412" y="3337747"/>
            <a:ext cx="7000000" cy="157142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412" y="5044112"/>
            <a:ext cx="7409524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64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024" y="2100967"/>
            <a:ext cx="8467951" cy="3908556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数据报的变化</a:t>
            </a: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1033586"/>
              </p:ext>
            </p:extLst>
          </p:nvPr>
        </p:nvGraphicFramePr>
        <p:xfrm>
          <a:off x="6113721" y="165868"/>
          <a:ext cx="2649633" cy="25603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165329">
                  <a:extLst>
                    <a:ext uri="{9D8B030D-6E8A-4147-A177-3AD203B41FA5}">
                      <a16:colId xmlns:a16="http://schemas.microsoft.com/office/drawing/2014/main" val="23182055"/>
                    </a:ext>
                  </a:extLst>
                </a:gridCol>
                <a:gridCol w="744279">
                  <a:extLst>
                    <a:ext uri="{9D8B030D-6E8A-4147-A177-3AD203B41FA5}">
                      <a16:colId xmlns:a16="http://schemas.microsoft.com/office/drawing/2014/main" val="3984841619"/>
                    </a:ext>
                  </a:extLst>
                </a:gridCol>
                <a:gridCol w="740025">
                  <a:extLst>
                    <a:ext uri="{9D8B030D-6E8A-4147-A177-3AD203B41FA5}">
                      <a16:colId xmlns:a16="http://schemas.microsoft.com/office/drawing/2014/main" val="712330117"/>
                    </a:ext>
                  </a:extLst>
                </a:gridCol>
              </a:tblGrid>
              <a:tr h="31047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MAC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IP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9692566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r>
                        <a:rPr lang="en-US" altLang="zh-CN" dirty="0"/>
                        <a:t>Router1_1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ra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96207"/>
                  </a:ext>
                </a:extLst>
              </a:tr>
              <a:tr h="310470">
                <a:tc>
                  <a:txBody>
                    <a:bodyPr/>
                    <a:lstStyle/>
                    <a:p>
                      <a:r>
                        <a:rPr lang="en-US" altLang="zh-CN" dirty="0"/>
                        <a:t>Router1_2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rb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179023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altLang="zh-CN" dirty="0"/>
                        <a:t>Router2_1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rc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2.2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2231931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altLang="zh-CN" dirty="0"/>
                        <a:t>Router2_2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/>
                        <a:t>rd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/>
                        <a:t>3.1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4260776"/>
                  </a:ext>
                </a:extLst>
              </a:tr>
              <a:tr h="243840">
                <a:tc>
                  <a:txBody>
                    <a:bodyPr/>
                    <a:lstStyle/>
                    <a:p>
                      <a:r>
                        <a:rPr lang="en-US" altLang="zh-CN" dirty="0"/>
                        <a:t>PC1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p1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1.2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74845844"/>
                  </a:ext>
                </a:extLst>
              </a:tr>
              <a:tr h="121920">
                <a:tc>
                  <a:txBody>
                    <a:bodyPr/>
                    <a:lstStyle/>
                    <a:p>
                      <a:r>
                        <a:rPr lang="en-US" altLang="zh-CN" dirty="0"/>
                        <a:t>PC2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p2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3.2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8783246"/>
                  </a:ext>
                </a:extLst>
              </a:tr>
            </a:tbl>
          </a:graphicData>
        </a:graphic>
      </p:graphicFrame>
      <p:sp>
        <p:nvSpPr>
          <p:cNvPr id="19" name="矩形 18"/>
          <p:cNvSpPr/>
          <p:nvPr/>
        </p:nvSpPr>
        <p:spPr>
          <a:xfrm>
            <a:off x="729047" y="3115426"/>
            <a:ext cx="502654" cy="2551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p1</a:t>
            </a:r>
            <a:endParaRPr lang="zh-CN" altLang="en-US" dirty="0"/>
          </a:p>
        </p:txBody>
      </p:sp>
      <p:sp>
        <p:nvSpPr>
          <p:cNvPr id="20" name="矩形 19"/>
          <p:cNvSpPr/>
          <p:nvPr/>
        </p:nvSpPr>
        <p:spPr>
          <a:xfrm>
            <a:off x="1231701" y="3115426"/>
            <a:ext cx="502654" cy="25518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ra</a:t>
            </a:r>
            <a:endParaRPr lang="zh-CN" altLang="en-US" dirty="0"/>
          </a:p>
        </p:txBody>
      </p:sp>
      <p:sp>
        <p:nvSpPr>
          <p:cNvPr id="21" name="矩形 20"/>
          <p:cNvSpPr/>
          <p:nvPr/>
        </p:nvSpPr>
        <p:spPr>
          <a:xfrm>
            <a:off x="1734355" y="3115426"/>
            <a:ext cx="502654" cy="2551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1.2</a:t>
            </a:r>
            <a:endParaRPr lang="zh-CN" altLang="en-US" dirty="0"/>
          </a:p>
        </p:txBody>
      </p:sp>
      <p:sp>
        <p:nvSpPr>
          <p:cNvPr id="22" name="矩形 21"/>
          <p:cNvSpPr/>
          <p:nvPr/>
        </p:nvSpPr>
        <p:spPr>
          <a:xfrm>
            <a:off x="2237009" y="3115426"/>
            <a:ext cx="502654" cy="255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23" name="矩形 22"/>
          <p:cNvSpPr/>
          <p:nvPr/>
        </p:nvSpPr>
        <p:spPr>
          <a:xfrm>
            <a:off x="729047" y="3370607"/>
            <a:ext cx="502654" cy="2551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MAC</a:t>
            </a:r>
            <a:endParaRPr lang="zh-CN" altLang="en-US" sz="800" dirty="0"/>
          </a:p>
        </p:txBody>
      </p:sp>
      <p:sp>
        <p:nvSpPr>
          <p:cNvPr id="24" name="矩形 23"/>
          <p:cNvSpPr/>
          <p:nvPr/>
        </p:nvSpPr>
        <p:spPr>
          <a:xfrm>
            <a:off x="1231701" y="3370607"/>
            <a:ext cx="502654" cy="2551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MAC</a:t>
            </a:r>
          </a:p>
        </p:txBody>
      </p:sp>
      <p:sp>
        <p:nvSpPr>
          <p:cNvPr id="25" name="矩形 24"/>
          <p:cNvSpPr/>
          <p:nvPr/>
        </p:nvSpPr>
        <p:spPr>
          <a:xfrm>
            <a:off x="1734355" y="3370607"/>
            <a:ext cx="502654" cy="2551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26" name="矩形 25"/>
          <p:cNvSpPr/>
          <p:nvPr/>
        </p:nvSpPr>
        <p:spPr>
          <a:xfrm>
            <a:off x="2237009" y="3370607"/>
            <a:ext cx="502654" cy="255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27" name="矩形 26"/>
          <p:cNvSpPr/>
          <p:nvPr/>
        </p:nvSpPr>
        <p:spPr>
          <a:xfrm>
            <a:off x="2931198" y="3813239"/>
            <a:ext cx="502654" cy="2551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rb</a:t>
            </a:r>
            <a:endParaRPr lang="zh-CN" altLang="en-US" dirty="0"/>
          </a:p>
        </p:txBody>
      </p:sp>
      <p:sp>
        <p:nvSpPr>
          <p:cNvPr id="28" name="矩形 27"/>
          <p:cNvSpPr/>
          <p:nvPr/>
        </p:nvSpPr>
        <p:spPr>
          <a:xfrm>
            <a:off x="3433852" y="3813239"/>
            <a:ext cx="502654" cy="25518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rc</a:t>
            </a:r>
            <a:endParaRPr lang="zh-CN" altLang="en-US" dirty="0"/>
          </a:p>
        </p:txBody>
      </p:sp>
      <p:sp>
        <p:nvSpPr>
          <p:cNvPr id="29" name="矩形 28"/>
          <p:cNvSpPr/>
          <p:nvPr/>
        </p:nvSpPr>
        <p:spPr>
          <a:xfrm>
            <a:off x="3936506" y="3813239"/>
            <a:ext cx="502654" cy="2551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1.2</a:t>
            </a:r>
            <a:endParaRPr lang="zh-CN" altLang="en-US" dirty="0"/>
          </a:p>
        </p:txBody>
      </p:sp>
      <p:sp>
        <p:nvSpPr>
          <p:cNvPr id="30" name="矩形 29"/>
          <p:cNvSpPr/>
          <p:nvPr/>
        </p:nvSpPr>
        <p:spPr>
          <a:xfrm>
            <a:off x="4439160" y="3813239"/>
            <a:ext cx="502654" cy="255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2931198" y="4068420"/>
            <a:ext cx="502654" cy="2551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MAC</a:t>
            </a:r>
            <a:endParaRPr lang="zh-CN" altLang="en-US" sz="800" dirty="0"/>
          </a:p>
        </p:txBody>
      </p:sp>
      <p:sp>
        <p:nvSpPr>
          <p:cNvPr id="32" name="矩形 31"/>
          <p:cNvSpPr/>
          <p:nvPr/>
        </p:nvSpPr>
        <p:spPr>
          <a:xfrm>
            <a:off x="3433852" y="4068420"/>
            <a:ext cx="502654" cy="2551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MAC</a:t>
            </a:r>
          </a:p>
        </p:txBody>
      </p:sp>
      <p:sp>
        <p:nvSpPr>
          <p:cNvPr id="33" name="矩形 32"/>
          <p:cNvSpPr/>
          <p:nvPr/>
        </p:nvSpPr>
        <p:spPr>
          <a:xfrm>
            <a:off x="3936506" y="4068420"/>
            <a:ext cx="502654" cy="2551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34" name="矩形 33"/>
          <p:cNvSpPr/>
          <p:nvPr/>
        </p:nvSpPr>
        <p:spPr>
          <a:xfrm>
            <a:off x="4439160" y="4068420"/>
            <a:ext cx="502654" cy="255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35" name="矩形 34"/>
          <p:cNvSpPr/>
          <p:nvPr/>
        </p:nvSpPr>
        <p:spPr>
          <a:xfrm>
            <a:off x="6434043" y="3857493"/>
            <a:ext cx="502654" cy="255181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rd</a:t>
            </a:r>
            <a:endParaRPr lang="zh-CN" altLang="en-US" dirty="0"/>
          </a:p>
        </p:txBody>
      </p:sp>
      <p:sp>
        <p:nvSpPr>
          <p:cNvPr id="36" name="矩形 35"/>
          <p:cNvSpPr/>
          <p:nvPr/>
        </p:nvSpPr>
        <p:spPr>
          <a:xfrm>
            <a:off x="6936697" y="3857493"/>
            <a:ext cx="502654" cy="255181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p2</a:t>
            </a:r>
            <a:endParaRPr lang="zh-CN" altLang="en-US" dirty="0"/>
          </a:p>
        </p:txBody>
      </p:sp>
      <p:sp>
        <p:nvSpPr>
          <p:cNvPr id="37" name="矩形 36"/>
          <p:cNvSpPr/>
          <p:nvPr/>
        </p:nvSpPr>
        <p:spPr>
          <a:xfrm>
            <a:off x="7439351" y="3857493"/>
            <a:ext cx="502654" cy="25518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1.2</a:t>
            </a:r>
            <a:endParaRPr lang="zh-CN" altLang="en-US" dirty="0"/>
          </a:p>
        </p:txBody>
      </p:sp>
      <p:sp>
        <p:nvSpPr>
          <p:cNvPr id="38" name="矩形 37"/>
          <p:cNvSpPr/>
          <p:nvPr/>
        </p:nvSpPr>
        <p:spPr>
          <a:xfrm>
            <a:off x="7942005" y="3857493"/>
            <a:ext cx="502654" cy="25518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3.2</a:t>
            </a:r>
            <a:endParaRPr lang="zh-CN" altLang="en-US" dirty="0"/>
          </a:p>
        </p:txBody>
      </p:sp>
      <p:sp>
        <p:nvSpPr>
          <p:cNvPr id="39" name="矩形 38"/>
          <p:cNvSpPr/>
          <p:nvPr/>
        </p:nvSpPr>
        <p:spPr>
          <a:xfrm>
            <a:off x="6434043" y="4112674"/>
            <a:ext cx="502654" cy="25518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MAC</a:t>
            </a:r>
            <a:endParaRPr lang="zh-CN" altLang="en-US" sz="800" dirty="0"/>
          </a:p>
        </p:txBody>
      </p:sp>
      <p:sp>
        <p:nvSpPr>
          <p:cNvPr id="40" name="矩形 39"/>
          <p:cNvSpPr/>
          <p:nvPr/>
        </p:nvSpPr>
        <p:spPr>
          <a:xfrm>
            <a:off x="6936697" y="4112674"/>
            <a:ext cx="502654" cy="255181"/>
          </a:xfrm>
          <a:prstGeom prst="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MAC</a:t>
            </a:r>
          </a:p>
        </p:txBody>
      </p:sp>
      <p:sp>
        <p:nvSpPr>
          <p:cNvPr id="41" name="矩形 40"/>
          <p:cNvSpPr/>
          <p:nvPr/>
        </p:nvSpPr>
        <p:spPr>
          <a:xfrm>
            <a:off x="7439351" y="4112674"/>
            <a:ext cx="502654" cy="25518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源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42" name="矩形 41"/>
          <p:cNvSpPr/>
          <p:nvPr/>
        </p:nvSpPr>
        <p:spPr>
          <a:xfrm>
            <a:off x="7942005" y="4112674"/>
            <a:ext cx="502654" cy="25518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800" dirty="0"/>
              <a:t>目</a:t>
            </a:r>
            <a:r>
              <a:rPr lang="en-US" altLang="zh-CN" sz="800" dirty="0"/>
              <a:t>IP</a:t>
            </a:r>
            <a:endParaRPr lang="zh-CN" altLang="en-US" sz="800" dirty="0"/>
          </a:p>
        </p:txBody>
      </p:sp>
      <p:sp>
        <p:nvSpPr>
          <p:cNvPr id="44" name="文本框 43"/>
          <p:cNvSpPr txBox="1"/>
          <p:nvPr/>
        </p:nvSpPr>
        <p:spPr>
          <a:xfrm>
            <a:off x="2184956" y="4537331"/>
            <a:ext cx="55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1_1</a:t>
            </a:r>
            <a:endParaRPr lang="zh-CN" altLang="en-US" dirty="0"/>
          </a:p>
        </p:txBody>
      </p:sp>
      <p:sp>
        <p:nvSpPr>
          <p:cNvPr id="45" name="文本框 44"/>
          <p:cNvSpPr txBox="1"/>
          <p:nvPr/>
        </p:nvSpPr>
        <p:spPr>
          <a:xfrm>
            <a:off x="3329762" y="4478698"/>
            <a:ext cx="55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1_2</a:t>
            </a:r>
            <a:endParaRPr lang="zh-CN" altLang="en-US" dirty="0"/>
          </a:p>
        </p:txBody>
      </p:sp>
      <p:sp>
        <p:nvSpPr>
          <p:cNvPr id="46" name="文本框 45"/>
          <p:cNvSpPr txBox="1"/>
          <p:nvPr/>
        </p:nvSpPr>
        <p:spPr>
          <a:xfrm>
            <a:off x="5084890" y="3058350"/>
            <a:ext cx="55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2_1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5151381" y="3743342"/>
            <a:ext cx="5547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2_2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80357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6182" y="294682"/>
            <a:ext cx="6525682" cy="6478856"/>
          </a:xfrm>
          <a:prstGeom prst="rect">
            <a:avLst/>
          </a:prstGeom>
          <a:effectLst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程序流程图</a:t>
            </a:r>
          </a:p>
        </p:txBody>
      </p:sp>
    </p:spTree>
    <p:extLst>
      <p:ext uri="{BB962C8B-B14F-4D97-AF65-F5344CB8AC3E}">
        <p14:creationId xmlns:p14="http://schemas.microsoft.com/office/powerpoint/2010/main" val="27905906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发送链路层数据帧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socket.h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if_packet.h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zh-CN" altLang="en-US" sz="1600" dirty="0" smtClean="0"/>
              <a:t>指定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SOCK_DGRAM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类型则发送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接收的数据包会自动添加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去除以太网帧头部</a:t>
            </a:r>
            <a:endParaRPr lang="en-US" altLang="zh-CN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= socket(AF_PACKET, SOCK_DGRAM,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(ETH_P_IP));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sockaddr_ll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{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sll_family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AF_PACKET,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sll_protocol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(ETH_P_IP),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sll_halen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ETH_ALEN,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sll_ifindex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if_index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memcpy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dest_addr.sll_addr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dest_mac_addr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ETH_ALEN);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sendto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buffer,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nbytes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0,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*)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dest_addr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2300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接收链路</a:t>
            </a:r>
            <a:r>
              <a:rPr lang="zh-CN" altLang="en-US" dirty="0"/>
              <a:t>层数据帧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socket.h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linux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if_packet.h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sockaddr_ll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socklen_t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addr_len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中保存了链路层发送端的地址信息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recvfrom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buffer, BUF_LEN, 0,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*)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addr_len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r>
              <a:rPr lang="en-US" altLang="zh-CN" dirty="0" smtClean="0">
                <a:solidFill>
                  <a:prstClr val="black"/>
                </a:solidFill>
              </a:rPr>
              <a:t>Raw Socket</a:t>
            </a:r>
            <a:r>
              <a:rPr lang="zh-CN" altLang="en-US" dirty="0" smtClean="0">
                <a:solidFill>
                  <a:prstClr val="black"/>
                </a:solidFill>
              </a:rPr>
              <a:t>上调用</a:t>
            </a:r>
            <a:r>
              <a:rPr lang="en-US" altLang="zh-CN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recvfrom</a:t>
            </a:r>
            <a:r>
              <a:rPr lang="en-US" altLang="zh-CN" dirty="0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zh-CN" altLang="en-US" dirty="0" smtClean="0">
                <a:solidFill>
                  <a:prstClr val="black"/>
                </a:solidFill>
              </a:rPr>
              <a:t>默认会接收</a:t>
            </a:r>
            <a:r>
              <a:rPr lang="zh-CN" altLang="en-US" dirty="0" smtClean="0"/>
              <a:t>所有</a:t>
            </a:r>
            <a:r>
              <a:rPr lang="zh-CN" altLang="en-US" dirty="0" smtClean="0">
                <a:solidFill>
                  <a:prstClr val="black"/>
                </a:solidFill>
              </a:rPr>
              <a:t>本机</a:t>
            </a:r>
            <a:r>
              <a:rPr lang="zh-CN" altLang="en-US" dirty="0" smtClean="0">
                <a:solidFill>
                  <a:srgbClr val="FF0000"/>
                </a:solidFill>
              </a:rPr>
              <a:t>发送</a:t>
            </a:r>
            <a:r>
              <a:rPr lang="en-US" altLang="zh-CN" dirty="0" smtClean="0">
                <a:solidFill>
                  <a:prstClr val="black"/>
                </a:solidFill>
              </a:rPr>
              <a:t>&amp;</a:t>
            </a:r>
            <a:r>
              <a:rPr lang="zh-CN" altLang="en-US" dirty="0" smtClean="0">
                <a:solidFill>
                  <a:prstClr val="black"/>
                </a:solidFill>
              </a:rPr>
              <a:t>接收的数据包</a:t>
            </a:r>
            <a:r>
              <a:rPr lang="en-US" altLang="zh-CN" dirty="0">
                <a:solidFill>
                  <a:prstClr val="black"/>
                </a:solidFill>
              </a:rPr>
              <a:t>(</a:t>
            </a:r>
            <a:r>
              <a:rPr lang="zh-CN" altLang="en-US" dirty="0" smtClean="0">
                <a:solidFill>
                  <a:prstClr val="black"/>
                </a:solidFill>
              </a:rPr>
              <a:t>包括</a:t>
            </a:r>
            <a:r>
              <a:rPr lang="en-US" altLang="zh-CN" dirty="0" smtClean="0">
                <a:solidFill>
                  <a:prstClr val="black"/>
                </a:solidFill>
              </a:rPr>
              <a:t>loopback</a:t>
            </a:r>
            <a:r>
              <a:rPr lang="zh-CN" altLang="en-US" dirty="0" smtClean="0">
                <a:solidFill>
                  <a:prstClr val="black"/>
                </a:solidFill>
              </a:rPr>
              <a:t>设备</a:t>
            </a:r>
            <a:r>
              <a:rPr lang="en-US" altLang="zh-CN" dirty="0" smtClean="0"/>
              <a:t>)</a:t>
            </a:r>
            <a:endParaRPr lang="en-US" altLang="zh-CN" dirty="0" smtClean="0">
              <a:solidFill>
                <a:prstClr val="black"/>
              </a:solidFill>
            </a:endParaRPr>
          </a:p>
          <a:p>
            <a:pPr lvl="0"/>
            <a:r>
              <a:rPr lang="zh-CN" altLang="en-US" dirty="0" smtClean="0">
                <a:solidFill>
                  <a:prstClr val="black"/>
                </a:solidFill>
              </a:rPr>
              <a:t>需要根据</a:t>
            </a:r>
            <a:r>
              <a:rPr lang="en-US" altLang="zh-CN" dirty="0" err="1" smtClean="0">
                <a:solidFill>
                  <a:prstClr val="blac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r>
              <a:rPr lang="zh-CN" altLang="en-US" dirty="0" smtClean="0">
                <a:solidFill>
                  <a:prstClr val="black"/>
                </a:solidFill>
              </a:rPr>
              <a:t>中的相关字段对数据包来源进行判断</a:t>
            </a:r>
            <a:r>
              <a:rPr lang="en-US" altLang="zh-CN" dirty="0" smtClean="0">
                <a:solidFill>
                  <a:prstClr val="black"/>
                </a:solidFill>
              </a:rPr>
              <a:t>(</a:t>
            </a:r>
            <a:r>
              <a:rPr lang="en-US" altLang="zh-CN" dirty="0" err="1" smtClean="0">
                <a:solidFill>
                  <a:prstClr val="black"/>
                </a:solidFill>
              </a:rPr>
              <a:t>eg</a:t>
            </a:r>
            <a:r>
              <a:rPr lang="en-US" altLang="zh-CN" dirty="0" smtClean="0">
                <a:solidFill>
                  <a:prstClr val="black"/>
                </a:solidFill>
              </a:rPr>
              <a:t>: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sll_hatype</a:t>
            </a:r>
            <a:r>
              <a:rPr lang="en-US" altLang="zh-CN" dirty="0" smtClean="0"/>
              <a:t>, </a:t>
            </a:r>
            <a:r>
              <a:rPr lang="en-US" altLang="zh-CN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sll_pkttype</a:t>
            </a:r>
            <a:r>
              <a:rPr lang="en-US" altLang="zh-CN" dirty="0" smtClean="0"/>
              <a:t>, etc</a:t>
            </a:r>
            <a:r>
              <a:rPr lang="en-US" altLang="zh-CN" dirty="0"/>
              <a:t>.</a:t>
            </a:r>
            <a:r>
              <a:rPr lang="en-US" altLang="zh-CN" dirty="0" smtClean="0"/>
              <a:t>)</a:t>
            </a:r>
            <a:endParaRPr lang="en-US" altLang="zh-CN" dirty="0">
              <a:solidFill>
                <a:prstClr val="black"/>
              </a:solidFill>
            </a:endParaRPr>
          </a:p>
          <a:p>
            <a:pPr lvl="0"/>
            <a:endParaRPr lang="en-US" altLang="zh-CN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9757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获取物理接口信息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&lt;sys/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socket.h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include &lt;sys/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&lt;net/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char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if_name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"eth0";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memset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0,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strncpy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req.ifr_name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if_name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IFNAMSIZ - 1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socket(AF_PACKET, SOCK_DGRAM,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(ETH_P_IP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get interface index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SIOCGIFINDEX,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if_index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req.ifr_ifindex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get mac 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addr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ioctl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sockfd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SIOCGIFHWADDR,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memcpy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mac_addr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req.ifr_hwaddr.sa_data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ETH_ALEN);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2263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IP</a:t>
            </a:r>
            <a:r>
              <a:rPr lang="zh-CN" altLang="en-US" dirty="0" smtClean="0"/>
              <a:t>相关数据结构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netinet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in_addr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 // 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表示</a:t>
            </a:r>
            <a:r>
              <a:rPr lang="en-US" altLang="zh-CN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zh-CN" altLang="en-US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地址的数据结构</a:t>
            </a:r>
            <a:endParaRPr lang="en-US" altLang="zh-CN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arpa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Convert Internet host address from numbers-and-dots notation in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CP into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binary data and store the result in the structure INP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 */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inet_aton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const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char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inp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/* Convert Internet number in IN to ASCII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representation. The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return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value is 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pointer to an internal array containing the string.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char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inet_ntoa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in_addr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in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endParaRPr lang="en-US" altLang="zh-CN" sz="16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9050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Header</a:t>
            </a:r>
            <a:r>
              <a:rPr lang="zh-CN" altLang="en-US" dirty="0" smtClean="0"/>
              <a:t>数据结构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&lt;net/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ethernet.h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ether_header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eth_header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&lt;net/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if_arp.h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arphdr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arp_header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netinet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ip_header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netinet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ip_icmp.h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icmphdr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*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icmp_header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945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字节序</a:t>
            </a:r>
            <a:r>
              <a:rPr lang="zh-CN" altLang="en-US" dirty="0" smtClean="0"/>
              <a:t>转换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netinet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in.h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marL="0" indent="0">
              <a:buNone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network to host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uint32_t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(uint32_t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netlong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uint16_t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ntohs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(uint16_t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netshort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: host to </a:t>
            </a:r>
            <a:r>
              <a:rPr lang="en-US" altLang="zh-CN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network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uint32_t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htonl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(uint32_t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hostlong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uint16_t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htons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(uint16_t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hostshort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zh-CN" alt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9027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最后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实验报告截止时间：</a:t>
            </a:r>
            <a:r>
              <a:rPr lang="en-US" altLang="zh-CN" dirty="0" smtClean="0"/>
              <a:t>2018-05-16 23:59:59</a:t>
            </a:r>
          </a:p>
          <a:p>
            <a:r>
              <a:rPr lang="zh-CN" altLang="en-US" dirty="0" smtClean="0"/>
              <a:t>本次实验相比于前三次实验难度有所提升，所以希望同学们尽早动手</a:t>
            </a:r>
            <a:r>
              <a:rPr lang="zh-CN" altLang="en-US" smtClean="0"/>
              <a:t>开始写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08032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411</TotalTime>
  <Words>764</Words>
  <Application>Microsoft Office PowerPoint</Application>
  <PresentationFormat>全屏显示(4:3)</PresentationFormat>
  <Paragraphs>168</Paragraphs>
  <Slides>15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2" baseType="lpstr">
      <vt:lpstr>等线</vt:lpstr>
      <vt:lpstr>等线 Light</vt:lpstr>
      <vt:lpstr>Arial</vt:lpstr>
      <vt:lpstr>Calibri</vt:lpstr>
      <vt:lpstr>Calibri Light</vt:lpstr>
      <vt:lpstr>Courier New</vt:lpstr>
      <vt:lpstr>Office 主题​​</vt:lpstr>
      <vt:lpstr>实验四 静态路由编程实现</vt:lpstr>
      <vt:lpstr>实验课日程表</vt:lpstr>
      <vt:lpstr>实验拓扑</vt:lpstr>
      <vt:lpstr>Router的结构</vt:lpstr>
      <vt:lpstr>Router的三个表项</vt:lpstr>
      <vt:lpstr>ARP协议(选做)</vt:lpstr>
      <vt:lpstr>数据报的变化</vt:lpstr>
      <vt:lpstr>程序流程图</vt:lpstr>
      <vt:lpstr>发送链路层数据帧</vt:lpstr>
      <vt:lpstr>接收链路层数据帧</vt:lpstr>
      <vt:lpstr>获取物理接口信息</vt:lpstr>
      <vt:lpstr>IP相关数据结构</vt:lpstr>
      <vt:lpstr>Header数据结构</vt:lpstr>
      <vt:lpstr>字节序转换</vt:lpstr>
      <vt:lpstr>最后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实验四 静态路由编程实现</dc:title>
  <dc:creator>赵扬</dc:creator>
  <cp:lastModifiedBy>Fuji Z</cp:lastModifiedBy>
  <cp:revision>152</cp:revision>
  <dcterms:created xsi:type="dcterms:W3CDTF">2016-11-08T10:16:15Z</dcterms:created>
  <dcterms:modified xsi:type="dcterms:W3CDTF">2018-05-03T05:43:39Z</dcterms:modified>
</cp:coreProperties>
</file>