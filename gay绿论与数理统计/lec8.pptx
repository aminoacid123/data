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76" r:id="rId1"/>
  </p:sldMasterIdLst>
  <p:notesMasterIdLst>
    <p:notesMasterId r:id="rId37"/>
  </p:notesMasterIdLst>
  <p:sldIdLst>
    <p:sldId id="288" r:id="rId2"/>
    <p:sldId id="289" r:id="rId3"/>
    <p:sldId id="290" r:id="rId4"/>
    <p:sldId id="291" r:id="rId5"/>
    <p:sldId id="292" r:id="rId6"/>
    <p:sldId id="256" r:id="rId7"/>
    <p:sldId id="257" r:id="rId8"/>
    <p:sldId id="258" r:id="rId9"/>
    <p:sldId id="261" r:id="rId10"/>
    <p:sldId id="260" r:id="rId11"/>
    <p:sldId id="259" r:id="rId12"/>
    <p:sldId id="263" r:id="rId13"/>
    <p:sldId id="262" r:id="rId14"/>
    <p:sldId id="264" r:id="rId15"/>
    <p:sldId id="265" r:id="rId16"/>
    <p:sldId id="266" r:id="rId17"/>
    <p:sldId id="267" r:id="rId18"/>
    <p:sldId id="268" r:id="rId19"/>
    <p:sldId id="269" r:id="rId20"/>
    <p:sldId id="271" r:id="rId21"/>
    <p:sldId id="272" r:id="rId22"/>
    <p:sldId id="273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403" autoAdjust="0"/>
  </p:normalViewPr>
  <p:slideViewPr>
    <p:cSldViewPr>
      <p:cViewPr varScale="1">
        <p:scale>
          <a:sx n="93" d="100"/>
          <a:sy n="93" d="100"/>
        </p:scale>
        <p:origin x="1594" y="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7" Type="http://schemas.openxmlformats.org/officeDocument/2006/relationships/image" Target="../media/image17.wmf"/><Relationship Id="rId2" Type="http://schemas.openxmlformats.org/officeDocument/2006/relationships/image" Target="../media/image12.wmf"/><Relationship Id="rId1" Type="http://schemas.openxmlformats.org/officeDocument/2006/relationships/image" Target="../media/image11.wmf"/><Relationship Id="rId6" Type="http://schemas.openxmlformats.org/officeDocument/2006/relationships/image" Target="../media/image16.wmf"/><Relationship Id="rId5" Type="http://schemas.openxmlformats.org/officeDocument/2006/relationships/image" Target="../media/image15.wmf"/><Relationship Id="rId4" Type="http://schemas.openxmlformats.org/officeDocument/2006/relationships/image" Target="../media/image14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1.wmf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024" units="cm"/>
          <inkml:channel name="Y" type="integer" max="768" units="cm"/>
        </inkml:traceFormat>
        <inkml:channelProperties>
          <inkml:channelProperty channel="X" name="resolution" value="32" units="1/cm"/>
          <inkml:channelProperty channel="Y" name="resolution" value="32" units="1/cm"/>
        </inkml:channelProperties>
      </inkml:inkSource>
      <inkml:timestamp xml:id="ts0" timeString="2016-04-07T06:34:51.56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fitToCurve" value="1"/>
    </inkml:brush>
  </inkml:definitions>
  <inkml:trace contextRef="#ctx0" brushRef="#br0">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2336E7-F42F-4A2E-9F47-4CAB93D18031}" type="datetimeFigureOut">
              <a:rPr lang="zh-CN" altLang="en-US" smtClean="0"/>
              <a:t>2018/10/24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B9DC25-1DF3-4044-A1F0-C273483743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97991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标题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sp>
        <p:nvSpPr>
          <p:cNvPr id="28" name="日期占位符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4ED9701B-4197-4FE5-B5DA-5416DC1669A5}" type="datetime1">
              <a:rPr lang="zh-CN" altLang="en-US" smtClean="0"/>
              <a:t>2018/10/24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29" name="灯片编号占位符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8" name="内容占位符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36247-266E-48C6-8B14-289F25875231}" type="datetime1">
              <a:rPr lang="zh-CN" altLang="en-US" smtClean="0"/>
              <a:t>2018/10/24</a:t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7" name="矩形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矩形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矩形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2" name="日期占位符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65BE9-30F8-4EBE-A9C2-AB249A42BA31}" type="datetime1">
              <a:rPr lang="zh-CN" altLang="en-US" smtClean="0"/>
              <a:t>2018/10/24</a:t>
            </a:fld>
            <a:endParaRPr lang="zh-CN" altLang="en-US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4" name="页脚占位符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11" name="内容占位符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B7E2C2CD-497C-4296-A0B9-87C9C1109BD9}" type="datetime1">
              <a:rPr lang="zh-CN" altLang="en-US" smtClean="0"/>
              <a:t>2018/10/24</a:t>
            </a:fld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1" name="内容占位符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13" name="内容占位符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F5E19621-E3B2-4562-A73B-168B240E71B6}" type="datetime1">
              <a:rPr lang="zh-CN" altLang="en-US" smtClean="0"/>
              <a:t>2018/10/24</a:t>
            </a:fld>
            <a:endParaRPr lang="zh-CN" altLang="en-US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4" name="页脚占位符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zh-CN" alt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A16C8-561B-4A8C-9EFE-F6FCC4B46780}" type="datetime1">
              <a:rPr lang="zh-CN" altLang="en-US" smtClean="0"/>
              <a:t>2018/10/24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4F784-2C90-4317-995F-7291EE975927}" type="datetime1">
              <a:rPr lang="zh-CN" altLang="en-US" smtClean="0"/>
              <a:t>2018/10/24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436A7-51C4-461E-A63E-A4F97ED44C5C}" type="datetime1">
              <a:rPr lang="zh-CN" altLang="en-US" smtClean="0"/>
              <a:t>2018/10/24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8" name="矩形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矩形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1" name="矩形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日期占位符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DD3C3FD1-F0F2-4061-8913-C3CEB2D6BA24}" type="datetime1">
              <a:rPr lang="zh-CN" altLang="en-US" smtClean="0"/>
              <a:t>2018/10/24</a:t>
            </a:fld>
            <a:endParaRPr lang="zh-CN" altLang="en-US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4" name="页脚占位符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CN" altLang="en-US" smtClean="0"/>
              <a:t>单击图标添加图片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8033A-B298-4829-B013-FB02CFC1E8B2}" type="datetime1">
              <a:rPr lang="zh-CN" altLang="en-US" smtClean="0"/>
              <a:t>2018/10/24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16322D89-321D-4885-89B2-A0E512222A49}" type="datetime1">
              <a:rPr lang="zh-CN" altLang="en-US" smtClean="0"/>
              <a:t>2018/10/24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矩形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矩形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标题占位符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zh-CN" altLang="en-US" dirty="0" smtClean="0"/>
              <a:t>单击此处编辑母版标题样式</a:t>
            </a:r>
            <a:endParaRPr kumimoji="0" 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CN" altLang="en-US" dirty="0" smtClean="0"/>
              <a:t>单击此处编辑母版文本样式</a:t>
            </a:r>
          </a:p>
          <a:p>
            <a:pPr lvl="1" eaLnBrk="1" latinLnBrk="0" hangingPunct="1"/>
            <a:r>
              <a:rPr kumimoji="0" lang="zh-CN" altLang="en-US" dirty="0" smtClean="0"/>
              <a:t>第二级</a:t>
            </a:r>
          </a:p>
          <a:p>
            <a:pPr lvl="2" eaLnBrk="1" latinLnBrk="0" hangingPunct="1"/>
            <a:r>
              <a:rPr kumimoji="0" lang="zh-CN" altLang="en-US" dirty="0" smtClean="0"/>
              <a:t>第三级</a:t>
            </a:r>
          </a:p>
          <a:p>
            <a:pPr lvl="3" eaLnBrk="1" latinLnBrk="0" hangingPunct="1"/>
            <a:r>
              <a:rPr kumimoji="0" lang="zh-CN" altLang="en-US" dirty="0" smtClean="0"/>
              <a:t>第四级</a:t>
            </a:r>
          </a:p>
          <a:p>
            <a:pPr lvl="4" eaLnBrk="1" latinLnBrk="0" hangingPunct="1"/>
            <a:r>
              <a:rPr kumimoji="0" lang="zh-CN" altLang="en-US" dirty="0" smtClean="0"/>
              <a:t>第五级</a:t>
            </a:r>
            <a:endParaRPr kumimoji="0" lang="en-US" dirty="0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397045A6-C381-463D-A4BA-F030581BD3A5}" type="datetime1">
              <a:rPr lang="zh-CN" altLang="en-US" smtClean="0"/>
              <a:t>2018/10/24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7" name="矩形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矩形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矩形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7" r:id="rId1"/>
    <p:sldLayoutId id="2147483878" r:id="rId2"/>
    <p:sldLayoutId id="2147483879" r:id="rId3"/>
    <p:sldLayoutId id="2147483880" r:id="rId4"/>
    <p:sldLayoutId id="2147483881" r:id="rId5"/>
    <p:sldLayoutId id="2147483882" r:id="rId6"/>
    <p:sldLayoutId id="2147483883" r:id="rId7"/>
    <p:sldLayoutId id="2147483884" r:id="rId8"/>
    <p:sldLayoutId id="2147483885" r:id="rId9"/>
    <p:sldLayoutId id="2147483886" r:id="rId10"/>
    <p:sldLayoutId id="2147483887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1" latinLnBrk="0" hangingPunct="1">
        <a:spcBef>
          <a:spcPct val="0"/>
        </a:spcBef>
        <a:buNone/>
        <a:defRPr kumimoji="0" sz="44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0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9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13" Type="http://schemas.openxmlformats.org/officeDocument/2006/relationships/oleObject" Target="../embeddings/oleObject8.bin"/><Relationship Id="rId18" Type="http://schemas.openxmlformats.org/officeDocument/2006/relationships/image" Target="../media/image12.emf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5.bin"/><Relationship Id="rId12" Type="http://schemas.openxmlformats.org/officeDocument/2006/relationships/image" Target="../media/image15.wmf"/><Relationship Id="rId17" Type="http://schemas.openxmlformats.org/officeDocument/2006/relationships/customXml" Target="../ink/ink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7.wmf"/><Relationship Id="rId1" Type="http://schemas.openxmlformats.org/officeDocument/2006/relationships/vmlDrawing" Target="../drawings/vmlDrawing2.vml"/><Relationship Id="rId6" Type="http://schemas.openxmlformats.org/officeDocument/2006/relationships/image" Target="../media/image12.wmf"/><Relationship Id="rId11" Type="http://schemas.openxmlformats.org/officeDocument/2006/relationships/oleObject" Target="../embeddings/oleObject7.bin"/><Relationship Id="rId5" Type="http://schemas.openxmlformats.org/officeDocument/2006/relationships/oleObject" Target="../embeddings/oleObject4.bin"/><Relationship Id="rId15" Type="http://schemas.openxmlformats.org/officeDocument/2006/relationships/oleObject" Target="../embeddings/oleObject9.bin"/><Relationship Id="rId10" Type="http://schemas.openxmlformats.org/officeDocument/2006/relationships/image" Target="../media/image14.wmf"/><Relationship Id="rId4" Type="http://schemas.openxmlformats.org/officeDocument/2006/relationships/image" Target="../media/image11.wmf"/><Relationship Id="rId9" Type="http://schemas.openxmlformats.org/officeDocument/2006/relationships/oleObject" Target="../embeddings/oleObject6.bin"/><Relationship Id="rId14" Type="http://schemas.openxmlformats.org/officeDocument/2006/relationships/image" Target="../media/image16.w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18.emf"/><Relationship Id="rId4" Type="http://schemas.openxmlformats.org/officeDocument/2006/relationships/oleObject" Target="../embeddings/oleObject10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19.emf"/><Relationship Id="rId4" Type="http://schemas.openxmlformats.org/officeDocument/2006/relationships/oleObject" Target="../embeddings/oleObject11.bin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wmf"/><Relationship Id="rId3" Type="http://schemas.openxmlformats.org/officeDocument/2006/relationships/image" Target="../media/image42.png"/><Relationship Id="rId7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连续型</a:t>
            </a:r>
            <a:r>
              <a:rPr lang="en-US" altLang="zh-CN" dirty="0" err="1" smtClean="0"/>
              <a:t>r.v</a:t>
            </a:r>
            <a:r>
              <a:rPr lang="en-US" altLang="zh-CN" dirty="0" smtClean="0"/>
              <a:t>.</a:t>
            </a:r>
            <a:r>
              <a:rPr lang="zh-CN" altLang="en-US" dirty="0" smtClean="0"/>
              <a:t>的期望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612648" y="1600200"/>
                <a:ext cx="8153400" cy="2332856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zh-CN" altLang="en-US" dirty="0" smtClean="0"/>
                  <a:t>设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zh-CN" altLang="en-US" dirty="0" smtClean="0"/>
                  <a:t>是连续型随机变量，密度函数为</a:t>
                </a:r>
                <a:endParaRPr lang="en-US" altLang="zh-CN" b="1" i="1" dirty="0" smtClean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𝒑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     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其它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altLang="zh-CN" dirty="0" smtClean="0"/>
              </a:p>
              <a:p>
                <a:pPr marL="0" indent="0">
                  <a:buNone/>
                </a:pPr>
                <a:r>
                  <a:rPr lang="zh-CN" altLang="en-US" dirty="0" smtClean="0"/>
                  <a:t>在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CN" altLang="en-US" dirty="0" smtClean="0"/>
                  <a:t>上取分点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&lt;⋯&lt;</m:t>
                    </m:r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en-US" altLang="zh-CN" dirty="0" smtClean="0"/>
                  <a:t>,</a:t>
                </a:r>
              </a:p>
              <a:p>
                <a:pPr marL="0" indent="0">
                  <a:buNone/>
                </a:pPr>
                <a:r>
                  <a:rPr lang="zh-CN" altLang="en-US" dirty="0" smtClean="0"/>
                  <a:t>则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zh-CN" altLang="en-US" dirty="0" smtClean="0"/>
                  <a:t>落在区间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 smtClean="0"/>
                  <a:t>的概率是</a:t>
                </a:r>
                <a:endParaRPr lang="en-US" altLang="zh-CN" dirty="0" smtClean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612648" y="1600200"/>
                <a:ext cx="8153400" cy="2332856"/>
              </a:xfrm>
              <a:blipFill rotWithShape="0">
                <a:blip r:embed="rId2"/>
                <a:stretch>
                  <a:fillRect l="-1421" t="-3927" b="-60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1</a:t>
            </a:fld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7664" y="3933056"/>
            <a:ext cx="4144318" cy="119314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内容占位符 2"/>
              <p:cNvSpPr txBox="1">
                <a:spLocks/>
              </p:cNvSpPr>
              <p:nvPr/>
            </p:nvSpPr>
            <p:spPr>
              <a:xfrm>
                <a:off x="539552" y="5056584"/>
                <a:ext cx="8153400" cy="604664"/>
              </a:xfrm>
              <a:prstGeom prst="rect">
                <a:avLst/>
              </a:prstGeom>
            </p:spPr>
            <p:txBody>
              <a:bodyPr vert="horz">
                <a:normAutofit/>
              </a:bodyPr>
              <a:lstStyle>
                <a:lvl1pPr marL="320040" indent="-320040" algn="l" rtl="0" eaLnBrk="1" latinLnBrk="0" hangingPunct="1">
                  <a:spcBef>
                    <a:spcPts val="700"/>
                  </a:spcBef>
                  <a:buClr>
                    <a:schemeClr val="accent2"/>
                  </a:buClr>
                  <a:buSzPct val="60000"/>
                  <a:buFont typeface="Wingdings"/>
                  <a:buChar char=""/>
                  <a:defRPr kumimoji="0" sz="29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40080" indent="-274320" algn="l" rtl="0" eaLnBrk="1" latinLnBrk="0" hangingPunct="1">
                  <a:spcBef>
                    <a:spcPts val="550"/>
                  </a:spcBef>
                  <a:buClr>
                    <a:schemeClr val="accent1"/>
                  </a:buClr>
                  <a:buSzPct val="70000"/>
                  <a:buFont typeface="Wingdings 2"/>
                  <a:buChar char=""/>
                  <a:defRPr kumimoji="0" sz="2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-228600" algn="l" rtl="0" eaLnBrk="1" latinLnBrk="0" hangingPunct="1">
                  <a:spcBef>
                    <a:spcPts val="500"/>
                  </a:spcBef>
                  <a:buClr>
                    <a:schemeClr val="accent2"/>
                  </a:buClr>
                  <a:buSzPct val="75000"/>
                  <a:buFont typeface="Wingdings"/>
                  <a:buChar char=""/>
                  <a:defRPr kumimoji="0" sz="23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-228600" algn="l" rtl="0" eaLnBrk="1" latinLnBrk="0" hangingPunct="1">
                  <a:spcBef>
                    <a:spcPts val="400"/>
                  </a:spcBef>
                  <a:buClr>
                    <a:schemeClr val="accent3"/>
                  </a:buClr>
                  <a:buSzPct val="75000"/>
                  <a:buFont typeface="Wingdings"/>
                  <a:buChar char=""/>
                  <a:defRPr kumimoji="0" sz="2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-228600" algn="l" rtl="0" eaLnBrk="1" latinLnBrk="0" hangingPunct="1">
                  <a:spcBef>
                    <a:spcPts val="400"/>
                  </a:spcBef>
                  <a:buClr>
                    <a:schemeClr val="accent4"/>
                  </a:buClr>
                  <a:buSzPct val="65000"/>
                  <a:buFont typeface="Wingdings"/>
                  <a:buChar char=""/>
                  <a:defRPr kumimoji="0" sz="2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103120" indent="-228600" algn="l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Font typeface="Wingdings"/>
                  <a:buChar char="§"/>
                  <a:defRPr kumimoji="0" sz="18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377440" indent="-228600" algn="l" rtl="0" eaLnBrk="1" latinLnBrk="0" hangingPunct="1">
                  <a:spcBef>
                    <a:spcPct val="20000"/>
                  </a:spcBef>
                  <a:buClr>
                    <a:schemeClr val="accent2"/>
                  </a:buClr>
                  <a:buFont typeface="Wingdings"/>
                  <a:buChar char="§"/>
                  <a:defRPr kumimoji="0" sz="18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51760" indent="-228600" algn="l" rtl="0" eaLnBrk="1" latinLnBrk="0" hangingPunct="1">
                  <a:spcBef>
                    <a:spcPct val="20000"/>
                  </a:spcBef>
                  <a:buClr>
                    <a:schemeClr val="accent3"/>
                  </a:buClr>
                  <a:buFont typeface="Wingdings"/>
                  <a:buChar char="§"/>
                  <a:defRPr kumimoji="0" sz="18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26080" indent="-228600" algn="l" rtl="0" eaLnBrk="1" latinLnBrk="0" hangingPunct="1">
                  <a:spcBef>
                    <a:spcPct val="20000"/>
                  </a:spcBef>
                  <a:buClr>
                    <a:schemeClr val="accent4"/>
                  </a:buClr>
                  <a:buFont typeface="Wingdings"/>
                  <a:buChar char="§"/>
                  <a:defRPr kumimoji="0" sz="18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zh-CN" altLang="en-US" sz="2800" dirty="0" smtClean="0"/>
                  <a:t>则</a:t>
                </a:r>
                <a14:m>
                  <m:oMath xmlns:m="http://schemas.openxmlformats.org/officeDocument/2006/math">
                    <m:r>
                      <a:rPr lang="en-US" altLang="zh-CN" sz="2800" i="1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zh-CN" altLang="en-US" sz="2800" dirty="0" smtClean="0"/>
                  <a:t>可以近似为离散型</a:t>
                </a:r>
                <a:r>
                  <a:rPr lang="en-US" altLang="zh-CN" sz="2800" dirty="0" err="1" smtClean="0"/>
                  <a:t>r.v</a:t>
                </a:r>
                <a:r>
                  <a:rPr lang="en-US" altLang="zh-CN" sz="2800" dirty="0" smtClean="0"/>
                  <a:t>.</a:t>
                </a:r>
                <a:endParaRPr lang="zh-CN" altLang="en-US" sz="2800" dirty="0"/>
              </a:p>
            </p:txBody>
          </p:sp>
        </mc:Choice>
        <mc:Fallback xmlns="">
          <p:sp>
            <p:nvSpPr>
              <p:cNvPr id="6" name="内容占位符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5056584"/>
                <a:ext cx="8153400" cy="604664"/>
              </a:xfrm>
              <a:prstGeom prst="rect">
                <a:avLst/>
              </a:prstGeom>
              <a:blipFill rotWithShape="0">
                <a:blip r:embed="rId4"/>
                <a:stretch>
                  <a:fillRect l="-1571" t="-15000" b="-14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Group 12"/>
          <p:cNvGraphicFramePr>
            <a:graphicFrameLocks noGrp="1"/>
          </p:cNvGraphicFramePr>
          <p:nvPr>
            <p:extLst/>
          </p:nvPr>
        </p:nvGraphicFramePr>
        <p:xfrm>
          <a:off x="611188" y="5589240"/>
          <a:ext cx="4537075" cy="1036638"/>
        </p:xfrm>
        <a:graphic>
          <a:graphicData uri="http://schemas.openxmlformats.org/drawingml/2006/table">
            <a:tbl>
              <a:tblPr/>
              <a:tblGrid>
                <a:gridCol w="908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8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8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80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83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B0A09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X</a:t>
                      </a: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B0A09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x</a:t>
                      </a:r>
                      <a:r>
                        <a:rPr kumimoji="1" lang="en-US" altLang="zh-CN" sz="28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rgbClr val="0B0A09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B0A09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B0A09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x</a:t>
                      </a:r>
                      <a:r>
                        <a:rPr kumimoji="1" lang="en-US" altLang="zh-CN" sz="2800" b="1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rgbClr val="0B0A09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</a:t>
                      </a:r>
                      <a:endParaRPr kumimoji="1" lang="en-US" altLang="zh-CN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B0A09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B0A09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…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B0A09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x</a:t>
                      </a:r>
                      <a:r>
                        <a:rPr kumimoji="1" lang="en-US" altLang="zh-CN" sz="2800" b="1" i="1" u="none" strike="noStrike" cap="none" normalizeH="0" baseline="-25000" smtClean="0">
                          <a:ln>
                            <a:noFill/>
                          </a:ln>
                          <a:solidFill>
                            <a:srgbClr val="0B0A09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n</a:t>
                      </a:r>
                      <a:endParaRPr kumimoji="1" lang="en-US" altLang="zh-CN" sz="2800" b="1" i="1" u="none" strike="noStrike" cap="none" normalizeH="0" baseline="0" smtClean="0">
                        <a:ln>
                          <a:noFill/>
                        </a:ln>
                        <a:solidFill>
                          <a:srgbClr val="0B0A09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3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B0A09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p</a:t>
                      </a: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B0A09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p</a:t>
                      </a:r>
                      <a:r>
                        <a:rPr kumimoji="1" lang="en-US" altLang="zh-CN" sz="28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rgbClr val="0B0A09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B0A09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B0A09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p</a:t>
                      </a:r>
                      <a:r>
                        <a:rPr kumimoji="1" lang="en-US" altLang="zh-CN" sz="2800" b="1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rgbClr val="0B0A09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</a:t>
                      </a:r>
                      <a:endParaRPr kumimoji="1" lang="en-US" altLang="zh-CN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B0A09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B0A09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…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1" i="1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B0A09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p</a:t>
                      </a:r>
                      <a:r>
                        <a:rPr kumimoji="1" lang="en-US" altLang="zh-CN" sz="2800" b="1" i="1" u="none" strike="noStrike" cap="none" normalizeH="0" baseline="-25000" dirty="0" err="1" smtClean="0">
                          <a:ln>
                            <a:noFill/>
                          </a:ln>
                          <a:solidFill>
                            <a:srgbClr val="0B0A09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n</a:t>
                      </a:r>
                      <a:endParaRPr kumimoji="1" lang="en-US" altLang="zh-CN" sz="2800" b="1" i="1" u="none" strike="noStrike" cap="none" normalizeH="0" baseline="0" dirty="0" smtClean="0">
                        <a:ln>
                          <a:noFill/>
                        </a:ln>
                        <a:solidFill>
                          <a:srgbClr val="0B0A09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11" name="组合 10"/>
          <p:cNvGrpSpPr/>
          <p:nvPr/>
        </p:nvGrpSpPr>
        <p:grpSpPr>
          <a:xfrm>
            <a:off x="5762822" y="3789064"/>
            <a:ext cx="3201666" cy="2808288"/>
            <a:chOff x="5701034" y="3789064"/>
            <a:chExt cx="3201666" cy="2808288"/>
          </a:xfrm>
        </p:grpSpPr>
        <p:pic>
          <p:nvPicPr>
            <p:cNvPr id="9" name="Picture 9" descr="ZHEN2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01034" y="3789064"/>
              <a:ext cx="3119438" cy="25114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" name="AutoShape 10"/>
            <p:cNvSpPr>
              <a:spLocks noChangeArrowheads="1"/>
            </p:cNvSpPr>
            <p:nvPr/>
          </p:nvSpPr>
          <p:spPr bwMode="auto">
            <a:xfrm>
              <a:off x="6886575" y="6165552"/>
              <a:ext cx="2016125" cy="431800"/>
            </a:xfrm>
            <a:prstGeom prst="wedgeRectCallout">
              <a:avLst>
                <a:gd name="adj1" fmla="val -49449"/>
                <a:gd name="adj2" fmla="val -12206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 dirty="0">
                  <a:solidFill>
                    <a:srgbClr val="2A2622"/>
                  </a:solidFill>
                </a:rPr>
                <a:t>小区间（</a:t>
              </a:r>
              <a:r>
                <a:rPr lang="en-US" altLang="zh-CN" sz="2000" i="1" dirty="0">
                  <a:solidFill>
                    <a:srgbClr val="2A2622"/>
                  </a:solidFill>
                </a:rPr>
                <a:t>x</a:t>
              </a:r>
              <a:r>
                <a:rPr lang="en-US" altLang="zh-CN" sz="2000" i="1" baseline="-25000" dirty="0">
                  <a:solidFill>
                    <a:srgbClr val="2A2622"/>
                  </a:solidFill>
                </a:rPr>
                <a:t>i-</a:t>
              </a:r>
              <a:r>
                <a:rPr lang="en-US" altLang="zh-CN" sz="2000" baseline="-25000" dirty="0">
                  <a:solidFill>
                    <a:srgbClr val="2A2622"/>
                  </a:solidFill>
                </a:rPr>
                <a:t>1</a:t>
              </a:r>
              <a:r>
                <a:rPr lang="en-US" altLang="zh-CN" sz="2000" i="1" baseline="-25000" dirty="0">
                  <a:solidFill>
                    <a:srgbClr val="2A2622"/>
                  </a:solidFill>
                </a:rPr>
                <a:t> </a:t>
              </a:r>
              <a:r>
                <a:rPr lang="en-US" altLang="zh-CN" sz="2000" dirty="0">
                  <a:solidFill>
                    <a:srgbClr val="2A2622"/>
                  </a:solidFill>
                </a:rPr>
                <a:t>, </a:t>
              </a:r>
              <a:r>
                <a:rPr lang="en-US" altLang="zh-CN" sz="2000" i="1" dirty="0">
                  <a:solidFill>
                    <a:srgbClr val="2A2622"/>
                  </a:solidFill>
                </a:rPr>
                <a:t>x</a:t>
              </a:r>
              <a:r>
                <a:rPr lang="en-US" altLang="zh-CN" sz="2000" i="1" baseline="-25000" dirty="0">
                  <a:solidFill>
                    <a:srgbClr val="2A2622"/>
                  </a:solidFill>
                </a:rPr>
                <a:t>i </a:t>
              </a:r>
              <a:r>
                <a:rPr lang="en-US" altLang="zh-CN" sz="2000" dirty="0">
                  <a:solidFill>
                    <a:srgbClr val="2A2622"/>
                  </a:solidFill>
                </a:rPr>
                <a:t>)</a:t>
              </a:r>
              <a:endParaRPr lang="zh-CN" altLang="en-US" sz="2800" dirty="0">
                <a:solidFill>
                  <a:srgbClr val="2A262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30672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连续型</a:t>
            </a:r>
            <a:r>
              <a:rPr lang="en-US" altLang="zh-CN" dirty="0" err="1"/>
              <a:t>r.v</a:t>
            </a:r>
            <a:r>
              <a:rPr lang="en-US" altLang="zh-CN" dirty="0"/>
              <a:t>.</a:t>
            </a:r>
            <a:r>
              <a:rPr lang="zh-CN" altLang="en-US" dirty="0"/>
              <a:t>的</a:t>
            </a:r>
            <a:r>
              <a:rPr lang="zh-CN" altLang="en-US" dirty="0" smtClean="0"/>
              <a:t>期望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按离散型，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zh-CN" altLang="en-US" dirty="0" smtClean="0"/>
                  <a:t>的数学期望近似为</a:t>
                </a:r>
                <a:endParaRPr lang="en-US" altLang="zh-CN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𝑬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nary>
                        <m:naryPr>
                          <m:chr m:val="∑"/>
                          <m:ctrlPr>
                            <a:rPr lang="en-US" altLang="zh-C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e>
                      </m:nary>
                      <m:r>
                        <a:rPr lang="en-US" altLang="zh-CN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𝒑</m:t>
                          </m:r>
                          <m:d>
                            <m:d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𝚫</m:t>
                          </m:r>
                          <m:sSub>
                            <m:sSub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altLang="zh-CN" dirty="0" smtClean="0"/>
              </a:p>
              <a:p>
                <a:pPr marL="0" indent="0">
                  <a:buNone/>
                </a:pPr>
                <a:r>
                  <a:rPr lang="zh-CN" altLang="en-US" dirty="0" smtClean="0"/>
                  <a:t>令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lang="zh-CN" altLang="en-US" dirty="0" smtClean="0"/>
                  <a:t>，上式为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sub>
                      <m:sup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𝒃</m:t>
                        </m:r>
                      </m:sup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𝒙𝒑</m:t>
                        </m:r>
                        <m:d>
                          <m:d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𝒅𝒙</m:t>
                        </m:r>
                      </m:e>
                    </m:nary>
                  </m:oMath>
                </a14:m>
                <a:endParaRPr lang="en-US" altLang="zh-CN" dirty="0" smtClean="0"/>
              </a:p>
              <a:p>
                <a:pPr marL="0" indent="0">
                  <a:buNone/>
                </a:pPr>
                <a:r>
                  <a:rPr lang="zh-CN" altLang="en-US" dirty="0" smtClean="0"/>
                  <a:t>推广到密度函数的一般情况，得到</a:t>
                </a:r>
                <a:endParaRPr lang="en-US" altLang="zh-CN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𝑬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</m:d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+∞</m:t>
                          </m:r>
                        </m:sup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𝒙𝒑</m:t>
                          </m:r>
                          <m:d>
                            <m:d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𝒅𝒙</m:t>
                          </m:r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0">
                <a:blip r:embed="rId2"/>
                <a:stretch>
                  <a:fillRect l="-1645" t="-12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53872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连续型</a:t>
            </a:r>
            <a:r>
              <a:rPr lang="en-US" altLang="zh-CN" dirty="0" err="1" smtClean="0"/>
              <a:t>r.v</a:t>
            </a:r>
            <a:r>
              <a:rPr lang="en-US" altLang="zh-CN" dirty="0" smtClean="0"/>
              <a:t>.</a:t>
            </a:r>
            <a:r>
              <a:rPr lang="zh-CN" altLang="en-US" dirty="0" smtClean="0"/>
              <a:t>期望定义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3</a:t>
            </a:fld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1844824"/>
            <a:ext cx="7652375" cy="420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404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一些性质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zh-CN" altLang="en-US" dirty="0" smtClean="0"/>
                  <a:t>类似于离散型，连续型</a:t>
                </a:r>
                <a:r>
                  <a:rPr lang="en-US" altLang="zh-CN" dirty="0" err="1" smtClean="0"/>
                  <a:t>r.v</a:t>
                </a:r>
                <a:r>
                  <a:rPr lang="en-US" altLang="zh-CN" dirty="0" smtClean="0"/>
                  <a:t>.</a:t>
                </a:r>
                <a:r>
                  <a:rPr lang="zh-CN" altLang="en-US" dirty="0" smtClean="0"/>
                  <a:t>期望同样具有线性性质</a:t>
                </a:r>
                <a:endParaRPr lang="en-US" altLang="zh-CN" dirty="0" smtClean="0"/>
              </a:p>
              <a:p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zh-CN" altLang="en-US" dirty="0" smtClean="0"/>
                  <a:t>连续型，密度函数为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 smtClean="0"/>
                  <a:t>,</a:t>
                </a:r>
                <a:r>
                  <a:rPr lang="zh-CN" altLang="en-US" dirty="0" smtClean="0"/>
                  <a:t>令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𝒀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𝒈</m:t>
                    </m:r>
                    <m:d>
                      <m:dPr>
                        <m:ctrlP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</m:d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𝒈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连续</m:t>
                    </m:r>
                    <m:r>
                      <a:rPr lang="en-US" altLang="zh-CN" b="1" i="0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 smtClean="0"/>
                  <a:t>.</a:t>
                </a:r>
                <a:r>
                  <a:rPr lang="zh-CN" altLang="en-US" dirty="0" smtClean="0"/>
                  <a:t>若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  <m:t>−∞</m:t>
                        </m:r>
                      </m:sub>
                      <m:sup>
                        <m: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  <m:t>+∞</m:t>
                        </m:r>
                      </m:sup>
                      <m:e>
                        <m: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  <m:t>𝒈</m:t>
                        </m:r>
                        <m:d>
                          <m:dPr>
                            <m:ctrlPr>
                              <a:rPr lang="en-US" altLang="zh-CN" b="1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 dirty="0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  <m: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  <m:t>𝒑</m:t>
                        </m:r>
                        <m:d>
                          <m:dPr>
                            <m:ctrlPr>
                              <a:rPr lang="en-US" altLang="zh-CN" b="1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 dirty="0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  <m: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  <m:t>𝒅𝒙</m:t>
                        </m:r>
                      </m:e>
                    </m:nary>
                  </m:oMath>
                </a14:m>
                <a:r>
                  <a:rPr lang="zh-CN" altLang="en-US" dirty="0" smtClean="0"/>
                  <a:t>绝对收敛，则</a:t>
                </a:r>
                <a:endParaRPr lang="en-US" altLang="zh-CN" dirty="0" smtClean="0"/>
              </a:p>
              <a:p>
                <a:pPr marL="0" indent="0">
                  <a:buNone/>
                </a:pPr>
                <a:r>
                  <a:rPr lang="en-US" altLang="zh-CN" dirty="0" smtClean="0"/>
                  <a:t>	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𝑬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</m:d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𝑬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𝒈</m:t>
                        </m:r>
                        <m:d>
                          <m:d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</m:d>
                      </m:e>
                    </m:d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−∞</m:t>
                        </m:r>
                      </m:sub>
                      <m:sup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+∞</m:t>
                        </m:r>
                      </m:sup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𝒈</m:t>
                        </m:r>
                        <m:d>
                          <m:d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𝒑</m:t>
                        </m:r>
                        <m:d>
                          <m:d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𝒅𝒙</m:t>
                        </m:r>
                      </m:e>
                    </m:nary>
                  </m:oMath>
                </a14:m>
                <a:r>
                  <a:rPr lang="en-US" altLang="zh-CN" dirty="0" smtClean="0"/>
                  <a:t>.</a:t>
                </a:r>
              </a:p>
              <a:p>
                <a:r>
                  <a:rPr lang="zh-CN" altLang="en-US" dirty="0"/>
                  <a:t>类似</a:t>
                </a:r>
                <a:r>
                  <a:rPr lang="zh-CN" altLang="en-US" dirty="0" smtClean="0"/>
                  <a:t>地，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𝒀</m:t>
                    </m:r>
                  </m:oMath>
                </a14:m>
                <a:r>
                  <a:rPr lang="zh-CN" altLang="en-US" dirty="0"/>
                  <a:t>连续型</a:t>
                </a:r>
                <a:r>
                  <a:rPr lang="zh-CN" altLang="en-US" dirty="0" smtClean="0"/>
                  <a:t>，</a:t>
                </a:r>
                <a:r>
                  <a:rPr lang="zh-CN" altLang="en-US" dirty="0"/>
                  <a:t>联合</a:t>
                </a:r>
                <a:r>
                  <a:rPr lang="zh-CN" altLang="en-US" dirty="0" smtClean="0"/>
                  <a:t>密度为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,</a:t>
                </a:r>
                <a:r>
                  <a:rPr lang="zh-CN" altLang="en-US" dirty="0" smtClean="0"/>
                  <a:t>则</a:t>
                </a:r>
                <a:endParaRPr lang="en-US" altLang="zh-CN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𝑬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𝑬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𝒈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e>
                          </m:d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+∞</m:t>
                          </m:r>
                        </m:sup>
                        <m:e>
                          <m:nary>
                            <m:nary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−∞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+∞</m:t>
                              </m:r>
                            </m:sup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𝒈</m:t>
                              </m:r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</m:d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</m:d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𝒅𝒙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𝒅𝒚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altLang="zh-CN" dirty="0" smtClean="0"/>
              </a:p>
              <a:p>
                <a:pPr marL="0" indent="0">
                  <a:buNone/>
                </a:pPr>
                <a:endParaRPr lang="en-US" altLang="zh-CN" dirty="0"/>
              </a:p>
              <a:p>
                <a:endParaRPr lang="en-US" altLang="zh-CN" dirty="0" smtClean="0"/>
              </a:p>
              <a:p>
                <a:endParaRPr lang="en-US" altLang="zh-CN" dirty="0"/>
              </a:p>
              <a:p>
                <a:endParaRPr lang="en-US" altLang="zh-CN" dirty="0" smtClean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0">
                <a:blip r:embed="rId2"/>
                <a:stretch>
                  <a:fillRect l="-449" t="-31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28627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方差、协方差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离散</a:t>
                </a:r>
                <a:r>
                  <a:rPr lang="zh-CN" altLang="en-US" dirty="0" smtClean="0"/>
                  <a:t>型</a:t>
                </a:r>
                <a:r>
                  <a:rPr lang="en-US" altLang="zh-CN" dirty="0" err="1" smtClean="0"/>
                  <a:t>r.v</a:t>
                </a:r>
                <a:r>
                  <a:rPr lang="en-US" altLang="zh-CN" dirty="0" smtClean="0"/>
                  <a:t>.</a:t>
                </a:r>
                <a:r>
                  <a:rPr lang="zh-CN" altLang="en-US" dirty="0" smtClean="0"/>
                  <a:t>的</a:t>
                </a:r>
                <a:r>
                  <a:rPr lang="zh-CN" altLang="en-US" dirty="0"/>
                  <a:t>定义可直接推广到连续型</a:t>
                </a:r>
                <a:r>
                  <a:rPr lang="en-US" altLang="zh-CN" dirty="0" err="1"/>
                  <a:t>r.v</a:t>
                </a:r>
                <a:r>
                  <a:rPr lang="en-US" altLang="zh-CN" dirty="0" smtClean="0"/>
                  <a:t>.</a:t>
                </a:r>
              </a:p>
              <a:p>
                <a:pPr marL="0" indent="0">
                  <a:buNone/>
                </a:pPr>
                <a:endParaRPr lang="en-US" altLang="zh-CN" dirty="0"/>
              </a:p>
              <a:p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𝑫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𝑬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𝑬</m:t>
                                </m:r>
                                <m:d>
                                  <m:d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𝑿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𝑬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𝑬</m:t>
                            </m:r>
                            <m:d>
                              <m:d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en-US" altLang="zh-CN" dirty="0" smtClean="0"/>
              </a:p>
              <a:p>
                <a:endParaRPr lang="en-US" altLang="zh-CN" dirty="0"/>
              </a:p>
              <a:p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𝑪𝒐𝒗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𝑿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𝑬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𝑿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𝑬</m:t>
                            </m:r>
                            <m:d>
                              <m:d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e>
                            </m:d>
                          </m:e>
                        </m:d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𝒀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𝑬</m:t>
                            </m:r>
                            <m:d>
                              <m:d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𝒀</m:t>
                                </m:r>
                              </m:e>
                            </m:d>
                          </m:e>
                        </m:d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𝑬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𝑿𝒀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𝑬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𝒀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0">
                <a:blip r:embed="rId2"/>
                <a:stretch>
                  <a:fillRect l="-449" t="-21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34192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sz="6000" dirty="0" smtClean="0"/>
              <a:t>典型连续型随机变量的分布</a:t>
            </a:r>
            <a:endParaRPr lang="zh-CN" altLang="en-US" sz="600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3560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 smtClean="0"/>
              <a:t>均匀分布</a:t>
            </a:r>
            <a:r>
              <a:rPr lang="en-US" altLang="zh-CN" dirty="0" smtClean="0"/>
              <a:t>(uniform distribution)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7</a:t>
            </a:fld>
            <a:endParaRPr lang="zh-CN" altLang="en-US" dirty="0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4140388"/>
              </p:ext>
            </p:extLst>
          </p:nvPr>
        </p:nvGraphicFramePr>
        <p:xfrm>
          <a:off x="1331913" y="1628775"/>
          <a:ext cx="6019800" cy="2835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95" name="公式" r:id="rId3" imgW="2857500" imgH="1346200" progId="Equation.3">
                  <p:embed/>
                </p:oleObj>
              </mc:Choice>
              <mc:Fallback>
                <p:oleObj name="公式" r:id="rId3" imgW="2857500" imgH="13462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1628775"/>
                        <a:ext cx="6019800" cy="2835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" name="Group 5"/>
          <p:cNvGrpSpPr>
            <a:grpSpLocks/>
          </p:cNvGrpSpPr>
          <p:nvPr/>
        </p:nvGrpSpPr>
        <p:grpSpPr bwMode="auto">
          <a:xfrm>
            <a:off x="5795963" y="4437063"/>
            <a:ext cx="2819400" cy="1676400"/>
            <a:chOff x="3648" y="2592"/>
            <a:chExt cx="1776" cy="1056"/>
          </a:xfrm>
        </p:grpSpPr>
        <p:sp>
          <p:nvSpPr>
            <p:cNvPr id="16" name="Line 6"/>
            <p:cNvSpPr>
              <a:spLocks noChangeShapeType="1"/>
            </p:cNvSpPr>
            <p:nvPr/>
          </p:nvSpPr>
          <p:spPr bwMode="auto">
            <a:xfrm>
              <a:off x="3648" y="3408"/>
              <a:ext cx="177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7" name="Line 7"/>
            <p:cNvSpPr>
              <a:spLocks noChangeShapeType="1"/>
            </p:cNvSpPr>
            <p:nvPr/>
          </p:nvSpPr>
          <p:spPr bwMode="auto">
            <a:xfrm flipV="1">
              <a:off x="4512" y="2592"/>
              <a:ext cx="0" cy="105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18" name="Group 9"/>
          <p:cNvGrpSpPr>
            <a:grpSpLocks/>
          </p:cNvGrpSpPr>
          <p:nvPr/>
        </p:nvGrpSpPr>
        <p:grpSpPr bwMode="auto">
          <a:xfrm>
            <a:off x="5819775" y="4443413"/>
            <a:ext cx="2740025" cy="1746250"/>
            <a:chOff x="3938" y="1241"/>
            <a:chExt cx="1726" cy="1100"/>
          </a:xfrm>
        </p:grpSpPr>
        <p:graphicFrame>
          <p:nvGraphicFramePr>
            <p:cNvPr id="19" name="Object 10"/>
            <p:cNvGraphicFramePr>
              <a:graphicFrameLocks noChangeAspect="1"/>
            </p:cNvGraphicFramePr>
            <p:nvPr/>
          </p:nvGraphicFramePr>
          <p:xfrm>
            <a:off x="4165" y="1241"/>
            <a:ext cx="1344" cy="1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496" name="Equation" r:id="rId5" imgW="1181100" imgH="965200" progId="Equation.3">
                    <p:embed/>
                  </p:oleObj>
                </mc:Choice>
                <mc:Fallback>
                  <p:oleObj name="Equation" r:id="rId5" imgW="1181100" imgH="965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65" y="1241"/>
                          <a:ext cx="1344" cy="11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0" name="Group 11"/>
            <p:cNvGrpSpPr>
              <a:grpSpLocks/>
            </p:cNvGrpSpPr>
            <p:nvPr/>
          </p:nvGrpSpPr>
          <p:grpSpPr bwMode="auto">
            <a:xfrm>
              <a:off x="3938" y="1599"/>
              <a:ext cx="1726" cy="452"/>
              <a:chOff x="3938" y="1475"/>
              <a:chExt cx="1726" cy="452"/>
            </a:xfrm>
          </p:grpSpPr>
          <p:sp>
            <p:nvSpPr>
              <p:cNvPr id="21" name="Line 12"/>
              <p:cNvSpPr>
                <a:spLocks noChangeShapeType="1"/>
              </p:cNvSpPr>
              <p:nvPr/>
            </p:nvSpPr>
            <p:spPr bwMode="auto">
              <a:xfrm>
                <a:off x="4388" y="1475"/>
                <a:ext cx="1056" cy="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22" name="Line 13"/>
              <p:cNvSpPr>
                <a:spLocks noChangeShapeType="1"/>
              </p:cNvSpPr>
              <p:nvPr/>
            </p:nvSpPr>
            <p:spPr bwMode="auto">
              <a:xfrm flipH="1">
                <a:off x="3938" y="1927"/>
                <a:ext cx="454" cy="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23" name="Line 14"/>
              <p:cNvSpPr>
                <a:spLocks noChangeShapeType="1"/>
              </p:cNvSpPr>
              <p:nvPr/>
            </p:nvSpPr>
            <p:spPr bwMode="auto">
              <a:xfrm>
                <a:off x="5437" y="1924"/>
                <a:ext cx="227" cy="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" name="Line 15"/>
              <p:cNvSpPr>
                <a:spLocks noChangeShapeType="1"/>
              </p:cNvSpPr>
              <p:nvPr/>
            </p:nvSpPr>
            <p:spPr bwMode="auto">
              <a:xfrm>
                <a:off x="4395" y="1494"/>
                <a:ext cx="0" cy="43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" name="Line 16"/>
              <p:cNvSpPr>
                <a:spLocks noChangeShapeType="1"/>
              </p:cNvSpPr>
              <p:nvPr/>
            </p:nvSpPr>
            <p:spPr bwMode="auto">
              <a:xfrm>
                <a:off x="5443" y="1494"/>
                <a:ext cx="0" cy="43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26" name="Rectangle 8"/>
          <p:cNvSpPr>
            <a:spLocks noChangeArrowheads="1"/>
          </p:cNvSpPr>
          <p:nvPr/>
        </p:nvSpPr>
        <p:spPr bwMode="auto">
          <a:xfrm>
            <a:off x="3492500" y="4797425"/>
            <a:ext cx="1752600" cy="1169988"/>
          </a:xfrm>
          <a:prstGeom prst="rect">
            <a:avLst/>
          </a:prstGeom>
          <a:noFill/>
          <a:ln w="9525">
            <a:solidFill>
              <a:srgbClr val="DE32D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A50021"/>
              </a:buClr>
              <a:buSzPct val="75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kumimoji="1" sz="3200">
                <a:solidFill>
                  <a:srgbClr val="13110F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lr>
                <a:srgbClr val="666699"/>
              </a:buClr>
              <a:buSzPct val="70000"/>
              <a:buFont typeface="Wingdings" pitchFamily="2" charset="2"/>
              <a:buChar char="n"/>
              <a:defRPr kumimoji="1" sz="2800">
                <a:solidFill>
                  <a:srgbClr val="13110F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SzPct val="60000"/>
              <a:buFont typeface="Wingdings" pitchFamily="2" charset="2"/>
              <a:buChar char="n"/>
              <a:defRPr kumimoji="1" sz="2400">
                <a:solidFill>
                  <a:srgbClr val="13110F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000">
                <a:solidFill>
                  <a:srgbClr val="13110F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000">
                <a:solidFill>
                  <a:srgbClr val="13110F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000">
                <a:solidFill>
                  <a:srgbClr val="13110F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000">
                <a:solidFill>
                  <a:srgbClr val="13110F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000">
                <a:solidFill>
                  <a:srgbClr val="13110F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800" dirty="0">
                <a:solidFill>
                  <a:srgbClr val="2A2622"/>
                </a:solidFill>
              </a:rPr>
              <a:t>概率密度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800" dirty="0">
                <a:solidFill>
                  <a:srgbClr val="2A2622"/>
                </a:solidFill>
              </a:rPr>
              <a:t>函数图形</a:t>
            </a:r>
          </a:p>
        </p:txBody>
      </p:sp>
    </p:spTree>
    <p:extLst>
      <p:ext uri="{BB962C8B-B14F-4D97-AF65-F5344CB8AC3E}">
        <p14:creationId xmlns:p14="http://schemas.microsoft.com/office/powerpoint/2010/main" val="1126237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均匀分布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8</a:t>
            </a:fld>
            <a:endParaRPr lang="zh-CN" altLang="en-US" dirty="0"/>
          </a:p>
        </p:txBody>
      </p:sp>
      <p:graphicFrame>
        <p:nvGraphicFramePr>
          <p:cNvPr id="5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1191637"/>
              </p:ext>
            </p:extLst>
          </p:nvPr>
        </p:nvGraphicFramePr>
        <p:xfrm>
          <a:off x="395288" y="3079279"/>
          <a:ext cx="3962400" cy="202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34" name="Equation" r:id="rId3" imgW="4013200" imgH="1968500" progId="Equation.3">
                  <p:embed/>
                </p:oleObj>
              </mc:Choice>
              <mc:Fallback>
                <p:oleObj name="Equation" r:id="rId3" imgW="4013200" imgH="1968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3079279"/>
                        <a:ext cx="3962400" cy="2028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900113" y="1999779"/>
            <a:ext cx="23034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A50021"/>
              </a:buClr>
              <a:buSzPct val="75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kumimoji="1" sz="3200">
                <a:solidFill>
                  <a:srgbClr val="13110F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lr>
                <a:srgbClr val="666699"/>
              </a:buClr>
              <a:buSzPct val="70000"/>
              <a:buFont typeface="Wingdings" pitchFamily="2" charset="2"/>
              <a:buChar char="n"/>
              <a:defRPr kumimoji="1" sz="2800">
                <a:solidFill>
                  <a:srgbClr val="13110F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SzPct val="60000"/>
              <a:buFont typeface="Wingdings" pitchFamily="2" charset="2"/>
              <a:buChar char="n"/>
              <a:defRPr kumimoji="1" sz="2400">
                <a:solidFill>
                  <a:srgbClr val="13110F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000">
                <a:solidFill>
                  <a:srgbClr val="13110F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000">
                <a:solidFill>
                  <a:srgbClr val="13110F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000">
                <a:solidFill>
                  <a:srgbClr val="13110F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000">
                <a:solidFill>
                  <a:srgbClr val="13110F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000">
                <a:solidFill>
                  <a:srgbClr val="13110F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dirty="0">
                <a:solidFill>
                  <a:srgbClr val="FF0000"/>
                </a:solidFill>
                <a:ea typeface="黑体" pitchFamily="2" charset="-122"/>
              </a:rPr>
              <a:t>分布函数</a:t>
            </a:r>
          </a:p>
        </p:txBody>
      </p:sp>
      <p:grpSp>
        <p:nvGrpSpPr>
          <p:cNvPr id="7" name="Group 4"/>
          <p:cNvGrpSpPr>
            <a:grpSpLocks/>
          </p:cNvGrpSpPr>
          <p:nvPr/>
        </p:nvGrpSpPr>
        <p:grpSpPr bwMode="auto">
          <a:xfrm>
            <a:off x="4857750" y="2934816"/>
            <a:ext cx="3429000" cy="2438400"/>
            <a:chOff x="1872" y="2304"/>
            <a:chExt cx="2160" cy="1536"/>
          </a:xfrm>
        </p:grpSpPr>
        <p:grpSp>
          <p:nvGrpSpPr>
            <p:cNvPr id="8" name="Group 5"/>
            <p:cNvGrpSpPr>
              <a:grpSpLocks/>
            </p:cNvGrpSpPr>
            <p:nvPr/>
          </p:nvGrpSpPr>
          <p:grpSpPr bwMode="auto">
            <a:xfrm>
              <a:off x="1872" y="2304"/>
              <a:ext cx="2160" cy="1536"/>
              <a:chOff x="1104" y="2688"/>
              <a:chExt cx="2160" cy="1344"/>
            </a:xfrm>
          </p:grpSpPr>
          <p:sp>
            <p:nvSpPr>
              <p:cNvPr id="12" name="Line 6"/>
              <p:cNvSpPr>
                <a:spLocks noChangeShapeType="1"/>
              </p:cNvSpPr>
              <p:nvPr/>
            </p:nvSpPr>
            <p:spPr bwMode="auto">
              <a:xfrm>
                <a:off x="1104" y="3696"/>
                <a:ext cx="216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lg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" name="Line 7"/>
              <p:cNvSpPr>
                <a:spLocks noChangeShapeType="1"/>
              </p:cNvSpPr>
              <p:nvPr/>
            </p:nvSpPr>
            <p:spPr bwMode="auto">
              <a:xfrm flipV="1">
                <a:off x="1920" y="2688"/>
                <a:ext cx="0" cy="134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lg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aphicFrame>
          <p:nvGraphicFramePr>
            <p:cNvPr id="9" name="Object 8"/>
            <p:cNvGraphicFramePr>
              <a:graphicFrameLocks noChangeAspect="1"/>
            </p:cNvGraphicFramePr>
            <p:nvPr/>
          </p:nvGraphicFramePr>
          <p:xfrm>
            <a:off x="3844" y="3556"/>
            <a:ext cx="159" cy="1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835" name="Equation" r:id="rId5" imgW="253890" imgH="241195" progId="Equation.3">
                    <p:embed/>
                  </p:oleObj>
                </mc:Choice>
                <mc:Fallback>
                  <p:oleObj name="Equation" r:id="rId5" imgW="253890" imgH="24119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4" y="3556"/>
                          <a:ext cx="159" cy="1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Object 9"/>
            <p:cNvGraphicFramePr>
              <a:graphicFrameLocks noChangeAspect="1"/>
            </p:cNvGraphicFramePr>
            <p:nvPr/>
          </p:nvGraphicFramePr>
          <p:xfrm>
            <a:off x="2496" y="3504"/>
            <a:ext cx="144" cy="1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836" name="Equation" r:id="rId7" imgW="228501" imgH="253890" progId="Equation.3">
                    <p:embed/>
                  </p:oleObj>
                </mc:Choice>
                <mc:Fallback>
                  <p:oleObj name="Equation" r:id="rId7" imgW="228501" imgH="25389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96" y="3504"/>
                          <a:ext cx="144" cy="1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Object 10"/>
            <p:cNvGraphicFramePr>
              <a:graphicFrameLocks noChangeAspect="1"/>
            </p:cNvGraphicFramePr>
            <p:nvPr/>
          </p:nvGraphicFramePr>
          <p:xfrm>
            <a:off x="2732" y="2308"/>
            <a:ext cx="504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837" name="Equation" r:id="rId9" imgW="799753" imgH="393529" progId="Equation.3">
                    <p:embed/>
                  </p:oleObj>
                </mc:Choice>
                <mc:Fallback>
                  <p:oleObj name="Equation" r:id="rId9" imgW="799753" imgH="39352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32" y="2308"/>
                          <a:ext cx="504" cy="2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" name="Line 11"/>
          <p:cNvSpPr>
            <a:spLocks noChangeShapeType="1"/>
          </p:cNvSpPr>
          <p:nvPr/>
        </p:nvSpPr>
        <p:spPr bwMode="auto">
          <a:xfrm>
            <a:off x="7067550" y="3696816"/>
            <a:ext cx="1143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" name="Line 12"/>
          <p:cNvSpPr>
            <a:spLocks noChangeShapeType="1"/>
          </p:cNvSpPr>
          <p:nvPr/>
        </p:nvSpPr>
        <p:spPr bwMode="auto">
          <a:xfrm flipH="1">
            <a:off x="5467350" y="3696816"/>
            <a:ext cx="1600200" cy="1066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6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1802221"/>
              </p:ext>
            </p:extLst>
          </p:nvPr>
        </p:nvGraphicFramePr>
        <p:xfrm>
          <a:off x="5391150" y="4611216"/>
          <a:ext cx="227013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38" name="Equation" r:id="rId11" imgW="228501" imgH="545863" progId="Equation.3">
                  <p:embed/>
                </p:oleObj>
              </mc:Choice>
              <mc:Fallback>
                <p:oleObj name="Equation" r:id="rId11" imgW="228501" imgH="54586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1150" y="4611216"/>
                        <a:ext cx="227013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6795626"/>
              </p:ext>
            </p:extLst>
          </p:nvPr>
        </p:nvGraphicFramePr>
        <p:xfrm>
          <a:off x="6915150" y="4611216"/>
          <a:ext cx="2159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39" name="公式" r:id="rId13" imgW="215713" imgH="545626" progId="Equation.3">
                  <p:embed/>
                </p:oleObj>
              </mc:Choice>
              <mc:Fallback>
                <p:oleObj name="公式" r:id="rId13" imgW="215713" imgH="54562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15150" y="4611216"/>
                        <a:ext cx="215900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0815261"/>
              </p:ext>
            </p:extLst>
          </p:nvPr>
        </p:nvGraphicFramePr>
        <p:xfrm>
          <a:off x="5880100" y="3544416"/>
          <a:ext cx="3937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40" name="Equation" r:id="rId15" imgW="393359" imgH="304536" progId="Equation.3">
                  <p:embed/>
                </p:oleObj>
              </mc:Choice>
              <mc:Fallback>
                <p:oleObj name="Equation" r:id="rId15" imgW="393359" imgH="30453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80100" y="3544416"/>
                        <a:ext cx="3937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Line 16"/>
          <p:cNvSpPr>
            <a:spLocks noChangeShapeType="1"/>
          </p:cNvSpPr>
          <p:nvPr/>
        </p:nvSpPr>
        <p:spPr bwMode="auto">
          <a:xfrm>
            <a:off x="6153150" y="3696816"/>
            <a:ext cx="1066800" cy="0"/>
          </a:xfrm>
          <a:prstGeom prst="line">
            <a:avLst/>
          </a:prstGeom>
          <a:noFill/>
          <a:ln w="38100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" name="Line 17"/>
          <p:cNvSpPr>
            <a:spLocks noChangeShapeType="1"/>
          </p:cNvSpPr>
          <p:nvPr/>
        </p:nvSpPr>
        <p:spPr bwMode="auto">
          <a:xfrm>
            <a:off x="4699000" y="4760441"/>
            <a:ext cx="792163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1" name="Ink 20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7929563" y="3187229"/>
              <a:ext cx="1587" cy="1587"/>
            </p14:xfrm>
          </p:contentPart>
        </mc:Choice>
        <mc:Fallback xmlns="">
          <p:pic>
            <p:nvPicPr>
              <p:cNvPr id="21" name="Ink 20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851800" y="3109466"/>
                <a:ext cx="157113" cy="15711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73152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4" grpId="0" animBg="1"/>
      <p:bldP spid="15" grpId="0" animBg="1"/>
      <p:bldP spid="19" grpId="0" animBg="1"/>
      <p:bldP spid="2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均匀分布下的数字特征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zh-CN" altLang="en-US" dirty="0" smtClean="0"/>
                  <a:t>设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𝑿</m:t>
                    </m:r>
                    <m:r>
                      <a:rPr lang="en-US" altLang="zh-CN" b="1" i="1" smtClean="0">
                        <a:latin typeface="Cambria Math"/>
                      </a:rPr>
                      <m:t>∼</m:t>
                    </m:r>
                    <m:r>
                      <a:rPr lang="en-US" altLang="zh-CN" b="1" i="1" smtClean="0">
                        <a:latin typeface="Cambria Math"/>
                      </a:rPr>
                      <m:t>𝑼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𝒂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,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𝒃</m:t>
                        </m:r>
                      </m:e>
                    </m:d>
                  </m:oMath>
                </a14:m>
                <a:r>
                  <a:rPr lang="zh-CN" altLang="en-US" dirty="0" smtClean="0"/>
                  <a:t>，则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𝑬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𝑿</m:t>
                        </m:r>
                      </m:e>
                    </m:d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1" i="1" smtClean="0">
                            <a:latin typeface="Cambria Math"/>
                          </a:rPr>
                          <m:t>𝒂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+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𝒃</m:t>
                        </m:r>
                      </m:num>
                      <m:den>
                        <m:r>
                          <a:rPr lang="en-US" altLang="zh-CN" b="1" i="1" smtClean="0">
                            <a:latin typeface="Cambria Math"/>
                          </a:rPr>
                          <m:t>𝟐</m:t>
                        </m:r>
                      </m:den>
                    </m:f>
                    <m:r>
                      <a:rPr lang="en-US" altLang="zh-CN" b="1" i="1" smtClean="0">
                        <a:latin typeface="Cambria Math"/>
                      </a:rPr>
                      <m:t>,</m:t>
                    </m:r>
                    <m:r>
                      <a:rPr lang="en-US" altLang="zh-CN" b="1" i="1" smtClean="0">
                        <a:latin typeface="Cambria Math"/>
                      </a:rPr>
                      <m:t>𝑫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𝑿</m:t>
                        </m:r>
                      </m:e>
                    </m:d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1" i="1" smtClean="0">
                                    <a:latin typeface="Cambria Math"/>
                                  </a:rPr>
                                  <m:t>𝒃</m:t>
                                </m:r>
                                <m:r>
                                  <a:rPr lang="en-US" altLang="zh-CN" b="1" i="1" smtClean="0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lang="en-US" altLang="zh-CN" b="1" i="1" smtClean="0">
                                    <a:latin typeface="Cambria Math"/>
                                  </a:rPr>
                                  <m:t>𝒂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CN" b="1" i="1" smtClean="0">
                                <a:latin typeface="Cambria Math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r>
                          <a:rPr lang="en-US" altLang="zh-CN" b="1" i="1" smtClean="0">
                            <a:latin typeface="Cambria Math"/>
                          </a:rPr>
                          <m:t>𝟏𝟐</m:t>
                        </m:r>
                      </m:den>
                    </m:f>
                  </m:oMath>
                </a14:m>
                <a:endParaRPr lang="en-US" altLang="zh-CN" dirty="0" smtClean="0"/>
              </a:p>
              <a:p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 smtClean="0"/>
                  <a:t>证：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𝑬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𝑿</m:t>
                        </m:r>
                      </m:e>
                    </m:d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nary>
                      <m:nary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b="1" i="1" smtClean="0">
                            <a:latin typeface="Cambria Math"/>
                          </a:rPr>
                          <m:t>𝒂</m:t>
                        </m:r>
                      </m:sub>
                      <m:sup>
                        <m:r>
                          <a:rPr lang="en-US" altLang="zh-CN" b="1" i="1" smtClean="0">
                            <a:latin typeface="Cambria Math"/>
                          </a:rPr>
                          <m:t>𝒃</m:t>
                        </m:r>
                      </m:sup>
                      <m:e>
                        <m:r>
                          <a:rPr lang="en-US" altLang="zh-CN" b="1" i="1" smtClean="0">
                            <a:latin typeface="Cambria Math"/>
                          </a:rPr>
                          <m:t>𝒙</m:t>
                        </m:r>
                        <m:f>
                          <m:f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1" i="1" smtClean="0">
                                <a:latin typeface="Cambria Math"/>
                              </a:rPr>
                              <m:t>𝟏</m:t>
                            </m:r>
                          </m:num>
                          <m:den>
                            <m:r>
                              <a:rPr lang="en-US" altLang="zh-CN" b="1" i="1" smtClean="0">
                                <a:latin typeface="Cambria Math"/>
                              </a:rPr>
                              <m:t>𝒃</m:t>
                            </m:r>
                            <m:r>
                              <a:rPr lang="en-US" altLang="zh-CN" b="1" i="1" smtClean="0">
                                <a:latin typeface="Cambria Math"/>
                              </a:rPr>
                              <m:t>−</m:t>
                            </m:r>
                            <m:r>
                              <a:rPr lang="en-US" altLang="zh-CN" b="1" i="1" smtClean="0">
                                <a:latin typeface="Cambria Math"/>
                              </a:rPr>
                              <m:t>𝒂</m:t>
                            </m:r>
                          </m:den>
                        </m:f>
                        <m:r>
                          <a:rPr lang="en-US" altLang="zh-CN" b="1" i="1" smtClean="0">
                            <a:latin typeface="Cambria Math"/>
                          </a:rPr>
                          <m:t>𝒅𝒙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=</m:t>
                        </m:r>
                        <m:f>
                          <m:f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1" i="1" smtClean="0">
                                <a:latin typeface="Cambria Math"/>
                              </a:rPr>
                              <m:t>𝟏</m:t>
                            </m:r>
                          </m:num>
                          <m:den>
                            <m:r>
                              <a:rPr lang="en-US" altLang="zh-CN" b="1" i="1" smtClean="0">
                                <a:latin typeface="Cambria Math"/>
                              </a:rPr>
                              <m:t>𝒃</m:t>
                            </m:r>
                            <m:r>
                              <a:rPr lang="en-US" altLang="zh-CN" b="1" i="1" smtClean="0">
                                <a:latin typeface="Cambria Math"/>
                              </a:rPr>
                              <m:t>−</m:t>
                            </m:r>
                            <m:r>
                              <a:rPr lang="en-US" altLang="zh-CN" b="1" i="1" smtClean="0">
                                <a:latin typeface="Cambria Math"/>
                              </a:rPr>
                              <m:t>𝒂</m:t>
                            </m:r>
                          </m:den>
                        </m:f>
                        <m:r>
                          <a:rPr lang="en-US" altLang="zh-CN" b="1" i="1" smtClean="0">
                            <a:latin typeface="Cambria Math"/>
                          </a:rPr>
                          <m:t>⋅</m:t>
                        </m:r>
                        <m:f>
                          <m:f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1" i="1" smtClean="0">
                                    <a:latin typeface="Cambria Math"/>
                                  </a:rPr>
                                  <m:t>𝒃</m:t>
                                </m:r>
                              </m:e>
                              <m:sup>
                                <m:r>
                                  <a:rPr lang="en-US" altLang="zh-CN" b="1" i="1" smtClean="0">
                                    <a:latin typeface="Cambria Math"/>
                                  </a:rPr>
                                  <m:t>𝟐</m:t>
                                </m:r>
                              </m:sup>
                            </m:sSup>
                            <m:r>
                              <a:rPr lang="en-US" altLang="zh-CN" b="1" i="1" smtClean="0">
                                <a:latin typeface="Cambria Math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1" i="1" smtClean="0">
                                    <a:latin typeface="Cambria Math"/>
                                  </a:rPr>
                                  <m:t>𝒂</m:t>
                                </m:r>
                              </m:e>
                              <m:sup>
                                <m:r>
                                  <a:rPr lang="en-US" altLang="zh-CN" b="1" i="1" smtClean="0">
                                    <a:latin typeface="Cambria Math"/>
                                  </a:rPr>
                                  <m:t>𝟐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b="1" i="1" smtClean="0">
                                <a:latin typeface="Cambria Math"/>
                              </a:rPr>
                              <m:t>𝟐</m:t>
                            </m:r>
                          </m:den>
                        </m:f>
                        <m:r>
                          <a:rPr lang="en-US" altLang="zh-CN" b="1" i="1" smtClean="0">
                            <a:latin typeface="Cambria Math"/>
                          </a:rPr>
                          <m:t>=</m:t>
                        </m:r>
                        <m:f>
                          <m:f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1" i="1" smtClean="0">
                                <a:latin typeface="Cambria Math"/>
                              </a:rPr>
                              <m:t>𝒂</m:t>
                            </m:r>
                            <m:r>
                              <a:rPr lang="en-US" altLang="zh-CN" b="1" i="1" smtClean="0">
                                <a:latin typeface="Cambria Math"/>
                              </a:rPr>
                              <m:t>+</m:t>
                            </m:r>
                            <m:r>
                              <a:rPr lang="en-US" altLang="zh-CN" b="1" i="1" smtClean="0">
                                <a:latin typeface="Cambria Math"/>
                              </a:rPr>
                              <m:t>𝒃</m:t>
                            </m:r>
                          </m:num>
                          <m:den>
                            <m:r>
                              <a:rPr lang="en-US" altLang="zh-CN" b="1" i="1" smtClean="0">
                                <a:latin typeface="Cambria Math"/>
                              </a:rPr>
                              <m:t>𝟐</m:t>
                            </m:r>
                          </m:den>
                        </m:f>
                      </m:e>
                    </m:nary>
                  </m:oMath>
                </a14:m>
                <a:endParaRPr lang="en-US" altLang="zh-CN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/>
                        </a:rPr>
                        <m:t>𝑬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𝑿</m:t>
                              </m:r>
                            </m:e>
                            <m:sup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𝟐</m:t>
                              </m:r>
                            </m:sup>
                          </m:sSup>
                        </m:e>
                      </m:d>
                      <m:r>
                        <a:rPr lang="en-US" altLang="zh-CN" b="1" i="1" smtClean="0">
                          <a:latin typeface="Cambria Math"/>
                        </a:rPr>
                        <m:t>=</m:t>
                      </m:r>
                      <m:nary>
                        <m:nary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b="1" i="1" smtClean="0">
                              <a:latin typeface="Cambria Math"/>
                            </a:rPr>
                            <m:t>𝒂</m:t>
                          </m:r>
                        </m:sub>
                        <m:sup>
                          <m:r>
                            <a:rPr lang="en-US" altLang="zh-CN" b="1" i="1" smtClean="0">
                              <a:latin typeface="Cambria Math"/>
                            </a:rPr>
                            <m:t>𝒃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𝟐</m:t>
                              </m:r>
                            </m:sup>
                          </m:sSup>
                        </m:e>
                      </m:nary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/>
                            </a:rPr>
                            <m:t>𝟏</m:t>
                          </m:r>
                        </m:num>
                        <m:den>
                          <m:r>
                            <a:rPr lang="en-US" altLang="zh-CN" i="1">
                              <a:latin typeface="Cambria Math"/>
                            </a:rPr>
                            <m:t>𝒃</m:t>
                          </m:r>
                          <m:r>
                            <a:rPr lang="en-US" altLang="zh-CN" i="1">
                              <a:latin typeface="Cambria Math"/>
                            </a:rPr>
                            <m:t>−</m:t>
                          </m:r>
                          <m:r>
                            <a:rPr lang="en-US" altLang="zh-CN" i="1">
                              <a:latin typeface="Cambria Math"/>
                            </a:rPr>
                            <m:t>𝒂</m:t>
                          </m:r>
                        </m:den>
                      </m:f>
                      <m:r>
                        <a:rPr lang="en-US" altLang="zh-CN" i="1">
                          <a:latin typeface="Cambria Math"/>
                        </a:rPr>
                        <m:t>𝒅𝒙</m:t>
                      </m:r>
                      <m:r>
                        <a:rPr lang="en-US" altLang="zh-CN" b="1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1" i="1" smtClean="0">
                              <a:latin typeface="Cambria Math"/>
                            </a:rPr>
                            <m:t>𝟏</m:t>
                          </m:r>
                        </m:num>
                        <m:den>
                          <m:r>
                            <a:rPr lang="en-US" altLang="zh-CN" b="1" i="1" smtClean="0">
                              <a:latin typeface="Cambria Math"/>
                            </a:rPr>
                            <m:t>𝒃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−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𝒂</m:t>
                          </m:r>
                        </m:den>
                      </m:f>
                      <m:r>
                        <a:rPr lang="en-US" altLang="zh-CN" b="1" i="1" smtClean="0">
                          <a:latin typeface="Cambria Math"/>
                        </a:rPr>
                        <m:t>⋅</m:t>
                      </m:r>
                      <m:f>
                        <m:f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𝒃</m:t>
                              </m:r>
                            </m:e>
                            <m:sup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𝟑</m:t>
                              </m:r>
                            </m:sup>
                          </m:sSup>
                          <m:r>
                            <a:rPr lang="en-US" altLang="zh-CN" b="1" i="1" smtClean="0">
                              <a:latin typeface="Cambria Math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𝒂</m:t>
                              </m:r>
                            </m:e>
                            <m:sup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𝟑</m:t>
                              </m:r>
                            </m:sup>
                          </m:sSup>
                        </m:num>
                        <m:den>
                          <m:r>
                            <a:rPr lang="en-US" altLang="zh-CN" b="1" i="1" smtClean="0">
                              <a:latin typeface="Cambria Math"/>
                            </a:rPr>
                            <m:t>𝟑</m:t>
                          </m:r>
                        </m:den>
                      </m:f>
                      <m:r>
                        <a:rPr lang="en-US" altLang="zh-CN" b="1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𝒂</m:t>
                              </m:r>
                            </m:e>
                            <m:sup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altLang="zh-CN" b="1" i="1" smtClean="0">
                              <a:latin typeface="Cambria Math"/>
                            </a:rPr>
                            <m:t>+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𝒂𝒃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𝒃</m:t>
                              </m:r>
                            </m:e>
                            <m:sup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𝟐</m:t>
                              </m:r>
                            </m:sup>
                          </m:sSup>
                        </m:num>
                        <m:den>
                          <m:r>
                            <a:rPr lang="en-US" altLang="zh-CN" b="1" i="1" smtClean="0">
                              <a:latin typeface="Cambria Math"/>
                            </a:rPr>
                            <m:t>𝟑</m:t>
                          </m:r>
                        </m:den>
                      </m:f>
                    </m:oMath>
                  </m:oMathPara>
                </a14:m>
                <a:endParaRPr lang="en-US" altLang="zh-CN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latin typeface="Cambria Math"/>
                        </a:rPr>
                        <m:t>∴</m:t>
                      </m:r>
                      <m:r>
                        <a:rPr lang="en-US" altLang="zh-CN" b="1" i="1" smtClean="0">
                          <a:latin typeface="Cambria Math"/>
                        </a:rPr>
                        <m:t>𝑫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/>
                            </a:rPr>
                            <m:t>𝑿</m:t>
                          </m:r>
                        </m:e>
                      </m:d>
                      <m:r>
                        <a:rPr lang="en-US" altLang="zh-CN" b="1" i="1" smtClean="0">
                          <a:latin typeface="Cambria Math"/>
                        </a:rPr>
                        <m:t>=</m:t>
                      </m:r>
                      <m:r>
                        <a:rPr lang="en-US" altLang="zh-CN" b="1" i="1" smtClean="0">
                          <a:latin typeface="Cambria Math"/>
                        </a:rPr>
                        <m:t>𝑬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𝑿</m:t>
                              </m:r>
                            </m:e>
                            <m:sup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𝟐</m:t>
                              </m:r>
                            </m:sup>
                          </m:sSup>
                        </m:e>
                      </m:d>
                      <m:r>
                        <a:rPr lang="en-US" altLang="zh-CN" b="1" i="1" smtClean="0">
                          <a:latin typeface="Cambria Math"/>
                        </a:rPr>
                        <m:t>−</m:t>
                      </m:r>
                      <m:sSup>
                        <m:sSup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𝑬</m:t>
                              </m:r>
                              <m:d>
                                <m:dPr>
                                  <m:ctrlP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1" i="1" smtClean="0">
                                      <a:latin typeface="Cambria Math"/>
                                    </a:rPr>
                                    <m:t>𝑿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CN" b="1" i="1" smtClean="0">
                              <a:latin typeface="Cambria Math"/>
                            </a:rPr>
                            <m:t>𝟐</m:t>
                          </m:r>
                        </m:sup>
                      </m:sSup>
                      <m:r>
                        <a:rPr lang="en-US" altLang="zh-CN" b="1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1" i="1" smtClean="0">
                                      <a:latin typeface="Cambria Math"/>
                                    </a:rPr>
                                    <m:t>𝒃</m:t>
                                  </m:r>
                                  <m:r>
                                    <a:rPr lang="en-US" altLang="zh-CN" b="1" i="1" smtClean="0">
                                      <a:latin typeface="Cambria Math"/>
                                    </a:rPr>
                                    <m:t>−</m:t>
                                  </m:r>
                                  <m:r>
                                    <a:rPr lang="en-US" altLang="zh-CN" b="1" i="1" smtClean="0">
                                      <a:latin typeface="Cambria Math"/>
                                    </a:rPr>
                                    <m:t>𝒂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𝟐</m:t>
                              </m:r>
                            </m:sup>
                          </m:sSup>
                        </m:num>
                        <m:den>
                          <m:r>
                            <a:rPr lang="en-US" altLang="zh-CN" b="1" i="1" smtClean="0">
                              <a:latin typeface="Cambria Math"/>
                            </a:rPr>
                            <m:t>𝟏𝟐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14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32151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均匀分布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10</a:t>
            </a:fld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/>
              <p:cNvSpPr txBox="1">
                <a:spLocks/>
              </p:cNvSpPr>
              <p:nvPr/>
            </p:nvSpPr>
            <p:spPr>
              <a:xfrm>
                <a:off x="612648" y="3140968"/>
                <a:ext cx="8153400" cy="2883024"/>
              </a:xfrm>
              <a:prstGeom prst="rect">
                <a:avLst/>
              </a:prstGeom>
            </p:spPr>
            <p:txBody>
              <a:bodyPr vert="horz">
                <a:normAutofit fontScale="85000" lnSpcReduction="10000"/>
              </a:bodyPr>
              <a:lstStyle>
                <a:lvl1pPr marL="320040" indent="-320040" algn="l" rtl="0" eaLnBrk="1" latinLnBrk="0" hangingPunct="1">
                  <a:spcBef>
                    <a:spcPts val="700"/>
                  </a:spcBef>
                  <a:buClr>
                    <a:schemeClr val="accent2"/>
                  </a:buClr>
                  <a:buSzPct val="60000"/>
                  <a:buFont typeface="Wingdings"/>
                  <a:buChar char=""/>
                  <a:defRPr kumimoji="0" sz="29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40080" indent="-274320" algn="l" rtl="0" eaLnBrk="1" latinLnBrk="0" hangingPunct="1">
                  <a:spcBef>
                    <a:spcPts val="550"/>
                  </a:spcBef>
                  <a:buClr>
                    <a:schemeClr val="accent1"/>
                  </a:buClr>
                  <a:buSzPct val="70000"/>
                  <a:buFont typeface="Wingdings 2"/>
                  <a:buChar char=""/>
                  <a:defRPr kumimoji="0" sz="2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-228600" algn="l" rtl="0" eaLnBrk="1" latinLnBrk="0" hangingPunct="1">
                  <a:spcBef>
                    <a:spcPts val="500"/>
                  </a:spcBef>
                  <a:buClr>
                    <a:schemeClr val="accent2"/>
                  </a:buClr>
                  <a:buSzPct val="75000"/>
                  <a:buFont typeface="Wingdings"/>
                  <a:buChar char=""/>
                  <a:defRPr kumimoji="0" sz="23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-228600" algn="l" rtl="0" eaLnBrk="1" latinLnBrk="0" hangingPunct="1">
                  <a:spcBef>
                    <a:spcPts val="400"/>
                  </a:spcBef>
                  <a:buClr>
                    <a:schemeClr val="accent3"/>
                  </a:buClr>
                  <a:buSzPct val="75000"/>
                  <a:buFont typeface="Wingdings"/>
                  <a:buChar char=""/>
                  <a:defRPr kumimoji="0" sz="2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-228600" algn="l" rtl="0" eaLnBrk="1" latinLnBrk="0" hangingPunct="1">
                  <a:spcBef>
                    <a:spcPts val="400"/>
                  </a:spcBef>
                  <a:buClr>
                    <a:schemeClr val="accent4"/>
                  </a:buClr>
                  <a:buSzPct val="65000"/>
                  <a:buFont typeface="Wingdings"/>
                  <a:buChar char=""/>
                  <a:defRPr kumimoji="0" sz="2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103120" indent="-228600" algn="l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Font typeface="Wingdings"/>
                  <a:buChar char="§"/>
                  <a:defRPr kumimoji="0" sz="18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377440" indent="-228600" algn="l" rtl="0" eaLnBrk="1" latinLnBrk="0" hangingPunct="1">
                  <a:spcBef>
                    <a:spcPct val="20000"/>
                  </a:spcBef>
                  <a:buClr>
                    <a:schemeClr val="accent2"/>
                  </a:buClr>
                  <a:buFont typeface="Wingdings"/>
                  <a:buChar char="§"/>
                  <a:defRPr kumimoji="0" sz="18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51760" indent="-228600" algn="l" rtl="0" eaLnBrk="1" latinLnBrk="0" hangingPunct="1">
                  <a:spcBef>
                    <a:spcPct val="20000"/>
                  </a:spcBef>
                  <a:buClr>
                    <a:schemeClr val="accent3"/>
                  </a:buClr>
                  <a:buFont typeface="Wingdings"/>
                  <a:buChar char="§"/>
                  <a:defRPr kumimoji="0" sz="18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26080" indent="-228600" algn="l" rtl="0" eaLnBrk="1" latinLnBrk="0" hangingPunct="1">
                  <a:spcBef>
                    <a:spcPct val="20000"/>
                  </a:spcBef>
                  <a:buClr>
                    <a:schemeClr val="accent4"/>
                  </a:buClr>
                  <a:buFont typeface="Wingdings"/>
                  <a:buChar char="§"/>
                  <a:defRPr kumimoji="0" sz="18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zh-CN" altLang="en-US" dirty="0" smtClean="0"/>
                  <a:t>证：根据假设有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𝑭</m:t>
                    </m:r>
                    <m:r>
                      <a:rPr lang="en-US" altLang="zh-CN" b="1" i="1" smtClean="0">
                        <a:latin typeface="Cambria Math"/>
                      </a:rPr>
                      <m:t>(</m:t>
                    </m:r>
                    <m:r>
                      <a:rPr lang="en-US" altLang="zh-CN" b="1" i="1" smtClean="0">
                        <a:latin typeface="Cambria Math"/>
                      </a:rPr>
                      <m:t>𝒙</m:t>
                    </m:r>
                    <m:r>
                      <a:rPr lang="en-US" altLang="zh-CN" b="1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zh-CN" altLang="en-US" b="1" dirty="0" smtClean="0">
                    <a:latin typeface="Cambria Math"/>
                  </a:rPr>
                  <a:t>存在反函数，记为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𝑭</m:t>
                        </m:r>
                      </m:e>
                      <m:sup>
                        <m:r>
                          <a:rPr lang="en-US" altLang="zh-CN" b="1" i="1" smtClean="0">
                            <a:latin typeface="Cambria Math"/>
                          </a:rPr>
                          <m:t>−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𝟏</m:t>
                        </m:r>
                      </m:sup>
                    </m:sSup>
                    <m:r>
                      <a:rPr lang="en-US" altLang="zh-CN" b="1" i="1" smtClean="0">
                        <a:latin typeface="Cambria Math"/>
                      </a:rPr>
                      <m:t>(⋅)</m:t>
                    </m:r>
                  </m:oMath>
                </a14:m>
                <a:endParaRPr lang="en-US" altLang="zh-CN" b="1" i="1" dirty="0" smtClean="0">
                  <a:latin typeface="Cambria Math"/>
                </a:endParaRPr>
              </a:p>
              <a:p>
                <a:pPr marL="0" indent="0">
                  <a:buNone/>
                </a:pPr>
                <a:r>
                  <a:rPr lang="zh-CN" altLang="en-US" b="1" dirty="0" smtClean="0"/>
                  <a:t>当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𝟎</m:t>
                    </m:r>
                    <m:r>
                      <a:rPr lang="en-US" altLang="zh-CN" b="1" i="1" smtClean="0">
                        <a:latin typeface="Cambria Math"/>
                      </a:rPr>
                      <m:t>&lt;</m:t>
                    </m:r>
                    <m:r>
                      <a:rPr lang="en-US" altLang="zh-CN" b="1" i="1" smtClean="0">
                        <a:latin typeface="Cambria Math"/>
                      </a:rPr>
                      <m:t>𝒚</m:t>
                    </m:r>
                    <m:r>
                      <a:rPr lang="en-US" altLang="zh-CN" b="1" i="1" smtClean="0">
                        <a:latin typeface="Cambria Math"/>
                      </a:rPr>
                      <m:t>&lt;</m:t>
                    </m:r>
                    <m:r>
                      <a:rPr lang="en-US" altLang="zh-CN" b="1" i="1" smtClean="0">
                        <a:latin typeface="Cambria Math"/>
                      </a:rPr>
                      <m:t>𝟏</m:t>
                    </m:r>
                  </m:oMath>
                </a14:m>
                <a:r>
                  <a:rPr lang="zh-CN" altLang="en-US" b="1" dirty="0" smtClean="0">
                    <a:latin typeface="Cambria Math"/>
                  </a:rPr>
                  <a:t>时，</a:t>
                </a:r>
                <a:endParaRPr lang="en-US" altLang="zh-CN" b="1" dirty="0" smtClean="0">
                  <a:latin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/>
                            </a:rPr>
                            <m:t>𝑭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/>
                            </a:rPr>
                            <m:t>𝒀</m:t>
                          </m:r>
                        </m:sub>
                      </m:sSub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/>
                            </a:rPr>
                            <m:t>𝒚</m:t>
                          </m:r>
                        </m:e>
                      </m:d>
                      <m:r>
                        <a:rPr lang="en-US" altLang="zh-CN" b="1" i="1" smtClean="0">
                          <a:latin typeface="Cambria Math"/>
                        </a:rPr>
                        <m:t>=</m:t>
                      </m:r>
                      <m:r>
                        <a:rPr lang="en-US" altLang="zh-CN" b="1" i="1" smtClean="0">
                          <a:latin typeface="Cambria Math"/>
                        </a:rPr>
                        <m:t>𝑷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/>
                            </a:rPr>
                            <m:t>𝑭</m:t>
                          </m:r>
                          <m:d>
                            <m:d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𝑿</m:t>
                              </m:r>
                            </m:e>
                          </m:d>
                          <m:r>
                            <a:rPr lang="en-US" altLang="zh-CN" b="1" i="1" smtClean="0">
                              <a:latin typeface="Cambria Math"/>
                            </a:rPr>
                            <m:t>&lt;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𝒚</m:t>
                          </m:r>
                        </m:e>
                      </m:d>
                      <m:r>
                        <a:rPr lang="en-US" altLang="zh-CN" b="1" i="1" smtClean="0">
                          <a:latin typeface="Cambria Math"/>
                        </a:rPr>
                        <m:t>=</m:t>
                      </m:r>
                      <m:r>
                        <a:rPr lang="en-US" altLang="zh-CN" b="1" i="1" smtClean="0">
                          <a:latin typeface="Cambria Math"/>
                        </a:rPr>
                        <m:t>𝑷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/>
                            </a:rPr>
                            <m:t>𝑿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&lt;</m:t>
                          </m:r>
                          <m:sSup>
                            <m:sSup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𝑭</m:t>
                              </m:r>
                            </m:e>
                            <m:sup>
                              <m:r>
                                <a:rPr lang="en-US" altLang="zh-CN" b="1" i="1" smtClean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𝟏</m:t>
                              </m:r>
                            </m:sup>
                          </m:sSup>
                          <m:d>
                            <m:d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1" i="0" smtClean="0">
                                  <a:latin typeface="Cambria Math"/>
                                </a:rPr>
                                <m:t>𝐲</m:t>
                              </m:r>
                            </m:e>
                          </m:d>
                        </m:e>
                      </m:d>
                      <m:r>
                        <a:rPr lang="en-US" altLang="zh-CN" b="1" i="0" smtClean="0">
                          <a:latin typeface="Cambria Math"/>
                        </a:rPr>
                        <m:t>=</m:t>
                      </m:r>
                      <m:r>
                        <a:rPr lang="en-US" altLang="zh-CN" b="1" i="1" smtClean="0">
                          <a:latin typeface="Cambria Math"/>
                        </a:rPr>
                        <m:t>𝑭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𝑭</m:t>
                              </m:r>
                            </m:e>
                            <m:sup>
                              <m:r>
                                <a:rPr lang="en-US" altLang="zh-CN" b="1" i="1" smtClean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𝟏</m:t>
                              </m:r>
                            </m:sup>
                          </m:sSup>
                          <m:d>
                            <m:d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𝒚</m:t>
                              </m:r>
                            </m:e>
                          </m:d>
                        </m:e>
                      </m:d>
                      <m:r>
                        <a:rPr lang="en-US" altLang="zh-CN" b="1" i="1" smtClean="0">
                          <a:latin typeface="Cambria Math"/>
                        </a:rPr>
                        <m:t>=</m:t>
                      </m:r>
                      <m:r>
                        <a:rPr lang="en-US" altLang="zh-CN" b="1" i="1" smtClean="0">
                          <a:latin typeface="Cambria Math"/>
                        </a:rPr>
                        <m:t>𝒚</m:t>
                      </m:r>
                    </m:oMath>
                  </m:oMathPara>
                </a14:m>
                <a:endParaRPr lang="en-US" altLang="zh-CN" dirty="0" smtClean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/>
                        <a:ea typeface="Cambria Math"/>
                      </a:rPr>
                      <m:t>∴</m:t>
                    </m:r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/>
                            <a:ea typeface="Cambria Math"/>
                          </a:rPr>
                          <m:t>𝒑</m:t>
                        </m:r>
                      </m:e>
                      <m:sub>
                        <m:r>
                          <a:rPr lang="en-US" altLang="zh-CN" b="1" i="1" smtClean="0">
                            <a:latin typeface="Cambria Math"/>
                            <a:ea typeface="Cambria Math"/>
                          </a:rPr>
                          <m:t>𝒀</m:t>
                        </m:r>
                      </m:sub>
                    </m:sSub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  <a:ea typeface="Cambria Math"/>
                          </a:rPr>
                          <m:t>𝒚</m:t>
                        </m:r>
                      </m:e>
                    </m:d>
                    <m:r>
                      <a:rPr lang="en-US" altLang="zh-CN" b="1" i="1" smtClean="0">
                        <a:latin typeface="Cambria Math"/>
                        <a:ea typeface="Cambria Math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zh-CN" b="1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eqArrPr>
                          <m:e>
                            <m:r>
                              <a:rPr lang="en-US" altLang="zh-CN" b="1" i="1" smtClean="0">
                                <a:latin typeface="Cambria Math"/>
                                <a:ea typeface="Cambria Math"/>
                              </a:rPr>
                              <m:t>𝟏</m:t>
                            </m:r>
                            <m:r>
                              <a:rPr lang="en-US" altLang="zh-CN" b="1" i="1" smtClean="0">
                                <a:latin typeface="Cambria Math"/>
                                <a:ea typeface="Cambria Math"/>
                              </a:rPr>
                              <m:t>, </m:t>
                            </m:r>
                            <m:r>
                              <a:rPr lang="en-US" altLang="zh-CN" b="1" i="1" smtClean="0">
                                <a:latin typeface="Cambria Math"/>
                                <a:ea typeface="Cambria Math"/>
                              </a:rPr>
                              <m:t>𝟎</m:t>
                            </m:r>
                            <m:r>
                              <a:rPr lang="en-US" altLang="zh-CN" b="1" i="1" smtClean="0">
                                <a:latin typeface="Cambria Math"/>
                                <a:ea typeface="Cambria Math"/>
                              </a:rPr>
                              <m:t>&lt;</m:t>
                            </m:r>
                            <m:r>
                              <a:rPr lang="en-US" altLang="zh-CN" b="1" i="1" smtClean="0">
                                <a:latin typeface="Cambria Math"/>
                                <a:ea typeface="Cambria Math"/>
                              </a:rPr>
                              <m:t>𝒚</m:t>
                            </m:r>
                            <m:r>
                              <a:rPr lang="en-US" altLang="zh-CN" b="1" i="1" smtClean="0">
                                <a:latin typeface="Cambria Math"/>
                                <a:ea typeface="Cambria Math"/>
                              </a:rPr>
                              <m:t>&lt;</m:t>
                            </m:r>
                            <m:r>
                              <a:rPr lang="en-US" altLang="zh-CN" b="1" i="1" smtClean="0">
                                <a:latin typeface="Cambria Math"/>
                                <a:ea typeface="Cambria Math"/>
                              </a:rPr>
                              <m:t>𝟏</m:t>
                            </m:r>
                          </m:e>
                          <m:e>
                            <m:r>
                              <a:rPr lang="en-US" altLang="zh-CN" b="1" i="1" smtClean="0">
                                <a:latin typeface="Cambria Math"/>
                                <a:ea typeface="Cambria Math"/>
                              </a:rPr>
                              <m:t>𝟎</m:t>
                            </m:r>
                            <m:r>
                              <a:rPr lang="en-US" altLang="zh-CN" b="1" i="1" smtClean="0">
                                <a:latin typeface="Cambria Math"/>
                                <a:ea typeface="Cambria Math"/>
                              </a:rPr>
                              <m:t>,           </m:t>
                            </m:r>
                            <m:r>
                              <a:rPr lang="zh-CN" altLang="en-US" i="1">
                                <a:latin typeface="Cambria Math"/>
                                <a:ea typeface="Cambria Math"/>
                              </a:rPr>
                              <m:t>其它</m:t>
                            </m:r>
                          </m:e>
                        </m:eqArr>
                      </m:e>
                    </m:d>
                  </m:oMath>
                </a14:m>
                <a:r>
                  <a:rPr lang="zh-CN" altLang="en-US" dirty="0" smtClean="0"/>
                  <a:t>，即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𝒀</m:t>
                    </m:r>
                    <m:r>
                      <a:rPr lang="en-US" altLang="zh-CN" b="1" i="1" smtClean="0">
                        <a:latin typeface="Cambria Math"/>
                      </a:rPr>
                      <m:t>∼</m:t>
                    </m:r>
                    <m:r>
                      <a:rPr lang="en-US" altLang="zh-CN" b="1" i="1" smtClean="0">
                        <a:latin typeface="Cambria Math"/>
                      </a:rPr>
                      <m:t>𝑼</m:t>
                    </m:r>
                    <m:r>
                      <a:rPr lang="en-US" altLang="zh-CN" b="1" i="1" smtClean="0">
                        <a:latin typeface="Cambria Math"/>
                      </a:rPr>
                      <m:t>(</m:t>
                    </m:r>
                    <m:r>
                      <a:rPr lang="en-US" altLang="zh-CN" b="1" i="1" smtClean="0">
                        <a:latin typeface="Cambria Math"/>
                      </a:rPr>
                      <m:t>𝟎</m:t>
                    </m:r>
                    <m:r>
                      <a:rPr lang="en-US" altLang="zh-CN" b="1" i="1" smtClean="0">
                        <a:latin typeface="Cambria Math"/>
                      </a:rPr>
                      <m:t>,</m:t>
                    </m:r>
                    <m:r>
                      <a:rPr lang="en-US" altLang="zh-CN" b="1" i="1" smtClean="0">
                        <a:latin typeface="Cambria Math"/>
                      </a:rPr>
                      <m:t>𝟏</m:t>
                    </m:r>
                    <m:r>
                      <a:rPr lang="en-US" altLang="zh-CN" b="1" i="1" smtClean="0">
                        <a:latin typeface="Cambria Math"/>
                      </a:rPr>
                      <m:t>)</m:t>
                    </m:r>
                  </m:oMath>
                </a14:m>
                <a:endParaRPr lang="en-US" altLang="zh-CN" dirty="0" smtClean="0"/>
              </a:p>
            </p:txBody>
          </p:sp>
        </mc:Choice>
        <mc:Fallback xmlns="">
          <p:sp>
            <p:nvSpPr>
              <p:cNvPr id="5" name="内容占位符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648" y="3140968"/>
                <a:ext cx="8153400" cy="2883024"/>
              </a:xfrm>
              <a:prstGeom prst="rect">
                <a:avLst/>
              </a:prstGeom>
              <a:blipFill rotWithShape="0">
                <a:blip r:embed="rId2"/>
                <a:stretch>
                  <a:fillRect l="-1272" t="-23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1835696" y="1700808"/>
                <a:ext cx="5832648" cy="1200329"/>
              </a:xfrm>
              <a:prstGeom prst="rect">
                <a:avLst/>
              </a:prstGeom>
              <a:noFill/>
              <a:ln w="19050">
                <a:solidFill>
                  <a:srgbClr val="7030A0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zh-CN" altLang="en-US" sz="2400" b="1" dirty="0" smtClean="0">
                    <a:solidFill>
                      <a:srgbClr val="7030A0"/>
                    </a:solidFill>
                  </a:rPr>
                  <a:t>定理</a:t>
                </a:r>
                <a:endParaRPr lang="en-US" altLang="zh-CN" sz="2400" b="1" dirty="0" smtClean="0">
                  <a:solidFill>
                    <a:srgbClr val="7030A0"/>
                  </a:solidFill>
                </a:endParaRPr>
              </a:p>
              <a:p>
                <a:r>
                  <a:rPr lang="zh-CN" altLang="en-US" sz="2400" b="1" dirty="0" smtClean="0">
                    <a:solidFill>
                      <a:srgbClr val="FF0000"/>
                    </a:solidFill>
                  </a:rPr>
                  <a:t>设连续型随机变量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/>
                      </a:rPr>
                      <m:t>𝑿</m:t>
                    </m:r>
                  </m:oMath>
                </a14:m>
                <a:r>
                  <a:rPr lang="zh-CN" altLang="en-US" sz="2400" b="1" dirty="0" smtClean="0">
                    <a:solidFill>
                      <a:srgbClr val="FF0000"/>
                    </a:solidFill>
                  </a:rPr>
                  <a:t>的分布函数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/>
                      </a:rPr>
                      <m:t>𝑭</m:t>
                    </m:r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/>
                      </a:rPr>
                      <m:t>(</m:t>
                    </m:r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/>
                      </a:rPr>
                      <m:t>𝒙</m:t>
                    </m:r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zh-CN" altLang="en-US" sz="2400" b="1" dirty="0" smtClean="0">
                    <a:solidFill>
                      <a:srgbClr val="FF0000"/>
                    </a:solidFill>
                  </a:rPr>
                  <a:t>严格单调递增，令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/>
                      </a:rPr>
                      <m:t>𝒀</m:t>
                    </m:r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/>
                      </a:rPr>
                      <m:t>𝑭</m:t>
                    </m:r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/>
                      </a:rPr>
                      <m:t>(</m:t>
                    </m:r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/>
                      </a:rPr>
                      <m:t>𝑿</m:t>
                    </m:r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zh-CN" altLang="en-US" sz="2400" b="1" dirty="0" smtClean="0">
                    <a:solidFill>
                      <a:srgbClr val="FF0000"/>
                    </a:solidFill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/>
                      </a:rPr>
                      <m:t>𝒀</m:t>
                    </m:r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/>
                      </a:rPr>
                      <m:t>∼</m:t>
                    </m:r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/>
                      </a:rPr>
                      <m:t>𝑼</m:t>
                    </m:r>
                    <m:d>
                      <m:dPr>
                        <m:ctrlPr>
                          <a:rPr lang="en-US" altLang="zh-CN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𝟎</m:t>
                        </m:r>
                        <m:r>
                          <a:rPr lang="en-US" altLang="zh-CN" sz="24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,</m:t>
                        </m:r>
                        <m:r>
                          <a:rPr lang="en-US" altLang="zh-CN" sz="24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𝟏</m:t>
                        </m:r>
                      </m:e>
                    </m:d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/>
                      </a:rPr>
                      <m:t>.</m:t>
                    </m:r>
                  </m:oMath>
                </a14:m>
                <a:endParaRPr lang="en-US" altLang="zh-CN" sz="2400" b="1" dirty="0" smtClean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5696" y="1700808"/>
                <a:ext cx="5832648" cy="1200329"/>
              </a:xfrm>
              <a:prstGeom prst="rect">
                <a:avLst/>
              </a:prstGeom>
              <a:blipFill rotWithShape="0">
                <a:blip r:embed="rId3"/>
                <a:stretch>
                  <a:fillRect l="-1458" t="-3000" b="-10000"/>
                </a:stretch>
              </a:blipFill>
              <a:ln w="19050"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72946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均匀分布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设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𝑿</m:t>
                    </m:r>
                    <m:r>
                      <a:rPr lang="en-US" altLang="zh-CN" b="1" i="1" smtClean="0">
                        <a:latin typeface="Cambria Math"/>
                      </a:rPr>
                      <m:t>∼</m:t>
                    </m:r>
                    <m:r>
                      <a:rPr lang="en-US" altLang="zh-CN" b="1" i="1" smtClean="0">
                        <a:latin typeface="Cambria Math"/>
                      </a:rPr>
                      <m:t>𝑼</m:t>
                    </m:r>
                    <m:r>
                      <a:rPr lang="en-US" altLang="zh-CN" b="1" i="1" smtClean="0">
                        <a:latin typeface="Cambria Math"/>
                      </a:rPr>
                      <m:t>(</m:t>
                    </m:r>
                    <m:r>
                      <a:rPr lang="en-US" altLang="zh-CN" b="1" i="1" smtClean="0">
                        <a:latin typeface="Cambria Math"/>
                      </a:rPr>
                      <m:t>𝒂</m:t>
                    </m:r>
                    <m:r>
                      <a:rPr lang="en-US" altLang="zh-CN" b="1" i="1" smtClean="0">
                        <a:latin typeface="Cambria Math"/>
                      </a:rPr>
                      <m:t>,</m:t>
                    </m:r>
                    <m:r>
                      <a:rPr lang="en-US" altLang="zh-CN" b="1" i="1" smtClean="0">
                        <a:latin typeface="Cambria Math"/>
                      </a:rPr>
                      <m:t>𝒃</m:t>
                    </m:r>
                    <m:r>
                      <a:rPr lang="en-US" altLang="zh-CN" b="1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zh-CN" altLang="en-US" dirty="0" smtClean="0"/>
                  <a:t>，则对于任意</a:t>
                </a:r>
                <a14:m>
                  <m:oMath xmlns:m="http://schemas.openxmlformats.org/officeDocument/2006/math">
                    <m:r>
                      <a:rPr lang="en-US" altLang="zh-CN" b="1" i="0" smtClean="0">
                        <a:latin typeface="Cambria Math"/>
                      </a:rPr>
                      <m:t>𝐚</m:t>
                    </m:r>
                    <m:r>
                      <a:rPr lang="en-US" altLang="zh-CN" b="1" i="1" smtClean="0">
                        <a:latin typeface="Cambria Math"/>
                      </a:rPr>
                      <m:t>&lt;</m:t>
                    </m:r>
                    <m:r>
                      <a:rPr lang="en-US" altLang="zh-CN" b="1" i="1" smtClean="0">
                        <a:latin typeface="Cambria Math"/>
                      </a:rPr>
                      <m:t>𝒄</m:t>
                    </m:r>
                    <m:r>
                      <a:rPr lang="en-US" altLang="zh-CN" b="1" i="1" smtClean="0">
                        <a:latin typeface="Cambria Math"/>
                      </a:rPr>
                      <m:t>≤</m:t>
                    </m:r>
                    <m:r>
                      <a:rPr lang="en-US" altLang="zh-CN" b="1" i="1" smtClean="0">
                        <a:latin typeface="Cambria Math"/>
                      </a:rPr>
                      <m:t>𝒅</m:t>
                    </m:r>
                    <m:r>
                      <a:rPr lang="en-US" altLang="zh-CN" b="1" i="1" smtClean="0">
                        <a:latin typeface="Cambria Math"/>
                      </a:rPr>
                      <m:t>&lt;</m:t>
                    </m:r>
                    <m:r>
                      <a:rPr lang="en-US" altLang="zh-CN" b="1" i="1" smtClean="0">
                        <a:latin typeface="Cambria Math"/>
                      </a:rPr>
                      <m:t>𝒃</m:t>
                    </m:r>
                  </m:oMath>
                </a14:m>
                <a:r>
                  <a:rPr lang="zh-CN" altLang="en-US" dirty="0" smtClean="0"/>
                  <a:t>，</a:t>
                </a:r>
                <a:endParaRPr lang="en-US" altLang="zh-CN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/>
                        </a:rPr>
                        <m:t>𝑷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/>
                            </a:rPr>
                            <m:t>𝑿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≤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𝒄</m:t>
                          </m:r>
                        </m:e>
                        <m:e>
                          <m:r>
                            <a:rPr lang="en-US" altLang="zh-CN" b="1" i="1" smtClean="0">
                              <a:latin typeface="Cambria Math"/>
                            </a:rPr>
                            <m:t>𝑿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≤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𝒅</m:t>
                          </m:r>
                        </m:e>
                      </m:d>
                      <m:r>
                        <a:rPr lang="en-US" altLang="zh-CN" b="1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1" i="1" smtClean="0">
                              <a:latin typeface="Cambria Math"/>
                            </a:rPr>
                            <m:t>𝒄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−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𝒂</m:t>
                          </m:r>
                        </m:num>
                        <m:den>
                          <m:r>
                            <a:rPr lang="en-US" altLang="zh-CN" b="1" i="1" smtClean="0">
                              <a:latin typeface="Cambria Math"/>
                            </a:rPr>
                            <m:t>𝒅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−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𝒂</m:t>
                          </m:r>
                        </m:den>
                      </m:f>
                    </m:oMath>
                  </m:oMathPara>
                </a14:m>
                <a:endParaRPr lang="en-US" altLang="zh-CN" dirty="0" smtClean="0"/>
              </a:p>
              <a:p>
                <a:pPr marL="0" indent="0">
                  <a:buNone/>
                </a:pPr>
                <a:r>
                  <a:rPr lang="zh-CN" altLang="en-US" dirty="0" smtClean="0"/>
                  <a:t>即在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𝑿</m:t>
                    </m:r>
                    <m:r>
                      <a:rPr lang="en-US" altLang="zh-CN" b="1" i="1" smtClean="0">
                        <a:latin typeface="Cambria Math"/>
                      </a:rPr>
                      <m:t>≤</m:t>
                    </m:r>
                    <m:r>
                      <a:rPr lang="en-US" altLang="zh-CN" b="1" i="1" smtClean="0">
                        <a:latin typeface="Cambria Math"/>
                      </a:rPr>
                      <m:t>𝒅</m:t>
                    </m:r>
                  </m:oMath>
                </a14:m>
                <a:r>
                  <a:rPr lang="zh-CN" altLang="en-US" dirty="0" smtClean="0"/>
                  <a:t>的条件下，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𝑿</m:t>
                    </m:r>
                  </m:oMath>
                </a14:m>
                <a:r>
                  <a:rPr lang="zh-CN" altLang="en-US" dirty="0" smtClean="0"/>
                  <a:t>均匀分布于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(</m:t>
                    </m:r>
                    <m:r>
                      <a:rPr lang="en-US" altLang="zh-CN" b="1" i="1" smtClean="0">
                        <a:latin typeface="Cambria Math"/>
                      </a:rPr>
                      <m:t>𝒂</m:t>
                    </m:r>
                    <m:r>
                      <a:rPr lang="en-US" altLang="zh-CN" b="1" i="1" smtClean="0">
                        <a:latin typeface="Cambria Math"/>
                      </a:rPr>
                      <m:t>,</m:t>
                    </m:r>
                    <m:r>
                      <a:rPr lang="en-US" altLang="zh-CN" b="1" i="1" smtClean="0">
                        <a:latin typeface="Cambria Math"/>
                      </a:rPr>
                      <m:t>𝒅</m:t>
                    </m:r>
                    <m:r>
                      <a:rPr lang="en-US" altLang="zh-CN" b="1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altLang="zh-CN" dirty="0" smtClean="0"/>
                  <a:t>.</a:t>
                </a:r>
              </a:p>
              <a:p>
                <a:pPr marL="0" indent="0">
                  <a:buNone/>
                </a:pPr>
                <a:endParaRPr lang="en-US" altLang="zh-CN" dirty="0" smtClean="0"/>
              </a:p>
              <a:p>
                <a:pPr marL="0" indent="0">
                  <a:buNone/>
                </a:pPr>
                <a:r>
                  <a:rPr lang="zh-CN" altLang="en-US" dirty="0" smtClean="0"/>
                  <a:t>证：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𝑷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𝑿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≤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𝒄</m:t>
                        </m:r>
                      </m:e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𝑿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≤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𝒅</m:t>
                        </m:r>
                      </m:e>
                    </m:d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1" i="1" smtClean="0">
                            <a:latin typeface="Cambria Math"/>
                          </a:rPr>
                          <m:t>𝑷</m:t>
                        </m:r>
                        <m:d>
                          <m:d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 smtClean="0">
                                <a:latin typeface="Cambria Math"/>
                              </a:rPr>
                              <m:t>𝑿</m:t>
                            </m:r>
                            <m:r>
                              <a:rPr lang="en-US" altLang="zh-CN" b="1" i="1" smtClean="0">
                                <a:latin typeface="Cambria Math"/>
                              </a:rPr>
                              <m:t>≤</m:t>
                            </m:r>
                            <m:r>
                              <a:rPr lang="en-US" altLang="zh-CN" b="1" i="1" smtClean="0">
                                <a:latin typeface="Cambria Math"/>
                              </a:rPr>
                              <m:t>𝒄</m:t>
                            </m:r>
                            <m:r>
                              <a:rPr lang="en-US" altLang="zh-CN" b="1" i="1" smtClean="0">
                                <a:latin typeface="Cambria Math"/>
                              </a:rPr>
                              <m:t>, </m:t>
                            </m:r>
                            <m:r>
                              <a:rPr lang="en-US" altLang="zh-CN" b="1" i="1" smtClean="0">
                                <a:latin typeface="Cambria Math"/>
                              </a:rPr>
                              <m:t>𝑿</m:t>
                            </m:r>
                            <m:r>
                              <a:rPr lang="en-US" altLang="zh-CN" b="1" i="1" smtClean="0">
                                <a:latin typeface="Cambria Math"/>
                              </a:rPr>
                              <m:t>≤</m:t>
                            </m:r>
                            <m:r>
                              <a:rPr lang="en-US" altLang="zh-CN" b="1" i="1" smtClean="0">
                                <a:latin typeface="Cambria Math"/>
                              </a:rPr>
                              <m:t>𝒅</m:t>
                            </m:r>
                          </m:e>
                        </m:d>
                      </m:num>
                      <m:den>
                        <m:r>
                          <a:rPr lang="en-US" altLang="zh-CN" b="1" i="1" smtClean="0">
                            <a:latin typeface="Cambria Math"/>
                          </a:rPr>
                          <m:t>𝑷</m:t>
                        </m:r>
                        <m:d>
                          <m:d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 smtClean="0">
                                <a:latin typeface="Cambria Math"/>
                              </a:rPr>
                              <m:t>𝑿</m:t>
                            </m:r>
                            <m:r>
                              <a:rPr lang="en-US" altLang="zh-CN" b="1" i="1" smtClean="0">
                                <a:latin typeface="Cambria Math"/>
                              </a:rPr>
                              <m:t>≤</m:t>
                            </m:r>
                            <m:r>
                              <a:rPr lang="en-US" altLang="zh-CN" b="1" i="1" smtClean="0">
                                <a:latin typeface="Cambria Math"/>
                              </a:rPr>
                              <m:t>𝒅</m:t>
                            </m:r>
                          </m:e>
                        </m:d>
                      </m:den>
                    </m:f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1" i="1" smtClean="0">
                            <a:latin typeface="Cambria Math"/>
                          </a:rPr>
                          <m:t>𝑷</m:t>
                        </m:r>
                        <m:d>
                          <m:d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 smtClean="0">
                                <a:latin typeface="Cambria Math"/>
                              </a:rPr>
                              <m:t>𝑿</m:t>
                            </m:r>
                            <m:r>
                              <a:rPr lang="en-US" altLang="zh-CN" b="1" i="1" smtClean="0">
                                <a:latin typeface="Cambria Math"/>
                              </a:rPr>
                              <m:t>≤</m:t>
                            </m:r>
                            <m:r>
                              <a:rPr lang="en-US" altLang="zh-CN" b="1" i="1" smtClean="0">
                                <a:latin typeface="Cambria Math"/>
                              </a:rPr>
                              <m:t>𝒄</m:t>
                            </m:r>
                          </m:e>
                        </m:d>
                      </m:num>
                      <m:den>
                        <m:r>
                          <a:rPr lang="en-US" altLang="zh-CN" b="1" i="1" smtClean="0">
                            <a:latin typeface="Cambria Math"/>
                          </a:rPr>
                          <m:t>𝑷</m:t>
                        </m:r>
                        <m:d>
                          <m:d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 smtClean="0">
                                <a:latin typeface="Cambria Math"/>
                              </a:rPr>
                              <m:t>𝒙</m:t>
                            </m:r>
                            <m:r>
                              <a:rPr lang="en-US" altLang="zh-CN" b="1" i="1" smtClean="0">
                                <a:latin typeface="Cambria Math"/>
                              </a:rPr>
                              <m:t>≤</m:t>
                            </m:r>
                            <m:r>
                              <a:rPr lang="en-US" altLang="zh-CN" b="1" i="1" smtClean="0">
                                <a:latin typeface="Cambria Math"/>
                              </a:rPr>
                              <m:t>𝒅</m:t>
                            </m:r>
                          </m:e>
                        </m:d>
                      </m:den>
                    </m:f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1" i="1" smtClean="0">
                            <a:latin typeface="Cambria Math"/>
                          </a:rPr>
                          <m:t>𝒄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−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𝒂</m:t>
                        </m:r>
                      </m:num>
                      <m:den>
                        <m:r>
                          <a:rPr lang="en-US" altLang="zh-CN" b="1" i="1" smtClean="0">
                            <a:latin typeface="Cambria Math"/>
                          </a:rPr>
                          <m:t>𝒅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−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𝒂</m:t>
                        </m:r>
                      </m:den>
                    </m:f>
                  </m:oMath>
                </a14:m>
                <a:endParaRPr lang="en-US" altLang="zh-CN" dirty="0" smtClean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1645" t="-12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11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81758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 smtClean="0"/>
              <a:t>指数分布</a:t>
            </a:r>
            <a:r>
              <a:rPr lang="en-US" altLang="zh-CN" dirty="0" smtClean="0"/>
              <a:t>(exponential distribution)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设连续型随机变量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𝑿</m:t>
                    </m:r>
                  </m:oMath>
                </a14:m>
                <a:r>
                  <a:rPr lang="zh-CN" altLang="en-US" dirty="0" smtClean="0"/>
                  <a:t>的概率密度为</a:t>
                </a:r>
                <a:endParaRPr lang="en-US" altLang="zh-CN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/>
                        </a:rPr>
                        <m:t>𝒑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/>
                            </a:rPr>
                            <m:t>𝒙</m:t>
                          </m:r>
                        </m:e>
                      </m:d>
                      <m:r>
                        <a:rPr lang="en-US" altLang="zh-CN" b="1" i="1" smtClean="0"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𝝀</m:t>
                              </m:r>
                              <m:sSup>
                                <m:sSupPr>
                                  <m:ctrlP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1" i="1" smtClean="0">
                                      <a:latin typeface="Cambria Math"/>
                                    </a:rPr>
                                    <m:t>𝒆</m:t>
                                  </m:r>
                                </m:e>
                                <m:sup>
                                  <m:r>
                                    <a:rPr lang="en-US" altLang="zh-CN" b="1" i="1" smtClean="0">
                                      <a:latin typeface="Cambria Math"/>
                                    </a:rPr>
                                    <m:t>−</m:t>
                                  </m:r>
                                  <m:r>
                                    <a:rPr lang="en-US" altLang="zh-CN" b="1" i="1" smtClean="0">
                                      <a:latin typeface="Cambria Math"/>
                                    </a:rPr>
                                    <m:t>𝝀</m:t>
                                  </m:r>
                                  <m:r>
                                    <a:rPr lang="en-US" altLang="zh-CN" b="1" i="1" smtClean="0">
                                      <a:latin typeface="Cambria Math"/>
                                    </a:rPr>
                                    <m:t>𝒙</m:t>
                                  </m:r>
                                </m:sup>
                              </m:sSup>
                              <m:r>
                                <a:rPr lang="en-US" altLang="zh-CN" b="1" i="1" smtClean="0">
                                  <a:latin typeface="Cambria Math"/>
                                </a:rPr>
                                <m:t>, </m:t>
                              </m:r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𝒙</m:t>
                              </m:r>
                              <m:r>
                                <a:rPr lang="en-US" altLang="zh-CN" b="1" i="1" smtClean="0">
                                  <a:latin typeface="Cambria Math"/>
                                </a:rPr>
                                <m:t>&gt;</m:t>
                              </m:r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𝟎</m:t>
                              </m:r>
                            </m:e>
                            <m:e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𝟎</m:t>
                              </m:r>
                              <m:r>
                                <a:rPr lang="en-US" altLang="zh-CN" b="1" i="1" smtClean="0">
                                  <a:latin typeface="Cambria Math"/>
                                </a:rPr>
                                <m:t>,  </m:t>
                              </m:r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𝒙</m:t>
                              </m:r>
                              <m:r>
                                <a:rPr lang="en-US" altLang="zh-CN" b="1" i="1" smtClean="0">
                                  <a:latin typeface="Cambria Math"/>
                                </a:rPr>
                                <m:t>≤</m:t>
                              </m:r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𝟎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altLang="zh-CN" dirty="0" smtClean="0"/>
              </a:p>
              <a:p>
                <a:pPr marL="0" indent="0">
                  <a:buNone/>
                </a:pPr>
                <a:r>
                  <a:rPr lang="zh-CN" altLang="en-US" dirty="0" smtClean="0"/>
                  <a:t>其中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𝝀</m:t>
                    </m:r>
                  </m:oMath>
                </a14:m>
                <a:r>
                  <a:rPr lang="zh-CN" altLang="en-US" dirty="0" smtClean="0"/>
                  <a:t>为常数，则称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𝑿</m:t>
                    </m:r>
                  </m:oMath>
                </a14:m>
                <a:r>
                  <a:rPr lang="zh-CN" altLang="en-US" dirty="0" smtClean="0"/>
                  <a:t>服从参数为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𝝀</m:t>
                    </m:r>
                  </m:oMath>
                </a14:m>
                <a:r>
                  <a:rPr lang="zh-CN" altLang="en-US" dirty="0" smtClean="0"/>
                  <a:t>的指数分布，记为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𝑿</m:t>
                    </m:r>
                    <m:r>
                      <a:rPr lang="en-US" altLang="zh-CN" b="1" i="1" smtClean="0">
                        <a:latin typeface="Cambria Math"/>
                      </a:rPr>
                      <m:t>∼</m:t>
                    </m:r>
                    <m:r>
                      <a:rPr lang="en-US" altLang="zh-CN" b="1" i="1" smtClean="0">
                        <a:latin typeface="Cambria Math"/>
                      </a:rPr>
                      <m:t>𝑬</m:t>
                    </m:r>
                    <m:r>
                      <a:rPr lang="en-US" altLang="zh-CN" b="1" i="1" smtClean="0">
                        <a:latin typeface="Cambria Math"/>
                      </a:rPr>
                      <m:t>(</m:t>
                    </m:r>
                    <m:r>
                      <a:rPr lang="en-US" altLang="zh-CN" b="1" i="1" smtClean="0">
                        <a:latin typeface="Cambria Math"/>
                      </a:rPr>
                      <m:t>𝝀</m:t>
                    </m:r>
                    <m:r>
                      <a:rPr lang="en-US" altLang="zh-CN" b="1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altLang="zh-CN" dirty="0" smtClean="0"/>
                  <a:t>.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3"/>
                <a:stretch>
                  <a:fillRect l="-1645" t="-12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12</a:t>
            </a:fld>
            <a:endParaRPr lang="zh-CN" altLang="en-US" dirty="0"/>
          </a:p>
        </p:txBody>
      </p:sp>
      <p:grpSp>
        <p:nvGrpSpPr>
          <p:cNvPr id="5" name="Group 4"/>
          <p:cNvGrpSpPr>
            <a:grpSpLocks/>
          </p:cNvGrpSpPr>
          <p:nvPr/>
        </p:nvGrpSpPr>
        <p:grpSpPr bwMode="auto">
          <a:xfrm>
            <a:off x="3275856" y="3789040"/>
            <a:ext cx="5255369" cy="2880048"/>
            <a:chOff x="1927" y="2296"/>
            <a:chExt cx="3447" cy="1891"/>
          </a:xfrm>
        </p:grpSpPr>
        <p:sp>
          <p:nvSpPr>
            <p:cNvPr id="6" name="Rectangle 5"/>
            <p:cNvSpPr>
              <a:spLocks noChangeArrowheads="1"/>
            </p:cNvSpPr>
            <p:nvPr/>
          </p:nvSpPr>
          <p:spPr bwMode="auto">
            <a:xfrm>
              <a:off x="2290" y="2659"/>
              <a:ext cx="681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A50021"/>
                </a:buClr>
                <a:buSzPct val="75000"/>
                <a:buFont typeface="Wingdings" pitchFamily="2" charset="2"/>
                <a:buChar char="n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itchFamily="2" charset="2"/>
                <a:buChar char="n"/>
                <a:defRPr kumimoji="1" sz="3200">
                  <a:solidFill>
                    <a:srgbClr val="13110F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666699"/>
                </a:buClr>
                <a:buSzPct val="70000"/>
                <a:buFont typeface="Wingdings" pitchFamily="2" charset="2"/>
                <a:buChar char="n"/>
                <a:defRPr kumimoji="1" sz="2800">
                  <a:solidFill>
                    <a:srgbClr val="13110F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SzPct val="60000"/>
                <a:buFont typeface="Wingdings" pitchFamily="2" charset="2"/>
                <a:buChar char="n"/>
                <a:defRPr kumimoji="1" sz="2400">
                  <a:solidFill>
                    <a:srgbClr val="13110F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rgbClr val="13110F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rgbClr val="13110F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rgbClr val="13110F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rgbClr val="13110F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rgbClr val="13110F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F80202"/>
                  </a:solidFill>
                </a:rPr>
                <a:t>λ=3</a:t>
              </a:r>
            </a:p>
          </p:txBody>
        </p:sp>
        <p:sp>
          <p:nvSpPr>
            <p:cNvPr id="7" name="Rectangle 6"/>
            <p:cNvSpPr>
              <a:spLocks noChangeArrowheads="1"/>
            </p:cNvSpPr>
            <p:nvPr/>
          </p:nvSpPr>
          <p:spPr bwMode="auto">
            <a:xfrm>
              <a:off x="2426" y="3113"/>
              <a:ext cx="682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A50021"/>
                </a:buClr>
                <a:buSzPct val="75000"/>
                <a:buFont typeface="Wingdings" pitchFamily="2" charset="2"/>
                <a:buChar char="n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itchFamily="2" charset="2"/>
                <a:buChar char="n"/>
                <a:defRPr kumimoji="1" sz="3200">
                  <a:solidFill>
                    <a:srgbClr val="13110F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666699"/>
                </a:buClr>
                <a:buSzPct val="70000"/>
                <a:buFont typeface="Wingdings" pitchFamily="2" charset="2"/>
                <a:buChar char="n"/>
                <a:defRPr kumimoji="1" sz="2800">
                  <a:solidFill>
                    <a:srgbClr val="13110F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SzPct val="60000"/>
                <a:buFont typeface="Wingdings" pitchFamily="2" charset="2"/>
                <a:buChar char="n"/>
                <a:defRPr kumimoji="1" sz="2400">
                  <a:solidFill>
                    <a:srgbClr val="13110F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rgbClr val="13110F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rgbClr val="13110F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rgbClr val="13110F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rgbClr val="13110F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rgbClr val="13110F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0303F7"/>
                  </a:solidFill>
                </a:rPr>
                <a:t>λ=2</a:t>
              </a:r>
            </a:p>
          </p:txBody>
        </p:sp>
        <p:sp>
          <p:nvSpPr>
            <p:cNvPr id="8" name="Rectangle 7"/>
            <p:cNvSpPr>
              <a:spLocks noChangeArrowheads="1"/>
            </p:cNvSpPr>
            <p:nvPr/>
          </p:nvSpPr>
          <p:spPr bwMode="auto">
            <a:xfrm>
              <a:off x="2750" y="3548"/>
              <a:ext cx="681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A50021"/>
                </a:buClr>
                <a:buSzPct val="75000"/>
                <a:buFont typeface="Wingdings" pitchFamily="2" charset="2"/>
                <a:buChar char="n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itchFamily="2" charset="2"/>
                <a:buChar char="n"/>
                <a:defRPr kumimoji="1" sz="3200">
                  <a:solidFill>
                    <a:srgbClr val="13110F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666699"/>
                </a:buClr>
                <a:buSzPct val="70000"/>
                <a:buFont typeface="Wingdings" pitchFamily="2" charset="2"/>
                <a:buChar char="n"/>
                <a:defRPr kumimoji="1" sz="2800">
                  <a:solidFill>
                    <a:srgbClr val="13110F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SzPct val="60000"/>
                <a:buFont typeface="Wingdings" pitchFamily="2" charset="2"/>
                <a:buChar char="n"/>
                <a:defRPr kumimoji="1" sz="2400">
                  <a:solidFill>
                    <a:srgbClr val="13110F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rgbClr val="13110F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rgbClr val="13110F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rgbClr val="13110F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rgbClr val="13110F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rgbClr val="13110F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07B107"/>
                  </a:solidFill>
                </a:rPr>
                <a:t>λ=1</a:t>
              </a:r>
            </a:p>
          </p:txBody>
        </p:sp>
        <p:graphicFrame>
          <p:nvGraphicFramePr>
            <p:cNvPr id="9" name="Object 8"/>
            <p:cNvGraphicFramePr>
              <a:graphicFrameLocks noChangeAspect="1"/>
            </p:cNvGraphicFramePr>
            <p:nvPr/>
          </p:nvGraphicFramePr>
          <p:xfrm>
            <a:off x="1927" y="2387"/>
            <a:ext cx="3240" cy="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67" name="Mathcad" r:id="rId4" imgW="5124573" imgH="2838581" progId="Mathcad">
                    <p:embed/>
                  </p:oleObj>
                </mc:Choice>
                <mc:Fallback>
                  <p:oleObj name="Mathcad" r:id="rId4" imgW="5124573" imgH="2838581" progId="Mathcad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7" y="2387"/>
                          <a:ext cx="3240" cy="1800"/>
                        </a:xfrm>
                        <a:prstGeom prst="rect">
                          <a:avLst/>
                        </a:prstGeom>
                        <a:solidFill>
                          <a:schemeClr val="bg2">
                            <a:alpha val="30196"/>
                          </a:schemeClr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" name="Line 9"/>
            <p:cNvSpPr>
              <a:spLocks noChangeShapeType="1"/>
            </p:cNvSpPr>
            <p:nvPr/>
          </p:nvSpPr>
          <p:spPr bwMode="auto">
            <a:xfrm flipV="1">
              <a:off x="2366" y="2296"/>
              <a:ext cx="0" cy="1814"/>
            </a:xfrm>
            <a:prstGeom prst="line">
              <a:avLst/>
            </a:prstGeom>
            <a:noFill/>
            <a:ln w="19050">
              <a:solidFill>
                <a:srgbClr val="0B0A0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Line 10"/>
            <p:cNvSpPr>
              <a:spLocks noChangeShapeType="1"/>
            </p:cNvSpPr>
            <p:nvPr/>
          </p:nvSpPr>
          <p:spPr bwMode="auto">
            <a:xfrm>
              <a:off x="2154" y="3967"/>
              <a:ext cx="3220" cy="0"/>
            </a:xfrm>
            <a:prstGeom prst="line">
              <a:avLst/>
            </a:prstGeom>
            <a:noFill/>
            <a:ln w="19050">
              <a:solidFill>
                <a:srgbClr val="0B0A0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Rectangle 11"/>
            <p:cNvSpPr>
              <a:spLocks noChangeArrowheads="1"/>
            </p:cNvSpPr>
            <p:nvPr/>
          </p:nvSpPr>
          <p:spPr bwMode="auto">
            <a:xfrm>
              <a:off x="1927" y="2432"/>
              <a:ext cx="318" cy="272"/>
            </a:xfrm>
            <a:prstGeom prst="rect">
              <a:avLst/>
            </a:prstGeom>
            <a:solidFill>
              <a:srgbClr val="EAE7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A50021"/>
                </a:buClr>
                <a:buSzPct val="75000"/>
                <a:buFont typeface="Wingdings" pitchFamily="2" charset="2"/>
                <a:buChar char="n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itchFamily="2" charset="2"/>
                <a:buChar char="n"/>
                <a:defRPr kumimoji="1" sz="3200">
                  <a:solidFill>
                    <a:srgbClr val="13110F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666699"/>
                </a:buClr>
                <a:buSzPct val="70000"/>
                <a:buFont typeface="Wingdings" pitchFamily="2" charset="2"/>
                <a:buChar char="n"/>
                <a:defRPr kumimoji="1" sz="2800">
                  <a:solidFill>
                    <a:srgbClr val="13110F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SzPct val="60000"/>
                <a:buFont typeface="Wingdings" pitchFamily="2" charset="2"/>
                <a:buChar char="n"/>
                <a:defRPr kumimoji="1" sz="2400">
                  <a:solidFill>
                    <a:srgbClr val="13110F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rgbClr val="13110F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rgbClr val="13110F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rgbClr val="13110F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rgbClr val="13110F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rgbClr val="13110F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i="1" dirty="0"/>
                <a:t>p(x)</a:t>
              </a:r>
              <a:endParaRPr lang="zh-CN" altLang="en-US" sz="2000" i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558204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指数分布</a:t>
            </a:r>
            <a:r>
              <a:rPr lang="en-US" altLang="zh-CN" dirty="0" err="1" smtClean="0"/>
              <a:t>r.v</a:t>
            </a:r>
            <a:r>
              <a:rPr lang="en-US" altLang="zh-CN" dirty="0" smtClean="0"/>
              <a:t>.</a:t>
            </a:r>
            <a:r>
              <a:rPr lang="zh-CN" altLang="en-US" dirty="0" smtClean="0"/>
              <a:t>的分布函数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𝑭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𝒙</m:t>
                        </m:r>
                      </m:e>
                    </m:d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b="1" i="1" smtClean="0">
                                <a:latin typeface="Cambria Math"/>
                              </a:rPr>
                              <m:t>𝟏</m:t>
                            </m:r>
                            <m:r>
                              <a:rPr lang="en-US" altLang="zh-CN" b="1" i="1" smtClean="0">
                                <a:latin typeface="Cambria Math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1" i="1" smtClean="0">
                                    <a:latin typeface="Cambria Math"/>
                                  </a:rPr>
                                  <m:t>𝒆</m:t>
                                </m:r>
                              </m:e>
                              <m:sup>
                                <m:r>
                                  <a:rPr lang="en-US" altLang="zh-CN" b="1" i="1" smtClean="0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lang="en-US" altLang="zh-CN" b="1" i="1" smtClean="0">
                                    <a:latin typeface="Cambria Math"/>
                                  </a:rPr>
                                  <m:t>𝝀</m:t>
                                </m:r>
                                <m:r>
                                  <a:rPr lang="en-US" altLang="zh-CN" b="1" i="1" smtClean="0">
                                    <a:latin typeface="Cambria Math"/>
                                  </a:rPr>
                                  <m:t>𝒙</m:t>
                                </m:r>
                              </m:sup>
                            </m:sSup>
                            <m:r>
                              <a:rPr lang="en-US" altLang="zh-CN" b="1" i="1" smtClean="0">
                                <a:latin typeface="Cambria Math"/>
                              </a:rPr>
                              <m:t>, </m:t>
                            </m:r>
                            <m:r>
                              <a:rPr lang="en-US" altLang="zh-CN" b="1" i="1" smtClean="0">
                                <a:latin typeface="Cambria Math"/>
                              </a:rPr>
                              <m:t>𝒙</m:t>
                            </m:r>
                            <m:r>
                              <a:rPr lang="en-US" altLang="zh-CN" b="1" i="1" smtClean="0">
                                <a:latin typeface="Cambria Math"/>
                              </a:rPr>
                              <m:t>&gt;</m:t>
                            </m:r>
                            <m:r>
                              <a:rPr lang="en-US" altLang="zh-CN" b="1" i="1" smtClean="0">
                                <a:latin typeface="Cambria Math"/>
                              </a:rPr>
                              <m:t>𝟎</m:t>
                            </m:r>
                          </m:e>
                          <m:e>
                            <m:r>
                              <a:rPr lang="en-US" altLang="zh-CN" b="1" i="1" smtClean="0">
                                <a:latin typeface="Cambria Math"/>
                              </a:rPr>
                              <m:t>𝟎</m:t>
                            </m:r>
                            <m:r>
                              <a:rPr lang="en-US" altLang="zh-CN" b="1" i="1" smtClean="0">
                                <a:latin typeface="Cambria Math"/>
                              </a:rPr>
                              <m:t>,               </m:t>
                            </m:r>
                            <m:r>
                              <a:rPr lang="en-US" altLang="zh-CN" b="1" i="1" smtClean="0">
                                <a:latin typeface="Cambria Math"/>
                              </a:rPr>
                              <m:t>𝒙</m:t>
                            </m:r>
                            <m:r>
                              <a:rPr lang="en-US" altLang="zh-CN" b="1" i="1" smtClean="0">
                                <a:latin typeface="Cambria Math"/>
                              </a:rPr>
                              <m:t>≤</m:t>
                            </m:r>
                            <m:r>
                              <a:rPr lang="en-US" altLang="zh-CN" b="1" i="1" smtClean="0">
                                <a:latin typeface="Cambria Math"/>
                              </a:rPr>
                              <m:t>𝟎</m:t>
                            </m:r>
                          </m:e>
                        </m:eqArr>
                      </m:e>
                    </m:d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13</a:t>
            </a:fld>
            <a:endParaRPr lang="zh-CN" altLang="en-US" dirty="0"/>
          </a:p>
        </p:txBody>
      </p:sp>
      <p:grpSp>
        <p:nvGrpSpPr>
          <p:cNvPr id="10" name="Group 6"/>
          <p:cNvGrpSpPr>
            <a:grpSpLocks/>
          </p:cNvGrpSpPr>
          <p:nvPr/>
        </p:nvGrpSpPr>
        <p:grpSpPr bwMode="auto">
          <a:xfrm>
            <a:off x="611560" y="2852936"/>
            <a:ext cx="4320480" cy="3384376"/>
            <a:chOff x="2608" y="300"/>
            <a:chExt cx="2982" cy="2223"/>
          </a:xfrm>
        </p:grpSpPr>
        <p:graphicFrame>
          <p:nvGraphicFramePr>
            <p:cNvPr id="11" name="Object 7"/>
            <p:cNvGraphicFramePr>
              <a:graphicFrameLocks noChangeAspect="1"/>
            </p:cNvGraphicFramePr>
            <p:nvPr/>
          </p:nvGraphicFramePr>
          <p:xfrm>
            <a:off x="2608" y="300"/>
            <a:ext cx="2982" cy="22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91" name="Mathcad" r:id="rId4" imgW="4886239" imgH="3457772" progId="Mathcad">
                    <p:embed/>
                  </p:oleObj>
                </mc:Choice>
                <mc:Fallback>
                  <p:oleObj name="Mathcad" r:id="rId4" imgW="4886239" imgH="3457772" progId="Mathcad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08" y="300"/>
                          <a:ext cx="2982" cy="2223"/>
                        </a:xfrm>
                        <a:prstGeom prst="rect">
                          <a:avLst/>
                        </a:prstGeom>
                        <a:solidFill>
                          <a:srgbClr val="E8E5E0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" name="Text Box 8"/>
            <p:cNvSpPr txBox="1">
              <a:spLocks noChangeArrowheads="1"/>
            </p:cNvSpPr>
            <p:nvPr/>
          </p:nvSpPr>
          <p:spPr bwMode="auto">
            <a:xfrm>
              <a:off x="3424" y="799"/>
              <a:ext cx="389" cy="2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A50021"/>
                </a:buClr>
                <a:buSzPct val="75000"/>
                <a:buFont typeface="Wingdings" pitchFamily="2" charset="2"/>
                <a:buChar char="n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itchFamily="2" charset="2"/>
                <a:buChar char="n"/>
                <a:defRPr kumimoji="1" sz="3200">
                  <a:solidFill>
                    <a:srgbClr val="13110F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666699"/>
                </a:buClr>
                <a:buSzPct val="70000"/>
                <a:buFont typeface="Wingdings" pitchFamily="2" charset="2"/>
                <a:buChar char="n"/>
                <a:defRPr kumimoji="1" sz="2800">
                  <a:solidFill>
                    <a:srgbClr val="13110F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SzPct val="60000"/>
                <a:buFont typeface="Wingdings" pitchFamily="2" charset="2"/>
                <a:buChar char="n"/>
                <a:defRPr kumimoji="1" sz="2400">
                  <a:solidFill>
                    <a:srgbClr val="13110F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rgbClr val="13110F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rgbClr val="13110F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rgbClr val="13110F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rgbClr val="13110F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rgbClr val="13110F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solidFill>
                    <a:srgbClr val="FC2110"/>
                  </a:solidFill>
                </a:rPr>
                <a:t>λ=3</a:t>
              </a:r>
            </a:p>
          </p:txBody>
        </p:sp>
        <p:sp>
          <p:nvSpPr>
            <p:cNvPr id="13" name="Text Box 9"/>
            <p:cNvSpPr txBox="1">
              <a:spLocks noChangeArrowheads="1"/>
            </p:cNvSpPr>
            <p:nvPr/>
          </p:nvSpPr>
          <p:spPr bwMode="auto">
            <a:xfrm>
              <a:off x="3706" y="1046"/>
              <a:ext cx="389" cy="2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A50021"/>
                </a:buClr>
                <a:buSzPct val="75000"/>
                <a:buFont typeface="Wingdings" pitchFamily="2" charset="2"/>
                <a:buChar char="n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itchFamily="2" charset="2"/>
                <a:buChar char="n"/>
                <a:defRPr kumimoji="1" sz="3200">
                  <a:solidFill>
                    <a:srgbClr val="13110F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666699"/>
                </a:buClr>
                <a:buSzPct val="70000"/>
                <a:buFont typeface="Wingdings" pitchFamily="2" charset="2"/>
                <a:buChar char="n"/>
                <a:defRPr kumimoji="1" sz="2800">
                  <a:solidFill>
                    <a:srgbClr val="13110F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SzPct val="60000"/>
                <a:buFont typeface="Wingdings" pitchFamily="2" charset="2"/>
                <a:buChar char="n"/>
                <a:defRPr kumimoji="1" sz="2400">
                  <a:solidFill>
                    <a:srgbClr val="13110F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rgbClr val="13110F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rgbClr val="13110F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rgbClr val="13110F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rgbClr val="13110F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rgbClr val="13110F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solidFill>
                    <a:srgbClr val="261CF0"/>
                  </a:solidFill>
                </a:rPr>
                <a:t>λ=2</a:t>
              </a:r>
            </a:p>
          </p:txBody>
        </p:sp>
        <p:sp>
          <p:nvSpPr>
            <p:cNvPr id="14" name="Text Box 10"/>
            <p:cNvSpPr txBox="1">
              <a:spLocks noChangeArrowheads="1"/>
            </p:cNvSpPr>
            <p:nvPr/>
          </p:nvSpPr>
          <p:spPr bwMode="auto">
            <a:xfrm>
              <a:off x="3923" y="1305"/>
              <a:ext cx="374" cy="1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A50021"/>
                </a:buClr>
                <a:buSzPct val="75000"/>
                <a:buFont typeface="Wingdings" pitchFamily="2" charset="2"/>
                <a:buChar char="n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itchFamily="2" charset="2"/>
                <a:buChar char="n"/>
                <a:defRPr kumimoji="1" sz="3200">
                  <a:solidFill>
                    <a:srgbClr val="13110F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666699"/>
                </a:buClr>
                <a:buSzPct val="70000"/>
                <a:buFont typeface="Wingdings" pitchFamily="2" charset="2"/>
                <a:buChar char="n"/>
                <a:defRPr kumimoji="1" sz="2800">
                  <a:solidFill>
                    <a:srgbClr val="13110F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SzPct val="60000"/>
                <a:buFont typeface="Wingdings" pitchFamily="2" charset="2"/>
                <a:buChar char="n"/>
                <a:defRPr kumimoji="1" sz="2400">
                  <a:solidFill>
                    <a:srgbClr val="13110F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rgbClr val="13110F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rgbClr val="13110F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rgbClr val="13110F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rgbClr val="13110F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rgbClr val="13110F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700">
                  <a:solidFill>
                    <a:srgbClr val="01951D"/>
                  </a:solidFill>
                </a:rPr>
                <a:t>λ=1</a:t>
              </a:r>
            </a:p>
          </p:txBody>
        </p:sp>
      </p:grpSp>
      <p:sp>
        <p:nvSpPr>
          <p:cNvPr id="16" name="矩形 15"/>
          <p:cNvSpPr/>
          <p:nvPr/>
        </p:nvSpPr>
        <p:spPr>
          <a:xfrm>
            <a:off x="5148064" y="2132856"/>
            <a:ext cx="3816424" cy="3416320"/>
          </a:xfrm>
          <a:prstGeom prst="rect">
            <a:avLst/>
          </a:prstGeom>
          <a:noFill/>
          <a:ln w="19050">
            <a:solidFill>
              <a:srgbClr val="7030A0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solidFill>
                  <a:srgbClr val="7030A0"/>
                </a:solidFill>
              </a:rPr>
              <a:t>应用背景</a:t>
            </a:r>
            <a:endParaRPr lang="en-US" altLang="zh-CN" sz="2400" b="1" dirty="0" smtClean="0">
              <a:solidFill>
                <a:srgbClr val="7030A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b="1" dirty="0" smtClean="0">
                <a:solidFill>
                  <a:srgbClr val="FF0000"/>
                </a:solidFill>
              </a:rPr>
              <a:t>元件或设备的寿命，如无线电元件的寿命，动物寿命等；</a:t>
            </a:r>
            <a:endParaRPr lang="en-US" altLang="zh-CN" sz="2400" b="1" dirty="0" smtClean="0">
              <a:solidFill>
                <a:srgbClr val="FF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b="1" dirty="0" smtClean="0">
                <a:solidFill>
                  <a:srgbClr val="FF0000"/>
                </a:solidFill>
              </a:rPr>
              <a:t>来电的时间间隔；</a:t>
            </a:r>
            <a:endParaRPr lang="en-US" altLang="zh-CN" sz="2400" b="1" dirty="0" smtClean="0">
              <a:solidFill>
                <a:srgbClr val="FF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b="1" dirty="0" smtClean="0">
                <a:solidFill>
                  <a:srgbClr val="FF0000"/>
                </a:solidFill>
              </a:rPr>
              <a:t>相邻报文</a:t>
            </a:r>
            <a:r>
              <a:rPr lang="zh-CN" altLang="en-US" sz="2400" b="1" smtClean="0">
                <a:solidFill>
                  <a:srgbClr val="FF0000"/>
                </a:solidFill>
              </a:rPr>
              <a:t>到达的时间间隔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；</a:t>
            </a:r>
            <a:endParaRPr lang="en-US" altLang="zh-CN" sz="2400" b="1" dirty="0" smtClean="0">
              <a:solidFill>
                <a:srgbClr val="FF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b="1" dirty="0" smtClean="0">
                <a:solidFill>
                  <a:srgbClr val="FF0000"/>
                </a:solidFill>
              </a:rPr>
              <a:t>网站访问的时间间隔</a:t>
            </a:r>
            <a:endParaRPr lang="en-US" altLang="zh-CN" sz="2400" b="1" dirty="0" smtClean="0">
              <a:solidFill>
                <a:srgbClr val="FF0000"/>
              </a:solidFill>
            </a:endParaRPr>
          </a:p>
          <a:p>
            <a:endParaRPr lang="en-US" altLang="zh-CN" sz="2400" b="1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8668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指数分布</a:t>
            </a:r>
            <a:r>
              <a:rPr lang="en-US" altLang="zh-CN" dirty="0" err="1"/>
              <a:t>r.v</a:t>
            </a:r>
            <a:r>
              <a:rPr lang="en-US" altLang="zh-CN" dirty="0"/>
              <a:t>.</a:t>
            </a:r>
            <a:r>
              <a:rPr lang="zh-CN" altLang="en-US" dirty="0" smtClean="0"/>
              <a:t>的数字特征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设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𝑿</m:t>
                    </m:r>
                    <m:r>
                      <a:rPr lang="en-US" altLang="zh-CN" b="1" i="1" smtClean="0">
                        <a:latin typeface="Cambria Math"/>
                      </a:rPr>
                      <m:t>∼</m:t>
                    </m:r>
                    <m:r>
                      <a:rPr lang="en-US" altLang="zh-CN" b="1" i="1" smtClean="0">
                        <a:latin typeface="Cambria Math"/>
                      </a:rPr>
                      <m:t>𝑬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𝝀</m:t>
                        </m:r>
                      </m:e>
                    </m:d>
                  </m:oMath>
                </a14:m>
                <a:r>
                  <a:rPr lang="zh-CN" altLang="en-US" dirty="0" smtClean="0"/>
                  <a:t>，则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𝑬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𝑿</m:t>
                        </m:r>
                      </m:e>
                    </m:d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1" i="1" smtClean="0">
                            <a:latin typeface="Cambria Math"/>
                          </a:rPr>
                          <m:t>𝟏</m:t>
                        </m:r>
                      </m:num>
                      <m:den>
                        <m:r>
                          <a:rPr lang="en-US" altLang="zh-CN" b="1" i="1" smtClean="0">
                            <a:latin typeface="Cambria Math"/>
                          </a:rPr>
                          <m:t>𝝀</m:t>
                        </m:r>
                      </m:den>
                    </m:f>
                    <m:r>
                      <a:rPr lang="en-US" altLang="zh-CN" b="1" i="1" smtClean="0">
                        <a:latin typeface="Cambria Math"/>
                      </a:rPr>
                      <m:t>,</m:t>
                    </m:r>
                    <m:r>
                      <a:rPr lang="en-US" altLang="zh-CN" b="1" i="1" smtClean="0">
                        <a:latin typeface="Cambria Math"/>
                      </a:rPr>
                      <m:t>𝑫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𝑿</m:t>
                        </m:r>
                      </m:e>
                    </m:d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1" i="1" smtClean="0">
                            <a:latin typeface="Cambria Math"/>
                          </a:rPr>
                          <m:t>𝟏</m:t>
                        </m:r>
                      </m:num>
                      <m:den>
                        <m:sSup>
                          <m:sSup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1" i="1" smtClean="0">
                                <a:latin typeface="Cambria Math"/>
                              </a:rPr>
                              <m:t>𝝀</m:t>
                            </m:r>
                          </m:e>
                          <m:sup>
                            <m:r>
                              <a:rPr lang="en-US" altLang="zh-CN" b="1" i="1" smtClean="0">
                                <a:latin typeface="Cambria Math"/>
                              </a:rPr>
                              <m:t>𝟐</m:t>
                            </m:r>
                          </m:sup>
                        </m:sSup>
                      </m:den>
                    </m:f>
                  </m:oMath>
                </a14:m>
                <a:endParaRPr lang="en-US" altLang="zh-CN" dirty="0" smtClean="0"/>
              </a:p>
              <a:p>
                <a:pPr marL="0" indent="0">
                  <a:buNone/>
                </a:pPr>
                <a:endParaRPr lang="en-US" altLang="zh-CN" dirty="0" smtClean="0"/>
              </a:p>
              <a:p>
                <a:pPr marL="0" indent="0">
                  <a:buNone/>
                </a:pPr>
                <a:r>
                  <a:rPr lang="zh-CN" altLang="en-US" dirty="0" smtClean="0"/>
                  <a:t>证：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𝑬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𝑿</m:t>
                        </m:r>
                      </m:e>
                    </m:d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nary>
                      <m:nary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b="1" i="1" smtClean="0">
                            <a:latin typeface="Cambria Math"/>
                          </a:rPr>
                          <m:t>𝟎</m:t>
                        </m:r>
                      </m:sub>
                      <m:sup>
                        <m:r>
                          <a:rPr lang="en-US" altLang="zh-CN" b="1" i="1" smtClean="0">
                            <a:latin typeface="Cambria Math"/>
                          </a:rPr>
                          <m:t>∞</m:t>
                        </m:r>
                      </m:sup>
                      <m:e>
                        <m:r>
                          <a:rPr lang="en-US" altLang="zh-CN" b="1" i="1" smtClean="0">
                            <a:latin typeface="Cambria Math"/>
                          </a:rPr>
                          <m:t>𝒙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𝝀</m:t>
                        </m:r>
                        <m:sSup>
                          <m:sSup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1" i="1" smtClean="0">
                                <a:latin typeface="Cambria Math"/>
                              </a:rPr>
                              <m:t>𝒆</m:t>
                            </m:r>
                          </m:e>
                          <m:sup>
                            <m:r>
                              <a:rPr lang="en-US" altLang="zh-CN" b="1" i="1" smtClean="0">
                                <a:latin typeface="Cambria Math"/>
                              </a:rPr>
                              <m:t>−</m:t>
                            </m:r>
                            <m:r>
                              <a:rPr lang="en-US" altLang="zh-CN" b="1" i="1" smtClean="0">
                                <a:latin typeface="Cambria Math"/>
                              </a:rPr>
                              <m:t>𝝀</m:t>
                            </m:r>
                            <m:r>
                              <a:rPr lang="en-US" altLang="zh-CN" b="1" i="1" smtClean="0">
                                <a:latin typeface="Cambria Math"/>
                              </a:rPr>
                              <m:t>𝒙</m:t>
                            </m:r>
                          </m:sup>
                        </m:sSup>
                      </m:e>
                    </m:nary>
                    <m:r>
                      <a:rPr lang="en-US" altLang="zh-CN" b="1" i="1" smtClean="0">
                        <a:latin typeface="Cambria Math"/>
                      </a:rPr>
                      <m:t>𝒅𝒙</m:t>
                    </m:r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1" i="1" smtClean="0">
                            <a:latin typeface="Cambria Math"/>
                          </a:rPr>
                          <m:t>𝟏</m:t>
                        </m:r>
                      </m:num>
                      <m:den>
                        <m:r>
                          <a:rPr lang="en-US" altLang="zh-CN" b="1" i="1" smtClean="0">
                            <a:latin typeface="Cambria Math"/>
                          </a:rPr>
                          <m:t>𝝀</m:t>
                        </m:r>
                      </m:den>
                    </m:f>
                  </m:oMath>
                </a14:m>
                <a:endParaRPr lang="en-US" altLang="zh-CN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/>
                        </a:rPr>
                        <m:t>𝑬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𝑿</m:t>
                              </m:r>
                            </m:e>
                            <m:sup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𝟐</m:t>
                              </m:r>
                            </m:sup>
                          </m:sSup>
                        </m:e>
                      </m:d>
                      <m:r>
                        <a:rPr lang="en-US" altLang="zh-CN" b="1" i="1" smtClean="0">
                          <a:latin typeface="Cambria Math"/>
                        </a:rPr>
                        <m:t>=</m:t>
                      </m:r>
                      <m:nary>
                        <m:nary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b="1" i="1" smtClean="0">
                              <a:latin typeface="Cambria Math"/>
                            </a:rPr>
                            <m:t>𝟎</m:t>
                          </m:r>
                        </m:sub>
                        <m:sup>
                          <m:r>
                            <a:rPr lang="en-US" altLang="zh-CN" b="1" i="1" smtClean="0">
                              <a:latin typeface="Cambria Math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altLang="zh-CN" b="1" i="1" smtClean="0">
                              <a:latin typeface="Cambria Math"/>
                            </a:rPr>
                            <m:t>𝝀</m:t>
                          </m:r>
                          <m:sSup>
                            <m:sSup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𝒆</m:t>
                              </m:r>
                            </m:e>
                            <m:sup>
                              <m:r>
                                <a:rPr lang="en-US" altLang="zh-CN" b="1" i="1" smtClean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𝝀</m:t>
                              </m:r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𝒙</m:t>
                              </m:r>
                            </m:sup>
                          </m:sSup>
                          <m:r>
                            <a:rPr lang="en-US" altLang="zh-CN" b="1" i="1" smtClean="0">
                              <a:latin typeface="Cambria Math"/>
                            </a:rPr>
                            <m:t>𝒅𝒙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=</m:t>
                          </m:r>
                          <m:f>
                            <m:f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𝟐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1" i="1" smtClean="0">
                                      <a:latin typeface="Cambria Math"/>
                                    </a:rPr>
                                    <m:t>𝝀</m:t>
                                  </m:r>
                                </m:e>
                                <m:sup>
                                  <m:r>
                                    <a:rPr lang="en-US" altLang="zh-CN" b="1" i="1" smtClean="0">
                                      <a:latin typeface="Cambria Math"/>
                                    </a:rPr>
                                    <m:t>𝟐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</m:oMath>
                  </m:oMathPara>
                </a14:m>
                <a:endParaRPr lang="en-US" altLang="zh-CN" b="1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/>
                          <a:ea typeface="Cambria Math"/>
                        </a:rPr>
                        <m:t>∴</m:t>
                      </m:r>
                      <m:r>
                        <a:rPr lang="en-US" altLang="zh-CN" b="1" i="1" smtClean="0">
                          <a:latin typeface="Cambria Math"/>
                          <a:ea typeface="Cambria Math"/>
                        </a:rPr>
                        <m:t>𝑫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/>
                              <a:ea typeface="Cambria Math"/>
                            </a:rPr>
                            <m:t>𝑿</m:t>
                          </m:r>
                        </m:e>
                      </m:d>
                      <m:r>
                        <a:rPr lang="en-US" altLang="zh-CN" b="1" i="1" smtClean="0"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n-US" altLang="zh-CN" b="1" i="1" smtClean="0">
                          <a:latin typeface="Cambria Math"/>
                          <a:ea typeface="Cambria Math"/>
                        </a:rPr>
                        <m:t>𝑬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US" altLang="zh-CN" b="1" i="1" smtClean="0">
                                  <a:latin typeface="Cambria Math"/>
                                  <a:ea typeface="Cambria Math"/>
                                </a:rPr>
                                <m:t>𝑿</m:t>
                              </m:r>
                            </m:e>
                            <m:sup>
                              <m:r>
                                <a:rPr lang="en-US" altLang="zh-CN" b="1" i="1" smtClean="0">
                                  <a:latin typeface="Cambria Math"/>
                                  <a:ea typeface="Cambria Math"/>
                                </a:rPr>
                                <m:t>𝟐</m:t>
                              </m:r>
                            </m:sup>
                          </m:sSup>
                        </m:e>
                      </m:d>
                      <m:r>
                        <a:rPr lang="en-US" altLang="zh-CN" b="1" i="1" smtClean="0">
                          <a:latin typeface="Cambria Math"/>
                          <a:ea typeface="Cambria Math"/>
                        </a:rPr>
                        <m:t>−</m:t>
                      </m:r>
                      <m:sSup>
                        <m:sSup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r>
                                <a:rPr lang="en-US" altLang="zh-CN" b="1" i="1" smtClean="0">
                                  <a:latin typeface="Cambria Math"/>
                                  <a:ea typeface="Cambria Math"/>
                                </a:rPr>
                                <m:t>𝑬</m:t>
                              </m:r>
                              <m:d>
                                <m:dPr>
                                  <m:ctrlPr>
                                    <a:rPr lang="en-US" altLang="zh-CN" b="1" i="1" smtClean="0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1" i="1" smtClean="0">
                                      <a:latin typeface="Cambria Math"/>
                                      <a:ea typeface="Cambria Math"/>
                                    </a:rPr>
                                    <m:t>𝑿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CN" b="1" i="1" smtClean="0">
                              <a:latin typeface="Cambria Math"/>
                              <a:ea typeface="Cambria Math"/>
                            </a:rPr>
                            <m:t>𝟐</m:t>
                          </m:r>
                        </m:sup>
                      </m:sSup>
                      <m:r>
                        <a:rPr lang="en-US" altLang="zh-CN" b="1" i="1" smtClean="0">
                          <a:latin typeface="Cambria Math"/>
                          <a:ea typeface="Cambria Math"/>
                        </a:rPr>
                        <m:t>=</m:t>
                      </m:r>
                      <m:f>
                        <m:f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US" altLang="zh-CN" b="1" i="1" smtClean="0">
                              <a:latin typeface="Cambria Math"/>
                              <a:ea typeface="Cambria Math"/>
                            </a:rPr>
                            <m:t>𝟏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US" altLang="zh-CN" b="1" i="1" smtClean="0">
                                  <a:latin typeface="Cambria Math"/>
                                  <a:ea typeface="Cambria Math"/>
                                </a:rPr>
                                <m:t>𝝀</m:t>
                              </m:r>
                            </m:e>
                            <m:sup>
                              <m:r>
                                <a:rPr lang="en-US" altLang="zh-CN" b="1" i="1" smtClean="0">
                                  <a:latin typeface="Cambria Math"/>
                                  <a:ea typeface="Cambria Math"/>
                                </a:rPr>
                                <m:t>𝟐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altLang="zh-CN" b="1" dirty="0" smtClean="0"/>
              </a:p>
              <a:p>
                <a:pPr marL="0" indent="0">
                  <a:buNone/>
                </a:pPr>
                <a:endParaRPr lang="en-US" altLang="zh-CN" dirty="0" smtClean="0"/>
              </a:p>
              <a:p>
                <a:pPr marL="0" indent="0">
                  <a:buNone/>
                </a:pP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16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14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42650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指数分布的无记忆性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612648" y="1600200"/>
                <a:ext cx="8153400" cy="3340968"/>
              </a:xfrm>
            </p:spPr>
            <p:txBody>
              <a:bodyPr/>
              <a:lstStyle/>
              <a:p>
                <a:r>
                  <a:rPr lang="zh-CN" altLang="en-US" dirty="0" smtClean="0"/>
                  <a:t>设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𝑿</m:t>
                    </m:r>
                    <m:r>
                      <a:rPr lang="en-US" altLang="zh-CN" b="1" i="1" smtClean="0">
                        <a:latin typeface="Cambria Math"/>
                      </a:rPr>
                      <m:t>∼</m:t>
                    </m:r>
                    <m:r>
                      <a:rPr lang="en-US" altLang="zh-CN" b="1" i="1" smtClean="0">
                        <a:latin typeface="Cambria Math"/>
                      </a:rPr>
                      <m:t>𝑬</m:t>
                    </m:r>
                    <m:r>
                      <a:rPr lang="en-US" altLang="zh-CN" b="1" i="1" smtClean="0">
                        <a:latin typeface="Cambria Math"/>
                      </a:rPr>
                      <m:t>(</m:t>
                    </m:r>
                    <m:r>
                      <a:rPr lang="en-US" altLang="zh-CN" b="1" i="1" smtClean="0">
                        <a:latin typeface="Cambria Math"/>
                      </a:rPr>
                      <m:t>𝝀</m:t>
                    </m:r>
                    <m:r>
                      <a:rPr lang="en-US" altLang="zh-CN" b="1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altLang="zh-CN" dirty="0" smtClean="0"/>
                  <a:t>,</a:t>
                </a:r>
                <a:r>
                  <a:rPr lang="zh-CN" altLang="en-US" dirty="0" smtClean="0"/>
                  <a:t>则对于任意</a:t>
                </a:r>
                <a:r>
                  <a:rPr lang="zh-CN" altLang="en-US" dirty="0"/>
                  <a:t>实数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𝒔</m:t>
                    </m:r>
                    <m:r>
                      <a:rPr lang="en-US" altLang="zh-CN" b="1" i="1" smtClean="0">
                        <a:latin typeface="Cambria Math"/>
                      </a:rPr>
                      <m:t>,</m:t>
                    </m:r>
                    <m:r>
                      <a:rPr lang="en-US" altLang="zh-CN" b="1" i="1" smtClean="0">
                        <a:latin typeface="Cambria Math"/>
                      </a:rPr>
                      <m:t>𝒕</m:t>
                    </m:r>
                    <m:r>
                      <a:rPr lang="en-US" altLang="zh-CN" b="1" i="1" smtClean="0">
                        <a:latin typeface="Cambria Math"/>
                      </a:rPr>
                      <m:t>&gt;</m:t>
                    </m:r>
                    <m:r>
                      <a:rPr lang="en-US" altLang="zh-CN" b="1" i="1" smtClean="0">
                        <a:latin typeface="Cambria Math"/>
                      </a:rPr>
                      <m:t>𝟎</m:t>
                    </m:r>
                  </m:oMath>
                </a14:m>
                <a:r>
                  <a:rPr lang="zh-CN" altLang="en-US" dirty="0" smtClean="0"/>
                  <a:t>有</a:t>
                </a:r>
                <a:endParaRPr lang="en-US" altLang="zh-CN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/>
                        </a:rPr>
                        <m:t>𝑷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/>
                            </a:rPr>
                            <m:t>𝑿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&gt;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𝒔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+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𝒕</m:t>
                          </m:r>
                        </m:e>
                        <m:e>
                          <m:r>
                            <a:rPr lang="en-US" altLang="zh-CN" b="1" i="1" smtClean="0">
                              <a:latin typeface="Cambria Math"/>
                            </a:rPr>
                            <m:t>𝑿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&gt;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𝒕</m:t>
                          </m:r>
                        </m:e>
                      </m:d>
                      <m:r>
                        <a:rPr lang="en-US" altLang="zh-CN" b="1" i="1" smtClean="0">
                          <a:latin typeface="Cambria Math"/>
                        </a:rPr>
                        <m:t>=</m:t>
                      </m:r>
                      <m:r>
                        <a:rPr lang="en-US" altLang="zh-CN" b="1" i="1" smtClean="0">
                          <a:latin typeface="Cambria Math"/>
                        </a:rPr>
                        <m:t>𝑷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/>
                            </a:rPr>
                            <m:t>𝑿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&gt;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𝒔</m:t>
                          </m:r>
                        </m:e>
                      </m:d>
                    </m:oMath>
                  </m:oMathPara>
                </a14:m>
                <a:endParaRPr lang="en-US" altLang="zh-CN" dirty="0" smtClean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 smtClean="0"/>
                  <a:t>证：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𝑷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𝑿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&gt;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𝒔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+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𝒕</m:t>
                        </m:r>
                      </m:e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𝑿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&gt;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𝒕</m:t>
                        </m:r>
                      </m:e>
                    </m:d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1" i="1" smtClean="0">
                            <a:latin typeface="Cambria Math"/>
                          </a:rPr>
                          <m:t>𝑷</m:t>
                        </m:r>
                        <m:d>
                          <m:d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 smtClean="0">
                                <a:latin typeface="Cambria Math"/>
                              </a:rPr>
                              <m:t>𝑿</m:t>
                            </m:r>
                            <m:r>
                              <a:rPr lang="en-US" altLang="zh-CN" b="1" i="1" smtClean="0">
                                <a:latin typeface="Cambria Math"/>
                              </a:rPr>
                              <m:t>&gt;</m:t>
                            </m:r>
                            <m:r>
                              <a:rPr lang="en-US" altLang="zh-CN" b="1" i="1" smtClean="0">
                                <a:latin typeface="Cambria Math"/>
                              </a:rPr>
                              <m:t>𝒔</m:t>
                            </m:r>
                            <m:r>
                              <a:rPr lang="en-US" altLang="zh-CN" b="1" i="1" smtClean="0">
                                <a:latin typeface="Cambria Math"/>
                              </a:rPr>
                              <m:t>+</m:t>
                            </m:r>
                            <m:r>
                              <a:rPr lang="en-US" altLang="zh-CN" b="1" i="1" smtClean="0">
                                <a:latin typeface="Cambria Math"/>
                              </a:rPr>
                              <m:t>𝒕</m:t>
                            </m:r>
                          </m:e>
                        </m:d>
                      </m:num>
                      <m:den>
                        <m:r>
                          <a:rPr lang="en-US" altLang="zh-CN" b="1" i="1" smtClean="0">
                            <a:latin typeface="Cambria Math"/>
                          </a:rPr>
                          <m:t>𝑷</m:t>
                        </m:r>
                        <m:d>
                          <m:d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 smtClean="0">
                                <a:latin typeface="Cambria Math"/>
                              </a:rPr>
                              <m:t>𝑿</m:t>
                            </m:r>
                            <m:r>
                              <a:rPr lang="en-US" altLang="zh-CN" b="1" i="1" smtClean="0">
                                <a:latin typeface="Cambria Math"/>
                              </a:rPr>
                              <m:t>&gt;</m:t>
                            </m:r>
                            <m:r>
                              <a:rPr lang="en-US" altLang="zh-CN" b="1" i="1" smtClean="0">
                                <a:latin typeface="Cambria Math"/>
                              </a:rPr>
                              <m:t>𝒕</m:t>
                            </m:r>
                          </m:e>
                        </m:d>
                      </m:den>
                    </m:f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1" i="1" smtClean="0">
                            <a:latin typeface="Cambria Math"/>
                          </a:rPr>
                          <m:t>𝟏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−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𝑭</m:t>
                        </m:r>
                        <m:d>
                          <m:d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 smtClean="0">
                                <a:latin typeface="Cambria Math"/>
                              </a:rPr>
                              <m:t>𝒔</m:t>
                            </m:r>
                            <m:r>
                              <a:rPr lang="en-US" altLang="zh-CN" b="1" i="1" smtClean="0">
                                <a:latin typeface="Cambria Math"/>
                              </a:rPr>
                              <m:t>+</m:t>
                            </m:r>
                            <m:r>
                              <a:rPr lang="en-US" altLang="zh-CN" b="1" i="1" smtClean="0">
                                <a:latin typeface="Cambria Math"/>
                              </a:rPr>
                              <m:t>𝒕</m:t>
                            </m:r>
                          </m:e>
                        </m:d>
                      </m:num>
                      <m:den>
                        <m:r>
                          <a:rPr lang="en-US" altLang="zh-CN" b="1" i="1" smtClean="0">
                            <a:latin typeface="Cambria Math"/>
                          </a:rPr>
                          <m:t>𝟏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−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𝑭</m:t>
                        </m:r>
                        <m:d>
                          <m:d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 smtClean="0">
                                <a:latin typeface="Cambria Math"/>
                              </a:rPr>
                              <m:t>𝒕</m:t>
                            </m:r>
                          </m:e>
                        </m:d>
                      </m:den>
                    </m:f>
                  </m:oMath>
                </a14:m>
                <a:endParaRPr lang="en-US" altLang="zh-CN" b="1" i="1" dirty="0" smtClean="0">
                  <a:latin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𝒆</m:t>
                              </m:r>
                            </m:e>
                            <m:sup>
                              <m:r>
                                <a:rPr lang="en-US" altLang="zh-CN" b="1" i="1" smtClean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𝝀</m:t>
                              </m:r>
                              <m:d>
                                <m:dPr>
                                  <m:ctrlP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1" i="1" smtClean="0">
                                      <a:latin typeface="Cambria Math"/>
                                    </a:rPr>
                                    <m:t>𝒔</m:t>
                                  </m:r>
                                  <m:r>
                                    <a:rPr lang="en-US" altLang="zh-CN" b="1" i="1" smtClean="0">
                                      <a:latin typeface="Cambria Math"/>
                                    </a:rPr>
                                    <m:t>+</m:t>
                                  </m:r>
                                  <m:r>
                                    <a:rPr lang="en-US" altLang="zh-CN" b="1" i="1" smtClean="0">
                                      <a:latin typeface="Cambria Math"/>
                                    </a:rPr>
                                    <m:t>𝒕</m:t>
                                  </m:r>
                                </m:e>
                              </m:d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𝒆</m:t>
                              </m:r>
                            </m:e>
                            <m:sup>
                              <m:r>
                                <a:rPr lang="en-US" altLang="zh-CN" b="1" i="1" smtClean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𝝀</m:t>
                              </m:r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𝒕</m:t>
                              </m:r>
                            </m:sup>
                          </m:sSup>
                        </m:den>
                      </m:f>
                      <m:r>
                        <a:rPr lang="en-US" altLang="zh-CN" b="1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 smtClean="0">
                              <a:latin typeface="Cambria Math"/>
                            </a:rPr>
                            <m:t>𝒆</m:t>
                          </m:r>
                        </m:e>
                        <m:sup>
                          <m:r>
                            <a:rPr lang="en-US" altLang="zh-CN" b="1" i="1" smtClean="0">
                              <a:latin typeface="Cambria Math"/>
                            </a:rPr>
                            <m:t>−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𝝀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𝒔</m:t>
                          </m:r>
                        </m:sup>
                      </m:sSup>
                      <m:r>
                        <a:rPr lang="en-US" altLang="zh-CN" b="1" i="1" smtClean="0">
                          <a:latin typeface="Cambria Math"/>
                        </a:rPr>
                        <m:t>=</m:t>
                      </m:r>
                      <m:r>
                        <a:rPr lang="en-US" altLang="zh-CN" b="1" i="1" smtClean="0">
                          <a:latin typeface="Cambria Math"/>
                        </a:rPr>
                        <m:t>𝟏</m:t>
                      </m:r>
                      <m:r>
                        <a:rPr lang="en-US" altLang="zh-CN" b="1" i="1" smtClean="0">
                          <a:latin typeface="Cambria Math"/>
                        </a:rPr>
                        <m:t>−</m:t>
                      </m:r>
                      <m:r>
                        <a:rPr lang="en-US" altLang="zh-CN" b="1" i="1" smtClean="0">
                          <a:latin typeface="Cambria Math"/>
                        </a:rPr>
                        <m:t>𝑭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/>
                            </a:rPr>
                            <m:t>𝒔</m:t>
                          </m:r>
                        </m:e>
                      </m:d>
                      <m:r>
                        <a:rPr lang="en-US" altLang="zh-CN" b="1" i="1" smtClean="0">
                          <a:latin typeface="Cambria Math"/>
                        </a:rPr>
                        <m:t>=</m:t>
                      </m:r>
                      <m:r>
                        <a:rPr lang="en-US" altLang="zh-CN" b="1" i="1" smtClean="0">
                          <a:latin typeface="Cambria Math"/>
                        </a:rPr>
                        <m:t>𝑷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/>
                            </a:rPr>
                            <m:t>𝑿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&gt;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𝒔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612648" y="1600200"/>
                <a:ext cx="8153400" cy="3340968"/>
              </a:xfrm>
              <a:blipFill rotWithShape="1">
                <a:blip r:embed="rId2"/>
                <a:stretch>
                  <a:fillRect l="-1645" t="-29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15</a:t>
            </a:fld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971600" y="5085184"/>
            <a:ext cx="7344816" cy="461665"/>
          </a:xfrm>
          <a:prstGeom prst="rect">
            <a:avLst/>
          </a:prstGeom>
          <a:noFill/>
          <a:ln w="19050">
            <a:solidFill>
              <a:srgbClr val="7030A0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solidFill>
                  <a:srgbClr val="002060"/>
                </a:solidFill>
              </a:rPr>
              <a:t>指数分布是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唯一具有无记忆性</a:t>
            </a:r>
            <a:r>
              <a:rPr lang="zh-CN" altLang="en-US" sz="2400" b="1" dirty="0" smtClean="0">
                <a:solidFill>
                  <a:srgbClr val="002060"/>
                </a:solidFill>
              </a:rPr>
              <a:t>的连续型随机变量分布</a:t>
            </a:r>
            <a:endParaRPr lang="en-US" altLang="zh-CN" sz="2400" b="1" dirty="0" smtClean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9412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多</a:t>
            </a:r>
            <a:r>
              <a:rPr lang="zh-CN" altLang="en-US" dirty="0" smtClean="0"/>
              <a:t>个独立指数分布</a:t>
            </a:r>
            <a:r>
              <a:rPr lang="en-US" altLang="zh-CN" dirty="0" err="1" smtClean="0"/>
              <a:t>r.v</a:t>
            </a:r>
            <a:r>
              <a:rPr lang="en-US" altLang="zh-CN" dirty="0" smtClean="0"/>
              <a:t>.</a:t>
            </a:r>
            <a:r>
              <a:rPr lang="zh-CN" altLang="en-US" dirty="0" smtClean="0"/>
              <a:t>极小值分布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zh-CN" altLang="en-US" dirty="0" smtClean="0"/>
                  <a:t>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𝑿</m:t>
                        </m:r>
                      </m:e>
                      <m:sub>
                        <m:r>
                          <a:rPr lang="en-US" altLang="zh-CN" b="1" i="1" smtClean="0">
                            <a:latin typeface="Cambria Math"/>
                          </a:rPr>
                          <m:t>𝒊</m:t>
                        </m:r>
                      </m:sub>
                    </m:sSub>
                    <m:r>
                      <a:rPr lang="en-US" altLang="zh-CN" b="1" i="1" smtClean="0">
                        <a:latin typeface="Cambria Math"/>
                      </a:rPr>
                      <m:t>∼</m:t>
                    </m:r>
                    <m:r>
                      <a:rPr lang="en-US" altLang="zh-CN" b="1" i="1" smtClean="0">
                        <a:latin typeface="Cambria Math"/>
                      </a:rPr>
                      <m:t>𝑬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/>
                              </a:rPr>
                              <m:t>𝝀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/>
                              </a:rPr>
                              <m:t>𝒊</m:t>
                            </m:r>
                          </m:sub>
                        </m:sSub>
                      </m:e>
                    </m:d>
                    <m:r>
                      <a:rPr lang="en-US" altLang="zh-CN" b="1" i="1" smtClean="0">
                        <a:latin typeface="Cambria Math"/>
                      </a:rPr>
                      <m:t>, </m:t>
                    </m:r>
                    <m:r>
                      <a:rPr lang="en-US" altLang="zh-CN" b="1" i="1" smtClean="0">
                        <a:latin typeface="Cambria Math"/>
                      </a:rPr>
                      <m:t>𝒊</m:t>
                    </m:r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r>
                      <a:rPr lang="en-US" altLang="zh-CN" b="1" i="1" smtClean="0">
                        <a:latin typeface="Cambria Math"/>
                      </a:rPr>
                      <m:t>𝟏</m:t>
                    </m:r>
                    <m:r>
                      <a:rPr lang="en-US" altLang="zh-CN" b="1" i="1" smtClean="0">
                        <a:latin typeface="Cambria Math"/>
                      </a:rPr>
                      <m:t>,</m:t>
                    </m:r>
                    <m:r>
                      <a:rPr lang="en-US" altLang="zh-CN" b="1" i="1" smtClean="0">
                        <a:latin typeface="Cambria Math"/>
                      </a:rPr>
                      <m:t>𝟐</m:t>
                    </m:r>
                    <m:r>
                      <a:rPr lang="en-US" altLang="zh-CN" b="1" i="1" smtClean="0">
                        <a:latin typeface="Cambria Math"/>
                      </a:rPr>
                      <m:t>,…,</m:t>
                    </m:r>
                    <m:r>
                      <a:rPr lang="en-US" altLang="zh-CN" b="1" i="1" smtClean="0">
                        <a:latin typeface="Cambria Math"/>
                      </a:rPr>
                      <m:t>𝒏</m:t>
                    </m:r>
                    <m:r>
                      <a:rPr lang="en-US" altLang="zh-CN" b="1" i="1" smtClean="0">
                        <a:latin typeface="Cambria Math"/>
                      </a:rPr>
                      <m:t>,</m:t>
                    </m:r>
                  </m:oMath>
                </a14:m>
                <a:r>
                  <a:rPr lang="zh-CN" altLang="en-US" dirty="0" smtClean="0"/>
                  <a:t>且相互独立，令</a:t>
                </a:r>
                <a:endParaRPr lang="en-US" altLang="zh-CN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/>
                        </a:rPr>
                        <m:t>𝒀</m:t>
                      </m:r>
                      <m:r>
                        <a:rPr lang="en-US" altLang="zh-CN" b="1" i="1" smtClean="0">
                          <a:latin typeface="Cambria Math"/>
                        </a:rPr>
                        <m:t>=</m:t>
                      </m:r>
                      <m:func>
                        <m:func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i="0" smtClean="0">
                                  <a:latin typeface="Cambria Math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𝒊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𝑿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𝒊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en-US" altLang="zh-CN" dirty="0" smtClean="0"/>
              </a:p>
              <a:p>
                <a:pPr marL="0" indent="0">
                  <a:buNone/>
                </a:pPr>
                <a:r>
                  <a:rPr lang="zh-CN" altLang="en-US" dirty="0" smtClean="0"/>
                  <a:t>则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𝒀</m:t>
                    </m:r>
                    <m:r>
                      <a:rPr lang="en-US" altLang="zh-CN" b="1" i="1" smtClean="0">
                        <a:latin typeface="Cambria Math"/>
                      </a:rPr>
                      <m:t>∼</m:t>
                    </m:r>
                    <m:r>
                      <a:rPr lang="en-US" altLang="zh-CN" b="1" i="1" smtClean="0">
                        <a:latin typeface="Cambria Math"/>
                      </a:rPr>
                      <m:t>𝑬</m:t>
                    </m:r>
                    <m:r>
                      <a:rPr lang="en-US" altLang="zh-CN" b="1" i="1" smtClean="0">
                        <a:latin typeface="Cambria Math"/>
                      </a:rPr>
                      <m:t>(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b="1" i="1" smtClean="0">
                            <a:latin typeface="Cambria Math"/>
                          </a:rPr>
                          <m:t>𝒊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/>
                              </a:rPr>
                              <m:t>𝝀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/>
                              </a:rPr>
                              <m:t>𝒊</m:t>
                            </m:r>
                          </m:sub>
                        </m:sSub>
                        <m:r>
                          <a:rPr lang="en-US" altLang="zh-CN" b="1" i="1" smtClean="0">
                            <a:latin typeface="Cambria Math"/>
                          </a:rPr>
                          <m:t>)</m:t>
                        </m:r>
                      </m:e>
                    </m:nary>
                  </m:oMath>
                </a14:m>
                <a:r>
                  <a:rPr lang="zh-CN" altLang="en-US" dirty="0" smtClean="0"/>
                  <a:t>且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𝑷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>
                                    <a:latin typeface="Cambria Math"/>
                                  </a:rPr>
                                  <m:t>min</m:t>
                                </m:r>
                              </m:e>
                              <m:lim>
                                <m:r>
                                  <a:rPr lang="en-US" altLang="zh-CN" i="1">
                                    <a:latin typeface="Cambria Math"/>
                                  </a:rPr>
                                  <m:t>𝒊</m:t>
                                </m:r>
                              </m:lim>
                            </m:limLow>
                          </m:fName>
                          <m: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/>
                                  </a:rPr>
                                  <m:t>𝑿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/>
                                  </a:rPr>
                                  <m:t>𝒊</m:t>
                                </m:r>
                              </m:sub>
                            </m:sSub>
                          </m:e>
                        </m:func>
                        <m:r>
                          <a:rPr lang="en-US" altLang="zh-CN" b="1" i="1" smtClean="0">
                            <a:latin typeface="Cambria Math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/>
                              </a:rPr>
                              <m:t>𝑿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/>
                              </a:rPr>
                              <m:t>𝒋</m:t>
                            </m:r>
                          </m:sub>
                        </m:sSub>
                      </m:e>
                    </m:d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/>
                              </a:rPr>
                              <m:t>𝝀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/>
                              </a:rPr>
                              <m:t>𝒋</m:t>
                            </m:r>
                          </m:sub>
                        </m:sSub>
                      </m:num>
                      <m:den>
                        <m:nary>
                          <m:naryPr>
                            <m:chr m:val="∑"/>
                            <m:supHide m:val="on"/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altLang="zh-CN" b="1" i="1" smtClean="0">
                                <a:latin typeface="Cambria Math"/>
                              </a:rPr>
                              <m:t>𝒊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latin typeface="Cambria Math"/>
                                  </a:rPr>
                                  <m:t>𝝀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latin typeface="Cambria Math"/>
                                  </a:rPr>
                                  <m:t>𝒊</m:t>
                                </m:r>
                              </m:sub>
                            </m:sSub>
                          </m:e>
                        </m:nary>
                      </m:den>
                    </m:f>
                  </m:oMath>
                </a14:m>
                <a:endParaRPr lang="en-US" altLang="zh-CN" dirty="0" smtClean="0"/>
              </a:p>
              <a:p>
                <a:pPr marL="0" indent="0">
                  <a:buNone/>
                </a:pPr>
                <a:endParaRPr lang="en-US" altLang="zh-CN" dirty="0" smtClean="0"/>
              </a:p>
              <a:p>
                <a:pPr marL="0" indent="0">
                  <a:buNone/>
                </a:pPr>
                <a:r>
                  <a:rPr lang="zh-CN" altLang="en-US" dirty="0" smtClean="0"/>
                  <a:t>证：只需证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𝒏</m:t>
                    </m:r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r>
                      <a:rPr lang="en-US" altLang="zh-CN" b="1" i="1" smtClean="0">
                        <a:latin typeface="Cambria Math"/>
                      </a:rPr>
                      <m:t>𝟐</m:t>
                    </m:r>
                  </m:oMath>
                </a14:m>
                <a:r>
                  <a:rPr lang="zh-CN" altLang="en-US" dirty="0" smtClean="0"/>
                  <a:t>的情况，一般性可由归纳法证明。当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𝒚</m:t>
                    </m:r>
                    <m:r>
                      <a:rPr lang="en-US" altLang="zh-CN" b="1" i="1" smtClean="0">
                        <a:latin typeface="Cambria Math"/>
                      </a:rPr>
                      <m:t>&gt;</m:t>
                    </m:r>
                    <m:r>
                      <a:rPr lang="en-US" altLang="zh-CN" b="1" i="1" smtClean="0">
                        <a:latin typeface="Cambria Math"/>
                      </a:rPr>
                      <m:t>𝟎</m:t>
                    </m:r>
                  </m:oMath>
                </a14:m>
                <a:r>
                  <a:rPr lang="zh-CN" altLang="en-US" dirty="0" smtClean="0"/>
                  <a:t>时，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𝑭</m:t>
                        </m:r>
                      </m:e>
                      <m:sub>
                        <m:r>
                          <a:rPr lang="en-US" altLang="zh-CN" b="1" i="1" smtClean="0">
                            <a:latin typeface="Cambria Math"/>
                          </a:rPr>
                          <m:t>𝒀</m:t>
                        </m:r>
                      </m:sub>
                    </m:sSub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𝒚</m:t>
                        </m:r>
                      </m:e>
                    </m:d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r>
                      <a:rPr lang="en-US" altLang="zh-CN" b="1" i="1" smtClean="0">
                        <a:latin typeface="Cambria Math"/>
                      </a:rPr>
                      <m:t>𝟏</m:t>
                    </m:r>
                    <m:r>
                      <a:rPr lang="en-US" altLang="zh-CN" b="1" i="1" smtClean="0">
                        <a:latin typeface="Cambria Math"/>
                      </a:rPr>
                      <m:t>−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𝟏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/>
                              </a:rPr>
                              <m:t>𝑭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latin typeface="Cambria Math"/>
                                  </a:rPr>
                                  <m:t>𝑿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latin typeface="Cambria Math"/>
                                  </a:rPr>
                                  <m:t>𝟏</m:t>
                                </m:r>
                              </m:sub>
                            </m:sSub>
                          </m:sub>
                        </m:sSub>
                        <m:d>
                          <m:d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 smtClean="0">
                                <a:latin typeface="Cambria Math"/>
                              </a:rPr>
                              <m:t>𝒚</m:t>
                            </m:r>
                          </m:e>
                        </m:d>
                      </m:e>
                    </m:d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𝟏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/>
                              </a:rPr>
                              <m:t>𝑭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latin typeface="Cambria Math"/>
                                  </a:rPr>
                                  <m:t>𝑿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latin typeface="Cambria Math"/>
                                  </a:rPr>
                                  <m:t>𝟐</m:t>
                                </m:r>
                              </m:sub>
                            </m:sSub>
                          </m:sub>
                        </m:sSub>
                        <m:d>
                          <m:d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 smtClean="0">
                                <a:latin typeface="Cambria Math"/>
                              </a:rPr>
                              <m:t>𝒚</m:t>
                            </m:r>
                          </m:e>
                        </m:d>
                      </m:e>
                    </m:d>
                  </m:oMath>
                </a14:m>
                <a:endParaRPr lang="en-US" altLang="zh-CN" b="1" i="1" dirty="0" smtClean="0">
                  <a:latin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/>
                        </a:rPr>
                        <m:t>=</m:t>
                      </m:r>
                      <m:r>
                        <a:rPr lang="en-US" altLang="zh-CN" b="1" i="1" smtClean="0">
                          <a:latin typeface="Cambria Math"/>
                        </a:rPr>
                        <m:t>𝟏</m:t>
                      </m:r>
                      <m:r>
                        <a:rPr lang="en-US" altLang="zh-CN" b="1" i="1" smtClean="0">
                          <a:latin typeface="Cambria Math"/>
                        </a:rPr>
                        <m:t>−</m:t>
                      </m:r>
                      <m:sSup>
                        <m:sSup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 smtClean="0">
                              <a:latin typeface="Cambria Math"/>
                            </a:rPr>
                            <m:t>𝒆</m:t>
                          </m:r>
                        </m:e>
                        <m:sup>
                          <m:sSub>
                            <m:sSub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𝝀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b="1" i="1" smtClean="0">
                              <a:latin typeface="Cambria Math"/>
                            </a:rPr>
                            <m:t>𝒚</m:t>
                          </m:r>
                        </m:sup>
                      </m:sSup>
                      <m:sSup>
                        <m:sSup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 smtClean="0">
                              <a:latin typeface="Cambria Math"/>
                            </a:rPr>
                            <m:t>𝒆</m:t>
                          </m:r>
                        </m:e>
                        <m:sup>
                          <m:r>
                            <a:rPr lang="en-US" altLang="zh-CN" b="1" i="1" smtClean="0"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𝝀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altLang="zh-CN" b="1" i="1" smtClean="0">
                              <a:latin typeface="Cambria Math"/>
                            </a:rPr>
                            <m:t>𝒚</m:t>
                          </m:r>
                        </m:sup>
                      </m:sSup>
                      <m:r>
                        <a:rPr lang="en-US" altLang="zh-CN" b="1" i="1" smtClean="0">
                          <a:latin typeface="Cambria Math"/>
                        </a:rPr>
                        <m:t>=</m:t>
                      </m:r>
                      <m:r>
                        <a:rPr lang="en-US" altLang="zh-CN" b="1" i="1" smtClean="0">
                          <a:latin typeface="Cambria Math"/>
                        </a:rPr>
                        <m:t>𝟏</m:t>
                      </m:r>
                      <m:r>
                        <a:rPr lang="en-US" altLang="zh-CN" b="1" i="1" smtClean="0">
                          <a:latin typeface="Cambria Math"/>
                        </a:rPr>
                        <m:t>−</m:t>
                      </m:r>
                      <m:sSup>
                        <m:sSup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 smtClean="0">
                              <a:latin typeface="Cambria Math"/>
                            </a:rPr>
                            <m:t>𝒆</m:t>
                          </m:r>
                        </m:e>
                        <m:sup>
                          <m:r>
                            <a:rPr lang="en-US" altLang="zh-CN" b="1" i="1" smtClean="0">
                              <a:latin typeface="Cambria Math"/>
                            </a:rPr>
                            <m:t>−</m:t>
                          </m:r>
                          <m:d>
                            <m:d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 smtClean="0">
                                      <a:latin typeface="Cambria Math"/>
                                    </a:rPr>
                                    <m:t>𝝀</m:t>
                                  </m:r>
                                </m:e>
                                <m:sub>
                                  <m:r>
                                    <a:rPr lang="en-US" altLang="zh-CN" b="1" i="1" smtClean="0">
                                      <a:latin typeface="Cambria Math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zh-CN" b="1" i="1" smtClean="0">
                                  <a:latin typeface="Cambria Math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 smtClean="0">
                                      <a:latin typeface="Cambria Math"/>
                                    </a:rPr>
                                    <m:t>𝝀</m:t>
                                  </m:r>
                                </m:e>
                                <m:sub>
                                  <m:r>
                                    <a:rPr lang="en-US" altLang="zh-CN" b="1" i="1" smtClean="0">
                                      <a:latin typeface="Cambria Math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b="1" i="1" smtClean="0">
                              <a:latin typeface="Cambria Math"/>
                            </a:rPr>
                            <m:t>𝒚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 </m:t>
                          </m:r>
                        </m:sup>
                      </m:sSup>
                    </m:oMath>
                  </m:oMathPara>
                </a14:m>
                <a:endParaRPr lang="en-US" altLang="zh-CN" dirty="0" smtClean="0"/>
              </a:p>
              <a:p>
                <a:pPr marL="0" indent="0">
                  <a:buNone/>
                </a:pPr>
                <a:endParaRPr lang="en-US" altLang="zh-CN" dirty="0" smtClean="0"/>
              </a:p>
              <a:p>
                <a:pPr marL="0" indent="0">
                  <a:buNone/>
                </a:pPr>
                <a:endParaRPr lang="en-US" altLang="zh-CN" dirty="0" smtClean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1421" t="-9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16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30107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多</a:t>
            </a:r>
            <a:r>
              <a:rPr lang="zh-CN" altLang="en-US" dirty="0" smtClean="0"/>
              <a:t>个独立指数分布</a:t>
            </a:r>
            <a:r>
              <a:rPr lang="en-US" altLang="zh-CN" dirty="0" err="1" smtClean="0"/>
              <a:t>r.v</a:t>
            </a:r>
            <a:r>
              <a:rPr lang="en-US" altLang="zh-CN" dirty="0" smtClean="0"/>
              <a:t>.</a:t>
            </a:r>
            <a:r>
              <a:rPr lang="zh-CN" altLang="en-US" dirty="0" smtClean="0"/>
              <a:t>极小值分布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612648" y="1600200"/>
                <a:ext cx="8153400" cy="1612776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zh-CN" altLang="en-US" sz="2400" dirty="0" smtClean="0"/>
                  <a:t>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latin typeface="Cambria Math"/>
                          </a:rPr>
                          <m:t>𝑿</m:t>
                        </m:r>
                      </m:e>
                      <m:sub>
                        <m:r>
                          <a:rPr lang="en-US" altLang="zh-CN" sz="2400" b="1" i="1" smtClean="0">
                            <a:latin typeface="Cambria Math"/>
                          </a:rPr>
                          <m:t>𝒊</m:t>
                        </m:r>
                      </m:sub>
                    </m:sSub>
                    <m:r>
                      <a:rPr lang="en-US" altLang="zh-CN" sz="2400" b="1" i="1" smtClean="0">
                        <a:latin typeface="Cambria Math"/>
                      </a:rPr>
                      <m:t>∼</m:t>
                    </m:r>
                    <m:r>
                      <a:rPr lang="en-US" altLang="zh-CN" sz="2400" b="1" i="1" smtClean="0">
                        <a:latin typeface="Cambria Math"/>
                      </a:rPr>
                      <m:t>𝑬</m:t>
                    </m:r>
                    <m:d>
                      <m:dPr>
                        <m:ctrlP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 smtClean="0">
                                <a:latin typeface="Cambria Math"/>
                              </a:rPr>
                              <m:t>𝝀</m:t>
                            </m:r>
                          </m:e>
                          <m:sub>
                            <m:r>
                              <a:rPr lang="en-US" altLang="zh-CN" sz="2400" b="1" i="1" smtClean="0">
                                <a:latin typeface="Cambria Math"/>
                              </a:rPr>
                              <m:t>𝒊</m:t>
                            </m:r>
                          </m:sub>
                        </m:sSub>
                      </m:e>
                    </m:d>
                    <m:r>
                      <a:rPr lang="en-US" altLang="zh-CN" sz="2400" b="1" i="1" smtClean="0">
                        <a:latin typeface="Cambria Math"/>
                      </a:rPr>
                      <m:t>, </m:t>
                    </m:r>
                    <m:r>
                      <a:rPr lang="en-US" altLang="zh-CN" sz="2400" b="1" i="1" smtClean="0">
                        <a:latin typeface="Cambria Math"/>
                      </a:rPr>
                      <m:t>𝒊</m:t>
                    </m:r>
                    <m:r>
                      <a:rPr lang="en-US" altLang="zh-CN" sz="2400" b="1" i="1" smtClean="0">
                        <a:latin typeface="Cambria Math"/>
                      </a:rPr>
                      <m:t>=</m:t>
                    </m:r>
                    <m:r>
                      <a:rPr lang="en-US" altLang="zh-CN" sz="2400" b="1" i="1" smtClean="0">
                        <a:latin typeface="Cambria Math"/>
                      </a:rPr>
                      <m:t>𝟏</m:t>
                    </m:r>
                    <m:r>
                      <a:rPr lang="en-US" altLang="zh-CN" sz="2400" b="1" i="1" smtClean="0">
                        <a:latin typeface="Cambria Math"/>
                      </a:rPr>
                      <m:t>,</m:t>
                    </m:r>
                    <m:r>
                      <a:rPr lang="en-US" altLang="zh-CN" sz="2400" b="1" i="1" smtClean="0">
                        <a:latin typeface="Cambria Math"/>
                      </a:rPr>
                      <m:t>𝟐</m:t>
                    </m:r>
                    <m:r>
                      <a:rPr lang="en-US" altLang="zh-CN" sz="2400" b="1" i="1" smtClean="0">
                        <a:latin typeface="Cambria Math"/>
                      </a:rPr>
                      <m:t>,…,</m:t>
                    </m:r>
                    <m:r>
                      <a:rPr lang="en-US" altLang="zh-CN" sz="2400" b="1" i="1" smtClean="0">
                        <a:latin typeface="Cambria Math"/>
                      </a:rPr>
                      <m:t>𝒏</m:t>
                    </m:r>
                    <m:r>
                      <a:rPr lang="en-US" altLang="zh-CN" sz="2400" b="1" i="1" smtClean="0">
                        <a:latin typeface="Cambria Math"/>
                      </a:rPr>
                      <m:t>,</m:t>
                    </m:r>
                  </m:oMath>
                </a14:m>
                <a:r>
                  <a:rPr lang="zh-CN" altLang="en-US" sz="2400" dirty="0" smtClean="0"/>
                  <a:t>且相互独立，令</a:t>
                </a:r>
                <a:endParaRPr lang="en-US" altLang="zh-CN" sz="2400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 smtClean="0">
                          <a:latin typeface="Cambria Math"/>
                        </a:rPr>
                        <m:t>𝒀</m:t>
                      </m:r>
                      <m:r>
                        <a:rPr lang="en-US" altLang="zh-CN" sz="2400" b="1" i="1" smtClean="0">
                          <a:latin typeface="Cambria Math"/>
                        </a:rPr>
                        <m:t>=</m:t>
                      </m:r>
                      <m:func>
                        <m:func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240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 i="0" smtClean="0">
                                  <a:latin typeface="Cambria Math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altLang="zh-CN" sz="2400" b="1" i="1" smtClean="0">
                                  <a:latin typeface="Cambria Math"/>
                                </a:rPr>
                                <m:t>𝒊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1" i="1" smtClean="0">
                                  <a:latin typeface="Cambria Math"/>
                                </a:rPr>
                                <m:t>𝑿</m:t>
                              </m:r>
                            </m:e>
                            <m:sub>
                              <m:r>
                                <a:rPr lang="en-US" altLang="zh-CN" sz="2400" b="1" i="1" smtClean="0">
                                  <a:latin typeface="Cambria Math"/>
                                </a:rPr>
                                <m:t>𝒊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en-US" altLang="zh-CN" sz="2400" dirty="0" smtClean="0"/>
              </a:p>
              <a:p>
                <a:pPr marL="0" indent="0">
                  <a:buNone/>
                </a:pPr>
                <a:r>
                  <a:rPr lang="zh-CN" altLang="en-US" sz="2400" dirty="0" smtClean="0"/>
                  <a:t>则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latin typeface="Cambria Math"/>
                      </a:rPr>
                      <m:t>𝒀</m:t>
                    </m:r>
                    <m:r>
                      <a:rPr lang="en-US" altLang="zh-CN" sz="2400" b="1" i="1" smtClean="0">
                        <a:latin typeface="Cambria Math"/>
                      </a:rPr>
                      <m:t>∼</m:t>
                    </m:r>
                    <m:r>
                      <a:rPr lang="en-US" altLang="zh-CN" sz="2400" b="1" i="1" smtClean="0">
                        <a:latin typeface="Cambria Math"/>
                      </a:rPr>
                      <m:t>𝑬</m:t>
                    </m:r>
                    <m:r>
                      <a:rPr lang="en-US" altLang="zh-CN" sz="2400" b="1" i="1" smtClean="0">
                        <a:latin typeface="Cambria Math"/>
                      </a:rPr>
                      <m:t>(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2400" b="1" i="1" smtClean="0">
                            <a:latin typeface="Cambria Math"/>
                          </a:rPr>
                          <m:t>𝒊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zh-CN" sz="24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 smtClean="0">
                                <a:latin typeface="Cambria Math"/>
                              </a:rPr>
                              <m:t>𝝀</m:t>
                            </m:r>
                          </m:e>
                          <m:sub>
                            <m:r>
                              <a:rPr lang="en-US" altLang="zh-CN" sz="2400" b="1" i="1" smtClean="0">
                                <a:latin typeface="Cambria Math"/>
                              </a:rPr>
                              <m:t>𝒊</m:t>
                            </m:r>
                          </m:sub>
                        </m:sSub>
                        <m:r>
                          <a:rPr lang="en-US" altLang="zh-CN" sz="2400" b="1" i="1" smtClean="0">
                            <a:latin typeface="Cambria Math"/>
                          </a:rPr>
                          <m:t>)</m:t>
                        </m:r>
                      </m:e>
                    </m:nary>
                  </m:oMath>
                </a14:m>
                <a:r>
                  <a:rPr lang="zh-CN" altLang="en-US" sz="2400" dirty="0" smtClean="0"/>
                  <a:t>且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latin typeface="Cambria Math"/>
                      </a:rPr>
                      <m:t>𝑷</m:t>
                    </m:r>
                    <m:d>
                      <m:dPr>
                        <m:ctrlP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400">
                                    <a:latin typeface="Cambria Math"/>
                                  </a:rPr>
                                  <m:t>min</m:t>
                                </m:r>
                              </m:e>
                              <m:lim>
                                <m:r>
                                  <a:rPr lang="en-US" altLang="zh-CN" sz="2400" i="1">
                                    <a:latin typeface="Cambria Math"/>
                                  </a:rPr>
                                  <m:t>𝒊</m:t>
                                </m:r>
                              </m:lim>
                            </m:limLow>
                          </m:fName>
                          <m:e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/>
                                  </a:rPr>
                                  <m:t>𝑿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/>
                                  </a:rPr>
                                  <m:t>𝒊</m:t>
                                </m:r>
                              </m:sub>
                            </m:sSub>
                          </m:e>
                        </m:func>
                        <m:r>
                          <a:rPr lang="en-US" altLang="zh-CN" sz="2400" b="1" i="1" smtClean="0">
                            <a:latin typeface="Cambria Math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sz="24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 smtClean="0">
                                <a:latin typeface="Cambria Math"/>
                              </a:rPr>
                              <m:t>𝑿</m:t>
                            </m:r>
                          </m:e>
                          <m:sub>
                            <m:r>
                              <a:rPr lang="en-US" altLang="zh-CN" sz="2400" b="1" i="1" smtClean="0">
                                <a:latin typeface="Cambria Math"/>
                              </a:rPr>
                              <m:t>𝒋</m:t>
                            </m:r>
                          </m:sub>
                        </m:sSub>
                      </m:e>
                    </m:d>
                    <m:r>
                      <a:rPr lang="en-US" altLang="zh-CN" sz="2400" b="1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 smtClean="0">
                                <a:latin typeface="Cambria Math"/>
                              </a:rPr>
                              <m:t>𝝀</m:t>
                            </m:r>
                          </m:e>
                          <m:sub>
                            <m:r>
                              <a:rPr lang="en-US" altLang="zh-CN" sz="2400" b="1" i="1" smtClean="0">
                                <a:latin typeface="Cambria Math"/>
                              </a:rPr>
                              <m:t>𝒋</m:t>
                            </m:r>
                          </m:sub>
                        </m:sSub>
                      </m:num>
                      <m:den>
                        <m:nary>
                          <m:naryPr>
                            <m:chr m:val="∑"/>
                            <m:supHide m:val="on"/>
                            <m:ctrlPr>
                              <a:rPr lang="en-US" altLang="zh-CN" sz="2400" b="1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altLang="zh-CN" sz="2400" b="1" i="1" smtClean="0">
                                <a:latin typeface="Cambria Math"/>
                              </a:rPr>
                              <m:t>𝒊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 smtClean="0">
                                    <a:latin typeface="Cambria Math"/>
                                  </a:rPr>
                                  <m:t>𝝀</m:t>
                                </m:r>
                              </m:e>
                              <m:sub>
                                <m:r>
                                  <a:rPr lang="en-US" altLang="zh-CN" sz="2400" b="1" i="1" smtClean="0">
                                    <a:latin typeface="Cambria Math"/>
                                  </a:rPr>
                                  <m:t>𝒊</m:t>
                                </m:r>
                              </m:sub>
                            </m:sSub>
                          </m:e>
                        </m:nary>
                      </m:den>
                    </m:f>
                  </m:oMath>
                </a14:m>
                <a:endParaRPr lang="en-US" altLang="zh-CN" sz="2400" dirty="0" smtClean="0"/>
              </a:p>
              <a:p>
                <a:pPr marL="0" indent="0">
                  <a:buNone/>
                </a:pPr>
                <a:endParaRPr lang="en-US" altLang="zh-CN" dirty="0" smtClean="0"/>
              </a:p>
              <a:p>
                <a:pPr marL="0" indent="0">
                  <a:buNone/>
                </a:pPr>
                <a:endParaRPr lang="en-US" altLang="zh-CN" dirty="0" smtClean="0"/>
              </a:p>
              <a:p>
                <a:pPr marL="0" indent="0">
                  <a:buNone/>
                </a:pPr>
                <a:endParaRPr lang="en-US" altLang="zh-CN" dirty="0" smtClean="0"/>
              </a:p>
              <a:p>
                <a:pPr marL="0" indent="0">
                  <a:buNone/>
                </a:pPr>
                <a:endParaRPr lang="en-US" altLang="zh-CN" dirty="0" smtClean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612648" y="1600200"/>
                <a:ext cx="8153400" cy="1612776"/>
              </a:xfrm>
              <a:blipFill rotWithShape="1">
                <a:blip r:embed="rId2"/>
                <a:stretch>
                  <a:fillRect l="-1197" t="-49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17</a:t>
            </a:fld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/>
              <p:cNvSpPr txBox="1">
                <a:spLocks/>
              </p:cNvSpPr>
              <p:nvPr/>
            </p:nvSpPr>
            <p:spPr>
              <a:xfrm>
                <a:off x="595064" y="3284984"/>
                <a:ext cx="8153400" cy="2548880"/>
              </a:xfrm>
              <a:prstGeom prst="rect">
                <a:avLst/>
              </a:prstGeom>
            </p:spPr>
            <p:txBody>
              <a:bodyPr vert="horz">
                <a:normAutofit fontScale="55000" lnSpcReduction="20000"/>
              </a:bodyPr>
              <a:lstStyle>
                <a:lvl1pPr marL="320040" indent="-320040" algn="l" rtl="0" eaLnBrk="1" latinLnBrk="0" hangingPunct="1">
                  <a:spcBef>
                    <a:spcPts val="700"/>
                  </a:spcBef>
                  <a:buClr>
                    <a:schemeClr val="accent2"/>
                  </a:buClr>
                  <a:buSzPct val="60000"/>
                  <a:buFont typeface="Wingdings"/>
                  <a:buChar char=""/>
                  <a:defRPr kumimoji="0" sz="29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40080" indent="-274320" algn="l" rtl="0" eaLnBrk="1" latinLnBrk="0" hangingPunct="1">
                  <a:spcBef>
                    <a:spcPts val="550"/>
                  </a:spcBef>
                  <a:buClr>
                    <a:schemeClr val="accent1"/>
                  </a:buClr>
                  <a:buSzPct val="70000"/>
                  <a:buFont typeface="Wingdings 2"/>
                  <a:buChar char=""/>
                  <a:defRPr kumimoji="0" sz="2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-228600" algn="l" rtl="0" eaLnBrk="1" latinLnBrk="0" hangingPunct="1">
                  <a:spcBef>
                    <a:spcPts val="500"/>
                  </a:spcBef>
                  <a:buClr>
                    <a:schemeClr val="accent2"/>
                  </a:buClr>
                  <a:buSzPct val="75000"/>
                  <a:buFont typeface="Wingdings"/>
                  <a:buChar char=""/>
                  <a:defRPr kumimoji="0" sz="23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-228600" algn="l" rtl="0" eaLnBrk="1" latinLnBrk="0" hangingPunct="1">
                  <a:spcBef>
                    <a:spcPts val="400"/>
                  </a:spcBef>
                  <a:buClr>
                    <a:schemeClr val="accent3"/>
                  </a:buClr>
                  <a:buSzPct val="75000"/>
                  <a:buFont typeface="Wingdings"/>
                  <a:buChar char=""/>
                  <a:defRPr kumimoji="0" sz="2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-228600" algn="l" rtl="0" eaLnBrk="1" latinLnBrk="0" hangingPunct="1">
                  <a:spcBef>
                    <a:spcPts val="400"/>
                  </a:spcBef>
                  <a:buClr>
                    <a:schemeClr val="accent4"/>
                  </a:buClr>
                  <a:buSzPct val="65000"/>
                  <a:buFont typeface="Wingdings"/>
                  <a:buChar char=""/>
                  <a:defRPr kumimoji="0" sz="2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103120" indent="-228600" algn="l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Font typeface="Wingdings"/>
                  <a:buChar char="§"/>
                  <a:defRPr kumimoji="0" sz="18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377440" indent="-228600" algn="l" rtl="0" eaLnBrk="1" latinLnBrk="0" hangingPunct="1">
                  <a:spcBef>
                    <a:spcPct val="20000"/>
                  </a:spcBef>
                  <a:buClr>
                    <a:schemeClr val="accent2"/>
                  </a:buClr>
                  <a:buFont typeface="Wingdings"/>
                  <a:buChar char="§"/>
                  <a:defRPr kumimoji="0" sz="18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51760" indent="-228600" algn="l" rtl="0" eaLnBrk="1" latinLnBrk="0" hangingPunct="1">
                  <a:spcBef>
                    <a:spcPct val="20000"/>
                  </a:spcBef>
                  <a:buClr>
                    <a:schemeClr val="accent3"/>
                  </a:buClr>
                  <a:buFont typeface="Wingdings"/>
                  <a:buChar char="§"/>
                  <a:defRPr kumimoji="0" sz="18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26080" indent="-228600" algn="l" rtl="0" eaLnBrk="1" latinLnBrk="0" hangingPunct="1">
                  <a:spcBef>
                    <a:spcPct val="20000"/>
                  </a:spcBef>
                  <a:buClr>
                    <a:schemeClr val="accent4"/>
                  </a:buClr>
                  <a:buFont typeface="Wingdings"/>
                  <a:buChar char="§"/>
                  <a:defRPr kumimoji="0" sz="18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Wingdings"/>
                  <a:buNone/>
                </a:pPr>
                <a:r>
                  <a:rPr lang="zh-CN" altLang="en-US" sz="3800" dirty="0" smtClean="0"/>
                  <a:t>第二部分：令</a:t>
                </a:r>
                <a14:m>
                  <m:oMath xmlns:m="http://schemas.openxmlformats.org/officeDocument/2006/math">
                    <m:r>
                      <a:rPr lang="en-US" altLang="zh-CN" sz="3800" b="1" i="1" smtClean="0">
                        <a:latin typeface="Cambria Math"/>
                      </a:rPr>
                      <m:t>𝒑</m:t>
                    </m:r>
                    <m:d>
                      <m:dPr>
                        <m:ctrlPr>
                          <a:rPr lang="en-US" altLang="zh-CN" sz="38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38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800" b="1" i="1" smtClean="0">
                                <a:latin typeface="Cambria Math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3800" b="1" i="1" smtClean="0"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3800" b="1" i="1" smtClean="0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38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800" b="1" i="1" smtClean="0">
                                <a:latin typeface="Cambria Math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3800" b="1" i="1" smtClean="0"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3800" dirty="0" smtClean="0"/>
                  <a:t>为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3800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3800" b="1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800" b="1" i="1" dirty="0" smtClean="0">
                                <a:latin typeface="Cambria Math"/>
                              </a:rPr>
                              <m:t>𝑿</m:t>
                            </m:r>
                          </m:e>
                          <m:sub>
                            <m:r>
                              <a:rPr lang="en-US" altLang="zh-CN" sz="3800" b="1" i="1" dirty="0" smtClean="0"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3800" b="1" i="1" dirty="0" smtClean="0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3800" b="1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800" b="1" i="1" dirty="0" smtClean="0">
                                <a:latin typeface="Cambria Math"/>
                              </a:rPr>
                              <m:t>𝑿</m:t>
                            </m:r>
                          </m:e>
                          <m:sub>
                            <m:r>
                              <a:rPr lang="en-US" altLang="zh-CN" sz="3800" b="1" i="1" dirty="0" smtClean="0"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3800" dirty="0" smtClean="0"/>
                  <a:t>的联合密度，由独立性知</a:t>
                </a:r>
                <a14:m>
                  <m:oMath xmlns:m="http://schemas.openxmlformats.org/officeDocument/2006/math">
                    <m:r>
                      <a:rPr lang="en-US" altLang="zh-CN" sz="3800" b="1" i="1" smtClean="0">
                        <a:latin typeface="Cambria Math"/>
                      </a:rPr>
                      <m:t>𝒑</m:t>
                    </m:r>
                    <m:d>
                      <m:dPr>
                        <m:ctrlPr>
                          <a:rPr lang="en-US" altLang="zh-CN" sz="38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38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800" b="1" i="1" smtClean="0">
                                <a:latin typeface="Cambria Math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3800" b="1" i="1" smtClean="0"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3800" b="1" i="1" smtClean="0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38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800" b="1" i="1" smtClean="0">
                                <a:latin typeface="Cambria Math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3800" b="1" i="1" smtClean="0"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e>
                    </m:d>
                    <m:r>
                      <a:rPr lang="en-US" altLang="zh-CN" sz="3800" b="1" i="1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altLang="zh-CN" sz="3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800" b="1" i="1" smtClean="0">
                            <a:latin typeface="Cambria Math"/>
                          </a:rPr>
                          <m:t>𝝀</m:t>
                        </m:r>
                      </m:e>
                      <m:sub>
                        <m:r>
                          <a:rPr lang="en-US" altLang="zh-CN" sz="3800" b="1" i="1" smtClean="0">
                            <a:latin typeface="Cambria Math"/>
                          </a:rPr>
                          <m:t>𝟏</m:t>
                        </m:r>
                      </m:sub>
                    </m:sSub>
                    <m:sSup>
                      <m:sSupPr>
                        <m:ctrlPr>
                          <a:rPr lang="en-US" altLang="zh-CN" sz="38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800" b="1" i="1" smtClean="0">
                            <a:latin typeface="Cambria Math"/>
                          </a:rPr>
                          <m:t>𝒆</m:t>
                        </m:r>
                      </m:e>
                      <m:sup>
                        <m:r>
                          <a:rPr lang="en-US" altLang="zh-CN" sz="3800" b="1" i="1" smtClean="0">
                            <a:latin typeface="Cambria Math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38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800" b="1" i="1" smtClean="0">
                                <a:latin typeface="Cambria Math"/>
                              </a:rPr>
                              <m:t>𝝀</m:t>
                            </m:r>
                          </m:e>
                          <m:sub>
                            <m:r>
                              <a:rPr lang="en-US" altLang="zh-CN" sz="3800" b="1" i="1" smtClean="0"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38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800" b="1" i="1" smtClean="0">
                                <a:latin typeface="Cambria Math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3800" b="1" i="1" smtClean="0"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sup>
                    </m:sSup>
                    <m:sSub>
                      <m:sSubPr>
                        <m:ctrlPr>
                          <a:rPr lang="en-US" altLang="zh-CN" sz="3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800" b="1" i="1" smtClean="0">
                            <a:latin typeface="Cambria Math"/>
                          </a:rPr>
                          <m:t>𝝀</m:t>
                        </m:r>
                      </m:e>
                      <m:sub>
                        <m:r>
                          <a:rPr lang="en-US" altLang="zh-CN" sz="3800" b="1" i="1" smtClean="0">
                            <a:latin typeface="Cambria Math"/>
                          </a:rPr>
                          <m:t>𝟐</m:t>
                        </m:r>
                      </m:sub>
                    </m:sSub>
                    <m:sSup>
                      <m:sSupPr>
                        <m:ctrlPr>
                          <a:rPr lang="en-US" altLang="zh-CN" sz="38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800" b="1" i="1" smtClean="0">
                            <a:latin typeface="Cambria Math"/>
                          </a:rPr>
                          <m:t>𝒆</m:t>
                        </m:r>
                      </m:e>
                      <m:sup>
                        <m:r>
                          <a:rPr lang="en-US" altLang="zh-CN" sz="3800" b="1" i="1" smtClean="0">
                            <a:latin typeface="Cambria Math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38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800" b="1" i="1" smtClean="0">
                                <a:latin typeface="Cambria Math"/>
                              </a:rPr>
                              <m:t>𝝀</m:t>
                            </m:r>
                          </m:e>
                          <m:sub>
                            <m:r>
                              <a:rPr lang="en-US" altLang="zh-CN" sz="3800" b="1" i="1" smtClean="0"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38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800" b="1" i="1" smtClean="0">
                                <a:latin typeface="Cambria Math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3800" b="1" i="1" smtClean="0"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sup>
                    </m:sSup>
                  </m:oMath>
                </a14:m>
                <a:endParaRPr lang="en-US" altLang="zh-CN" sz="3800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i="1" smtClean="0">
                          <a:latin typeface="Cambria Math"/>
                          <a:ea typeface="Cambria Math"/>
                        </a:rPr>
                        <m:t>∴</m:t>
                      </m:r>
                      <m:r>
                        <a:rPr lang="en-US" altLang="zh-CN" sz="3200" b="1" i="1" smtClean="0">
                          <a:latin typeface="Cambria Math"/>
                          <a:ea typeface="Cambria Math"/>
                        </a:rPr>
                        <m:t>𝑷</m:t>
                      </m:r>
                      <m:d>
                        <m:dPr>
                          <m:ctrlPr>
                            <a:rPr lang="en-US" altLang="zh-CN" sz="3200" b="1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altLang="zh-CN" sz="3200" b="1" i="1" smtClean="0">
                              <a:latin typeface="Cambria Math"/>
                              <a:ea typeface="Cambria Math"/>
                            </a:rPr>
                            <m:t>𝒀</m:t>
                          </m:r>
                          <m:r>
                            <a:rPr lang="en-US" altLang="zh-CN" sz="3200" b="1" i="1" smtClean="0">
                              <a:latin typeface="Cambria Math"/>
                              <a:ea typeface="Cambria Math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altLang="zh-CN" sz="3200" b="1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smtClean="0">
                                  <a:latin typeface="Cambria Math"/>
                                  <a:ea typeface="Cambria Math"/>
                                </a:rPr>
                                <m:t>𝑿</m:t>
                              </m:r>
                            </m:e>
                            <m:sub>
                              <m:r>
                                <a:rPr lang="en-US" altLang="zh-CN" sz="3200" b="1" i="1" smtClean="0">
                                  <a:latin typeface="Cambria Math"/>
                                  <a:ea typeface="Cambria Math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  <m:r>
                        <a:rPr lang="en-US" altLang="zh-CN" sz="3200" b="1" i="1" smtClean="0"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n-US" altLang="zh-CN" sz="3200" b="1" i="1" smtClean="0">
                          <a:latin typeface="Cambria Math"/>
                          <a:ea typeface="Cambria Math"/>
                        </a:rPr>
                        <m:t>𝑷</m:t>
                      </m:r>
                      <m:d>
                        <m:dPr>
                          <m:ctrlPr>
                            <a:rPr lang="en-US" altLang="zh-CN" sz="3200" b="1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3200" b="1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smtClean="0">
                                  <a:latin typeface="Cambria Math"/>
                                  <a:ea typeface="Cambria Math"/>
                                </a:rPr>
                                <m:t>𝑿</m:t>
                              </m:r>
                            </m:e>
                            <m:sub>
                              <m:r>
                                <a:rPr lang="en-US" altLang="zh-CN" sz="3200" b="1" i="1" smtClean="0">
                                  <a:latin typeface="Cambria Math"/>
                                  <a:ea typeface="Cambria Math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sz="3200" b="1" i="1" smtClean="0">
                              <a:latin typeface="Cambria Math"/>
                              <a:ea typeface="Cambria Math"/>
                            </a:rPr>
                            <m:t>&lt;</m:t>
                          </m:r>
                          <m:sSub>
                            <m:sSubPr>
                              <m:ctrlPr>
                                <a:rPr lang="en-US" altLang="zh-CN" sz="3200" b="1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smtClean="0">
                                  <a:latin typeface="Cambria Math"/>
                                  <a:ea typeface="Cambria Math"/>
                                </a:rPr>
                                <m:t>𝑿</m:t>
                              </m:r>
                            </m:e>
                            <m:sub>
                              <m:r>
                                <a:rPr lang="en-US" altLang="zh-CN" sz="3200" b="1" i="1" smtClean="0">
                                  <a:latin typeface="Cambria Math"/>
                                  <a:ea typeface="Cambria Math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  <m:r>
                        <a:rPr lang="en-US" altLang="zh-CN" sz="3200" b="1" i="1" smtClean="0">
                          <a:latin typeface="Cambria Math"/>
                          <a:ea typeface="Cambria Math"/>
                        </a:rPr>
                        <m:t>=</m:t>
                      </m:r>
                      <m:nary>
                        <m:naryPr>
                          <m:ctrlPr>
                            <a:rPr lang="en-US" altLang="zh-CN" sz="3200" b="1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naryPr>
                        <m:sub>
                          <m:r>
                            <a:rPr lang="en-US" altLang="zh-CN" sz="3200" b="1" i="1" smtClean="0">
                              <a:latin typeface="Cambria Math"/>
                              <a:ea typeface="Cambria Math"/>
                            </a:rPr>
                            <m:t>𝟎</m:t>
                          </m:r>
                        </m:sub>
                        <m:sup>
                          <m:r>
                            <a:rPr lang="en-US" altLang="zh-CN" sz="3200" b="1" i="1" smtClean="0">
                              <a:latin typeface="Cambria Math"/>
                              <a:ea typeface="Cambria Math"/>
                            </a:rPr>
                            <m:t>∞</m:t>
                          </m:r>
                        </m:sup>
                        <m:e>
                          <m:nary>
                            <m:naryPr>
                              <m:ctrlPr>
                                <a:rPr lang="en-US" altLang="zh-CN" sz="3200" b="1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en-US" altLang="zh-CN" sz="3200" b="1" i="1" smtClean="0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b="1" i="1" smtClean="0">
                                      <a:latin typeface="Cambria Math"/>
                                      <a:ea typeface="Cambria Math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3200" b="1" i="1" smtClean="0">
                                      <a:latin typeface="Cambria Math"/>
                                      <a:ea typeface="Cambria Math"/>
                                    </a:rPr>
                                    <m:t>𝟏</m:t>
                                  </m:r>
                                </m:sub>
                              </m:sSub>
                            </m:sub>
                            <m:sup>
                              <m:r>
                                <a:rPr lang="en-US" altLang="zh-CN" sz="3200" b="1" i="1" smtClean="0">
                                  <a:latin typeface="Cambria Math"/>
                                  <a:ea typeface="Cambria Math"/>
                                </a:rPr>
                                <m:t>∞</m:t>
                              </m:r>
                            </m:sup>
                            <m:e>
                              <m:r>
                                <a:rPr lang="en-US" altLang="zh-CN" sz="3200" b="1" i="1" smtClean="0">
                                  <a:latin typeface="Cambria Math"/>
                                  <a:ea typeface="Cambria Math"/>
                                </a:rPr>
                                <m:t>𝒑</m:t>
                              </m:r>
                              <m:d>
                                <m:dPr>
                                  <m:ctrlPr>
                                    <a:rPr lang="en-US" altLang="zh-CN" sz="3200" b="1" i="1" smtClean="0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3200" b="1" i="1" smtClean="0"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3200" b="1" i="1" smtClean="0">
                                          <a:latin typeface="Cambria Math"/>
                                          <a:ea typeface="Cambria Math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altLang="zh-CN" sz="3200" b="1" i="1" smtClean="0">
                                          <a:latin typeface="Cambria Math"/>
                                          <a:ea typeface="Cambria Math"/>
                                        </a:rPr>
                                        <m:t>𝟏</m:t>
                                      </m:r>
                                    </m:sub>
                                  </m:sSub>
                                  <m:r>
                                    <a:rPr lang="en-US" altLang="zh-CN" sz="3200" b="1" i="1" smtClean="0">
                                      <a:latin typeface="Cambria Math"/>
                                      <a:ea typeface="Cambria Math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altLang="zh-CN" sz="3200" b="1" i="1" smtClean="0"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3200" b="1" i="1" smtClean="0">
                                          <a:latin typeface="Cambria Math"/>
                                          <a:ea typeface="Cambria Math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altLang="zh-CN" sz="3200" b="1" i="1" smtClean="0">
                                          <a:latin typeface="Cambria Math"/>
                                          <a:ea typeface="Cambria Math"/>
                                        </a:rPr>
                                        <m:t>𝟐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3200" b="1" i="1" smtClean="0">
                                  <a:latin typeface="Cambria Math"/>
                                  <a:ea typeface="Cambria Math"/>
                                </a:rPr>
                                <m:t>𝒅</m:t>
                              </m:r>
                              <m:sSub>
                                <m:sSubPr>
                                  <m:ctrlPr>
                                    <a:rPr lang="en-US" altLang="zh-CN" sz="3200" b="1" i="1" smtClean="0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b="1" i="1" smtClean="0">
                                      <a:latin typeface="Cambria Math"/>
                                      <a:ea typeface="Cambria Math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3200" b="1" i="1" smtClean="0">
                                      <a:latin typeface="Cambria Math"/>
                                      <a:ea typeface="Cambria Math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zh-CN" sz="3200" b="1" i="1" smtClean="0">
                                  <a:latin typeface="Cambria Math"/>
                                  <a:ea typeface="Cambria Math"/>
                                </a:rPr>
                                <m:t>𝒅</m:t>
                              </m:r>
                              <m:sSub>
                                <m:sSubPr>
                                  <m:ctrlPr>
                                    <a:rPr lang="en-US" altLang="zh-CN" sz="3200" b="1" i="1" smtClean="0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b="1" i="1" smtClean="0">
                                      <a:latin typeface="Cambria Math"/>
                                      <a:ea typeface="Cambria Math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3200" b="1" i="1" smtClean="0">
                                      <a:latin typeface="Cambria Math"/>
                                      <a:ea typeface="Cambria Math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</m:oMath>
                  </m:oMathPara>
                </a14:m>
                <a:endParaRPr lang="en-US" altLang="zh-CN" sz="3200" b="1" i="1" dirty="0" smtClean="0">
                  <a:latin typeface="Cambria Math"/>
                  <a:ea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 smtClean="0">
                          <a:latin typeface="Cambria Math"/>
                          <a:ea typeface="Cambria Math"/>
                        </a:rPr>
                        <m:t>=</m:t>
                      </m:r>
                      <m:nary>
                        <m:naryPr>
                          <m:ctrlPr>
                            <a:rPr lang="en-US" altLang="zh-CN" sz="3200" b="1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naryPr>
                        <m:sub>
                          <m:r>
                            <a:rPr lang="en-US" altLang="zh-CN" sz="3200" b="1" i="1" smtClean="0">
                              <a:latin typeface="Cambria Math"/>
                              <a:ea typeface="Cambria Math"/>
                            </a:rPr>
                            <m:t>𝟎</m:t>
                          </m:r>
                        </m:sub>
                        <m:sup>
                          <m:r>
                            <a:rPr lang="en-US" altLang="zh-CN" sz="3200" b="1" i="1" smtClean="0">
                              <a:latin typeface="Cambria Math"/>
                              <a:ea typeface="Cambria Math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3200" b="1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smtClean="0">
                                  <a:latin typeface="Cambria Math"/>
                                  <a:ea typeface="Cambria Math"/>
                                </a:rPr>
                                <m:t>𝝀</m:t>
                              </m:r>
                            </m:e>
                            <m:sub>
                              <m:r>
                                <a:rPr lang="en-US" altLang="zh-CN" sz="3200" b="1" i="1" smtClean="0">
                                  <a:latin typeface="Cambria Math"/>
                                  <a:ea typeface="Cambria Math"/>
                                </a:rPr>
                                <m:t>𝟏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altLang="zh-CN" sz="3200" b="1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US" altLang="zh-CN" sz="3200" b="1" i="1" smtClean="0">
                                  <a:latin typeface="Cambria Math"/>
                                  <a:ea typeface="Cambria Math"/>
                                </a:rPr>
                                <m:t>𝒆</m:t>
                              </m:r>
                            </m:e>
                            <m:sup>
                              <m:r>
                                <a:rPr lang="en-US" altLang="zh-CN" sz="3200" b="1" i="1" smtClean="0">
                                  <a:latin typeface="Cambria Math"/>
                                  <a:ea typeface="Cambria Math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3200" b="1" i="1" smtClean="0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b="1" i="1" smtClean="0">
                                      <a:latin typeface="Cambria Math"/>
                                      <a:ea typeface="Cambria Math"/>
                                    </a:rPr>
                                    <m:t>𝝀</m:t>
                                  </m:r>
                                </m:e>
                                <m:sub>
                                  <m:r>
                                    <a:rPr lang="en-US" altLang="zh-CN" sz="3200" b="1" i="1" smtClean="0">
                                      <a:latin typeface="Cambria Math"/>
                                      <a:ea typeface="Cambria Math"/>
                                    </a:rPr>
                                    <m:t>𝟏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3200" b="1" i="1" smtClean="0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b="1" i="1" smtClean="0">
                                      <a:latin typeface="Cambria Math"/>
                                      <a:ea typeface="Cambria Math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3200" b="1" i="1" smtClean="0">
                                      <a:latin typeface="Cambria Math"/>
                                      <a:ea typeface="Cambria Math"/>
                                    </a:rPr>
                                    <m:t>𝟏</m:t>
                                  </m:r>
                                </m:sub>
                              </m:sSub>
                            </m:sup>
                          </m:sSup>
                          <m:d>
                            <m:dPr>
                              <m:ctrlPr>
                                <a:rPr lang="en-US" altLang="zh-CN" sz="3200" b="1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nary>
                                <m:naryPr>
                                  <m:ctrlPr>
                                    <a:rPr lang="en-US" altLang="zh-CN" sz="3200" b="1" i="1" smtClean="0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naryPr>
                                <m:sub>
                                  <m:sSub>
                                    <m:sSubPr>
                                      <m:ctrlPr>
                                        <a:rPr lang="en-US" altLang="zh-CN" sz="3200" b="1" i="1" smtClean="0"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3200" b="1" i="1" smtClean="0">
                                          <a:latin typeface="Cambria Math"/>
                                          <a:ea typeface="Cambria Math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altLang="zh-CN" sz="3200" b="1" i="1" smtClean="0">
                                          <a:latin typeface="Cambria Math"/>
                                          <a:ea typeface="Cambria Math"/>
                                        </a:rPr>
                                        <m:t>𝟏</m:t>
                                      </m:r>
                                    </m:sub>
                                  </m:sSub>
                                </m:sub>
                                <m:sup>
                                  <m:r>
                                    <a:rPr lang="en-US" altLang="zh-CN" sz="3200" b="1" i="1" smtClean="0">
                                      <a:latin typeface="Cambria Math"/>
                                      <a:ea typeface="Cambria Math"/>
                                    </a:rPr>
                                    <m:t>∞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altLang="zh-CN" sz="3200" b="1" i="1" smtClean="0"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3200" b="1" i="1" smtClean="0">
                                          <a:latin typeface="Cambria Math"/>
                                          <a:ea typeface="Cambria Math"/>
                                        </a:rPr>
                                        <m:t>𝝀</m:t>
                                      </m:r>
                                    </m:e>
                                    <m:sub>
                                      <m:r>
                                        <a:rPr lang="en-US" altLang="zh-CN" sz="3200" b="1" i="1" smtClean="0">
                                          <a:latin typeface="Cambria Math"/>
                                          <a:ea typeface="Cambria Math"/>
                                        </a:rPr>
                                        <m:t>𝟐</m:t>
                                      </m:r>
                                    </m:sub>
                                  </m:sSub>
                                  <m:sSup>
                                    <m:sSupPr>
                                      <m:ctrlPr>
                                        <a:rPr lang="en-US" altLang="zh-CN" sz="3200" b="1" i="1" smtClean="0"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3200" b="1" i="1" smtClean="0">
                                          <a:latin typeface="Cambria Math"/>
                                          <a:ea typeface="Cambria Math"/>
                                        </a:rPr>
                                        <m:t>𝒆</m:t>
                                      </m:r>
                                    </m:e>
                                    <m:sup>
                                      <m:r>
                                        <a:rPr lang="en-US" altLang="zh-CN" sz="3200" b="1" i="1" smtClean="0">
                                          <a:latin typeface="Cambria Math"/>
                                          <a:ea typeface="Cambria Math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3200" b="1" i="1" smtClean="0">
                                              <a:latin typeface="Cambria Math" panose="02040503050406030204" pitchFamily="18" charset="0"/>
                                              <a:ea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3200" b="1" i="1" smtClean="0">
                                              <a:latin typeface="Cambria Math"/>
                                              <a:ea typeface="Cambria Math"/>
                                            </a:rPr>
                                            <m:t>𝝀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3200" b="1" i="1" smtClean="0">
                                              <a:latin typeface="Cambria Math"/>
                                              <a:ea typeface="Cambria Math"/>
                                            </a:rPr>
                                            <m:t>𝟐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zh-CN" sz="3200" b="1" i="1" smtClean="0">
                                              <a:latin typeface="Cambria Math" panose="02040503050406030204" pitchFamily="18" charset="0"/>
                                              <a:ea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3200" b="1" i="1" smtClean="0">
                                              <a:latin typeface="Cambria Math"/>
                                              <a:ea typeface="Cambria Math"/>
                                            </a:rPr>
                                            <m:t>𝒙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3200" b="1" i="1" smtClean="0">
                                              <a:latin typeface="Cambria Math"/>
                                              <a:ea typeface="Cambria Math"/>
                                            </a:rPr>
                                            <m:t>𝟐</m:t>
                                          </m:r>
                                        </m:sub>
                                      </m:sSub>
                                    </m:sup>
                                  </m:sSup>
                                  <m:r>
                                    <a:rPr lang="en-US" altLang="zh-CN" sz="3200" b="1" i="1" smtClean="0">
                                      <a:latin typeface="Cambria Math"/>
                                      <a:ea typeface="Cambria Math"/>
                                    </a:rPr>
                                    <m:t>𝒅</m:t>
                                  </m:r>
                                  <m:sSub>
                                    <m:sSubPr>
                                      <m:ctrlPr>
                                        <a:rPr lang="en-US" altLang="zh-CN" sz="3200" b="1" i="1" smtClean="0"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3200" b="1" i="1" smtClean="0">
                                          <a:latin typeface="Cambria Math"/>
                                          <a:ea typeface="Cambria Math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altLang="zh-CN" sz="3200" b="1" i="1" smtClean="0">
                                          <a:latin typeface="Cambria Math"/>
                                          <a:ea typeface="Cambria Math"/>
                                        </a:rPr>
                                        <m:t>𝟐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d>
                          <m:r>
                            <a:rPr lang="en-US" altLang="zh-CN" sz="3200" b="1" i="1" smtClean="0">
                              <a:latin typeface="Cambria Math"/>
                              <a:ea typeface="Cambria Math"/>
                            </a:rPr>
                            <m:t>𝒅</m:t>
                          </m:r>
                          <m:sSub>
                            <m:sSubPr>
                              <m:ctrlPr>
                                <a:rPr lang="en-US" altLang="zh-CN" sz="3200" b="1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smtClean="0">
                                  <a:latin typeface="Cambria Math"/>
                                  <a:ea typeface="Cambria Math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sz="3200" b="1" i="1" smtClean="0">
                                  <a:latin typeface="Cambria Math"/>
                                  <a:ea typeface="Cambria Math"/>
                                </a:rPr>
                                <m:t>𝟏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altLang="zh-CN" sz="3200" b="1" i="1" dirty="0" smtClean="0">
                  <a:latin typeface="Cambria Math"/>
                  <a:ea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 smtClean="0">
                          <a:latin typeface="Cambria Math"/>
                          <a:ea typeface="Cambria Math"/>
                        </a:rPr>
                        <m:t>=</m:t>
                      </m:r>
                      <m:nary>
                        <m:naryPr>
                          <m:ctrlPr>
                            <a:rPr lang="en-US" altLang="zh-CN" sz="32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naryPr>
                        <m:sub>
                          <m:r>
                            <a:rPr lang="en-US" altLang="zh-CN" sz="3200" i="1">
                              <a:latin typeface="Cambria Math"/>
                              <a:ea typeface="Cambria Math"/>
                            </a:rPr>
                            <m:t>𝟎</m:t>
                          </m:r>
                        </m:sub>
                        <m:sup>
                          <m:r>
                            <a:rPr lang="en-US" altLang="zh-CN" sz="3200" i="1">
                              <a:latin typeface="Cambria Math"/>
                              <a:ea typeface="Cambria Math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3200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CN" sz="3200" i="1">
                                  <a:latin typeface="Cambria Math"/>
                                  <a:ea typeface="Cambria Math"/>
                                </a:rPr>
                                <m:t>𝝀</m:t>
                              </m:r>
                            </m:e>
                            <m:sub>
                              <m:r>
                                <a:rPr lang="en-US" altLang="zh-CN" sz="3200" i="1">
                                  <a:latin typeface="Cambria Math"/>
                                  <a:ea typeface="Cambria Math"/>
                                </a:rPr>
                                <m:t>𝟏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altLang="zh-CN" sz="3200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US" altLang="zh-CN" sz="3200" i="1">
                                  <a:latin typeface="Cambria Math"/>
                                  <a:ea typeface="Cambria Math"/>
                                </a:rPr>
                                <m:t>𝒆</m:t>
                              </m:r>
                            </m:e>
                            <m:sup>
                              <m:r>
                                <a:rPr lang="en-US" altLang="zh-CN" sz="3200" i="1">
                                  <a:latin typeface="Cambria Math"/>
                                  <a:ea typeface="Cambria Math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3200" i="1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i="1">
                                      <a:latin typeface="Cambria Math"/>
                                      <a:ea typeface="Cambria Math"/>
                                    </a:rPr>
                                    <m:t>𝝀</m:t>
                                  </m:r>
                                </m:e>
                                <m:sub>
                                  <m:r>
                                    <a:rPr lang="en-US" altLang="zh-CN" sz="3200" i="1">
                                      <a:latin typeface="Cambria Math"/>
                                      <a:ea typeface="Cambria Math"/>
                                    </a:rPr>
                                    <m:t>𝟏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3200" i="1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i="1">
                                      <a:latin typeface="Cambria Math"/>
                                      <a:ea typeface="Cambria Math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3200" i="1">
                                      <a:latin typeface="Cambria Math"/>
                                      <a:ea typeface="Cambria Math"/>
                                    </a:rPr>
                                    <m:t>𝟏</m:t>
                                  </m:r>
                                </m:sub>
                              </m:sSub>
                            </m:sup>
                          </m:sSup>
                          <m:sSup>
                            <m:sSupPr>
                              <m:ctrlPr>
                                <a:rPr lang="en-US" altLang="zh-CN" sz="3200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US" altLang="zh-CN" sz="3200" i="1">
                                  <a:latin typeface="Cambria Math"/>
                                  <a:ea typeface="Cambria Math"/>
                                </a:rPr>
                                <m:t>𝒆</m:t>
                              </m:r>
                            </m:e>
                            <m:sup>
                              <m:r>
                                <a:rPr lang="en-US" altLang="zh-CN" sz="3200" i="1">
                                  <a:latin typeface="Cambria Math"/>
                                  <a:ea typeface="Cambria Math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3200" i="1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i="1">
                                      <a:latin typeface="Cambria Math"/>
                                      <a:ea typeface="Cambria Math"/>
                                    </a:rPr>
                                    <m:t>𝝀</m:t>
                                  </m:r>
                                </m:e>
                                <m:sub>
                                  <m:r>
                                    <a:rPr lang="en-US" altLang="zh-CN" sz="3200" i="1">
                                      <a:latin typeface="Cambria Math"/>
                                      <a:ea typeface="Cambria Math"/>
                                    </a:rPr>
                                    <m:t>𝟐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3200" i="1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i="1">
                                      <a:latin typeface="Cambria Math"/>
                                      <a:ea typeface="Cambria Math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3200" i="1">
                                      <a:latin typeface="Cambria Math"/>
                                      <a:ea typeface="Cambria Math"/>
                                    </a:rPr>
                                    <m:t>𝟏</m:t>
                                  </m:r>
                                </m:sub>
                              </m:sSub>
                            </m:sup>
                          </m:sSup>
                          <m:r>
                            <a:rPr lang="en-US" altLang="zh-CN" sz="3200" i="1">
                              <a:latin typeface="Cambria Math"/>
                              <a:ea typeface="Cambria Math"/>
                            </a:rPr>
                            <m:t>𝒅</m:t>
                          </m:r>
                          <m:sSub>
                            <m:sSubPr>
                              <m:ctrlPr>
                                <a:rPr lang="en-US" altLang="zh-CN" sz="3200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CN" sz="3200" i="1">
                                  <a:latin typeface="Cambria Math"/>
                                  <a:ea typeface="Cambria Math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sz="3200" i="1">
                                  <a:latin typeface="Cambria Math"/>
                                  <a:ea typeface="Cambria Math"/>
                                </a:rPr>
                                <m:t>𝟏</m:t>
                              </m:r>
                            </m:sub>
                          </m:sSub>
                        </m:e>
                      </m:nary>
                      <m:r>
                        <a:rPr lang="en-US" altLang="zh-CN" sz="3200" i="1">
                          <a:latin typeface="Cambria Math"/>
                          <a:ea typeface="Cambria Math"/>
                        </a:rPr>
                        <m:t>=</m:t>
                      </m:r>
                      <m:f>
                        <m:fPr>
                          <m:ctrlPr>
                            <a:rPr lang="en-US" altLang="zh-CN" sz="32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3200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CN" sz="3200" i="1">
                                  <a:latin typeface="Cambria Math"/>
                                  <a:ea typeface="Cambria Math"/>
                                </a:rPr>
                                <m:t>𝝀</m:t>
                              </m:r>
                            </m:e>
                            <m:sub>
                              <m:r>
                                <a:rPr lang="en-US" altLang="zh-CN" sz="3200" i="1">
                                  <a:latin typeface="Cambria Math"/>
                                  <a:ea typeface="Cambria Math"/>
                                </a:rPr>
                                <m:t>𝟏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3200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CN" sz="3200" i="1">
                                  <a:latin typeface="Cambria Math"/>
                                  <a:ea typeface="Cambria Math"/>
                                </a:rPr>
                                <m:t>𝝀</m:t>
                              </m:r>
                            </m:e>
                            <m:sub>
                              <m:r>
                                <a:rPr lang="en-US" altLang="zh-CN" sz="3200" i="1">
                                  <a:latin typeface="Cambria Math"/>
                                  <a:ea typeface="Cambria Math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sz="3200" i="1">
                              <a:latin typeface="Cambria Math"/>
                              <a:ea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3200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CN" sz="3200" i="1">
                                  <a:latin typeface="Cambria Math"/>
                                  <a:ea typeface="Cambria Math"/>
                                </a:rPr>
                                <m:t>𝝀</m:t>
                              </m:r>
                            </m:e>
                            <m:sub>
                              <m:r>
                                <a:rPr lang="en-US" altLang="zh-CN" sz="3200" i="1">
                                  <a:latin typeface="Cambria Math"/>
                                  <a:ea typeface="Cambria Math"/>
                                </a:rPr>
                                <m:t>𝟐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zh-CN" dirty="0" smtClean="0"/>
              </a:p>
              <a:p>
                <a:pPr marL="0" indent="0">
                  <a:buFont typeface="Wingdings"/>
                  <a:buNone/>
                </a:pPr>
                <a:endParaRPr lang="en-US" altLang="zh-CN" dirty="0" smtClean="0"/>
              </a:p>
              <a:p>
                <a:pPr marL="0" indent="0">
                  <a:buFont typeface="Wingdings"/>
                  <a:buNone/>
                </a:pPr>
                <a:endParaRPr lang="en-US" altLang="zh-CN" dirty="0" smtClean="0"/>
              </a:p>
              <a:p>
                <a:pPr marL="0" indent="0">
                  <a:buFont typeface="Wingdings"/>
                  <a:buNone/>
                </a:pPr>
                <a:endParaRPr lang="en-US" altLang="zh-CN" dirty="0" smtClean="0"/>
              </a:p>
            </p:txBody>
          </p:sp>
        </mc:Choice>
        <mc:Fallback xmlns="">
          <p:sp>
            <p:nvSpPr>
              <p:cNvPr id="5" name="内容占位符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064" y="3284984"/>
                <a:ext cx="8153400" cy="2548880"/>
              </a:xfrm>
              <a:prstGeom prst="rect">
                <a:avLst/>
              </a:prstGeom>
              <a:blipFill rotWithShape="1">
                <a:blip r:embed="rId3"/>
                <a:stretch>
                  <a:fillRect l="-898" t="-35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6380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正态分布</a:t>
            </a:r>
            <a:r>
              <a:rPr lang="en-US" altLang="zh-CN" dirty="0" smtClean="0"/>
              <a:t>(normal distribution)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设连续型随机变量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</a:rPr>
                      <m:t>𝑿</m:t>
                    </m:r>
                  </m:oMath>
                </a14:m>
                <a:r>
                  <a:rPr lang="zh-CN" altLang="en-US" dirty="0"/>
                  <a:t>的概率密度</a:t>
                </a:r>
                <a:r>
                  <a:rPr lang="zh-CN" altLang="en-US" dirty="0" smtClean="0"/>
                  <a:t>为</a:t>
                </a:r>
                <a:endParaRPr lang="en-US" altLang="zh-CN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𝒑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𝝅</m:t>
                              </m:r>
                            </m:e>
                          </m:rad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𝝈</m:t>
                          </m:r>
                        </m:den>
                      </m:f>
                      <m:sSup>
                        <m:sSup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zh-CN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b="1" i="1" smtClean="0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  <m:r>
                                        <a:rPr lang="en-US" altLang="zh-CN" b="1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CN" b="1" i="1" smtClean="0">
                                          <a:latin typeface="Cambria Math" panose="02040503050406030204" pitchFamily="18" charset="0"/>
                                        </a:rPr>
                                        <m:t>𝝁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sSup>
                                <m:sSupPr>
                                  <m:ctrlP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  <m:t>𝝈</m:t>
                                  </m:r>
                                </m:e>
                                <m:sup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den>
                          </m:f>
                        </m:sup>
                      </m:sSup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, −∞&lt;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&lt;∞</m:t>
                      </m:r>
                    </m:oMath>
                  </m:oMathPara>
                </a14:m>
                <a:endParaRPr lang="en-US" altLang="zh-CN" dirty="0" smtClean="0"/>
              </a:p>
              <a:p>
                <a:pPr marL="0" indent="0">
                  <a:buNone/>
                </a:pPr>
                <a:r>
                  <a:rPr lang="zh-CN" altLang="en-US" dirty="0" smtClean="0"/>
                  <a:t>其中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𝝁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𝝈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𝝈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 smtClean="0"/>
                  <a:t>为常数，则称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zh-CN" altLang="en-US" dirty="0" smtClean="0"/>
                  <a:t>服从参数为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𝝁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𝝈</m:t>
                        </m:r>
                      </m:e>
                      <m:sup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zh-CN" altLang="en-US" dirty="0" smtClean="0"/>
                  <a:t>的正态分布</a:t>
                </a:r>
                <a:r>
                  <a:rPr lang="en-US" altLang="zh-CN" dirty="0" smtClean="0"/>
                  <a:t>(</a:t>
                </a:r>
                <a:r>
                  <a:rPr lang="zh-CN" altLang="en-US" dirty="0" smtClean="0"/>
                  <a:t>也叫高斯分布</a:t>
                </a:r>
                <a:r>
                  <a:rPr lang="en-US" altLang="zh-CN" dirty="0" smtClean="0"/>
                  <a:t>)</a:t>
                </a:r>
                <a:r>
                  <a:rPr lang="zh-CN" altLang="en-US" dirty="0" smtClean="0"/>
                  <a:t>，记为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𝑵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𝝁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𝝈</m:t>
                        </m:r>
                      </m:e>
                      <m:sup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0">
                <a:blip r:embed="rId2"/>
                <a:stretch>
                  <a:fillRect l="-1645" t="-12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18</a:t>
            </a:fld>
            <a:endParaRPr lang="zh-CN" altLang="en-US" dirty="0"/>
          </a:p>
        </p:txBody>
      </p:sp>
      <p:grpSp>
        <p:nvGrpSpPr>
          <p:cNvPr id="8" name="组合 7"/>
          <p:cNvGrpSpPr/>
          <p:nvPr/>
        </p:nvGrpSpPr>
        <p:grpSpPr>
          <a:xfrm>
            <a:off x="1547664" y="4221088"/>
            <a:ext cx="6192688" cy="2448272"/>
            <a:chOff x="942975" y="3428255"/>
            <a:chExt cx="7661275" cy="3313113"/>
          </a:xfrm>
        </p:grpSpPr>
        <p:pic>
          <p:nvPicPr>
            <p:cNvPr id="6" name="Picture 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2975" y="3428255"/>
              <a:ext cx="7661275" cy="3313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" name="Rectangle 5"/>
            <p:cNvSpPr>
              <a:spLocks noChangeArrowheads="1"/>
            </p:cNvSpPr>
            <p:nvPr/>
          </p:nvSpPr>
          <p:spPr bwMode="auto">
            <a:xfrm>
              <a:off x="4140200" y="3500438"/>
              <a:ext cx="1079500" cy="360362"/>
            </a:xfrm>
            <a:prstGeom prst="rect">
              <a:avLst/>
            </a:prstGeom>
            <a:solidFill>
              <a:srgbClr val="C8C8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A50021"/>
                </a:buClr>
                <a:buSzPct val="75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n"/>
                <a:defRPr kumimoji="1" sz="3200">
                  <a:solidFill>
                    <a:srgbClr val="13110F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666699"/>
                </a:buClr>
                <a:buSzPct val="70000"/>
                <a:buFont typeface="Wingdings" panose="05000000000000000000" pitchFamily="2" charset="2"/>
                <a:buChar char="n"/>
                <a:defRPr kumimoji="1" sz="2800">
                  <a:solidFill>
                    <a:srgbClr val="13110F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60000"/>
                <a:buFont typeface="Wingdings" panose="05000000000000000000" pitchFamily="2" charset="2"/>
                <a:buChar char="n"/>
                <a:defRPr kumimoji="1" sz="2400">
                  <a:solidFill>
                    <a:srgbClr val="13110F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rgbClr val="13110F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rgbClr val="13110F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rgbClr val="13110F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rgbClr val="13110F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rgbClr val="13110F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i="1"/>
                <a:t>p(x)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26120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正态分布概率密度的几何特征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828672" y="4509120"/>
                <a:ext cx="6191600" cy="2016224"/>
              </a:xfrm>
            </p:spPr>
            <p:txBody>
              <a:bodyPr/>
              <a:lstStyle/>
              <a:p>
                <a:r>
                  <a:rPr lang="zh-CN" altLang="en-US" dirty="0" smtClean="0"/>
                  <a:t>曲线关于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𝝁</m:t>
                    </m:r>
                  </m:oMath>
                </a14:m>
                <a:r>
                  <a:rPr lang="zh-CN" altLang="en-US" dirty="0" smtClean="0"/>
                  <a:t>对称，先增后减</a:t>
                </a:r>
                <a:endParaRPr lang="en-US" altLang="zh-CN" dirty="0" smtClean="0"/>
              </a:p>
              <a:p>
                <a:r>
                  <a:rPr lang="zh-CN" altLang="en-US" dirty="0" smtClean="0"/>
                  <a:t>当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𝝁</m:t>
                    </m:r>
                  </m:oMath>
                </a14:m>
                <a:r>
                  <a:rPr lang="zh-CN" altLang="en-US" dirty="0" smtClean="0"/>
                  <a:t>时，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 smtClean="0"/>
                  <a:t>取得最大值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𝝅</m:t>
                            </m:r>
                          </m:e>
                        </m:rad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𝝈</m:t>
                        </m:r>
                      </m:den>
                    </m:f>
                  </m:oMath>
                </a14:m>
                <a:endParaRPr lang="en-US" altLang="zh-CN" dirty="0" smtClean="0"/>
              </a:p>
              <a:p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→±∞</m:t>
                    </m:r>
                  </m:oMath>
                </a14:m>
                <a:r>
                  <a:rPr lang="zh-CN" altLang="en-US" dirty="0" smtClean="0"/>
                  <a:t>时，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𝒑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altLang="zh-CN" dirty="0" smtClean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828672" y="4509120"/>
                <a:ext cx="6191600" cy="2016224"/>
              </a:xfrm>
              <a:blipFill rotWithShape="0">
                <a:blip r:embed="rId2"/>
                <a:stretch>
                  <a:fillRect l="-591" t="-27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19</a:t>
            </a:fld>
            <a:endParaRPr lang="zh-CN" altLang="en-US" dirty="0"/>
          </a:p>
        </p:txBody>
      </p:sp>
      <p:grpSp>
        <p:nvGrpSpPr>
          <p:cNvPr id="8" name="组合 7"/>
          <p:cNvGrpSpPr/>
          <p:nvPr/>
        </p:nvGrpSpPr>
        <p:grpSpPr>
          <a:xfrm>
            <a:off x="2483768" y="1700808"/>
            <a:ext cx="4392488" cy="2736304"/>
            <a:chOff x="914400" y="836613"/>
            <a:chExt cx="7689850" cy="3168650"/>
          </a:xfrm>
        </p:grpSpPr>
        <p:pic>
          <p:nvPicPr>
            <p:cNvPr id="6" name="Picture 6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4400" y="836613"/>
              <a:ext cx="7689850" cy="3168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" name="Rectangle 8"/>
            <p:cNvSpPr>
              <a:spLocks noChangeArrowheads="1"/>
            </p:cNvSpPr>
            <p:nvPr/>
          </p:nvSpPr>
          <p:spPr bwMode="auto">
            <a:xfrm>
              <a:off x="3203575" y="908050"/>
              <a:ext cx="1079500" cy="360363"/>
            </a:xfrm>
            <a:prstGeom prst="rect">
              <a:avLst/>
            </a:prstGeom>
            <a:solidFill>
              <a:srgbClr val="C8C8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A50021"/>
                </a:buClr>
                <a:buSzPct val="75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n"/>
                <a:defRPr kumimoji="1" sz="3200">
                  <a:solidFill>
                    <a:srgbClr val="13110F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666699"/>
                </a:buClr>
                <a:buSzPct val="70000"/>
                <a:buFont typeface="Wingdings" panose="05000000000000000000" pitchFamily="2" charset="2"/>
                <a:buChar char="n"/>
                <a:defRPr kumimoji="1" sz="2800">
                  <a:solidFill>
                    <a:srgbClr val="13110F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60000"/>
                <a:buFont typeface="Wingdings" panose="05000000000000000000" pitchFamily="2" charset="2"/>
                <a:buChar char="n"/>
                <a:defRPr kumimoji="1" sz="2400">
                  <a:solidFill>
                    <a:srgbClr val="13110F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rgbClr val="13110F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rgbClr val="13110F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rgbClr val="13110F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rgbClr val="13110F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rgbClr val="13110F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i="1"/>
                <a:t>p(x)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14339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正态分布概率密度的几何特征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827584" y="4365104"/>
                <a:ext cx="7776864" cy="2016224"/>
              </a:xfrm>
            </p:spPr>
            <p:txBody>
              <a:bodyPr>
                <a:normAutofit fontScale="85000" lnSpcReduction="10000"/>
              </a:bodyPr>
              <a:lstStyle/>
              <a:p>
                <a:r>
                  <a:rPr lang="zh-CN" altLang="en-US" dirty="0" smtClean="0"/>
                  <a:t>曲线在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𝝁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±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𝝈</m:t>
                    </m:r>
                  </m:oMath>
                </a14:m>
                <a:r>
                  <a:rPr lang="zh-CN" altLang="en-US" dirty="0" smtClean="0"/>
                  <a:t>处有拐点</a:t>
                </a:r>
                <a:endParaRPr lang="en-US" altLang="zh-CN" dirty="0" smtClean="0"/>
              </a:p>
              <a:p>
                <a:r>
                  <a:rPr lang="zh-CN" altLang="en-US" dirty="0" smtClean="0"/>
                  <a:t>当固定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𝝈</m:t>
                    </m:r>
                  </m:oMath>
                </a14:m>
                <a:r>
                  <a:rPr lang="en-US" altLang="zh-CN" dirty="0" smtClean="0"/>
                  <a:t>,</a:t>
                </a:r>
                <a:r>
                  <a:rPr lang="zh-CN" altLang="en-US" dirty="0" smtClean="0"/>
                  <a:t>改变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𝝁</m:t>
                    </m:r>
                  </m:oMath>
                </a14:m>
                <a:r>
                  <a:rPr lang="zh-CN" altLang="en-US" dirty="0" smtClean="0"/>
                  <a:t>大小时，图形的形状不变，只是沿着横轴作平移变换</a:t>
                </a:r>
                <a:endParaRPr lang="en-US" altLang="zh-CN" dirty="0" smtClean="0"/>
              </a:p>
              <a:p>
                <a:r>
                  <a:rPr lang="zh-CN" altLang="en-US" dirty="0" smtClean="0"/>
                  <a:t>当固定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𝝁</m:t>
                    </m:r>
                  </m:oMath>
                </a14:m>
                <a:r>
                  <a:rPr lang="en-US" altLang="zh-CN" dirty="0" smtClean="0"/>
                  <a:t>,</a:t>
                </a:r>
                <a:r>
                  <a:rPr lang="zh-CN" altLang="en-US" dirty="0" smtClean="0"/>
                  <a:t>改变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𝝈</m:t>
                    </m:r>
                  </m:oMath>
                </a14:m>
                <a:r>
                  <a:rPr lang="zh-CN" altLang="en-US" dirty="0" smtClean="0"/>
                  <a:t>大小时，图形对称轴不变，但形状在改变；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𝝈</m:t>
                    </m:r>
                  </m:oMath>
                </a14:m>
                <a:r>
                  <a:rPr lang="zh-CN" altLang="en-US" dirty="0" smtClean="0"/>
                  <a:t>越小，图形越高越陡，反之图形越低越缓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827584" y="4365104"/>
                <a:ext cx="7776864" cy="2016224"/>
              </a:xfrm>
              <a:blipFill rotWithShape="0">
                <a:blip r:embed="rId2"/>
                <a:stretch>
                  <a:fillRect l="-235" t="-3625" r="-1020" b="-60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20</a:t>
            </a:fld>
            <a:endParaRPr lang="zh-CN" altLang="en-US" dirty="0"/>
          </a:p>
        </p:txBody>
      </p:sp>
      <p:grpSp>
        <p:nvGrpSpPr>
          <p:cNvPr id="8" name="组合 7"/>
          <p:cNvGrpSpPr/>
          <p:nvPr/>
        </p:nvGrpSpPr>
        <p:grpSpPr>
          <a:xfrm>
            <a:off x="266700" y="1628800"/>
            <a:ext cx="3945260" cy="2483237"/>
            <a:chOff x="914400" y="836613"/>
            <a:chExt cx="7689850" cy="3168650"/>
          </a:xfrm>
        </p:grpSpPr>
        <p:pic>
          <p:nvPicPr>
            <p:cNvPr id="6" name="Picture 6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4400" y="836613"/>
              <a:ext cx="7689850" cy="3168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" name="Rectangle 8"/>
            <p:cNvSpPr>
              <a:spLocks noChangeArrowheads="1"/>
            </p:cNvSpPr>
            <p:nvPr/>
          </p:nvSpPr>
          <p:spPr bwMode="auto">
            <a:xfrm>
              <a:off x="3203575" y="908050"/>
              <a:ext cx="1079500" cy="360363"/>
            </a:xfrm>
            <a:prstGeom prst="rect">
              <a:avLst/>
            </a:prstGeom>
            <a:solidFill>
              <a:srgbClr val="C8C8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A50021"/>
                </a:buClr>
                <a:buSzPct val="75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n"/>
                <a:defRPr kumimoji="1" sz="3200">
                  <a:solidFill>
                    <a:srgbClr val="13110F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666699"/>
                </a:buClr>
                <a:buSzPct val="70000"/>
                <a:buFont typeface="Wingdings" panose="05000000000000000000" pitchFamily="2" charset="2"/>
                <a:buChar char="n"/>
                <a:defRPr kumimoji="1" sz="2800">
                  <a:solidFill>
                    <a:srgbClr val="13110F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60000"/>
                <a:buFont typeface="Wingdings" panose="05000000000000000000" pitchFamily="2" charset="2"/>
                <a:buChar char="n"/>
                <a:defRPr kumimoji="1" sz="2400">
                  <a:solidFill>
                    <a:srgbClr val="13110F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rgbClr val="13110F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rgbClr val="13110F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rgbClr val="13110F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rgbClr val="13110F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rgbClr val="13110F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i="1"/>
                <a:t>p(x)</a:t>
              </a:r>
            </a:p>
          </p:txBody>
        </p:sp>
      </p:grpSp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9687" y="1628800"/>
            <a:ext cx="4296361" cy="24349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59032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正态分布的分布函数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𝑭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𝒙</m:t>
                        </m:r>
                      </m:e>
                    </m:d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nary>
                      <m:nary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b="1" i="1" smtClean="0">
                            <a:latin typeface="Cambria Math"/>
                          </a:rPr>
                          <m:t>−∞</m:t>
                        </m:r>
                      </m:sub>
                      <m:sup>
                        <m:r>
                          <a:rPr lang="en-US" altLang="zh-CN" b="1" i="1" smtClean="0">
                            <a:latin typeface="Cambria Math"/>
                          </a:rPr>
                          <m:t>𝒙</m:t>
                        </m:r>
                      </m:sup>
                      <m:e>
                        <m:r>
                          <a:rPr lang="en-US" altLang="zh-CN" b="1" i="1" smtClean="0">
                            <a:latin typeface="Cambria Math"/>
                          </a:rPr>
                          <m:t>𝒑</m:t>
                        </m:r>
                        <m:d>
                          <m:d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 smtClean="0">
                                <a:latin typeface="Cambria Math"/>
                              </a:rPr>
                              <m:t>𝒕</m:t>
                            </m:r>
                          </m:e>
                        </m:d>
                        <m:r>
                          <a:rPr lang="en-US" altLang="zh-CN" b="1" i="1" smtClean="0">
                            <a:latin typeface="Cambria Math"/>
                          </a:rPr>
                          <m:t>𝒅𝒕</m:t>
                        </m:r>
                      </m:e>
                    </m:nary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1" i="1" smtClean="0">
                            <a:latin typeface="Cambria Math"/>
                          </a:rPr>
                          <m:t>𝟏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b="1" i="1" smtClean="0">
                                <a:latin typeface="Cambria Math"/>
                              </a:rPr>
                              <m:t>𝟐</m:t>
                            </m:r>
                            <m:r>
                              <a:rPr lang="en-US" altLang="zh-CN" b="1" i="1" smtClean="0">
                                <a:latin typeface="Cambria Math"/>
                              </a:rPr>
                              <m:t>𝝅</m:t>
                            </m:r>
                          </m:e>
                        </m:rad>
                        <m:r>
                          <a:rPr lang="en-US" altLang="zh-CN" b="1" i="1" smtClean="0">
                            <a:latin typeface="Cambria Math"/>
                          </a:rPr>
                          <m:t>𝝈</m:t>
                        </m:r>
                      </m:den>
                    </m:f>
                    <m:nary>
                      <m:nary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b="1" i="1" smtClean="0">
                            <a:latin typeface="Cambria Math"/>
                          </a:rPr>
                          <m:t>−∞</m:t>
                        </m:r>
                      </m:sub>
                      <m:sup>
                        <m:r>
                          <a:rPr lang="en-US" altLang="zh-CN" b="1" i="1" smtClean="0">
                            <a:latin typeface="Cambria Math"/>
                          </a:rPr>
                          <m:t>𝒙</m:t>
                        </m:r>
                      </m:sup>
                      <m:e>
                        <m:sSup>
                          <m:sSup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1" i="1" smtClean="0">
                                <a:latin typeface="Cambria Math"/>
                              </a:rPr>
                              <m:t>𝒆</m:t>
                            </m:r>
                          </m:e>
                          <m:sup>
                            <m:r>
                              <a:rPr lang="en-US" altLang="zh-CN" b="1" i="1" smtClean="0">
                                <a:latin typeface="Cambria Math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altLang="zh-CN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altLang="zh-CN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b="1" i="1" smtClean="0">
                                            <a:latin typeface="Cambria Math"/>
                                          </a:rPr>
                                          <m:t>𝒕</m:t>
                                        </m:r>
                                        <m:r>
                                          <a:rPr lang="en-US" altLang="zh-CN" b="1" i="1" smtClean="0">
                                            <a:latin typeface="Cambria Math"/>
                                          </a:rPr>
                                          <m:t>−</m:t>
                                        </m:r>
                                        <m:r>
                                          <a:rPr lang="en-US" altLang="zh-CN" b="1" i="1" smtClean="0">
                                            <a:latin typeface="Cambria Math"/>
                                          </a:rPr>
                                          <m:t>𝝁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zh-CN" b="1" i="1" smtClean="0">
                                        <a:latin typeface="Cambria Math"/>
                                      </a:rPr>
                                      <m:t>𝟐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US" altLang="zh-CN" b="1" i="1" smtClean="0">
                                    <a:latin typeface="Cambria Math"/>
                                  </a:rPr>
                                  <m:t>𝟐</m:t>
                                </m:r>
                                <m:sSup>
                                  <m:sSupPr>
                                    <m:ctrlPr>
                                      <a:rPr lang="en-US" altLang="zh-CN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b="1" i="1" smtClean="0">
                                        <a:latin typeface="Cambria Math"/>
                                      </a:rPr>
                                      <m:t>𝝈</m:t>
                                    </m:r>
                                  </m:e>
                                  <m:sup>
                                    <m:r>
                                      <a:rPr lang="en-US" altLang="zh-CN" b="1" i="1" smtClean="0">
                                        <a:latin typeface="Cambria Math"/>
                                      </a:rPr>
                                      <m:t>𝟐</m:t>
                                    </m:r>
                                  </m:sup>
                                </m:sSup>
                              </m:den>
                            </m:f>
                          </m:sup>
                        </m:sSup>
                        <m:r>
                          <a:rPr lang="en-US" altLang="zh-CN" b="1" i="1" smtClean="0">
                            <a:latin typeface="Cambria Math"/>
                          </a:rPr>
                          <m:t>𝒅𝒕</m:t>
                        </m:r>
                      </m:e>
                    </m:nary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21</a:t>
            </a:fld>
            <a:endParaRPr lang="zh-CN" altLang="en-US" dirty="0"/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2708920"/>
            <a:ext cx="7561336" cy="331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63008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正态分布</a:t>
            </a:r>
            <a:r>
              <a:rPr lang="en-US" altLang="zh-CN" dirty="0" err="1" smtClean="0"/>
              <a:t>r.v</a:t>
            </a:r>
            <a:r>
              <a:rPr lang="en-US" altLang="zh-CN" dirty="0" smtClean="0"/>
              <a:t>.</a:t>
            </a:r>
            <a:r>
              <a:rPr lang="zh-CN" altLang="en-US" dirty="0" smtClean="0"/>
              <a:t>的数字特征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设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𝑿</m:t>
                    </m:r>
                    <m:r>
                      <a:rPr lang="en-US" altLang="zh-CN" b="1" i="1" smtClean="0">
                        <a:latin typeface="Cambria Math"/>
                      </a:rPr>
                      <m:t>∼</m:t>
                    </m:r>
                    <m:r>
                      <a:rPr lang="en-US" altLang="zh-CN" b="1" i="1" smtClean="0">
                        <a:latin typeface="Cambria Math"/>
                      </a:rPr>
                      <m:t>𝑵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𝝁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, </m:t>
                        </m:r>
                        <m:sSup>
                          <m:sSup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1" i="1" smtClean="0">
                                <a:latin typeface="Cambria Math"/>
                              </a:rPr>
                              <m:t>𝝈</m:t>
                            </m:r>
                          </m:e>
                          <m:sup>
                            <m:r>
                              <a:rPr lang="en-US" altLang="zh-CN" b="1" i="1" smtClean="0">
                                <a:latin typeface="Cambria Math"/>
                              </a:rPr>
                              <m:t>𝟐</m:t>
                            </m:r>
                          </m:sup>
                        </m:sSup>
                      </m:e>
                    </m:d>
                  </m:oMath>
                </a14:m>
                <a:r>
                  <a:rPr lang="zh-CN" altLang="en-US" dirty="0" smtClean="0"/>
                  <a:t>，则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𝑬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𝑿</m:t>
                        </m:r>
                      </m:e>
                    </m:d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r>
                      <a:rPr lang="en-US" altLang="zh-CN" b="1" i="1" smtClean="0">
                        <a:latin typeface="Cambria Math"/>
                      </a:rPr>
                      <m:t>𝝁</m:t>
                    </m:r>
                    <m:r>
                      <a:rPr lang="en-US" altLang="zh-CN" b="1" i="1" smtClean="0">
                        <a:latin typeface="Cambria Math"/>
                      </a:rPr>
                      <m:t>, </m:t>
                    </m:r>
                    <m:r>
                      <a:rPr lang="en-US" altLang="zh-CN" b="1" i="1" smtClean="0">
                        <a:latin typeface="Cambria Math"/>
                      </a:rPr>
                      <m:t>𝑫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𝑿</m:t>
                        </m:r>
                      </m:e>
                    </m:d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𝝈</m:t>
                        </m:r>
                      </m:e>
                      <m:sup>
                        <m:r>
                          <a:rPr lang="en-US" altLang="zh-CN" b="1" i="1" smtClean="0">
                            <a:latin typeface="Cambria Math"/>
                          </a:rPr>
                          <m:t>𝟐</m:t>
                        </m:r>
                      </m:sup>
                    </m:sSup>
                  </m:oMath>
                </a14:m>
                <a:endParaRPr lang="en-US" altLang="zh-CN" dirty="0" smtClean="0"/>
              </a:p>
              <a:p>
                <a:pPr marL="0" indent="0">
                  <a:buNone/>
                </a:pPr>
                <a:r>
                  <a:rPr lang="zh-CN" altLang="en-US" dirty="0" smtClean="0"/>
                  <a:t>证：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1645" t="-4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22</a:t>
            </a:fld>
            <a:endParaRPr lang="zh-CN" altLang="en-US" dirty="0"/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2276872"/>
            <a:ext cx="5800349" cy="3816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14774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9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正态分布</a:t>
            </a:r>
            <a:r>
              <a:rPr lang="en-US" altLang="zh-CN" dirty="0" err="1" smtClean="0"/>
              <a:t>r.v</a:t>
            </a:r>
            <a:r>
              <a:rPr lang="en-US" altLang="zh-CN" dirty="0" smtClean="0"/>
              <a:t>.</a:t>
            </a:r>
            <a:r>
              <a:rPr lang="zh-CN" altLang="en-US" dirty="0" smtClean="0"/>
              <a:t>的数字特征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612648" y="1600200"/>
                <a:ext cx="8153400" cy="748680"/>
              </a:xfrm>
            </p:spPr>
            <p:txBody>
              <a:bodyPr/>
              <a:lstStyle/>
              <a:p>
                <a:r>
                  <a:rPr lang="zh-CN" altLang="en-US" dirty="0" smtClean="0"/>
                  <a:t>设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𝑿</m:t>
                    </m:r>
                    <m:r>
                      <a:rPr lang="en-US" altLang="zh-CN" b="1" i="1" smtClean="0">
                        <a:latin typeface="Cambria Math"/>
                      </a:rPr>
                      <m:t>∼</m:t>
                    </m:r>
                    <m:r>
                      <a:rPr lang="en-US" altLang="zh-CN" b="1" i="1" smtClean="0">
                        <a:latin typeface="Cambria Math"/>
                      </a:rPr>
                      <m:t>𝑵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𝝁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, </m:t>
                        </m:r>
                        <m:sSup>
                          <m:sSup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1" i="1" smtClean="0">
                                <a:latin typeface="Cambria Math"/>
                              </a:rPr>
                              <m:t>𝝈</m:t>
                            </m:r>
                          </m:e>
                          <m:sup>
                            <m:r>
                              <a:rPr lang="en-US" altLang="zh-CN" b="1" i="1" smtClean="0">
                                <a:latin typeface="Cambria Math"/>
                              </a:rPr>
                              <m:t>𝟐</m:t>
                            </m:r>
                          </m:sup>
                        </m:sSup>
                      </m:e>
                    </m:d>
                  </m:oMath>
                </a14:m>
                <a:r>
                  <a:rPr lang="zh-CN" altLang="en-US" dirty="0" smtClean="0"/>
                  <a:t>，则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𝑬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𝑿</m:t>
                        </m:r>
                      </m:e>
                    </m:d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r>
                      <a:rPr lang="en-US" altLang="zh-CN" b="1" i="1" smtClean="0">
                        <a:latin typeface="Cambria Math"/>
                      </a:rPr>
                      <m:t>𝝁</m:t>
                    </m:r>
                    <m:r>
                      <a:rPr lang="en-US" altLang="zh-CN" b="1" i="1" smtClean="0">
                        <a:latin typeface="Cambria Math"/>
                      </a:rPr>
                      <m:t>, </m:t>
                    </m:r>
                    <m:r>
                      <a:rPr lang="en-US" altLang="zh-CN" b="1" i="1" smtClean="0">
                        <a:latin typeface="Cambria Math"/>
                      </a:rPr>
                      <m:t>𝑫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𝑿</m:t>
                        </m:r>
                      </m:e>
                    </m:d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𝝈</m:t>
                        </m:r>
                      </m:e>
                      <m:sup>
                        <m:r>
                          <a:rPr lang="en-US" altLang="zh-CN" b="1" i="1" smtClean="0">
                            <a:latin typeface="Cambria Math"/>
                          </a:rPr>
                          <m:t>𝟐</m:t>
                        </m:r>
                      </m:sup>
                    </m:sSup>
                  </m:oMath>
                </a14:m>
                <a:endParaRPr lang="en-US" altLang="zh-CN" dirty="0" smtClean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612648" y="1600200"/>
                <a:ext cx="8153400" cy="748680"/>
              </a:xfrm>
              <a:blipFill rotWithShape="1">
                <a:blip r:embed="rId2"/>
                <a:stretch>
                  <a:fillRect l="-449" t="-2459" b="-8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23</a:t>
            </a:fld>
            <a:endParaRPr lang="zh-CN" altLang="en-US" dirty="0"/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2564904"/>
            <a:ext cx="6408712" cy="32411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14746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0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正态分布应用背景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dirty="0" smtClean="0"/>
              <a:t>正态分布时最常见最重要的一种分布，例如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测量误差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人的身高、体重等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正常情况下生产的产品尺寸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高斯白噪声</a:t>
            </a:r>
            <a:endParaRPr lang="en-US" altLang="zh-CN" dirty="0"/>
          </a:p>
          <a:p>
            <a:r>
              <a:rPr lang="zh-CN" altLang="en-US" dirty="0" smtClean="0"/>
              <a:t>一般而言，如果一个量是由许多微小的独立随机因素影响的结果，那么可以认为这个量具有正态分布</a:t>
            </a:r>
            <a:r>
              <a:rPr lang="en-US" altLang="zh-CN" dirty="0" smtClean="0"/>
              <a:t>(</a:t>
            </a:r>
            <a:r>
              <a:rPr lang="zh-CN" altLang="en-US" dirty="0" smtClean="0"/>
              <a:t>中心极限定理</a:t>
            </a:r>
            <a:r>
              <a:rPr lang="en-US" altLang="zh-CN" dirty="0" smtClean="0"/>
              <a:t>).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24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84628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正态分布下的概率计算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25</a:t>
            </a:fld>
            <a:endParaRPr lang="zh-CN" altLang="en-US" dirty="0"/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1772816"/>
            <a:ext cx="7276297" cy="26067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8"/>
          <p:cNvSpPr txBox="1">
            <a:spLocks noChangeArrowheads="1"/>
          </p:cNvSpPr>
          <p:nvPr/>
        </p:nvSpPr>
        <p:spPr bwMode="auto">
          <a:xfrm>
            <a:off x="1487488" y="4581525"/>
            <a:ext cx="5662612" cy="547688"/>
          </a:xfrm>
          <a:prstGeom prst="rect">
            <a:avLst/>
          </a:prstGeom>
          <a:solidFill>
            <a:srgbClr val="FFFF00"/>
          </a:solidFill>
          <a:ln w="28575" algn="ctr">
            <a:solidFill>
              <a:srgbClr val="008000"/>
            </a:solidFill>
            <a:miter lim="800000"/>
            <a:headEnd/>
            <a:tailEnd/>
          </a:ln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rgbClr val="A50021"/>
              </a:buClr>
              <a:buSzPct val="75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kumimoji="1" sz="3200">
                <a:solidFill>
                  <a:srgbClr val="13110F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lr>
                <a:srgbClr val="666699"/>
              </a:buClr>
              <a:buSzPct val="70000"/>
              <a:buFont typeface="Wingdings" pitchFamily="2" charset="2"/>
              <a:buChar char="n"/>
              <a:defRPr kumimoji="1" sz="2800">
                <a:solidFill>
                  <a:srgbClr val="13110F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SzPct val="60000"/>
              <a:buFont typeface="Wingdings" pitchFamily="2" charset="2"/>
              <a:buChar char="n"/>
              <a:defRPr kumimoji="1" sz="2400">
                <a:solidFill>
                  <a:srgbClr val="13110F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000">
                <a:solidFill>
                  <a:srgbClr val="13110F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000">
                <a:solidFill>
                  <a:srgbClr val="13110F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000">
                <a:solidFill>
                  <a:srgbClr val="13110F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000">
                <a:solidFill>
                  <a:srgbClr val="13110F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000">
                <a:solidFill>
                  <a:srgbClr val="13110F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800" dirty="0">
                <a:solidFill>
                  <a:srgbClr val="CC00CC"/>
                </a:solidFill>
                <a:ea typeface="黑体" pitchFamily="2" charset="-122"/>
                <a:cs typeface="Arial Unicode MS" pitchFamily="34" charset="-122"/>
              </a:rPr>
              <a:t>方法</a:t>
            </a:r>
            <a:r>
              <a:rPr kumimoji="0" lang="en-US" altLang="zh-CN" sz="2800" dirty="0">
                <a:solidFill>
                  <a:srgbClr val="CC00CC"/>
                </a:solidFill>
                <a:ea typeface="黑体" pitchFamily="2" charset="-122"/>
                <a:cs typeface="Arial Unicode MS" pitchFamily="34" charset="-122"/>
              </a:rPr>
              <a:t>:</a:t>
            </a:r>
            <a:r>
              <a:rPr kumimoji="0" lang="zh-CN" altLang="en-US" sz="2800" dirty="0">
                <a:solidFill>
                  <a:srgbClr val="CC00CC"/>
                </a:solidFill>
                <a:ea typeface="黑体" pitchFamily="2" charset="-122"/>
                <a:cs typeface="Arial Unicode MS" pitchFamily="34" charset="-122"/>
              </a:rPr>
              <a:t>转化为标准正态分布查表计算</a:t>
            </a:r>
          </a:p>
        </p:txBody>
      </p:sp>
    </p:spTree>
    <p:extLst>
      <p:ext uri="{BB962C8B-B14F-4D97-AF65-F5344CB8AC3E}">
        <p14:creationId xmlns:p14="http://schemas.microsoft.com/office/powerpoint/2010/main" val="1800305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1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标准正态分布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正态分布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𝑵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𝝁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1" i="1" smtClean="0">
                                <a:latin typeface="Cambria Math"/>
                              </a:rPr>
                              <m:t>𝝈</m:t>
                            </m:r>
                          </m:e>
                          <m:sup>
                            <m:r>
                              <a:rPr lang="en-US" altLang="zh-CN" b="1" i="1" smtClean="0">
                                <a:latin typeface="Cambria Math"/>
                              </a:rPr>
                              <m:t>𝟐</m:t>
                            </m:r>
                          </m:sup>
                        </m:sSup>
                      </m:e>
                    </m:d>
                  </m:oMath>
                </a14:m>
                <a:r>
                  <a:rPr lang="zh-CN" altLang="en-US" dirty="0" smtClean="0"/>
                  <a:t>中，当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𝝁</m:t>
                    </m:r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r>
                      <a:rPr lang="en-US" altLang="zh-CN" b="1" i="1" smtClean="0">
                        <a:latin typeface="Cambria Math"/>
                      </a:rPr>
                      <m:t>𝟎</m:t>
                    </m:r>
                    <m:r>
                      <a:rPr lang="en-US" altLang="zh-CN" b="1" i="1" smtClean="0">
                        <a:latin typeface="Cambria Math"/>
                      </a:rPr>
                      <m:t>, </m:t>
                    </m:r>
                    <m:r>
                      <a:rPr lang="en-US" altLang="zh-CN" b="1" i="1" smtClean="0">
                        <a:latin typeface="Cambria Math"/>
                      </a:rPr>
                      <m:t>𝝈</m:t>
                    </m:r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r>
                      <a:rPr lang="en-US" altLang="zh-CN" b="1" i="1" smtClean="0">
                        <a:latin typeface="Cambria Math"/>
                      </a:rPr>
                      <m:t>𝟏</m:t>
                    </m:r>
                  </m:oMath>
                </a14:m>
                <a:r>
                  <a:rPr lang="zh-CN" altLang="en-US" dirty="0" smtClean="0"/>
                  <a:t>时，称为标准正态分布，记为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𝑵</m:t>
                    </m:r>
                    <m:r>
                      <a:rPr lang="en-US" altLang="zh-CN" b="1" i="1" smtClean="0">
                        <a:latin typeface="Cambria Math"/>
                      </a:rPr>
                      <m:t>(</m:t>
                    </m:r>
                    <m:r>
                      <a:rPr lang="en-US" altLang="zh-CN" b="1" i="1" smtClean="0">
                        <a:latin typeface="Cambria Math"/>
                      </a:rPr>
                      <m:t>𝟎</m:t>
                    </m:r>
                    <m:r>
                      <a:rPr lang="en-US" altLang="zh-CN" b="1" i="1" smtClean="0">
                        <a:latin typeface="Cambria Math"/>
                      </a:rPr>
                      <m:t>,</m:t>
                    </m:r>
                    <m:r>
                      <a:rPr lang="en-US" altLang="zh-CN" b="1" i="1" smtClean="0">
                        <a:latin typeface="Cambria Math"/>
                      </a:rPr>
                      <m:t>𝟏</m:t>
                    </m:r>
                    <m:r>
                      <a:rPr lang="en-US" altLang="zh-CN" b="1" i="1" smtClean="0">
                        <a:latin typeface="Cambria Math"/>
                      </a:rPr>
                      <m:t>)</m:t>
                    </m:r>
                  </m:oMath>
                </a14:m>
                <a:endParaRPr lang="en-US" altLang="zh-CN" dirty="0" smtClean="0"/>
              </a:p>
              <a:p>
                <a:r>
                  <a:rPr lang="zh-CN" altLang="en-US" dirty="0" smtClean="0"/>
                  <a:t>标准正态分布的密度函数记为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/>
                      </a:rPr>
                      <m:t>𝝋</m:t>
                    </m:r>
                    <m:r>
                      <a:rPr lang="en-US" altLang="zh-CN" b="1" i="1" smtClean="0">
                        <a:latin typeface="Cambria Math"/>
                      </a:rPr>
                      <m:t>(</m:t>
                    </m:r>
                    <m:r>
                      <a:rPr lang="en-US" altLang="zh-CN" b="1" i="1" smtClean="0">
                        <a:latin typeface="Cambria Math"/>
                      </a:rPr>
                      <m:t>𝒙</m:t>
                    </m:r>
                    <m:r>
                      <a:rPr lang="en-US" altLang="zh-CN" b="1" i="1" smtClean="0">
                        <a:latin typeface="Cambria Math"/>
                      </a:rPr>
                      <m:t>)</m:t>
                    </m:r>
                  </m:oMath>
                </a14:m>
                <a:endParaRPr lang="en-US" altLang="zh-CN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/>
                        </a:rPr>
                        <m:t>𝝋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/>
                            </a:rPr>
                            <m:t>𝒙</m:t>
                          </m:r>
                        </m:e>
                      </m:d>
                      <m:r>
                        <a:rPr lang="en-US" altLang="zh-CN" b="1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1" i="1" smtClean="0">
                              <a:latin typeface="Cambria Math"/>
                            </a:rPr>
                            <m:t>𝟏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𝟐</m:t>
                              </m:r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𝝅</m:t>
                              </m:r>
                            </m:e>
                          </m:rad>
                        </m:den>
                      </m:f>
                      <m:sSup>
                        <m:sSup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 smtClean="0">
                              <a:latin typeface="Cambria Math"/>
                            </a:rPr>
                            <m:t>𝒆</m:t>
                          </m:r>
                        </m:e>
                        <m:sup>
                          <m:r>
                            <a:rPr lang="en-US" altLang="zh-CN" b="1" i="1" smtClean="0">
                              <a:latin typeface="Cambria Math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1" i="1" smtClean="0">
                                      <a:latin typeface="Cambria Math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altLang="zh-CN" b="1" i="1" smtClean="0">
                                      <a:latin typeface="Cambria Math"/>
                                    </a:rPr>
                                    <m:t>𝟐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𝟐</m:t>
                              </m:r>
                            </m:den>
                          </m:f>
                        </m:sup>
                      </m:sSup>
                      <m:r>
                        <a:rPr lang="en-US" altLang="zh-CN" b="1" i="1" smtClean="0">
                          <a:latin typeface="Cambria Math"/>
                        </a:rPr>
                        <m:t>,  −∞&lt;</m:t>
                      </m:r>
                      <m:r>
                        <a:rPr lang="en-US" altLang="zh-CN" b="1" i="1" smtClean="0">
                          <a:latin typeface="Cambria Math"/>
                        </a:rPr>
                        <m:t>𝒙</m:t>
                      </m:r>
                      <m:r>
                        <a:rPr lang="en-US" altLang="zh-CN" b="1" i="1" smtClean="0">
                          <a:latin typeface="Cambria Math"/>
                        </a:rPr>
                        <m:t>&lt;∞</m:t>
                      </m:r>
                    </m:oMath>
                  </m:oMathPara>
                </a14:m>
                <a:endParaRPr lang="en-US" altLang="zh-CN" dirty="0" smtClean="0"/>
              </a:p>
              <a:p>
                <a:pPr marL="0" indent="0">
                  <a:buNone/>
                </a:pPr>
                <a:r>
                  <a:rPr lang="zh-CN" altLang="en-US" dirty="0" smtClean="0"/>
                  <a:t>标准正态分布的分布函数记为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𝜱</m:t>
                    </m:r>
                    <m:r>
                      <a:rPr lang="en-US" altLang="zh-CN" b="1" i="1" smtClean="0">
                        <a:latin typeface="Cambria Math"/>
                      </a:rPr>
                      <m:t>(</m:t>
                    </m:r>
                    <m:r>
                      <a:rPr lang="en-US" altLang="zh-CN" b="1" i="1" smtClean="0">
                        <a:latin typeface="Cambria Math"/>
                      </a:rPr>
                      <m:t>𝒙</m:t>
                    </m:r>
                    <m:r>
                      <a:rPr lang="en-US" altLang="zh-CN" b="1" i="1" smtClean="0">
                        <a:latin typeface="Cambria Math"/>
                      </a:rPr>
                      <m:t>)</m:t>
                    </m:r>
                  </m:oMath>
                </a14:m>
                <a:endParaRPr lang="en-US" altLang="zh-CN" i="1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/>
                        </a:rPr>
                        <m:t>𝜱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/>
                            </a:rPr>
                            <m:t>𝒙</m:t>
                          </m:r>
                        </m:e>
                      </m:d>
                      <m:r>
                        <a:rPr lang="en-US" altLang="zh-CN" b="1" i="1" smtClean="0">
                          <a:latin typeface="Cambria Math"/>
                        </a:rPr>
                        <m:t>=</m:t>
                      </m:r>
                      <m:nary>
                        <m:nary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b="1" i="1" smtClean="0">
                              <a:latin typeface="Cambria Math"/>
                            </a:rPr>
                            <m:t>−∞</m:t>
                          </m:r>
                        </m:sub>
                        <m:sup>
                          <m:r>
                            <a:rPr lang="en-US" altLang="zh-CN" b="1" i="1" smtClean="0">
                              <a:latin typeface="Cambria Math"/>
                            </a:rPr>
                            <m:t>𝒙</m:t>
                          </m:r>
                        </m:sup>
                        <m:e>
                          <m:f>
                            <m:f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𝟏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CN" b="1" i="1" smtClean="0">
                                      <a:latin typeface="Cambria Math"/>
                                    </a:rPr>
                                    <m:t>𝟐</m:t>
                                  </m:r>
                                  <m:r>
                                    <a:rPr lang="en-US" altLang="zh-CN" b="1" i="1" smtClean="0">
                                      <a:latin typeface="Cambria Math"/>
                                    </a:rPr>
                                    <m:t>𝝅</m:t>
                                  </m:r>
                                </m:e>
                              </m:rad>
                            </m:den>
                          </m:f>
                          <m:sSup>
                            <m:sSup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𝒆</m:t>
                              </m:r>
                            </m:e>
                            <m:sup>
                              <m:r>
                                <a:rPr lang="en-US" altLang="zh-CN" b="1" i="1" smtClean="0">
                                  <a:latin typeface="Cambria Math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altLang="zh-CN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b="1" i="1" smtClean="0">
                                          <a:latin typeface="Cambria Math"/>
                                        </a:rPr>
                                        <m:t>𝒕</m:t>
                                      </m:r>
                                    </m:e>
                                    <m:sup>
                                      <m:r>
                                        <a:rPr lang="en-US" altLang="zh-CN" b="1" i="1" smtClean="0">
                                          <a:latin typeface="Cambria Math"/>
                                        </a:rPr>
                                        <m:t>𝟐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altLang="zh-CN" b="1" i="1" smtClean="0">
                                      <a:latin typeface="Cambria Math"/>
                                    </a:rPr>
                                    <m:t>𝟐</m:t>
                                  </m:r>
                                </m:den>
                              </m:f>
                            </m:sup>
                          </m:sSup>
                          <m:r>
                            <a:rPr lang="en-US" altLang="zh-CN" b="1" i="1" smtClean="0">
                              <a:latin typeface="Cambria Math"/>
                            </a:rPr>
                            <m:t>𝒅𝒕</m:t>
                          </m:r>
                        </m:e>
                      </m:nary>
                    </m:oMath>
                  </m:oMathPara>
                </a14:m>
                <a:endParaRPr lang="en-US" altLang="zh-CN" i="1" dirty="0" smtClean="0"/>
              </a:p>
              <a:p>
                <a:pPr marL="0" indent="0">
                  <a:buNone/>
                </a:pPr>
                <a:endParaRPr lang="en-US" altLang="zh-CN" dirty="0" smtClean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1645" t="-4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26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47001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标准正态分布的图形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27</a:t>
            </a:fld>
            <a:endParaRPr lang="zh-CN" altLang="en-US" dirty="0"/>
          </a:p>
        </p:txBody>
      </p:sp>
      <p:grpSp>
        <p:nvGrpSpPr>
          <p:cNvPr id="7" name="组合 6"/>
          <p:cNvGrpSpPr/>
          <p:nvPr/>
        </p:nvGrpSpPr>
        <p:grpSpPr>
          <a:xfrm>
            <a:off x="1547664" y="1772816"/>
            <a:ext cx="6336704" cy="4464496"/>
            <a:chOff x="914400" y="765175"/>
            <a:chExt cx="7704138" cy="5976938"/>
          </a:xfrm>
        </p:grpSpPr>
        <p:pic>
          <p:nvPicPr>
            <p:cNvPr id="5" name="Picture 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4400" y="765175"/>
              <a:ext cx="7704138" cy="3024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" name="Picture 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4400" y="3832225"/>
              <a:ext cx="7704138" cy="290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449554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标准正态分布表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𝜱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𝒙</m:t>
                        </m:r>
                      </m:e>
                    </m:d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nary>
                      <m:nary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b="1" i="1" smtClean="0">
                            <a:latin typeface="Cambria Math"/>
                          </a:rPr>
                          <m:t>−∞</m:t>
                        </m:r>
                      </m:sub>
                      <m:sup>
                        <m:r>
                          <a:rPr lang="en-US" altLang="zh-CN" b="1" i="1" smtClean="0">
                            <a:latin typeface="Cambria Math"/>
                          </a:rPr>
                          <m:t>𝒙</m:t>
                        </m:r>
                      </m:sup>
                      <m:e>
                        <m:f>
                          <m:f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1" i="1" smtClean="0">
                                <a:latin typeface="Cambria Math"/>
                              </a:rPr>
                              <m:t>𝟏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CN" b="1" i="1" smtClean="0">
                                    <a:latin typeface="Cambria Math"/>
                                  </a:rPr>
                                  <m:t>𝟐</m:t>
                                </m:r>
                                <m:r>
                                  <a:rPr lang="en-US" altLang="zh-CN" b="1" i="1" smtClean="0">
                                    <a:latin typeface="Cambria Math"/>
                                  </a:rPr>
                                  <m:t>𝝅</m:t>
                                </m:r>
                              </m:e>
                            </m:rad>
                          </m:den>
                        </m:f>
                        <m:sSup>
                          <m:sSup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1" i="1" smtClean="0">
                                <a:latin typeface="Cambria Math"/>
                              </a:rPr>
                              <m:t>𝒆</m:t>
                            </m:r>
                          </m:e>
                          <m:sup>
                            <m:r>
                              <a:rPr lang="en-US" altLang="zh-CN" b="1" i="1" smtClean="0">
                                <a:latin typeface="Cambria Math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altLang="zh-CN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b="1" i="1" smtClean="0">
                                        <a:latin typeface="Cambria Math"/>
                                      </a:rPr>
                                      <m:t>𝒕</m:t>
                                    </m:r>
                                  </m:e>
                                  <m:sup>
                                    <m:r>
                                      <a:rPr lang="en-US" altLang="zh-CN" b="1" i="1" smtClean="0">
                                        <a:latin typeface="Cambria Math"/>
                                      </a:rPr>
                                      <m:t>𝟐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US" altLang="zh-CN" b="1" i="1" smtClean="0">
                                    <a:latin typeface="Cambria Math"/>
                                  </a:rPr>
                                  <m:t>𝟐</m:t>
                                </m:r>
                              </m:den>
                            </m:f>
                          </m:sup>
                        </m:sSup>
                        <m:r>
                          <a:rPr lang="en-US" altLang="zh-CN" b="1" i="1" smtClean="0">
                            <a:latin typeface="Cambria Math"/>
                          </a:rPr>
                          <m:t>𝒅𝒕</m:t>
                        </m:r>
                      </m:e>
                    </m:nary>
                  </m:oMath>
                </a14:m>
                <a:endParaRPr lang="zh-CN" altLang="en-US" i="1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28</a:t>
            </a:fld>
            <a:endParaRPr lang="zh-CN" altLang="en-US" dirty="0"/>
          </a:p>
        </p:txBody>
      </p:sp>
      <p:grpSp>
        <p:nvGrpSpPr>
          <p:cNvPr id="6" name="组合 5"/>
          <p:cNvGrpSpPr/>
          <p:nvPr/>
        </p:nvGrpSpPr>
        <p:grpSpPr>
          <a:xfrm>
            <a:off x="5223514" y="1556792"/>
            <a:ext cx="3614738" cy="1927324"/>
            <a:chOff x="3995738" y="836613"/>
            <a:chExt cx="4622800" cy="2503487"/>
          </a:xfrm>
        </p:grpSpPr>
        <p:pic>
          <p:nvPicPr>
            <p:cNvPr id="7" name="Picture 5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95738" y="836613"/>
              <a:ext cx="4622800" cy="2447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8" name="Group 6"/>
            <p:cNvGrpSpPr>
              <a:grpSpLocks/>
            </p:cNvGrpSpPr>
            <p:nvPr/>
          </p:nvGrpSpPr>
          <p:grpSpPr bwMode="auto">
            <a:xfrm>
              <a:off x="5003800" y="1557338"/>
              <a:ext cx="1439863" cy="1492250"/>
              <a:chOff x="3152" y="981"/>
              <a:chExt cx="907" cy="940"/>
            </a:xfrm>
          </p:grpSpPr>
          <p:sp>
            <p:nvSpPr>
              <p:cNvPr id="10" name="Line 7"/>
              <p:cNvSpPr>
                <a:spLocks noChangeShapeType="1"/>
              </p:cNvSpPr>
              <p:nvPr/>
            </p:nvSpPr>
            <p:spPr bwMode="auto">
              <a:xfrm flipV="1">
                <a:off x="4059" y="1132"/>
                <a:ext cx="0" cy="771"/>
              </a:xfrm>
              <a:prstGeom prst="line">
                <a:avLst/>
              </a:prstGeom>
              <a:noFill/>
              <a:ln w="28575">
                <a:solidFill>
                  <a:srgbClr val="FC211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1" name="Group 8"/>
              <p:cNvGrpSpPr>
                <a:grpSpLocks/>
              </p:cNvGrpSpPr>
              <p:nvPr/>
            </p:nvGrpSpPr>
            <p:grpSpPr bwMode="auto">
              <a:xfrm>
                <a:off x="3152" y="981"/>
                <a:ext cx="907" cy="940"/>
                <a:chOff x="3152" y="981"/>
                <a:chExt cx="907" cy="940"/>
              </a:xfrm>
            </p:grpSpPr>
            <p:sp>
              <p:nvSpPr>
                <p:cNvPr id="12" name="Line 9"/>
                <p:cNvSpPr>
                  <a:spLocks noChangeShapeType="1"/>
                </p:cNvSpPr>
                <p:nvPr/>
              </p:nvSpPr>
              <p:spPr bwMode="auto">
                <a:xfrm flipH="1">
                  <a:off x="3651" y="981"/>
                  <a:ext cx="318" cy="226"/>
                </a:xfrm>
                <a:prstGeom prst="line">
                  <a:avLst/>
                </a:prstGeom>
                <a:noFill/>
                <a:ln w="19050">
                  <a:solidFill>
                    <a:srgbClr val="FC211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" name="Line 10"/>
                <p:cNvSpPr>
                  <a:spLocks noChangeShapeType="1"/>
                </p:cNvSpPr>
                <p:nvPr/>
              </p:nvSpPr>
              <p:spPr bwMode="auto">
                <a:xfrm flipH="1">
                  <a:off x="3560" y="1077"/>
                  <a:ext cx="454" cy="363"/>
                </a:xfrm>
                <a:prstGeom prst="line">
                  <a:avLst/>
                </a:prstGeom>
                <a:noFill/>
                <a:ln w="19050">
                  <a:solidFill>
                    <a:srgbClr val="FC211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" name="Line 11"/>
                <p:cNvSpPr>
                  <a:spLocks noChangeShapeType="1"/>
                </p:cNvSpPr>
                <p:nvPr/>
              </p:nvSpPr>
              <p:spPr bwMode="auto">
                <a:xfrm flipH="1">
                  <a:off x="3379" y="1371"/>
                  <a:ext cx="680" cy="544"/>
                </a:xfrm>
                <a:prstGeom prst="line">
                  <a:avLst/>
                </a:prstGeom>
                <a:noFill/>
                <a:ln w="19050">
                  <a:solidFill>
                    <a:srgbClr val="FC211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" name="Line 12"/>
                <p:cNvSpPr>
                  <a:spLocks noChangeShapeType="1"/>
                </p:cNvSpPr>
                <p:nvPr/>
              </p:nvSpPr>
              <p:spPr bwMode="auto">
                <a:xfrm flipH="1">
                  <a:off x="3606" y="1558"/>
                  <a:ext cx="453" cy="363"/>
                </a:xfrm>
                <a:prstGeom prst="line">
                  <a:avLst/>
                </a:prstGeom>
                <a:noFill/>
                <a:ln w="19050">
                  <a:solidFill>
                    <a:srgbClr val="FC211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" name="Line 13"/>
                <p:cNvSpPr>
                  <a:spLocks noChangeShapeType="1"/>
                </p:cNvSpPr>
                <p:nvPr/>
              </p:nvSpPr>
              <p:spPr bwMode="auto">
                <a:xfrm flipV="1">
                  <a:off x="3152" y="1225"/>
                  <a:ext cx="907" cy="681"/>
                </a:xfrm>
                <a:prstGeom prst="line">
                  <a:avLst/>
                </a:prstGeom>
                <a:noFill/>
                <a:ln w="19050">
                  <a:solidFill>
                    <a:srgbClr val="FC211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" name="Line 14"/>
                <p:cNvSpPr>
                  <a:spLocks noChangeShapeType="1"/>
                </p:cNvSpPr>
                <p:nvPr/>
              </p:nvSpPr>
              <p:spPr bwMode="auto">
                <a:xfrm flipV="1">
                  <a:off x="3833" y="1724"/>
                  <a:ext cx="226" cy="182"/>
                </a:xfrm>
                <a:prstGeom prst="line">
                  <a:avLst/>
                </a:prstGeom>
                <a:noFill/>
                <a:ln w="19050">
                  <a:solidFill>
                    <a:srgbClr val="FC211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9" name="Text Box 15"/>
            <p:cNvSpPr txBox="1">
              <a:spLocks noChangeArrowheads="1"/>
            </p:cNvSpPr>
            <p:nvPr/>
          </p:nvSpPr>
          <p:spPr bwMode="auto">
            <a:xfrm>
              <a:off x="6276975" y="2943225"/>
              <a:ext cx="3111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A50021"/>
                </a:buClr>
                <a:buSzPct val="75000"/>
                <a:buFont typeface="Wingdings" pitchFamily="2" charset="2"/>
                <a:buChar char="n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itchFamily="2" charset="2"/>
                <a:buChar char="n"/>
                <a:defRPr kumimoji="1" sz="3200">
                  <a:solidFill>
                    <a:srgbClr val="13110F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666699"/>
                </a:buClr>
                <a:buSzPct val="70000"/>
                <a:buFont typeface="Wingdings" pitchFamily="2" charset="2"/>
                <a:buChar char="n"/>
                <a:defRPr kumimoji="1" sz="2800">
                  <a:solidFill>
                    <a:srgbClr val="13110F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SzPct val="60000"/>
                <a:buFont typeface="Wingdings" pitchFamily="2" charset="2"/>
                <a:buChar char="n"/>
                <a:defRPr kumimoji="1" sz="2400">
                  <a:solidFill>
                    <a:srgbClr val="13110F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rgbClr val="13110F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rgbClr val="13110F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rgbClr val="13110F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rgbClr val="13110F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rgbClr val="13110F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i="1">
                  <a:solidFill>
                    <a:srgbClr val="FC2110"/>
                  </a:solidFill>
                </a:rPr>
                <a:t>x</a:t>
              </a:r>
            </a:p>
          </p:txBody>
        </p:sp>
      </p:grpSp>
      <p:graphicFrame>
        <p:nvGraphicFramePr>
          <p:cNvPr id="18" name="Group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1017872"/>
              </p:ext>
            </p:extLst>
          </p:nvPr>
        </p:nvGraphicFramePr>
        <p:xfrm>
          <a:off x="899592" y="3560400"/>
          <a:ext cx="7200156" cy="3108960"/>
        </p:xfrm>
        <a:graphic>
          <a:graphicData uri="http://schemas.openxmlformats.org/drawingml/2006/table">
            <a:tbl>
              <a:tblPr/>
              <a:tblGrid>
                <a:gridCol w="12000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00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00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00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000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0002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67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2A262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2A262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A262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A262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0.02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A262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......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A262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0.09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07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A262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A262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0.5000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A262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0.5040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A262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0.5080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A262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......</a:t>
                      </a:r>
                      <a:endParaRPr kumimoji="1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rgbClr val="2A2622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A262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0.5359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7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A262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A262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0.5398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2A262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0.5438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A262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0.5478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A262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......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A262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0.5753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7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A262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......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rgbClr val="2A2622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rgbClr val="2A2622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rgbClr val="2A2622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rgbClr val="2A2622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rgbClr val="2A2622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807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A262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2.9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A262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0.9981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A262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0.9982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A262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0.9982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A262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......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A262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0.9986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7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A262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3.0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rgbClr val="2A2622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rgbClr val="2A2622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rgbClr val="2A2622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rgbClr val="2A2622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zh-CN" alt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2A2622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4109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标题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zh-CN" b="1" i="0" smtClean="0">
                        <a:latin typeface="Cambria Math"/>
                      </a:rPr>
                      <m:t>𝚽</m:t>
                    </m:r>
                    <m:r>
                      <a:rPr lang="en-US" altLang="zh-CN" b="1" i="0" smtClean="0">
                        <a:latin typeface="Cambria Math"/>
                      </a:rPr>
                      <m:t>(</m:t>
                    </m:r>
                    <m:r>
                      <a:rPr lang="en-US" altLang="zh-CN" b="1" i="0" smtClean="0">
                        <a:latin typeface="Cambria Math"/>
                      </a:rPr>
                      <m:t>𝐱</m:t>
                    </m:r>
                    <m:r>
                      <a:rPr lang="en-US" altLang="zh-CN" b="1" i="0" smtClean="0">
                        <a:latin typeface="Cambria Math"/>
                      </a:rPr>
                      <m:t>)</m:t>
                    </m:r>
                  </m:oMath>
                </a14:m>
                <a:r>
                  <a:rPr lang="zh-CN" altLang="en-US" dirty="0" smtClean="0"/>
                  <a:t>性质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2" name="标题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3"/>
                <a:stretch>
                  <a:fillRect b="-197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612648" y="1600200"/>
                <a:ext cx="8153400" cy="604664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0" smtClean="0">
                          <a:latin typeface="Cambria Math"/>
                        </a:rPr>
                        <m:t>𝚽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0" smtClean="0">
                              <a:latin typeface="Cambria Math"/>
                            </a:rPr>
                            <m:t>−</m:t>
                          </m:r>
                          <m:r>
                            <a:rPr lang="en-US" altLang="zh-CN" b="1" i="0" smtClean="0">
                              <a:latin typeface="Cambria Math"/>
                            </a:rPr>
                            <m:t>𝐱</m:t>
                          </m:r>
                        </m:e>
                      </m:d>
                      <m:r>
                        <a:rPr lang="en-US" altLang="zh-CN" b="1" i="0" smtClean="0">
                          <a:latin typeface="Cambria Math"/>
                        </a:rPr>
                        <m:t>=</m:t>
                      </m:r>
                      <m:r>
                        <a:rPr lang="en-US" altLang="zh-CN" b="1" i="0" smtClean="0">
                          <a:latin typeface="Cambria Math"/>
                        </a:rPr>
                        <m:t>𝟏</m:t>
                      </m:r>
                      <m:r>
                        <a:rPr lang="en-US" altLang="zh-CN" b="1" i="0" smtClean="0">
                          <a:latin typeface="Cambria Math"/>
                        </a:rPr>
                        <m:t>−</m:t>
                      </m:r>
                      <m:r>
                        <a:rPr lang="en-US" altLang="zh-CN" b="1" i="0" smtClean="0">
                          <a:latin typeface="Cambria Math"/>
                        </a:rPr>
                        <m:t>𝚽</m:t>
                      </m:r>
                      <m:r>
                        <a:rPr lang="en-US" altLang="zh-CN" b="1" i="0" smtClean="0">
                          <a:latin typeface="Cambria Math"/>
                        </a:rPr>
                        <m:t>(</m:t>
                      </m:r>
                      <m:r>
                        <a:rPr lang="en-US" altLang="zh-CN" b="1" i="0" smtClean="0">
                          <a:latin typeface="Cambria Math"/>
                        </a:rPr>
                        <m:t>𝐱</m:t>
                      </m:r>
                      <m:r>
                        <a:rPr lang="en-US" altLang="zh-CN" b="1" i="0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612648" y="1600200"/>
                <a:ext cx="8153400" cy="604664"/>
              </a:xfr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29</a:t>
            </a:fld>
            <a:endParaRPr lang="zh-CN" altLang="en-US" dirty="0"/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2276872"/>
            <a:ext cx="5858607" cy="1500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" name="组合 6"/>
          <p:cNvGrpSpPr/>
          <p:nvPr/>
        </p:nvGrpSpPr>
        <p:grpSpPr>
          <a:xfrm>
            <a:off x="1979712" y="3861048"/>
            <a:ext cx="5545038" cy="2739207"/>
            <a:chOff x="1187450" y="3113088"/>
            <a:chExt cx="6337300" cy="3559175"/>
          </a:xfrm>
        </p:grpSpPr>
        <p:pic>
          <p:nvPicPr>
            <p:cNvPr id="8" name="Picture 9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03350" y="3113088"/>
              <a:ext cx="6048375" cy="290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aphicFrame>
          <p:nvGraphicFramePr>
            <p:cNvPr id="9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19155373"/>
                </p:ext>
              </p:extLst>
            </p:nvPr>
          </p:nvGraphicFramePr>
          <p:xfrm>
            <a:off x="1187450" y="6092825"/>
            <a:ext cx="6337300" cy="5794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564" name="Equation" r:id="rId7" imgW="2197100" imgH="215900" progId="Equation.DSMT4">
                    <p:embed/>
                  </p:oleObj>
                </mc:Choice>
                <mc:Fallback>
                  <p:oleObj name="Equation" r:id="rId7" imgW="2197100" imgH="2159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87450" y="6092825"/>
                          <a:ext cx="6337300" cy="579438"/>
                        </a:xfrm>
                        <a:prstGeom prst="rect">
                          <a:avLst/>
                        </a:prstGeom>
                        <a:noFill/>
                        <a:ln w="19050">
                          <a:solidFill>
                            <a:srgbClr val="DE32D6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463324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2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例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已知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𝑿</m:t>
                    </m:r>
                    <m:r>
                      <a:rPr lang="en-US" altLang="zh-CN" b="1" i="1" smtClean="0">
                        <a:latin typeface="Cambria Math"/>
                      </a:rPr>
                      <m:t>∼</m:t>
                    </m:r>
                    <m:r>
                      <a:rPr lang="en-US" altLang="zh-CN" b="1" i="1" smtClean="0">
                        <a:latin typeface="Cambria Math"/>
                      </a:rPr>
                      <m:t>𝑵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𝟎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,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𝟏</m:t>
                        </m:r>
                      </m:e>
                    </m:d>
                  </m:oMath>
                </a14:m>
                <a:r>
                  <a:rPr lang="en-US" altLang="zh-CN" dirty="0" smtClean="0"/>
                  <a:t>,</a:t>
                </a:r>
                <a:r>
                  <a:rPr lang="zh-CN" altLang="en-US" dirty="0" smtClean="0"/>
                  <a:t>求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/>
                      </a:rPr>
                      <m:t>𝑷</m:t>
                    </m:r>
                    <m:r>
                      <a:rPr lang="en-US" altLang="zh-CN" b="1" i="1" dirty="0" smtClean="0">
                        <a:latin typeface="Cambria Math"/>
                      </a:rPr>
                      <m:t>(−</m:t>
                    </m:r>
                    <m:r>
                      <a:rPr lang="en-US" altLang="zh-CN" b="1" i="1" dirty="0" smtClean="0">
                        <a:latin typeface="Cambria Math"/>
                      </a:rPr>
                      <m:t>𝟏</m:t>
                    </m:r>
                    <m:r>
                      <a:rPr lang="en-US" altLang="zh-CN" b="1" i="1" dirty="0" smtClean="0">
                        <a:latin typeface="Cambria Math"/>
                      </a:rPr>
                      <m:t>.</m:t>
                    </m:r>
                    <m:r>
                      <a:rPr lang="en-US" altLang="zh-CN" b="1" i="1" dirty="0" smtClean="0">
                        <a:latin typeface="Cambria Math"/>
                      </a:rPr>
                      <m:t>𝟐𝟓</m:t>
                    </m:r>
                    <m:r>
                      <a:rPr lang="en-US" altLang="zh-CN" b="1" i="1" dirty="0" smtClean="0">
                        <a:latin typeface="Cambria Math"/>
                      </a:rPr>
                      <m:t>≤</m:t>
                    </m:r>
                    <m:r>
                      <a:rPr lang="en-US" altLang="zh-CN" b="1" i="1" dirty="0" smtClean="0">
                        <a:latin typeface="Cambria Math"/>
                      </a:rPr>
                      <m:t>𝑿</m:t>
                    </m:r>
                    <m:r>
                      <a:rPr lang="en-US" altLang="zh-CN" b="1" i="1" dirty="0" smtClean="0">
                        <a:latin typeface="Cambria Math"/>
                      </a:rPr>
                      <m:t>&lt;</m:t>
                    </m:r>
                    <m:r>
                      <a:rPr lang="en-US" altLang="zh-CN" b="1" i="1" dirty="0" smtClean="0">
                        <a:latin typeface="Cambria Math"/>
                      </a:rPr>
                      <m:t>𝟐</m:t>
                    </m:r>
                    <m:r>
                      <a:rPr lang="en-US" altLang="zh-CN" b="1" i="1" dirty="0" smtClean="0">
                        <a:latin typeface="Cambria Math"/>
                      </a:rPr>
                      <m:t>)</m:t>
                    </m:r>
                  </m:oMath>
                </a14:m>
                <a:endParaRPr lang="en-US" altLang="zh-CN" dirty="0" smtClean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 smtClean="0"/>
                  <a:t>解：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𝑷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</a:rPr>
                          <m:t>−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𝟏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.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𝟐𝟓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≤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𝑿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&lt;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𝟐</m:t>
                        </m:r>
                      </m:e>
                    </m:d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r>
                      <a:rPr lang="en-US" altLang="zh-CN" b="1" i="0" smtClean="0">
                        <a:latin typeface="Cambria Math"/>
                      </a:rPr>
                      <m:t>𝚽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0" smtClean="0">
                            <a:latin typeface="Cambria Math"/>
                          </a:rPr>
                          <m:t>𝟐</m:t>
                        </m:r>
                      </m:e>
                    </m:d>
                    <m:r>
                      <a:rPr lang="en-US" altLang="zh-CN" b="1" i="0" smtClean="0">
                        <a:latin typeface="Cambria Math"/>
                      </a:rPr>
                      <m:t>−</m:t>
                    </m:r>
                    <m:r>
                      <a:rPr lang="en-US" altLang="zh-CN" b="1" i="0" smtClean="0">
                        <a:latin typeface="Cambria Math"/>
                      </a:rPr>
                      <m:t>𝚽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0" smtClean="0">
                            <a:latin typeface="Cambria Math"/>
                          </a:rPr>
                          <m:t>−</m:t>
                        </m:r>
                        <m:r>
                          <a:rPr lang="en-US" altLang="zh-CN" b="1" i="0" smtClean="0">
                            <a:latin typeface="Cambria Math"/>
                          </a:rPr>
                          <m:t>𝟏</m:t>
                        </m:r>
                        <m:r>
                          <a:rPr lang="en-US" altLang="zh-CN" b="1" i="0" smtClean="0">
                            <a:latin typeface="Cambria Math"/>
                          </a:rPr>
                          <m:t>.</m:t>
                        </m:r>
                        <m:r>
                          <a:rPr lang="en-US" altLang="zh-CN" b="1" i="0" smtClean="0">
                            <a:latin typeface="Cambria Math"/>
                          </a:rPr>
                          <m:t>𝟐𝟓</m:t>
                        </m:r>
                      </m:e>
                    </m:d>
                  </m:oMath>
                </a14:m>
                <a:endParaRPr lang="en-US" altLang="zh-CN" b="1" i="0" dirty="0" smtClean="0">
                  <a:latin typeface="Cambria Math"/>
                </a:endParaRPr>
              </a:p>
              <a:p>
                <a:pPr marL="0" indent="0">
                  <a:buNone/>
                </a:pPr>
                <a:r>
                  <a:rPr lang="en-US" altLang="zh-CN" b="1" dirty="0" smtClean="0"/>
                  <a:t>     </a:t>
                </a:r>
                <a14:m>
                  <m:oMath xmlns:m="http://schemas.openxmlformats.org/officeDocument/2006/math">
                    <m:r>
                      <a:rPr lang="en-US" altLang="zh-CN" b="1" i="0" smtClean="0">
                        <a:latin typeface="Cambria Math"/>
                      </a:rPr>
                      <m:t>=</m:t>
                    </m:r>
                    <m:r>
                      <a:rPr lang="en-US" altLang="zh-CN" b="1" i="0" smtClean="0">
                        <a:latin typeface="Cambria Math"/>
                      </a:rPr>
                      <m:t>𝚽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0" smtClean="0">
                            <a:latin typeface="Cambria Math"/>
                          </a:rPr>
                          <m:t>𝟐</m:t>
                        </m:r>
                      </m:e>
                    </m:d>
                    <m:r>
                      <a:rPr lang="en-US" altLang="zh-CN" b="1" i="0" smtClean="0">
                        <a:latin typeface="Cambria Math"/>
                      </a:rPr>
                      <m:t>−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0" smtClean="0">
                            <a:latin typeface="Cambria Math"/>
                          </a:rPr>
                          <m:t>𝟏</m:t>
                        </m:r>
                        <m:r>
                          <a:rPr lang="en-US" altLang="zh-CN" b="1" i="0" smtClean="0">
                            <a:latin typeface="Cambria Math"/>
                          </a:rPr>
                          <m:t>−</m:t>
                        </m:r>
                        <m:r>
                          <a:rPr lang="en-US" altLang="zh-CN" b="1" i="0" smtClean="0">
                            <a:latin typeface="Cambria Math"/>
                          </a:rPr>
                          <m:t>𝚽</m:t>
                        </m:r>
                        <m:d>
                          <m:d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0" smtClean="0">
                                <a:latin typeface="Cambria Math"/>
                              </a:rPr>
                              <m:t>𝟏</m:t>
                            </m:r>
                            <m:r>
                              <a:rPr lang="en-US" altLang="zh-CN" b="1" i="0" smtClean="0">
                                <a:latin typeface="Cambria Math"/>
                              </a:rPr>
                              <m:t>.</m:t>
                            </m:r>
                            <m:r>
                              <a:rPr lang="en-US" altLang="zh-CN" b="1" i="0" smtClean="0">
                                <a:latin typeface="Cambria Math"/>
                              </a:rPr>
                              <m:t>𝟐𝟓</m:t>
                            </m:r>
                          </m:e>
                        </m:d>
                      </m:e>
                    </m:d>
                  </m:oMath>
                </a14:m>
                <a:endParaRPr lang="en-US" altLang="zh-CN" b="1" i="0" dirty="0" smtClean="0">
                  <a:latin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0" smtClean="0">
                          <a:latin typeface="Cambria Math"/>
                        </a:rPr>
                        <m:t>=</m:t>
                      </m:r>
                      <m:r>
                        <a:rPr lang="en-US" altLang="zh-CN" b="1" i="0" smtClean="0">
                          <a:latin typeface="Cambria Math"/>
                        </a:rPr>
                        <m:t>𝟎</m:t>
                      </m:r>
                      <m:r>
                        <a:rPr lang="en-US" altLang="zh-CN" b="1" i="0" smtClean="0">
                          <a:latin typeface="Cambria Math"/>
                        </a:rPr>
                        <m:t>.</m:t>
                      </m:r>
                      <m:r>
                        <a:rPr lang="en-US" altLang="zh-CN" b="1" i="0" smtClean="0">
                          <a:latin typeface="Cambria Math"/>
                        </a:rPr>
                        <m:t>𝟗𝟕𝟕𝟐</m:t>
                      </m:r>
                      <m:r>
                        <a:rPr lang="en-US" altLang="zh-CN" b="1" i="0" smtClean="0">
                          <a:latin typeface="Cambria Math"/>
                        </a:rPr>
                        <m:t>−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0" smtClean="0">
                              <a:latin typeface="Cambria Math"/>
                            </a:rPr>
                            <m:t>𝟏</m:t>
                          </m:r>
                          <m:r>
                            <a:rPr lang="en-US" altLang="zh-CN" b="1" i="0" smtClean="0">
                              <a:latin typeface="Cambria Math"/>
                            </a:rPr>
                            <m:t>−</m:t>
                          </m:r>
                          <m:r>
                            <a:rPr lang="en-US" altLang="zh-CN" b="1" i="0" smtClean="0">
                              <a:latin typeface="Cambria Math"/>
                            </a:rPr>
                            <m:t>𝟎</m:t>
                          </m:r>
                          <m:r>
                            <a:rPr lang="en-US" altLang="zh-CN" b="1" i="0" smtClean="0">
                              <a:latin typeface="Cambria Math"/>
                            </a:rPr>
                            <m:t>.</m:t>
                          </m:r>
                          <m:r>
                            <a:rPr lang="en-US" altLang="zh-CN" b="1" i="0" smtClean="0">
                              <a:latin typeface="Cambria Math"/>
                            </a:rPr>
                            <m:t>𝟖𝟗𝟒𝟒</m:t>
                          </m:r>
                        </m:e>
                      </m:d>
                      <m:r>
                        <a:rPr lang="en-US" altLang="zh-CN" b="1" i="0" smtClean="0">
                          <a:latin typeface="Cambria Math"/>
                        </a:rPr>
                        <m:t>=</m:t>
                      </m:r>
                      <m:r>
                        <a:rPr lang="en-US" altLang="zh-CN" b="1" i="0" smtClean="0">
                          <a:latin typeface="Cambria Math"/>
                        </a:rPr>
                        <m:t>𝟎</m:t>
                      </m:r>
                      <m:r>
                        <a:rPr lang="en-US" altLang="zh-CN" b="1" i="0" smtClean="0">
                          <a:latin typeface="Cambria Math"/>
                        </a:rPr>
                        <m:t>.</m:t>
                      </m:r>
                      <m:r>
                        <a:rPr lang="en-US" altLang="zh-CN" b="1" i="0" smtClean="0">
                          <a:latin typeface="Cambria Math"/>
                        </a:rPr>
                        <m:t>𝟖𝟕𝟏𝟔</m:t>
                      </m:r>
                      <m:r>
                        <a:rPr lang="en-US" altLang="zh-CN" b="1" i="0" smtClean="0">
                          <a:latin typeface="Cambria Math"/>
                        </a:rPr>
                        <m:t> </m:t>
                      </m:r>
                    </m:oMath>
                  </m:oMathPara>
                </a14:m>
                <a:endParaRPr lang="en-US" altLang="zh-CN" dirty="0" smtClean="0"/>
              </a:p>
              <a:p>
                <a:pPr marL="0" indent="0">
                  <a:buNone/>
                </a:pPr>
                <a:endParaRPr lang="en-US" altLang="zh-CN" dirty="0"/>
              </a:p>
              <a:p>
                <a:r>
                  <a:rPr lang="zh-CN" altLang="en-US" dirty="0" smtClean="0"/>
                  <a:t>一般正态分布，如何求概率？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1645" t="-21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30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22558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正态分布的性质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r>
                  <a:rPr lang="zh-CN" altLang="en-US" dirty="0" smtClean="0"/>
                  <a:t>设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𝑿</m:t>
                    </m:r>
                    <m:r>
                      <a:rPr lang="en-US" altLang="zh-CN" b="1" i="1" smtClean="0">
                        <a:latin typeface="Cambria Math"/>
                      </a:rPr>
                      <m:t>∼</m:t>
                    </m:r>
                    <m:r>
                      <a:rPr lang="en-US" altLang="zh-CN" b="1" i="1" smtClean="0">
                        <a:latin typeface="Cambria Math"/>
                      </a:rPr>
                      <m:t>𝑵</m:t>
                    </m:r>
                    <m:r>
                      <a:rPr lang="en-US" altLang="zh-CN" b="1" i="1" smtClean="0">
                        <a:latin typeface="Cambria Math"/>
                      </a:rPr>
                      <m:t>(</m:t>
                    </m:r>
                    <m:r>
                      <a:rPr lang="en-US" altLang="zh-CN" b="1" i="1" smtClean="0">
                        <a:latin typeface="Cambria Math"/>
                      </a:rPr>
                      <m:t>𝝁</m:t>
                    </m:r>
                    <m:r>
                      <a:rPr lang="en-US" altLang="zh-CN" b="1" i="1" smtClean="0">
                        <a:latin typeface="Cambria Math"/>
                      </a:rPr>
                      <m:t>,</m:t>
                    </m:r>
                    <m:sSup>
                      <m:sSup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𝝈</m:t>
                        </m:r>
                      </m:e>
                      <m:sup>
                        <m:r>
                          <a:rPr lang="en-US" altLang="zh-CN" b="1" i="1" smtClean="0">
                            <a:latin typeface="Cambria Math"/>
                          </a:rPr>
                          <m:t>𝟐</m:t>
                        </m:r>
                      </m:sup>
                    </m:sSup>
                    <m:r>
                      <a:rPr lang="en-US" altLang="zh-CN" b="1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zh-CN" altLang="en-US" dirty="0" smtClean="0"/>
                  <a:t>，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𝒀</m:t>
                    </m:r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r>
                      <a:rPr lang="en-US" altLang="zh-CN" b="1" i="1" smtClean="0">
                        <a:latin typeface="Cambria Math"/>
                      </a:rPr>
                      <m:t>𝒂𝑿</m:t>
                    </m:r>
                    <m:r>
                      <a:rPr lang="en-US" altLang="zh-CN" b="1" i="1" smtClean="0">
                        <a:latin typeface="Cambria Math"/>
                      </a:rPr>
                      <m:t>+</m:t>
                    </m:r>
                    <m:r>
                      <a:rPr lang="en-US" altLang="zh-CN" b="1" i="1" smtClean="0">
                        <a:latin typeface="Cambria Math"/>
                      </a:rPr>
                      <m:t>𝒃</m:t>
                    </m:r>
                    <m:r>
                      <a:rPr lang="en-US" altLang="zh-CN" b="1" i="1" smtClean="0">
                        <a:latin typeface="Cambria Math"/>
                      </a:rPr>
                      <m:t> (</m:t>
                    </m:r>
                    <m:r>
                      <a:rPr lang="en-US" altLang="zh-CN" b="1" i="1" smtClean="0">
                        <a:latin typeface="Cambria Math"/>
                      </a:rPr>
                      <m:t>𝒂</m:t>
                    </m:r>
                    <m:r>
                      <a:rPr lang="en-US" altLang="zh-CN" b="1" i="1" smtClean="0">
                        <a:latin typeface="Cambria Math"/>
                      </a:rPr>
                      <m:t>≠</m:t>
                    </m:r>
                    <m:r>
                      <a:rPr lang="en-US" altLang="zh-CN" b="1" i="1" smtClean="0">
                        <a:latin typeface="Cambria Math"/>
                      </a:rPr>
                      <m:t>𝟎</m:t>
                    </m:r>
                    <m:r>
                      <a:rPr lang="en-US" altLang="zh-CN" b="1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zh-CN" altLang="en-US" dirty="0" smtClean="0"/>
                  <a:t>，则</a:t>
                </a:r>
                <a:endParaRPr lang="en-US" altLang="zh-CN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/>
                        </a:rPr>
                        <m:t>𝒀</m:t>
                      </m:r>
                      <m:r>
                        <a:rPr lang="en-US" altLang="zh-CN" b="1" i="1" smtClean="0">
                          <a:latin typeface="Cambria Math"/>
                        </a:rPr>
                        <m:t>∼</m:t>
                      </m:r>
                      <m:r>
                        <a:rPr lang="en-US" altLang="zh-CN" b="1" i="1" smtClean="0">
                          <a:latin typeface="Cambria Math"/>
                        </a:rPr>
                        <m:t>𝑵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/>
                            </a:rPr>
                            <m:t>𝒂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𝝁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+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𝒃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, </m:t>
                          </m:r>
                          <m:sSup>
                            <m:sSup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1" i="1" smtClean="0">
                                      <a:latin typeface="Cambria Math"/>
                                    </a:rPr>
                                    <m:t>𝒂</m:t>
                                  </m:r>
                                  <m:r>
                                    <a:rPr lang="en-US" altLang="zh-CN" b="1" i="1" smtClean="0">
                                      <a:latin typeface="Cambria Math"/>
                                    </a:rPr>
                                    <m:t>𝝈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𝟐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altLang="zh-CN" dirty="0" smtClean="0"/>
              </a:p>
              <a:p>
                <a:pPr marL="0" indent="0">
                  <a:buNone/>
                </a:pPr>
                <a:r>
                  <a:rPr lang="zh-CN" altLang="en-US" dirty="0" smtClean="0"/>
                  <a:t>证：令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𝒚</m:t>
                    </m:r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r>
                      <a:rPr lang="en-US" altLang="zh-CN" b="1" i="1" smtClean="0">
                        <a:latin typeface="Cambria Math"/>
                      </a:rPr>
                      <m:t>𝒈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𝒙</m:t>
                        </m:r>
                      </m:e>
                    </m:d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r>
                      <a:rPr lang="en-US" altLang="zh-CN" b="1" i="1" smtClean="0">
                        <a:latin typeface="Cambria Math"/>
                      </a:rPr>
                      <m:t>𝒂𝒙</m:t>
                    </m:r>
                    <m:r>
                      <a:rPr lang="en-US" altLang="zh-CN" b="1" i="1" smtClean="0">
                        <a:latin typeface="Cambria Math"/>
                      </a:rPr>
                      <m:t>+</m:t>
                    </m:r>
                    <m:r>
                      <a:rPr lang="en-US" altLang="zh-CN" b="1" i="1" smtClean="0">
                        <a:latin typeface="Cambria Math"/>
                      </a:rPr>
                      <m:t>𝒃</m:t>
                    </m:r>
                    <m:r>
                      <a:rPr lang="zh-CN" altLang="en-US" b="1" i="1" smtClean="0">
                        <a:latin typeface="Cambria Math"/>
                      </a:rPr>
                      <m:t>，</m:t>
                    </m:r>
                  </m:oMath>
                </a14:m>
                <a:r>
                  <a:rPr lang="zh-CN" altLang="en-US" dirty="0" smtClean="0"/>
                  <a:t>则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dirty="0" smtClean="0">
                            <a:latin typeface="Cambria Math"/>
                          </a:rPr>
                          <m:t>𝒈</m:t>
                        </m:r>
                      </m:e>
                      <m:sup>
                        <m:r>
                          <a:rPr lang="en-US" altLang="zh-CN" b="1" i="1" dirty="0" smtClean="0">
                            <a:latin typeface="Cambria Math"/>
                          </a:rPr>
                          <m:t>−</m:t>
                        </m:r>
                        <m:r>
                          <a:rPr lang="en-US" altLang="zh-CN" b="1" i="1" dirty="0" smtClean="0">
                            <a:latin typeface="Cambria Math"/>
                          </a:rPr>
                          <m:t>𝟏</m:t>
                        </m:r>
                      </m:sup>
                    </m:sSup>
                    <m:d>
                      <m:dPr>
                        <m:ctrlP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dirty="0" smtClean="0">
                            <a:latin typeface="Cambria Math"/>
                          </a:rPr>
                          <m:t>𝒚</m:t>
                        </m:r>
                      </m:e>
                    </m:d>
                    <m:r>
                      <a:rPr lang="en-US" altLang="zh-CN" b="1" i="1" dirty="0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1" i="1" dirty="0" smtClean="0">
                            <a:latin typeface="Cambria Math"/>
                          </a:rPr>
                          <m:t>𝒚</m:t>
                        </m:r>
                        <m:r>
                          <a:rPr lang="en-US" altLang="zh-CN" b="1" i="1" dirty="0" smtClean="0">
                            <a:latin typeface="Cambria Math"/>
                          </a:rPr>
                          <m:t>−</m:t>
                        </m:r>
                        <m:r>
                          <a:rPr lang="en-US" altLang="zh-CN" b="1" i="1" dirty="0" smtClean="0">
                            <a:latin typeface="Cambria Math"/>
                          </a:rPr>
                          <m:t>𝒃</m:t>
                        </m:r>
                      </m:num>
                      <m:den>
                        <m:r>
                          <a:rPr lang="en-US" altLang="zh-CN" b="1" i="1" dirty="0" smtClean="0">
                            <a:latin typeface="Cambria Math"/>
                          </a:rPr>
                          <m:t>𝒂</m:t>
                        </m:r>
                      </m:den>
                    </m:f>
                  </m:oMath>
                </a14:m>
                <a:endParaRPr lang="en-US" altLang="zh-CN" dirty="0" smtClean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latin typeface="Cambria Math"/>
                        </a:rPr>
                        <m:t>∴</m:t>
                      </m:r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/>
                            </a:rPr>
                            <m:t>𝒑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/>
                            </a:rPr>
                            <m:t>𝒀</m:t>
                          </m:r>
                        </m:sub>
                      </m:sSub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/>
                            </a:rPr>
                            <m:t>𝒚</m:t>
                          </m:r>
                        </m:e>
                      </m:d>
                      <m:r>
                        <a:rPr lang="en-US" altLang="zh-CN" b="1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/>
                            </a:rPr>
                            <m:t>𝒑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/>
                            </a:rPr>
                            <m:t>𝑿</m:t>
                          </m:r>
                        </m:sub>
                      </m:sSub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𝒈</m:t>
                              </m:r>
                            </m:e>
                            <m:sup>
                              <m:r>
                                <a:rPr lang="en-US" altLang="zh-CN" b="1" i="1" smtClean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𝟏</m:t>
                              </m:r>
                            </m:sup>
                          </m:sSup>
                          <m:d>
                            <m:d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𝒚</m:t>
                              </m:r>
                            </m:e>
                          </m:d>
                        </m:e>
                      </m:d>
                      <m:d>
                        <m:dPr>
                          <m:begChr m:val="|"/>
                          <m:endChr m:val="|"/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CN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b="1" i="1" smtClean="0">
                                          <a:latin typeface="Cambria Math"/>
                                        </a:rPr>
                                        <m:t>𝒈</m:t>
                                      </m:r>
                                    </m:e>
                                    <m:sup>
                                      <m:r>
                                        <a:rPr lang="en-US" altLang="zh-CN" b="1" i="1" smtClean="0">
                                          <a:latin typeface="Cambria Math"/>
                                        </a:rPr>
                                        <m:t>−</m:t>
                                      </m:r>
                                      <m:r>
                                        <a:rPr lang="en-US" altLang="zh-CN" b="1" i="1" smtClean="0">
                                          <a:latin typeface="Cambria Math"/>
                                        </a:rPr>
                                        <m:t>𝟏</m:t>
                                      </m:r>
                                    </m:sup>
                                  </m:sSup>
                                  <m:d>
                                    <m:dPr>
                                      <m:ctrlPr>
                                        <a:rPr lang="en-US" altLang="zh-CN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b="1" i="1" smtClean="0">
                                          <a:latin typeface="Cambria Math"/>
                                        </a:rPr>
                                        <m:t>𝒚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altLang="zh-CN" b="1" i="1" smtClean="0">
                                  <a:latin typeface="Cambria Math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altLang="zh-CN" b="1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1" i="1" smtClean="0">
                              <a:latin typeface="Cambria Math"/>
                            </a:rPr>
                            <m:t>𝟏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𝟐</m:t>
                              </m:r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𝝅</m:t>
                              </m:r>
                            </m:e>
                          </m:rad>
                          <m:r>
                            <a:rPr lang="en-US" altLang="zh-CN" b="1" i="1" smtClean="0">
                              <a:latin typeface="Cambria Math"/>
                            </a:rPr>
                            <m:t>𝝈</m:t>
                          </m:r>
                        </m:den>
                      </m:f>
                      <m:sSup>
                        <m:sSup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 smtClean="0">
                              <a:latin typeface="Cambria Math"/>
                            </a:rPr>
                            <m:t>𝒆</m:t>
                          </m:r>
                        </m:e>
                        <m:sup>
                          <m:r>
                            <a:rPr lang="en-US" altLang="zh-CN" b="1" i="1" smtClean="0">
                              <a:latin typeface="Cambria Math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zh-CN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altLang="zh-CN" b="1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altLang="zh-CN" b="1" i="1" smtClean="0">
                                              <a:latin typeface="Cambria Math"/>
                                            </a:rPr>
                                            <m:t>𝒚</m:t>
                                          </m:r>
                                          <m:r>
                                            <a:rPr lang="en-US" altLang="zh-CN" b="1" i="1" smtClean="0">
                                              <a:latin typeface="Cambria Math"/>
                                            </a:rPr>
                                            <m:t>−</m:t>
                                          </m:r>
                                          <m:r>
                                            <a:rPr lang="en-US" altLang="zh-CN" b="1" i="1" smtClean="0">
                                              <a:latin typeface="Cambria Math"/>
                                            </a:rPr>
                                            <m:t>𝒃</m:t>
                                          </m:r>
                                        </m:num>
                                        <m:den>
                                          <m:r>
                                            <a:rPr lang="en-US" altLang="zh-CN" b="1" i="1" smtClean="0">
                                              <a:latin typeface="Cambria Math"/>
                                            </a:rPr>
                                            <m:t>𝒂</m:t>
                                          </m:r>
                                        </m:den>
                                      </m:f>
                                      <m:r>
                                        <a:rPr lang="en-US" altLang="zh-CN" b="1" i="1" smtClean="0">
                                          <a:latin typeface="Cambria Math"/>
                                        </a:rPr>
                                        <m:t>−</m:t>
                                      </m:r>
                                      <m:r>
                                        <a:rPr lang="en-US" altLang="zh-CN" b="1" i="1" smtClean="0">
                                          <a:latin typeface="Cambria Math"/>
                                        </a:rPr>
                                        <m:t>𝝁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altLang="zh-CN" b="1" i="1" smtClean="0">
                                      <a:latin typeface="Cambria Math"/>
                                    </a:rPr>
                                    <m:t>𝟐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𝟐</m:t>
                              </m:r>
                              <m:sSup>
                                <m:sSupPr>
                                  <m:ctrlP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1" i="1" smtClean="0">
                                      <a:latin typeface="Cambria Math"/>
                                    </a:rPr>
                                    <m:t>𝝈</m:t>
                                  </m:r>
                                </m:e>
                                <m:sup>
                                  <m:r>
                                    <a:rPr lang="en-US" altLang="zh-CN" b="1" i="1" smtClean="0">
                                      <a:latin typeface="Cambria Math"/>
                                    </a:rPr>
                                    <m:t>𝟐</m:t>
                                  </m:r>
                                </m:sup>
                              </m:sSup>
                            </m:den>
                          </m:f>
                        </m:sup>
                      </m:sSup>
                      <m:r>
                        <a:rPr lang="en-US" altLang="zh-CN" b="1" i="1" smtClean="0">
                          <a:latin typeface="Cambria Math"/>
                        </a:rPr>
                        <m:t>⋅</m:t>
                      </m:r>
                      <m:f>
                        <m:f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1" i="1" smtClean="0">
                              <a:latin typeface="Cambria Math"/>
                            </a:rPr>
                            <m:t>𝟏</m:t>
                          </m:r>
                        </m:num>
                        <m:den>
                          <m:r>
                            <a:rPr lang="en-US" altLang="zh-CN" b="1" i="1" smtClean="0">
                              <a:latin typeface="Cambria Math"/>
                            </a:rPr>
                            <m:t>𝒂</m:t>
                          </m:r>
                        </m:den>
                      </m:f>
                      <m:r>
                        <a:rPr lang="en-US" altLang="zh-CN" b="1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1" i="1" smtClean="0">
                              <a:latin typeface="Cambria Math"/>
                            </a:rPr>
                            <m:t>𝟏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𝟐</m:t>
                              </m:r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𝝅</m:t>
                              </m:r>
                            </m:e>
                          </m:rad>
                          <m:d>
                            <m:d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𝒂</m:t>
                              </m:r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𝝈</m:t>
                              </m:r>
                            </m:e>
                          </m:d>
                        </m:den>
                      </m:f>
                      <m:sSup>
                        <m:sSup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 smtClean="0">
                              <a:latin typeface="Cambria Math"/>
                            </a:rPr>
                            <m:t>𝒆</m:t>
                          </m:r>
                        </m:e>
                        <m:sup>
                          <m:r>
                            <a:rPr lang="en-US" altLang="zh-CN" b="1" i="1" smtClean="0">
                              <a:latin typeface="Cambria Math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zh-CN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b="1" i="1" smtClean="0">
                                          <a:latin typeface="Cambria Math"/>
                                        </a:rPr>
                                        <m:t>𝒚</m:t>
                                      </m:r>
                                      <m:r>
                                        <a:rPr lang="en-US" altLang="zh-CN" b="1" i="1" smtClean="0">
                                          <a:latin typeface="Cambria Math"/>
                                        </a:rPr>
                                        <m:t>−</m:t>
                                      </m:r>
                                      <m:d>
                                        <m:dPr>
                                          <m:ctrlPr>
                                            <a:rPr lang="en-US" altLang="zh-CN" b="1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b="1" i="1" smtClean="0">
                                              <a:latin typeface="Cambria Math"/>
                                            </a:rPr>
                                            <m:t>𝒂</m:t>
                                          </m:r>
                                          <m:r>
                                            <a:rPr lang="en-US" altLang="zh-CN" b="1" i="1" smtClean="0">
                                              <a:latin typeface="Cambria Math"/>
                                            </a:rPr>
                                            <m:t>𝝁</m:t>
                                          </m:r>
                                          <m:r>
                                            <a:rPr lang="en-US" altLang="zh-CN" b="1" i="1" smtClean="0">
                                              <a:latin typeface="Cambria Math"/>
                                            </a:rPr>
                                            <m:t>+</m:t>
                                          </m:r>
                                          <m:r>
                                            <a:rPr lang="en-US" altLang="zh-CN" b="1" i="1" smtClean="0">
                                              <a:latin typeface="Cambria Math"/>
                                            </a:rPr>
                                            <m:t>𝒃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  <m:sup>
                                  <m:r>
                                    <a:rPr lang="en-US" altLang="zh-CN" b="1" i="1" smtClean="0">
                                      <a:latin typeface="Cambria Math"/>
                                    </a:rPr>
                                    <m:t>𝟐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𝟐</m:t>
                              </m:r>
                              <m:sSup>
                                <m:sSupPr>
                                  <m:ctrlP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zh-CN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b="1" i="1" smtClean="0">
                                          <a:latin typeface="Cambria Math"/>
                                        </a:rPr>
                                        <m:t>𝒂</m:t>
                                      </m:r>
                                      <m:r>
                                        <a:rPr lang="en-US" altLang="zh-CN" b="1" i="1" smtClean="0">
                                          <a:latin typeface="Cambria Math"/>
                                        </a:rPr>
                                        <m:t>𝝈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altLang="zh-CN" b="1" i="1" smtClean="0">
                                      <a:latin typeface="Cambria Math"/>
                                    </a:rPr>
                                    <m:t>𝟐</m:t>
                                  </m:r>
                                </m:sup>
                              </m:sSup>
                            </m:den>
                          </m:f>
                        </m:sup>
                      </m:sSup>
                    </m:oMath>
                  </m:oMathPara>
                </a14:m>
                <a:endParaRPr lang="en-US" altLang="zh-CN" dirty="0" smtClean="0"/>
              </a:p>
              <a:p>
                <a:pPr marL="0" indent="0">
                  <a:buNone/>
                </a:pPr>
                <a:r>
                  <a:rPr lang="zh-CN" altLang="en-US" dirty="0"/>
                  <a:t>即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</a:rPr>
                      <m:t>𝒀</m:t>
                    </m:r>
                    <m:r>
                      <a:rPr lang="en-US" altLang="zh-CN" i="1">
                        <a:latin typeface="Cambria Math"/>
                      </a:rPr>
                      <m:t>∼</m:t>
                    </m:r>
                    <m:r>
                      <a:rPr lang="en-US" altLang="zh-CN" i="1">
                        <a:latin typeface="Cambria Math"/>
                      </a:rPr>
                      <m:t>𝑵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/>
                          </a:rPr>
                          <m:t>𝒂</m:t>
                        </m:r>
                        <m:r>
                          <a:rPr lang="en-US" altLang="zh-CN" i="1">
                            <a:latin typeface="Cambria Math"/>
                          </a:rPr>
                          <m:t>𝝁</m:t>
                        </m:r>
                        <m:r>
                          <a:rPr lang="en-US" altLang="zh-CN" i="1">
                            <a:latin typeface="Cambria Math"/>
                          </a:rPr>
                          <m:t>+</m:t>
                        </m:r>
                        <m:r>
                          <a:rPr lang="en-US" altLang="zh-CN" i="1">
                            <a:latin typeface="Cambria Math"/>
                          </a:rPr>
                          <m:t>𝒃</m:t>
                        </m:r>
                        <m:r>
                          <a:rPr lang="en-US" altLang="zh-CN" i="1">
                            <a:latin typeface="Cambria Math"/>
                          </a:rPr>
                          <m:t>, </m:t>
                        </m:r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>
                                    <a:latin typeface="Cambria Math"/>
                                  </a:rPr>
                                  <m:t>𝒂</m:t>
                                </m:r>
                                <m:r>
                                  <a:rPr lang="en-US" altLang="zh-CN" i="1">
                                    <a:latin typeface="Cambria Math"/>
                                  </a:rPr>
                                  <m:t>𝝈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CN" i="1">
                                <a:latin typeface="Cambria Math"/>
                              </a:rPr>
                              <m:t>𝟐</m:t>
                            </m:r>
                          </m:sup>
                        </m:sSup>
                      </m:e>
                    </m:d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1272" t="-2307" b="-9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31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94683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一般正态分布的概率计算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612648" y="3068960"/>
                <a:ext cx="8153400" cy="3027040"/>
              </a:xfrm>
            </p:spPr>
            <p:txBody>
              <a:bodyPr/>
              <a:lstStyle/>
              <a:p>
                <a:r>
                  <a:rPr lang="zh-CN" altLang="en-US" dirty="0" smtClean="0"/>
                  <a:t>设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𝑿</m:t>
                    </m:r>
                    <m:r>
                      <a:rPr lang="en-US" altLang="zh-CN" b="1" i="1" smtClean="0">
                        <a:latin typeface="Cambria Math"/>
                      </a:rPr>
                      <m:t>∼</m:t>
                    </m:r>
                    <m:r>
                      <a:rPr lang="en-US" altLang="zh-CN" b="1" i="1" smtClean="0">
                        <a:latin typeface="Cambria Math"/>
                      </a:rPr>
                      <m:t>𝑵</m:t>
                    </m:r>
                    <m:r>
                      <a:rPr lang="en-US" altLang="zh-CN" b="1" i="1" smtClean="0">
                        <a:latin typeface="Cambria Math"/>
                      </a:rPr>
                      <m:t>(</m:t>
                    </m:r>
                    <m:r>
                      <a:rPr lang="en-US" altLang="zh-CN" b="1" i="1" smtClean="0">
                        <a:latin typeface="Cambria Math"/>
                      </a:rPr>
                      <m:t>𝝁</m:t>
                    </m:r>
                    <m:r>
                      <a:rPr lang="en-US" altLang="zh-CN" b="1" i="1" smtClean="0">
                        <a:latin typeface="Cambria Math"/>
                      </a:rPr>
                      <m:t>,</m:t>
                    </m:r>
                    <m:sSup>
                      <m:sSup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𝝈</m:t>
                        </m:r>
                      </m:e>
                      <m:sup>
                        <m:r>
                          <a:rPr lang="en-US" altLang="zh-CN" b="1" i="1" smtClean="0">
                            <a:latin typeface="Cambria Math"/>
                          </a:rPr>
                          <m:t>𝟐</m:t>
                        </m:r>
                      </m:sup>
                    </m:sSup>
                    <m:r>
                      <a:rPr lang="en-US" altLang="zh-CN" b="1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altLang="zh-CN" dirty="0" smtClean="0"/>
                  <a:t>,</a:t>
                </a:r>
                <a:r>
                  <a:rPr lang="zh-CN" altLang="en-US" dirty="0" smtClean="0"/>
                  <a:t>则</a:t>
                </a:r>
                <a:endParaRPr lang="en-US" altLang="zh-CN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/>
                        </a:rPr>
                        <m:t>𝑷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/>
                            </a:rPr>
                            <m:t>𝒂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≤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𝑿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≤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𝒃</m:t>
                          </m:r>
                        </m:e>
                      </m:d>
                      <m:r>
                        <a:rPr lang="en-US" altLang="zh-CN" b="1" i="1" smtClean="0">
                          <a:latin typeface="Cambria Math"/>
                        </a:rPr>
                        <m:t>=</m:t>
                      </m:r>
                      <m:r>
                        <a:rPr lang="en-US" altLang="zh-CN" b="1" i="1" smtClean="0">
                          <a:latin typeface="Cambria Math"/>
                        </a:rPr>
                        <m:t>𝑷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𝒂</m:t>
                              </m:r>
                              <m:r>
                                <a:rPr lang="en-US" altLang="zh-CN" b="1" i="1" smtClean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𝝁</m:t>
                              </m:r>
                            </m:num>
                            <m:den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𝝈</m:t>
                              </m:r>
                            </m:den>
                          </m:f>
                          <m:r>
                            <a:rPr lang="en-US" altLang="zh-CN" b="1" i="1" smtClean="0">
                              <a:latin typeface="Cambria Math"/>
                            </a:rPr>
                            <m:t>≤</m:t>
                          </m:r>
                          <m:f>
                            <m:f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𝑿</m:t>
                              </m:r>
                              <m:r>
                                <a:rPr lang="en-US" altLang="zh-CN" b="1" i="1" smtClean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𝝁</m:t>
                              </m:r>
                            </m:num>
                            <m:den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𝝈</m:t>
                              </m:r>
                            </m:den>
                          </m:f>
                          <m:r>
                            <a:rPr lang="en-US" altLang="zh-CN" b="1" i="1" smtClean="0">
                              <a:latin typeface="Cambria Math"/>
                            </a:rPr>
                            <m:t>≤</m:t>
                          </m:r>
                          <m:f>
                            <m:f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𝒃</m:t>
                              </m:r>
                              <m:r>
                                <a:rPr lang="en-US" altLang="zh-CN" b="1" i="1" smtClean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𝝁</m:t>
                              </m:r>
                            </m:num>
                            <m:den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𝝈</m:t>
                              </m:r>
                            </m:den>
                          </m:f>
                        </m:e>
                      </m:d>
                      <m:r>
                        <a:rPr lang="en-US" altLang="zh-CN" b="1" i="1" smtClean="0">
                          <a:latin typeface="Cambria Math"/>
                        </a:rPr>
                        <m:t>=</m:t>
                      </m:r>
                      <m:r>
                        <a:rPr lang="en-US" altLang="zh-CN" b="1" i="0" smtClean="0">
                          <a:latin typeface="Cambria Math"/>
                        </a:rPr>
                        <m:t>𝚽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1" i="0" smtClean="0">
                                  <a:latin typeface="Cambria Math"/>
                                </a:rPr>
                                <m:t>𝐛</m:t>
                              </m:r>
                              <m:r>
                                <a:rPr lang="en-US" altLang="zh-CN" b="1" i="0" smtClean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𝝁</m:t>
                              </m:r>
                            </m:num>
                            <m:den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𝝈</m:t>
                              </m:r>
                            </m:den>
                          </m:f>
                        </m:e>
                      </m:d>
                      <m:r>
                        <a:rPr lang="en-US" altLang="zh-CN" b="1" i="1" smtClean="0">
                          <a:latin typeface="Cambria Math"/>
                        </a:rPr>
                        <m:t>−</m:t>
                      </m:r>
                      <m:r>
                        <a:rPr lang="en-US" altLang="zh-CN" b="1" i="0" smtClean="0">
                          <a:latin typeface="Cambria Math"/>
                        </a:rPr>
                        <m:t>𝚽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i="1">
                                  <a:latin typeface="Cambria Math"/>
                                </a:rPr>
                                <m:t>𝒂</m:t>
                              </m:r>
                              <m:r>
                                <a:rPr lang="en-US" altLang="zh-CN" b="1" i="0" smtClean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𝝁</m:t>
                              </m:r>
                            </m:num>
                            <m:den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𝝈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612648" y="3068960"/>
                <a:ext cx="8153400" cy="3027040"/>
              </a:xfrm>
              <a:blipFill>
                <a:blip r:embed="rId2"/>
                <a:stretch>
                  <a:fillRect l="-449" t="-30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32</a:t>
            </a:fld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1907704" y="1628800"/>
                <a:ext cx="5328592" cy="993413"/>
              </a:xfrm>
              <a:prstGeom prst="rect">
                <a:avLst/>
              </a:prstGeom>
              <a:noFill/>
              <a:ln w="19050">
                <a:solidFill>
                  <a:srgbClr val="7030A0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zh-CN" altLang="en-US" sz="2400" b="1" dirty="0" smtClean="0">
                    <a:solidFill>
                      <a:srgbClr val="7030A0"/>
                    </a:solidFill>
                  </a:rPr>
                  <a:t>推论</a:t>
                </a:r>
                <a:endParaRPr lang="en-US" altLang="zh-CN" sz="2400" b="1" dirty="0" smtClean="0">
                  <a:solidFill>
                    <a:srgbClr val="7030A0"/>
                  </a:solidFill>
                </a:endParaRPr>
              </a:p>
              <a:p>
                <a:r>
                  <a:rPr lang="zh-CN" altLang="en-US" sz="2400" dirty="0" smtClean="0">
                    <a:solidFill>
                      <a:srgbClr val="FF0000"/>
                    </a:solidFill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/>
                      </a:rPr>
                      <m:t>𝑿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/>
                      </a:rPr>
                      <m:t>∼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/>
                      </a:rPr>
                      <m:t>𝑵</m:t>
                    </m:r>
                    <m:d>
                      <m:dPr>
                        <m:ctrlP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𝝁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𝝈</m:t>
                            </m:r>
                          </m:e>
                          <m:sup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𝟐</m:t>
                            </m:r>
                          </m:sup>
                        </m:sSup>
                      </m:e>
                    </m:d>
                  </m:oMath>
                </a14:m>
                <a:r>
                  <a:rPr lang="zh-CN" altLang="en-US" sz="2400" dirty="0">
                    <a:solidFill>
                      <a:srgbClr val="FF0000"/>
                    </a:solidFill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/>
                      </a:rPr>
                      <m:t>𝒀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𝑿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𝝁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𝝈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/>
                      </a:rPr>
                      <m:t>∼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/>
                      </a:rPr>
                      <m:t>𝑵</m:t>
                    </m:r>
                    <m:d>
                      <m:dPr>
                        <m:ctrlP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𝟎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,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𝟏</m:t>
                        </m:r>
                      </m:e>
                    </m:d>
                  </m:oMath>
                </a14:m>
                <a:endParaRPr lang="en-US" altLang="zh-CN" sz="2400" b="1" dirty="0" smtClean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7704" y="1628800"/>
                <a:ext cx="5328592" cy="993413"/>
              </a:xfrm>
              <a:prstGeom prst="rect">
                <a:avLst/>
              </a:prstGeom>
              <a:blipFill rotWithShape="1">
                <a:blip r:embed="rId3"/>
                <a:stretch>
                  <a:fillRect l="-1710" t="-3614" b="-4819"/>
                </a:stretch>
              </a:blipFill>
              <a:ln w="19050"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19868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标题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𝟑</m:t>
                    </m:r>
                    <m:r>
                      <a:rPr lang="en-US" altLang="zh-CN" b="1" i="1" smtClean="0">
                        <a:latin typeface="Cambria Math"/>
                      </a:rPr>
                      <m:t>𝝈</m:t>
                    </m:r>
                  </m:oMath>
                </a14:m>
                <a:r>
                  <a:rPr lang="zh-CN" altLang="en-US" dirty="0" smtClean="0"/>
                  <a:t>原理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2" name="标题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 b="-197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 fontScale="92500"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𝑿</m:t>
                    </m:r>
                    <m:r>
                      <a:rPr lang="en-US" altLang="zh-CN" b="1" i="1" smtClean="0">
                        <a:latin typeface="Cambria Math"/>
                      </a:rPr>
                      <m:t>∼</m:t>
                    </m:r>
                    <m:r>
                      <a:rPr lang="en-US" altLang="zh-CN" b="1" i="1" smtClean="0">
                        <a:latin typeface="Cambria Math"/>
                      </a:rPr>
                      <m:t>𝑵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𝝁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1" i="1" smtClean="0">
                                <a:latin typeface="Cambria Math"/>
                              </a:rPr>
                              <m:t>𝝈</m:t>
                            </m:r>
                          </m:e>
                          <m:sup>
                            <m:r>
                              <a:rPr lang="en-US" altLang="zh-CN" b="1" i="1" smtClean="0">
                                <a:latin typeface="Cambria Math"/>
                              </a:rPr>
                              <m:t>𝟐</m:t>
                            </m:r>
                          </m:sup>
                        </m:sSup>
                      </m:e>
                    </m:d>
                  </m:oMath>
                </a14:m>
                <a:r>
                  <a:rPr lang="zh-CN" altLang="en-US" dirty="0" smtClean="0"/>
                  <a:t>时</a:t>
                </a:r>
                <a:endParaRPr lang="en-US" altLang="zh-CN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/>
                        </a:rPr>
                        <m:t>𝑷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𝑿</m:t>
                              </m:r>
                              <m:r>
                                <a:rPr lang="en-US" altLang="zh-CN" b="1" i="1" smtClean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𝝁</m:t>
                              </m:r>
                            </m:e>
                          </m:d>
                          <m:r>
                            <a:rPr lang="en-US" altLang="zh-CN" b="1" i="1" smtClean="0">
                              <a:latin typeface="Cambria Math"/>
                            </a:rPr>
                            <m:t>≤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𝝈</m:t>
                          </m:r>
                        </m:e>
                      </m:d>
                      <m:r>
                        <a:rPr lang="en-US" altLang="zh-CN" b="1" i="1" smtClean="0">
                          <a:latin typeface="Cambria Math"/>
                        </a:rPr>
                        <m:t>=</m:t>
                      </m:r>
                      <m:r>
                        <a:rPr lang="en-US" altLang="zh-CN" b="1" i="0" smtClean="0">
                          <a:latin typeface="Cambria Math"/>
                        </a:rPr>
                        <m:t>𝚽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0" smtClean="0">
                              <a:latin typeface="Cambria Math"/>
                            </a:rPr>
                            <m:t>𝟏</m:t>
                          </m:r>
                        </m:e>
                      </m:d>
                      <m:r>
                        <a:rPr lang="en-US" altLang="zh-CN" b="1" i="0" smtClean="0">
                          <a:latin typeface="Cambria Math"/>
                        </a:rPr>
                        <m:t>−</m:t>
                      </m:r>
                      <m:r>
                        <a:rPr lang="en-US" altLang="zh-CN" b="1" i="0" smtClean="0">
                          <a:latin typeface="Cambria Math"/>
                        </a:rPr>
                        <m:t>𝚽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0" smtClean="0">
                              <a:latin typeface="Cambria Math"/>
                            </a:rPr>
                            <m:t>−</m:t>
                          </m:r>
                          <m:r>
                            <a:rPr lang="en-US" altLang="zh-CN" b="1" i="0" smtClean="0">
                              <a:latin typeface="Cambria Math"/>
                            </a:rPr>
                            <m:t>𝟏</m:t>
                          </m:r>
                        </m:e>
                      </m:d>
                      <m:r>
                        <a:rPr lang="en-US" altLang="zh-CN" b="1" i="0" smtClean="0">
                          <a:latin typeface="Cambria Math"/>
                        </a:rPr>
                        <m:t>=</m:t>
                      </m:r>
                      <m:r>
                        <a:rPr lang="en-US" altLang="zh-CN" b="1" i="0" smtClean="0">
                          <a:latin typeface="Cambria Math"/>
                        </a:rPr>
                        <m:t>𝟐</m:t>
                      </m:r>
                      <m:r>
                        <a:rPr lang="en-US" altLang="zh-CN" b="1" i="0" smtClean="0">
                          <a:latin typeface="Cambria Math"/>
                        </a:rPr>
                        <m:t>𝚽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0" smtClean="0">
                              <a:latin typeface="Cambria Math"/>
                            </a:rPr>
                            <m:t>𝟏</m:t>
                          </m:r>
                        </m:e>
                      </m:d>
                      <m:r>
                        <a:rPr lang="en-US" altLang="zh-CN" b="1" i="0" smtClean="0">
                          <a:latin typeface="Cambria Math"/>
                        </a:rPr>
                        <m:t>−</m:t>
                      </m:r>
                      <m:r>
                        <a:rPr lang="en-US" altLang="zh-CN" b="1" i="0" smtClean="0">
                          <a:latin typeface="Cambria Math"/>
                        </a:rPr>
                        <m:t>𝟏</m:t>
                      </m:r>
                      <m:r>
                        <a:rPr lang="en-US" altLang="zh-CN" b="1" i="0" smtClean="0">
                          <a:latin typeface="Cambria Math"/>
                        </a:rPr>
                        <m:t>=</m:t>
                      </m:r>
                      <m:r>
                        <a:rPr lang="en-US" altLang="zh-CN" b="1" i="0" smtClean="0">
                          <a:latin typeface="Cambria Math"/>
                        </a:rPr>
                        <m:t>𝟎</m:t>
                      </m:r>
                      <m:r>
                        <a:rPr lang="en-US" altLang="zh-CN" b="1" i="0" smtClean="0">
                          <a:latin typeface="Cambria Math"/>
                        </a:rPr>
                        <m:t>.</m:t>
                      </m:r>
                      <m:r>
                        <a:rPr lang="en-US" altLang="zh-CN" b="1" i="0" smtClean="0">
                          <a:latin typeface="Cambria Math"/>
                        </a:rPr>
                        <m:t>𝟔𝟖𝟐𝟔</m:t>
                      </m:r>
                    </m:oMath>
                  </m:oMathPara>
                </a14:m>
                <a:endParaRPr lang="en-US" altLang="zh-CN" dirty="0" smtClean="0"/>
              </a:p>
              <a:p>
                <a:pPr marL="0" indent="0">
                  <a:buNone/>
                </a:pPr>
                <a:r>
                  <a:rPr lang="zh-CN" altLang="en-US" dirty="0" smtClean="0"/>
                  <a:t>同样可求，</a:t>
                </a:r>
                <a:endParaRPr lang="en-US" altLang="zh-CN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/>
                        </a:rPr>
                        <m:t>𝑷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𝑿</m:t>
                              </m:r>
                              <m:r>
                                <a:rPr lang="en-US" altLang="zh-CN" b="1" i="1" smtClean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𝝁</m:t>
                              </m:r>
                            </m:e>
                          </m:d>
                          <m:r>
                            <a:rPr lang="en-US" altLang="zh-CN" b="1" i="1" smtClean="0">
                              <a:latin typeface="Cambria Math"/>
                            </a:rPr>
                            <m:t>≤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𝟐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𝝈</m:t>
                          </m:r>
                        </m:e>
                      </m:d>
                      <m:r>
                        <a:rPr lang="en-US" altLang="zh-CN" b="1" i="1" smtClean="0">
                          <a:latin typeface="Cambria Math"/>
                        </a:rPr>
                        <m:t>=</m:t>
                      </m:r>
                      <m:r>
                        <a:rPr lang="en-US" altLang="zh-CN" b="1" i="1" smtClean="0">
                          <a:latin typeface="Cambria Math"/>
                        </a:rPr>
                        <m:t>𝟎</m:t>
                      </m:r>
                      <m:r>
                        <a:rPr lang="en-US" altLang="zh-CN" b="1" i="1" smtClean="0">
                          <a:latin typeface="Cambria Math"/>
                        </a:rPr>
                        <m:t>.</m:t>
                      </m:r>
                      <m:r>
                        <a:rPr lang="en-US" altLang="zh-CN" b="1" i="1" smtClean="0">
                          <a:latin typeface="Cambria Math"/>
                        </a:rPr>
                        <m:t>𝟗𝟓𝟒𝟒</m:t>
                      </m:r>
                      <m:r>
                        <a:rPr lang="en-US" altLang="zh-CN" b="1" i="1" smtClean="0">
                          <a:latin typeface="Cambria Math"/>
                        </a:rPr>
                        <m:t>,</m:t>
                      </m:r>
                    </m:oMath>
                  </m:oMathPara>
                </a14:m>
                <a:endParaRPr lang="en-US" altLang="zh-CN" b="1" i="1" dirty="0" smtClean="0">
                  <a:latin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/>
                        </a:rPr>
                        <m:t>𝑷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𝑿</m:t>
                              </m:r>
                              <m:r>
                                <a:rPr lang="en-US" altLang="zh-CN" b="1" i="1" smtClean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𝝁</m:t>
                              </m:r>
                            </m:e>
                          </m:d>
                          <m:r>
                            <a:rPr lang="en-US" altLang="zh-CN" b="1" i="1" smtClean="0">
                              <a:latin typeface="Cambria Math"/>
                            </a:rPr>
                            <m:t>≤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𝟑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𝝈</m:t>
                          </m:r>
                        </m:e>
                      </m:d>
                      <m:r>
                        <a:rPr lang="en-US" altLang="zh-CN" b="1" i="1" smtClean="0">
                          <a:latin typeface="Cambria Math"/>
                        </a:rPr>
                        <m:t>=</m:t>
                      </m:r>
                      <m:r>
                        <a:rPr lang="en-US" altLang="zh-CN" b="1" i="1" smtClean="0">
                          <a:latin typeface="Cambria Math"/>
                        </a:rPr>
                        <m:t>𝟎</m:t>
                      </m:r>
                      <m:r>
                        <a:rPr lang="en-US" altLang="zh-CN" b="1" i="1" smtClean="0">
                          <a:latin typeface="Cambria Math"/>
                        </a:rPr>
                        <m:t>.</m:t>
                      </m:r>
                      <m:r>
                        <a:rPr lang="en-US" altLang="zh-CN" b="1" i="1" smtClean="0">
                          <a:latin typeface="Cambria Math"/>
                        </a:rPr>
                        <m:t>𝟗𝟗𝟕𝟒</m:t>
                      </m:r>
                    </m:oMath>
                  </m:oMathPara>
                </a14:m>
                <a:endParaRPr lang="en-US" altLang="zh-CN" dirty="0" smtClean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𝑿</m:t>
                    </m:r>
                  </m:oMath>
                </a14:m>
                <a:r>
                  <a:rPr lang="zh-CN" altLang="en-US" dirty="0" smtClean="0"/>
                  <a:t>的取值几乎全部集中在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[</m:t>
                    </m:r>
                    <m:r>
                      <a:rPr lang="en-US" altLang="zh-CN" b="1" i="1" smtClean="0">
                        <a:latin typeface="Cambria Math"/>
                      </a:rPr>
                      <m:t>𝝁</m:t>
                    </m:r>
                    <m:r>
                      <a:rPr lang="en-US" altLang="zh-CN" b="1" i="1" smtClean="0">
                        <a:latin typeface="Cambria Math"/>
                      </a:rPr>
                      <m:t>−</m:t>
                    </m:r>
                    <m:r>
                      <a:rPr lang="en-US" altLang="zh-CN" b="1" i="1" smtClean="0">
                        <a:latin typeface="Cambria Math"/>
                      </a:rPr>
                      <m:t>𝟑</m:t>
                    </m:r>
                    <m:r>
                      <a:rPr lang="en-US" altLang="zh-CN" b="1" i="1" smtClean="0">
                        <a:latin typeface="Cambria Math"/>
                      </a:rPr>
                      <m:t>𝝈</m:t>
                    </m:r>
                    <m:r>
                      <a:rPr lang="en-US" altLang="zh-CN" b="1" i="1" smtClean="0">
                        <a:latin typeface="Cambria Math"/>
                      </a:rPr>
                      <m:t>,</m:t>
                    </m:r>
                    <m:r>
                      <a:rPr lang="en-US" altLang="zh-CN" b="1" i="1" smtClean="0">
                        <a:latin typeface="Cambria Math"/>
                      </a:rPr>
                      <m:t>𝝁</m:t>
                    </m:r>
                    <m:r>
                      <a:rPr lang="en-US" altLang="zh-CN" b="1" i="1" smtClean="0">
                        <a:latin typeface="Cambria Math"/>
                      </a:rPr>
                      <m:t>+</m:t>
                    </m:r>
                    <m:r>
                      <a:rPr lang="en-US" altLang="zh-CN" b="1" i="1" smtClean="0">
                        <a:latin typeface="Cambria Math"/>
                      </a:rPr>
                      <m:t>𝟑</m:t>
                    </m:r>
                    <m:r>
                      <a:rPr lang="en-US" altLang="zh-CN" b="1" i="1" smtClean="0">
                        <a:latin typeface="Cambria Math"/>
                      </a:rPr>
                      <m:t>𝝈</m:t>
                    </m:r>
                    <m:r>
                      <a:rPr lang="en-US" altLang="zh-CN" b="1" i="1" smtClean="0">
                        <a:latin typeface="Cambria Math"/>
                      </a:rPr>
                      <m:t>]</m:t>
                    </m:r>
                  </m:oMath>
                </a14:m>
                <a:r>
                  <a:rPr lang="zh-CN" altLang="en-US" dirty="0" smtClean="0"/>
                  <a:t>区间内，超出这个范围的可能性小于</a:t>
                </a:r>
                <a:r>
                  <a:rPr lang="en-US" altLang="zh-CN" dirty="0" smtClean="0"/>
                  <a:t>0.3%</a:t>
                </a:r>
                <a:r>
                  <a:rPr lang="en-US" altLang="zh-CN" dirty="0"/>
                  <a:t>.</a:t>
                </a:r>
                <a:endParaRPr lang="en-US" altLang="zh-CN" dirty="0" smtClean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3"/>
                <a:stretch>
                  <a:fillRect l="-1421" t="-271" r="-1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33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39920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标题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标准</a:t>
                </a:r>
                <a:r>
                  <a:rPr lang="zh-CN" altLang="en-US" dirty="0" smtClean="0"/>
                  <a:t>正态分布的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</a:rPr>
                      <m:t>𝟑</m:t>
                    </m:r>
                    <m:r>
                      <a:rPr lang="en-US" altLang="zh-CN" i="1">
                        <a:latin typeface="Cambria Math"/>
                      </a:rPr>
                      <m:t>𝝈</m:t>
                    </m:r>
                  </m:oMath>
                </a14:m>
                <a:r>
                  <a:rPr lang="zh-CN" altLang="en-US" dirty="0"/>
                  <a:t>原理</a:t>
                </a:r>
              </a:p>
            </p:txBody>
          </p:sp>
        </mc:Choice>
        <mc:Fallback xmlns="">
          <p:sp>
            <p:nvSpPr>
              <p:cNvPr id="2" name="标题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 l="-3067" b="-197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34</a:t>
            </a:fld>
            <a:endParaRPr lang="zh-CN" altLang="en-US" dirty="0"/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1700808"/>
            <a:ext cx="6529040" cy="4536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43197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3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独立正态分布随机变量的和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设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𝑿</m:t>
                    </m:r>
                    <m:r>
                      <a:rPr lang="en-US" altLang="zh-CN" b="1" i="1" smtClean="0">
                        <a:latin typeface="Cambria Math"/>
                      </a:rPr>
                      <m:t>∼</m:t>
                    </m:r>
                    <m:r>
                      <a:rPr lang="en-US" altLang="zh-CN" b="1" i="1" smtClean="0">
                        <a:latin typeface="Cambria Math"/>
                      </a:rPr>
                      <m:t>𝑵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/>
                              </a:rPr>
                              <m:t>𝝁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b="1" i="1" smtClean="0">
                            <a:latin typeface="Cambria Math"/>
                          </a:rPr>
                          <m:t>,</m:t>
                        </m:r>
                        <m:sSubSup>
                          <m:sSubSup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1" i="1" smtClean="0">
                                <a:latin typeface="Cambria Math"/>
                              </a:rPr>
                              <m:t>𝝈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/>
                              </a:rPr>
                              <m:t>𝟏</m:t>
                            </m:r>
                          </m:sub>
                          <m:sup>
                            <m:r>
                              <a:rPr lang="en-US" altLang="zh-CN" b="1" i="1" smtClean="0">
                                <a:latin typeface="Cambria Math"/>
                              </a:rPr>
                              <m:t>𝟐</m:t>
                            </m:r>
                          </m:sup>
                        </m:sSubSup>
                      </m:e>
                    </m:d>
                    <m:r>
                      <a:rPr lang="en-US" altLang="zh-CN" b="1" i="1" smtClean="0">
                        <a:latin typeface="Cambria Math"/>
                      </a:rPr>
                      <m:t>, </m:t>
                    </m:r>
                    <m:r>
                      <a:rPr lang="en-US" altLang="zh-CN" b="1" i="1" smtClean="0">
                        <a:latin typeface="Cambria Math"/>
                      </a:rPr>
                      <m:t>𝒀</m:t>
                    </m:r>
                    <m:r>
                      <a:rPr lang="en-US" altLang="zh-CN" b="1" i="1" smtClean="0">
                        <a:latin typeface="Cambria Math"/>
                      </a:rPr>
                      <m:t>∼</m:t>
                    </m:r>
                    <m:r>
                      <a:rPr lang="en-US" altLang="zh-CN" b="1" i="1" smtClean="0">
                        <a:latin typeface="Cambria Math"/>
                      </a:rPr>
                      <m:t>𝑵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/>
                              </a:rPr>
                              <m:t>𝝁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b="1" i="1" smtClean="0">
                            <a:latin typeface="Cambria Math"/>
                          </a:rPr>
                          <m:t>,</m:t>
                        </m:r>
                        <m:sSubSup>
                          <m:sSubSup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1" i="1" smtClean="0">
                                <a:latin typeface="Cambria Math"/>
                              </a:rPr>
                              <m:t>𝝈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/>
                              </a:rPr>
                              <m:t>𝟐</m:t>
                            </m:r>
                          </m:sub>
                          <m:sup>
                            <m:r>
                              <a:rPr lang="en-US" altLang="zh-CN" b="1" i="1" smtClean="0">
                                <a:latin typeface="Cambria Math"/>
                              </a:rPr>
                              <m:t>𝟐</m:t>
                            </m:r>
                          </m:sup>
                        </m:sSubSup>
                      </m:e>
                    </m:d>
                  </m:oMath>
                </a14:m>
                <a:r>
                  <a:rPr lang="en-US" altLang="zh-CN" dirty="0" smtClean="0"/>
                  <a:t>,</a:t>
                </a:r>
                <a:r>
                  <a:rPr lang="zh-CN" altLang="en-US" dirty="0" smtClean="0"/>
                  <a:t>且两者独立，</a:t>
                </a:r>
                <a:r>
                  <a:rPr lang="zh-CN" altLang="en-US" dirty="0"/>
                  <a:t>则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𝒁</m:t>
                    </m:r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r>
                      <a:rPr lang="en-US" altLang="zh-CN" b="1" i="1" smtClean="0">
                        <a:latin typeface="Cambria Math"/>
                      </a:rPr>
                      <m:t>𝑿</m:t>
                    </m:r>
                    <m:r>
                      <a:rPr lang="en-US" altLang="zh-CN" b="1" i="1" smtClean="0">
                        <a:latin typeface="Cambria Math"/>
                      </a:rPr>
                      <m:t>+</m:t>
                    </m:r>
                    <m:r>
                      <a:rPr lang="en-US" altLang="zh-CN" b="1" i="1" smtClean="0">
                        <a:latin typeface="Cambria Math"/>
                      </a:rPr>
                      <m:t>𝒀</m:t>
                    </m:r>
                    <m:r>
                      <a:rPr lang="en-US" altLang="zh-CN" b="1" i="1" smtClean="0">
                        <a:latin typeface="Cambria Math"/>
                      </a:rPr>
                      <m:t>∼</m:t>
                    </m:r>
                    <m:r>
                      <a:rPr lang="en-US" altLang="zh-CN" b="1" i="1" smtClean="0">
                        <a:latin typeface="Cambria Math"/>
                      </a:rPr>
                      <m:t>𝑵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/>
                              </a:rPr>
                              <m:t>𝝁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b="1" i="1" smtClean="0">
                            <a:latin typeface="Cambria Math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/>
                              </a:rPr>
                              <m:t>𝝁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b="1" i="1" smtClean="0">
                            <a:latin typeface="Cambria Math"/>
                          </a:rPr>
                          <m:t>,</m:t>
                        </m:r>
                        <m:sSubSup>
                          <m:sSubSup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1" i="1" smtClean="0">
                                <a:latin typeface="Cambria Math"/>
                              </a:rPr>
                              <m:t>𝝈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/>
                              </a:rPr>
                              <m:t>𝟏</m:t>
                            </m:r>
                          </m:sub>
                          <m:sup>
                            <m:r>
                              <a:rPr lang="en-US" altLang="zh-CN" b="1" i="1" smtClean="0">
                                <a:latin typeface="Cambria Math"/>
                              </a:rPr>
                              <m:t>𝟐</m:t>
                            </m:r>
                          </m:sup>
                        </m:sSubSup>
                        <m:r>
                          <a:rPr lang="en-US" altLang="zh-CN" b="1" i="1" smtClean="0">
                            <a:latin typeface="Cambria Math"/>
                          </a:rPr>
                          <m:t>+</m:t>
                        </m:r>
                        <m:sSubSup>
                          <m:sSubSup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1" i="1" smtClean="0">
                                <a:latin typeface="Cambria Math"/>
                              </a:rPr>
                              <m:t>𝝈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/>
                              </a:rPr>
                              <m:t>𝟐</m:t>
                            </m:r>
                          </m:sub>
                          <m:sup>
                            <m:r>
                              <a:rPr lang="en-US" altLang="zh-CN" b="1" i="1" smtClean="0">
                                <a:latin typeface="Cambria Math"/>
                              </a:rPr>
                              <m:t>𝟐</m:t>
                            </m:r>
                          </m:sup>
                        </m:sSubSup>
                      </m:e>
                    </m:d>
                  </m:oMath>
                </a14:m>
                <a:endParaRPr lang="en-US" altLang="zh-CN" dirty="0" smtClean="0"/>
              </a:p>
              <a:p>
                <a:pPr marL="0" indent="0">
                  <a:buNone/>
                </a:pPr>
                <a:r>
                  <a:rPr lang="zh-CN" altLang="en-US" dirty="0" smtClean="0"/>
                  <a:t>证明：利用卷积公式</a:t>
                </a:r>
                <a:r>
                  <a:rPr lang="zh-CN" altLang="en-US" sz="1600" dirty="0" smtClean="0"/>
                  <a:t>（</a:t>
                </a:r>
                <a:r>
                  <a:rPr lang="en-US" altLang="zh-CN" sz="1600" dirty="0"/>
                  <a:t>https://en.wikipedia.org/wiki/Sum_of_normally_distributed_random_variables</a:t>
                </a:r>
                <a:r>
                  <a:rPr lang="zh-CN" altLang="en-US" sz="1600" dirty="0" smtClean="0"/>
                  <a:t>）</a:t>
                </a:r>
                <a:endParaRPr lang="en-US" altLang="zh-CN" sz="1600" dirty="0" smtClean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 smtClean="0"/>
              </a:p>
              <a:p>
                <a:pPr marL="0" indent="0">
                  <a:buNone/>
                </a:pPr>
                <a:endParaRPr lang="en-US" altLang="zh-CN" dirty="0" smtClean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1645" t="-1357" r="-12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35</a:t>
            </a:fld>
            <a:endParaRPr lang="zh-CN" altLang="en-US" dirty="0"/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3573015"/>
            <a:ext cx="4608512" cy="31325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80531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4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中性">
  <a:themeElements>
    <a:clrScheme name="中性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中性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中性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11114</TotalTime>
  <Words>654</Words>
  <Application>Microsoft Office PowerPoint</Application>
  <PresentationFormat>全屏显示(4:3)</PresentationFormat>
  <Paragraphs>251</Paragraphs>
  <Slides>35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35</vt:i4>
      </vt:variant>
    </vt:vector>
  </HeadingPairs>
  <TitlesOfParts>
    <vt:vector size="50" baseType="lpstr">
      <vt:lpstr>Arial Unicode MS</vt:lpstr>
      <vt:lpstr>Tw Cen MT</vt:lpstr>
      <vt:lpstr>黑体</vt:lpstr>
      <vt:lpstr>华文仿宋</vt:lpstr>
      <vt:lpstr>宋体</vt:lpstr>
      <vt:lpstr>Arial</vt:lpstr>
      <vt:lpstr>Calibri</vt:lpstr>
      <vt:lpstr>Cambria Math</vt:lpstr>
      <vt:lpstr>Times New Roman</vt:lpstr>
      <vt:lpstr>Wingdings</vt:lpstr>
      <vt:lpstr>Wingdings 2</vt:lpstr>
      <vt:lpstr>中性</vt:lpstr>
      <vt:lpstr>公式</vt:lpstr>
      <vt:lpstr>Equation</vt:lpstr>
      <vt:lpstr>Mathcad</vt:lpstr>
      <vt:lpstr>连续型r.v.的期望</vt:lpstr>
      <vt:lpstr>连续型r.v.的期望</vt:lpstr>
      <vt:lpstr>连续型r.v.期望定义</vt:lpstr>
      <vt:lpstr>一些性质</vt:lpstr>
      <vt:lpstr>方差、协方差</vt:lpstr>
      <vt:lpstr>典型连续型随机变量的分布</vt:lpstr>
      <vt:lpstr>均匀分布(uniform distribution)</vt:lpstr>
      <vt:lpstr>均匀分布</vt:lpstr>
      <vt:lpstr>均匀分布下的数字特征</vt:lpstr>
      <vt:lpstr>均匀分布</vt:lpstr>
      <vt:lpstr>均匀分布</vt:lpstr>
      <vt:lpstr>指数分布(exponential distribution)</vt:lpstr>
      <vt:lpstr>指数分布r.v.的分布函数</vt:lpstr>
      <vt:lpstr>指数分布r.v.的数字特征</vt:lpstr>
      <vt:lpstr>指数分布的无记忆性</vt:lpstr>
      <vt:lpstr>多个独立指数分布r.v.极小值分布</vt:lpstr>
      <vt:lpstr>多个独立指数分布r.v.极小值分布</vt:lpstr>
      <vt:lpstr>正态分布(normal distribution)</vt:lpstr>
      <vt:lpstr>正态分布概率密度的几何特征</vt:lpstr>
      <vt:lpstr>正态分布概率密度的几何特征</vt:lpstr>
      <vt:lpstr>正态分布的分布函数</vt:lpstr>
      <vt:lpstr>正态分布r.v.的数字特征</vt:lpstr>
      <vt:lpstr>正态分布r.v.的数字特征</vt:lpstr>
      <vt:lpstr>正态分布应用背景</vt:lpstr>
      <vt:lpstr>正态分布下的概率计算</vt:lpstr>
      <vt:lpstr>标准正态分布</vt:lpstr>
      <vt:lpstr>标准正态分布的图形</vt:lpstr>
      <vt:lpstr>标准正态分布表</vt:lpstr>
      <vt:lpstr>Φ(x)性质</vt:lpstr>
      <vt:lpstr>例</vt:lpstr>
      <vt:lpstr>正态分布的性质</vt:lpstr>
      <vt:lpstr>一般正态分布的概率计算</vt:lpstr>
      <vt:lpstr>3σ原理</vt:lpstr>
      <vt:lpstr>标准正态分布的3σ原理</vt:lpstr>
      <vt:lpstr>独立正态分布随机变量的和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唐斌</dc:creator>
  <cp:lastModifiedBy>唐 斌</cp:lastModifiedBy>
  <cp:revision>573</cp:revision>
  <dcterms:created xsi:type="dcterms:W3CDTF">2016-02-22T01:45:17Z</dcterms:created>
  <dcterms:modified xsi:type="dcterms:W3CDTF">2018-10-24T05:17:06Z</dcterms:modified>
</cp:coreProperties>
</file>