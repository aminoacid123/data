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38"/>
  </p:notesMasterIdLst>
  <p:handoutMasterIdLst>
    <p:handoutMasterId r:id="rId39"/>
  </p:handoutMasterIdLst>
  <p:sldIdLst>
    <p:sldId id="495" r:id="rId2"/>
    <p:sldId id="528" r:id="rId3"/>
    <p:sldId id="511" r:id="rId4"/>
    <p:sldId id="496" r:id="rId5"/>
    <p:sldId id="497" r:id="rId6"/>
    <p:sldId id="498" r:id="rId7"/>
    <p:sldId id="499" r:id="rId8"/>
    <p:sldId id="500" r:id="rId9"/>
    <p:sldId id="501" r:id="rId10"/>
    <p:sldId id="502" r:id="rId11"/>
    <p:sldId id="503" r:id="rId12"/>
    <p:sldId id="504" r:id="rId13"/>
    <p:sldId id="505" r:id="rId14"/>
    <p:sldId id="506" r:id="rId15"/>
    <p:sldId id="507" r:id="rId16"/>
    <p:sldId id="508" r:id="rId17"/>
    <p:sldId id="509" r:id="rId18"/>
    <p:sldId id="510" r:id="rId19"/>
    <p:sldId id="512" r:id="rId20"/>
    <p:sldId id="513" r:id="rId21"/>
    <p:sldId id="514" r:id="rId22"/>
    <p:sldId id="515" r:id="rId23"/>
    <p:sldId id="516" r:id="rId24"/>
    <p:sldId id="517" r:id="rId25"/>
    <p:sldId id="518" r:id="rId26"/>
    <p:sldId id="519" r:id="rId27"/>
    <p:sldId id="520" r:id="rId28"/>
    <p:sldId id="521" r:id="rId29"/>
    <p:sldId id="522" r:id="rId30"/>
    <p:sldId id="523" r:id="rId31"/>
    <p:sldId id="524" r:id="rId32"/>
    <p:sldId id="525" r:id="rId33"/>
    <p:sldId id="526" r:id="rId34"/>
    <p:sldId id="527" r:id="rId35"/>
    <p:sldId id="530" r:id="rId36"/>
    <p:sldId id="529" r:id="rId37"/>
  </p:sldIdLst>
  <p:sldSz cx="9144000" cy="6858000" type="screen4x3"/>
  <p:notesSz cx="6669088" cy="9926638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E013E"/>
    <a:srgbClr val="FF5050"/>
    <a:srgbClr val="FF6600"/>
    <a:srgbClr val="FF0066"/>
    <a:srgbClr val="663300"/>
    <a:srgbClr val="CC3399"/>
    <a:srgbClr val="C3E684"/>
    <a:srgbClr val="00CC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15" autoAdjust="0"/>
    <p:restoredTop sz="88968" autoAdjust="0"/>
  </p:normalViewPr>
  <p:slideViewPr>
    <p:cSldViewPr>
      <p:cViewPr varScale="1">
        <p:scale>
          <a:sx n="88" d="100"/>
          <a:sy n="88" d="100"/>
        </p:scale>
        <p:origin x="1076" y="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image" Target="../media/image6.wmf"/><Relationship Id="rId1" Type="http://schemas.openxmlformats.org/officeDocument/2006/relationships/image" Target="../media/image5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9.wmf"/><Relationship Id="rId1" Type="http://schemas.openxmlformats.org/officeDocument/2006/relationships/image" Target="../media/image8.e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image" Target="../media/image11.wmf"/><Relationship Id="rId1" Type="http://schemas.openxmlformats.org/officeDocument/2006/relationships/image" Target="../media/image10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image" Target="../media/image14.wmf"/><Relationship Id="rId1" Type="http://schemas.openxmlformats.org/officeDocument/2006/relationships/image" Target="../media/image13.wmf"/><Relationship Id="rId4" Type="http://schemas.openxmlformats.org/officeDocument/2006/relationships/image" Target="../media/image16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image" Target="../media/image19.wmf"/><Relationship Id="rId1" Type="http://schemas.openxmlformats.org/officeDocument/2006/relationships/image" Target="../media/image18.wmf"/><Relationship Id="rId4" Type="http://schemas.openxmlformats.org/officeDocument/2006/relationships/image" Target="../media/image21.e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image" Target="../media/image23.emf"/><Relationship Id="rId1" Type="http://schemas.openxmlformats.org/officeDocument/2006/relationships/image" Target="../media/image22.emf"/><Relationship Id="rId6" Type="http://schemas.openxmlformats.org/officeDocument/2006/relationships/image" Target="../media/image27.emf"/><Relationship Id="rId5" Type="http://schemas.openxmlformats.org/officeDocument/2006/relationships/image" Target="../media/image26.emf"/><Relationship Id="rId4" Type="http://schemas.openxmlformats.org/officeDocument/2006/relationships/image" Target="../media/image25.e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32.wmf"/><Relationship Id="rId2" Type="http://schemas.openxmlformats.org/officeDocument/2006/relationships/image" Target="../media/image31.wmf"/><Relationship Id="rId1" Type="http://schemas.openxmlformats.org/officeDocument/2006/relationships/image" Target="../media/image30.wmf"/><Relationship Id="rId6" Type="http://schemas.openxmlformats.org/officeDocument/2006/relationships/image" Target="../media/image35.wmf"/><Relationship Id="rId5" Type="http://schemas.openxmlformats.org/officeDocument/2006/relationships/image" Target="../media/image34.wmf"/><Relationship Id="rId4" Type="http://schemas.openxmlformats.org/officeDocument/2006/relationships/image" Target="../media/image33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38.wmf"/><Relationship Id="rId7" Type="http://schemas.openxmlformats.org/officeDocument/2006/relationships/image" Target="../media/image42.wmf"/><Relationship Id="rId2" Type="http://schemas.openxmlformats.org/officeDocument/2006/relationships/image" Target="../media/image37.wmf"/><Relationship Id="rId1" Type="http://schemas.openxmlformats.org/officeDocument/2006/relationships/image" Target="../media/image36.wmf"/><Relationship Id="rId6" Type="http://schemas.openxmlformats.org/officeDocument/2006/relationships/image" Target="../media/image41.wmf"/><Relationship Id="rId5" Type="http://schemas.openxmlformats.org/officeDocument/2006/relationships/image" Target="../media/image40.wmf"/><Relationship Id="rId4" Type="http://schemas.openxmlformats.org/officeDocument/2006/relationships/image" Target="../media/image39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45.wmf"/><Relationship Id="rId2" Type="http://schemas.openxmlformats.org/officeDocument/2006/relationships/image" Target="../media/image44.wmf"/><Relationship Id="rId1" Type="http://schemas.openxmlformats.org/officeDocument/2006/relationships/image" Target="../media/image43.wmf"/><Relationship Id="rId4" Type="http://schemas.openxmlformats.org/officeDocument/2006/relationships/image" Target="../media/image46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50.wmf"/><Relationship Id="rId2" Type="http://schemas.openxmlformats.org/officeDocument/2006/relationships/image" Target="../media/image49.wmf"/><Relationship Id="rId1" Type="http://schemas.openxmlformats.org/officeDocument/2006/relationships/image" Target="../media/image48.wmf"/><Relationship Id="rId4" Type="http://schemas.openxmlformats.org/officeDocument/2006/relationships/image" Target="../media/image51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54.wmf"/><Relationship Id="rId2" Type="http://schemas.openxmlformats.org/officeDocument/2006/relationships/image" Target="../media/image53.wmf"/><Relationship Id="rId1" Type="http://schemas.openxmlformats.org/officeDocument/2006/relationships/image" Target="../media/image52.wmf"/><Relationship Id="rId5" Type="http://schemas.openxmlformats.org/officeDocument/2006/relationships/image" Target="../media/image56.wmf"/><Relationship Id="rId4" Type="http://schemas.openxmlformats.org/officeDocument/2006/relationships/image" Target="../media/image55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59.wmf"/><Relationship Id="rId2" Type="http://schemas.openxmlformats.org/officeDocument/2006/relationships/image" Target="../media/image58.wmf"/><Relationship Id="rId1" Type="http://schemas.openxmlformats.org/officeDocument/2006/relationships/image" Target="../media/image57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63.wmf"/><Relationship Id="rId2" Type="http://schemas.openxmlformats.org/officeDocument/2006/relationships/image" Target="../media/image62.wmf"/><Relationship Id="rId1" Type="http://schemas.openxmlformats.org/officeDocument/2006/relationships/image" Target="../media/image61.wmf"/><Relationship Id="rId5" Type="http://schemas.openxmlformats.org/officeDocument/2006/relationships/image" Target="../media/image65.wmf"/><Relationship Id="rId4" Type="http://schemas.openxmlformats.org/officeDocument/2006/relationships/image" Target="../media/image64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68.wmf"/><Relationship Id="rId2" Type="http://schemas.openxmlformats.org/officeDocument/2006/relationships/image" Target="../media/image67.wmf"/><Relationship Id="rId1" Type="http://schemas.openxmlformats.org/officeDocument/2006/relationships/image" Target="../media/image66.wmf"/><Relationship Id="rId6" Type="http://schemas.openxmlformats.org/officeDocument/2006/relationships/image" Target="../media/image71.wmf"/><Relationship Id="rId5" Type="http://schemas.openxmlformats.org/officeDocument/2006/relationships/image" Target="../media/image70.wmf"/><Relationship Id="rId4" Type="http://schemas.openxmlformats.org/officeDocument/2006/relationships/image" Target="../media/image69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74.emf"/><Relationship Id="rId2" Type="http://schemas.openxmlformats.org/officeDocument/2006/relationships/image" Target="../media/image73.emf"/><Relationship Id="rId1" Type="http://schemas.openxmlformats.org/officeDocument/2006/relationships/image" Target="../media/image72.e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77.emf"/><Relationship Id="rId2" Type="http://schemas.openxmlformats.org/officeDocument/2006/relationships/image" Target="../media/image76.emf"/><Relationship Id="rId1" Type="http://schemas.openxmlformats.org/officeDocument/2006/relationships/image" Target="../media/image75.emf"/><Relationship Id="rId6" Type="http://schemas.openxmlformats.org/officeDocument/2006/relationships/image" Target="../media/image80.emf"/><Relationship Id="rId5" Type="http://schemas.openxmlformats.org/officeDocument/2006/relationships/image" Target="../media/image79.emf"/><Relationship Id="rId4" Type="http://schemas.openxmlformats.org/officeDocument/2006/relationships/image" Target="../media/image78.emf"/></Relationships>
</file>

<file path=ppt/drawings/_rels/vmlDrawing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83.emf"/><Relationship Id="rId2" Type="http://schemas.openxmlformats.org/officeDocument/2006/relationships/image" Target="../media/image82.emf"/><Relationship Id="rId1" Type="http://schemas.openxmlformats.org/officeDocument/2006/relationships/image" Target="../media/image81.emf"/><Relationship Id="rId4" Type="http://schemas.openxmlformats.org/officeDocument/2006/relationships/image" Target="../media/image84.emf"/></Relationships>
</file>

<file path=ppt/drawings/_rels/vmlDrawing19.vml.rels><?xml version="1.0" encoding="UTF-8" standalone="yes"?>
<Relationships xmlns="http://schemas.openxmlformats.org/package/2006/relationships"><Relationship Id="rId3" Type="http://schemas.openxmlformats.org/officeDocument/2006/relationships/image" Target="../media/image87.emf"/><Relationship Id="rId2" Type="http://schemas.openxmlformats.org/officeDocument/2006/relationships/image" Target="../media/image86.emf"/><Relationship Id="rId1" Type="http://schemas.openxmlformats.org/officeDocument/2006/relationships/image" Target="../media/image85.emf"/><Relationship Id="rId5" Type="http://schemas.openxmlformats.org/officeDocument/2006/relationships/image" Target="../media/image89.emf"/><Relationship Id="rId4" Type="http://schemas.openxmlformats.org/officeDocument/2006/relationships/image" Target="../media/image88.wmf"/></Relationships>
</file>

<file path=ppt/drawings/_rels/vmlDrawing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92.emf"/><Relationship Id="rId2" Type="http://schemas.openxmlformats.org/officeDocument/2006/relationships/image" Target="../media/image91.emf"/><Relationship Id="rId1" Type="http://schemas.openxmlformats.org/officeDocument/2006/relationships/image" Target="../media/image90.emf"/><Relationship Id="rId5" Type="http://schemas.openxmlformats.org/officeDocument/2006/relationships/image" Target="../media/image94.emf"/><Relationship Id="rId4" Type="http://schemas.openxmlformats.org/officeDocument/2006/relationships/image" Target="../media/image93.emf"/></Relationships>
</file>

<file path=ppt/drawings/_rels/vmlDrawing21.vml.rels><?xml version="1.0" encoding="UTF-8" standalone="yes"?>
<Relationships xmlns="http://schemas.openxmlformats.org/package/2006/relationships"><Relationship Id="rId3" Type="http://schemas.openxmlformats.org/officeDocument/2006/relationships/image" Target="../media/image97.emf"/><Relationship Id="rId2" Type="http://schemas.openxmlformats.org/officeDocument/2006/relationships/image" Target="../media/image96.emf"/><Relationship Id="rId1" Type="http://schemas.openxmlformats.org/officeDocument/2006/relationships/image" Target="../media/image95.emf"/><Relationship Id="rId4" Type="http://schemas.openxmlformats.org/officeDocument/2006/relationships/image" Target="../media/image98.emf"/></Relationships>
</file>

<file path=ppt/drawings/_rels/vmlDrawing2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emf"/><Relationship Id="rId2" Type="http://schemas.openxmlformats.org/officeDocument/2006/relationships/image" Target="../media/image100.emf"/><Relationship Id="rId1" Type="http://schemas.openxmlformats.org/officeDocument/2006/relationships/image" Target="../media/image99.emf"/><Relationship Id="rId4" Type="http://schemas.openxmlformats.org/officeDocument/2006/relationships/image" Target="../media/image102.emf"/></Relationships>
</file>

<file path=ppt/drawings/_rels/vmlDrawing2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wmf"/><Relationship Id="rId2" Type="http://schemas.openxmlformats.org/officeDocument/2006/relationships/image" Target="../media/image104.wmf"/><Relationship Id="rId1" Type="http://schemas.openxmlformats.org/officeDocument/2006/relationships/image" Target="../media/image103.wmf"/></Relationships>
</file>

<file path=ppt/drawings/_rels/vmlDrawing2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wmf"/><Relationship Id="rId2" Type="http://schemas.openxmlformats.org/officeDocument/2006/relationships/image" Target="../media/image107.wmf"/><Relationship Id="rId1" Type="http://schemas.openxmlformats.org/officeDocument/2006/relationships/image" Target="../media/image106.wmf"/></Relationships>
</file>

<file path=ppt/drawings/_rels/vmlDrawing2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wmf"/><Relationship Id="rId7" Type="http://schemas.openxmlformats.org/officeDocument/2006/relationships/image" Target="../media/image115.wmf"/><Relationship Id="rId2" Type="http://schemas.openxmlformats.org/officeDocument/2006/relationships/image" Target="../media/image110.wmf"/><Relationship Id="rId1" Type="http://schemas.openxmlformats.org/officeDocument/2006/relationships/image" Target="../media/image109.wmf"/><Relationship Id="rId6" Type="http://schemas.openxmlformats.org/officeDocument/2006/relationships/image" Target="../media/image114.wmf"/><Relationship Id="rId5" Type="http://schemas.openxmlformats.org/officeDocument/2006/relationships/image" Target="../media/image113.wmf"/><Relationship Id="rId4" Type="http://schemas.openxmlformats.org/officeDocument/2006/relationships/image" Target="../media/image112.wmf"/></Relationships>
</file>

<file path=ppt/drawings/_rels/vmlDrawing2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wmf"/><Relationship Id="rId7" Type="http://schemas.openxmlformats.org/officeDocument/2006/relationships/image" Target="../media/image121.wmf"/><Relationship Id="rId2" Type="http://schemas.openxmlformats.org/officeDocument/2006/relationships/image" Target="../media/image117.wmf"/><Relationship Id="rId1" Type="http://schemas.openxmlformats.org/officeDocument/2006/relationships/image" Target="../media/image116.wmf"/><Relationship Id="rId6" Type="http://schemas.openxmlformats.org/officeDocument/2006/relationships/image" Target="../media/image120.wmf"/><Relationship Id="rId5" Type="http://schemas.openxmlformats.org/officeDocument/2006/relationships/image" Target="../media/image119.wmf"/><Relationship Id="rId4" Type="http://schemas.openxmlformats.org/officeDocument/2006/relationships/image" Target="../media/image118.wmf"/></Relationships>
</file>

<file path=ppt/drawings/_rels/vmlDrawing2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4.wmf"/><Relationship Id="rId7" Type="http://schemas.openxmlformats.org/officeDocument/2006/relationships/image" Target="../media/image128.wmf"/><Relationship Id="rId2" Type="http://schemas.openxmlformats.org/officeDocument/2006/relationships/image" Target="../media/image123.wmf"/><Relationship Id="rId1" Type="http://schemas.openxmlformats.org/officeDocument/2006/relationships/image" Target="../media/image122.wmf"/><Relationship Id="rId6" Type="http://schemas.openxmlformats.org/officeDocument/2006/relationships/image" Target="../media/image127.wmf"/><Relationship Id="rId5" Type="http://schemas.openxmlformats.org/officeDocument/2006/relationships/image" Target="../media/image126.wmf"/><Relationship Id="rId4" Type="http://schemas.openxmlformats.org/officeDocument/2006/relationships/image" Target="../media/image125.wmf"/></Relationships>
</file>

<file path=ppt/drawings/_rels/vmlDrawing28.vml.rels><?xml version="1.0" encoding="UTF-8" standalone="yes"?>
<Relationships xmlns="http://schemas.openxmlformats.org/package/2006/relationships"><Relationship Id="rId3" Type="http://schemas.openxmlformats.org/officeDocument/2006/relationships/image" Target="../media/image64.wmf"/><Relationship Id="rId2" Type="http://schemas.openxmlformats.org/officeDocument/2006/relationships/image" Target="../media/image51.wmf"/><Relationship Id="rId1" Type="http://schemas.openxmlformats.org/officeDocument/2006/relationships/image" Target="../media/image20.wmf"/><Relationship Id="rId5" Type="http://schemas.openxmlformats.org/officeDocument/2006/relationships/image" Target="../media/image89.emf"/><Relationship Id="rId4" Type="http://schemas.openxmlformats.org/officeDocument/2006/relationships/image" Target="../media/image82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0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90838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5702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78250" y="0"/>
            <a:ext cx="288925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5702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8163"/>
            <a:ext cx="2890838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5702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78250" y="9428163"/>
            <a:ext cx="288925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3F64E744-9926-434B-B12F-DD0B843767D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0788479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024" units="cm"/>
          <inkml:channel name="Y" type="integer" max="768" units="cm"/>
        </inkml:traceFormat>
        <inkml:channelProperties>
          <inkml:channelProperty channel="X" name="resolution" value="32" units="1/cm"/>
          <inkml:channelProperty channel="Y" name="resolution" value="32" units="1/cm"/>
        </inkml:channelProperties>
      </inkml:inkSource>
      <inkml:timestamp xml:id="ts0" timeString="2017-11-02T08:29:27.269"/>
    </inkml:context>
    <inkml:brush xml:id="br0">
      <inkml:brushProperty name="width" value="0.09701" units="cm"/>
      <inkml:brushProperty name="height" value="0.09701" units="cm"/>
      <inkml:brushProperty name="color" value="#CC3399"/>
      <inkml:brushProperty name="fitToCurve" value="1"/>
    </inkml:brush>
  </inkml:definitions>
  <inkml:trace contextRef="#ctx0" brushRef="#br0">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90838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42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78250" y="0"/>
            <a:ext cx="288925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222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55663" y="744538"/>
            <a:ext cx="4960937" cy="37211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342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66750" y="4713288"/>
            <a:ext cx="5335588" cy="4468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</a:p>
        </p:txBody>
      </p:sp>
      <p:sp>
        <p:nvSpPr>
          <p:cNvPr id="10343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8163"/>
            <a:ext cx="2890838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43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78250" y="9428163"/>
            <a:ext cx="288925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DEAC04C5-AF52-485B-A1AF-B67D77EA274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3879588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抽样分布 定理</a:t>
            </a:r>
            <a:r>
              <a:rPr lang="en-US" altLang="zh-CN" dirty="0" smtClean="0"/>
              <a:t>3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AC04C5-AF52-485B-A1AF-B67D77EA274B}" type="slidenum">
              <a:rPr lang="en-US" altLang="zh-CN" smtClean="0"/>
              <a:pPr/>
              <a:t>14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220146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 smtClean="0"/>
              <a:t>抽样分布 定理</a:t>
            </a:r>
            <a:r>
              <a:rPr lang="en-US" altLang="zh-CN" dirty="0" smtClean="0"/>
              <a:t>3</a:t>
            </a:r>
            <a:endParaRPr lang="zh-CN" altLang="en-US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AC04C5-AF52-485B-A1AF-B67D77EA274B}" type="slidenum">
              <a:rPr lang="en-US" altLang="zh-CN" smtClean="0"/>
              <a:pPr/>
              <a:t>17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94184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此区间并不是一定最短，方便起见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AC04C5-AF52-485B-A1AF-B67D77EA274B}" type="slidenum">
              <a:rPr lang="en-US" altLang="zh-CN" smtClean="0"/>
              <a:pPr/>
              <a:t>19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026596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AC04C5-AF52-485B-A1AF-B67D77EA274B}" type="slidenum">
              <a:rPr lang="en-US" altLang="zh-CN" smtClean="0"/>
              <a:pPr/>
              <a:t>20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535708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抽样分布 定理</a:t>
            </a:r>
            <a:r>
              <a:rPr lang="en-US" altLang="zh-CN" dirty="0" smtClean="0"/>
              <a:t>4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AC04C5-AF52-485B-A1AF-B67D77EA274B}" type="slidenum">
              <a:rPr lang="en-US" altLang="zh-CN" smtClean="0"/>
              <a:pPr/>
              <a:t>24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761597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教材</a:t>
            </a:r>
            <a:r>
              <a:rPr lang="en-US" altLang="zh-CN" dirty="0" smtClean="0"/>
              <a:t>135</a:t>
            </a:r>
            <a:r>
              <a:rPr lang="zh-CN" altLang="en-US" dirty="0" smtClean="0"/>
              <a:t>页上方公式混淆了样本方差与修正样本方差。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AC04C5-AF52-485B-A1AF-B67D77EA274B}" type="slidenum">
              <a:rPr lang="en-US" altLang="zh-CN" smtClean="0"/>
              <a:pPr/>
              <a:t>35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739616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矩形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矩形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标题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9" name="副标题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CN" altLang="en-US" smtClean="0"/>
              <a:t>单击以编辑母版副标题样式</a:t>
            </a:r>
            <a:endParaRPr kumimoji="0" lang="en-US"/>
          </a:p>
        </p:txBody>
      </p:sp>
      <p:sp>
        <p:nvSpPr>
          <p:cNvPr id="28" name="日期占位符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9" name="灯片编号占位符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89A978F-B125-4F16-AECF-260D20279E18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863675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8" name="内容占位符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zh-CN" altLang="en-US" smtClean="0"/>
              <a:t>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1394B-3A46-42F6-8841-E262D5A0BA7B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2539703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CN" altLang="en-US" smtClean="0"/>
              <a:t>编辑母版文本样式</a:t>
            </a:r>
          </a:p>
        </p:txBody>
      </p:sp>
      <p:sp>
        <p:nvSpPr>
          <p:cNvPr id="7" name="矩形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矩形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矩形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12" name="日期占位符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8118EF1F-D187-4645-8C84-11D840757B4F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14" name="页脚占位符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506598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zh-CN" altLang="en-US" smtClean="0"/>
              <a:t>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11" name="内容占位符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zh-CN" altLang="en-US" smtClean="0"/>
              <a:t>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pPr>
              <a:defRPr/>
            </a:pPr>
            <a:endParaRPr lang="en-US" altLang="zh-CN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3138A54F-548B-4030-A650-205C48C0DBBB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12" name="页脚占位符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2112434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11" name="内容占位符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zh-CN" altLang="en-US" smtClean="0"/>
              <a:t>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13" name="内容占位符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zh-CN" altLang="en-US" smtClean="0"/>
              <a:t>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pPr>
              <a:defRPr/>
            </a:pPr>
            <a:endParaRPr lang="en-US" altLang="zh-CN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75F29A0C-C142-4511-B144-DAD09F37303B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14" name="页脚占位符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pPr>
              <a:defRPr/>
            </a:pPr>
            <a:endParaRPr lang="en-US" altLang="zh-CN"/>
          </a:p>
        </p:txBody>
      </p:sp>
      <p:sp>
        <p:nvSpPr>
          <p:cNvPr id="16" name="文本占位符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zh-CN" altLang="en-US" smtClean="0"/>
              <a:t>编辑母版文本样式</a:t>
            </a:r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zh-CN" altLang="en-US" smtClean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8202006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F9659410-A1D0-4F4D-89DA-F0FD0A83E42E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5795204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83D831D-E5AE-4F9E-8667-348B0A009A68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7475840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B815AA39-D1CB-4DCA-8E05-9F1C583EF566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3" name="文本占位符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CN" altLang="en-US" smtClean="0"/>
              <a:t>编辑母版文本样式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zh-CN" altLang="en-US" smtClean="0"/>
              <a:t>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42030536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zh-CN" altLang="en-US" smtClean="0"/>
              <a:t>编辑母版文本样式</a:t>
            </a:r>
          </a:p>
        </p:txBody>
      </p:sp>
      <p:sp>
        <p:nvSpPr>
          <p:cNvPr id="8" name="矩形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矩形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矩形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11" name="矩形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日期占位符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pPr>
              <a:defRPr/>
            </a:pPr>
            <a:endParaRPr lang="en-US" altLang="zh-CN"/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7ABCDB25-4586-406F-8576-665DCE38E4C2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14" name="页脚占位符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pPr>
              <a:defRPr/>
            </a:pPr>
            <a:endParaRPr lang="en-US" altLang="zh-CN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zh-CN" altLang="en-US" smtClean="0"/>
              <a:t>单击图标添加图片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11919459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CN" altLang="en-US" smtClean="0"/>
              <a:t>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27BA1-1EE1-4E16-AEB5-A1AED4870AD6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133427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zh-CN" altLang="en-US" smtClean="0"/>
              <a:t>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7" name="矩形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矩形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矩形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04461E07-02FD-4F4F-B600-4B42FD217930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984570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标题占位符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zh-CN" altLang="en-US" dirty="0" smtClean="0"/>
              <a:t>单击此处编辑母版标题样式</a:t>
            </a:r>
            <a:endParaRPr kumimoji="0" 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CN" altLang="en-US" dirty="0" smtClean="0"/>
              <a:t>单击此处编辑母版文本样式</a:t>
            </a:r>
          </a:p>
          <a:p>
            <a:pPr lvl="1" eaLnBrk="1" latinLnBrk="0" hangingPunct="1"/>
            <a:r>
              <a:rPr kumimoji="0" lang="zh-CN" altLang="en-US" dirty="0" smtClean="0"/>
              <a:t>第二级</a:t>
            </a:r>
          </a:p>
          <a:p>
            <a:pPr lvl="2" eaLnBrk="1" latinLnBrk="0" hangingPunct="1"/>
            <a:r>
              <a:rPr kumimoji="0" lang="zh-CN" altLang="en-US" dirty="0" smtClean="0"/>
              <a:t>第三级</a:t>
            </a:r>
          </a:p>
          <a:p>
            <a:pPr lvl="3" eaLnBrk="1" latinLnBrk="0" hangingPunct="1"/>
            <a:r>
              <a:rPr kumimoji="0" lang="zh-CN" altLang="en-US" dirty="0" smtClean="0"/>
              <a:t>第四级</a:t>
            </a:r>
          </a:p>
          <a:p>
            <a:pPr lvl="4" eaLnBrk="1" latinLnBrk="0" hangingPunct="1"/>
            <a:r>
              <a:rPr kumimoji="0" lang="zh-CN" altLang="en-US" dirty="0" smtClean="0"/>
              <a:t>第五级</a:t>
            </a:r>
            <a:endParaRPr kumimoji="0" lang="en-US" dirty="0"/>
          </a:p>
        </p:txBody>
      </p:sp>
      <p:sp>
        <p:nvSpPr>
          <p:cNvPr id="14" name="日期占位符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矩形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矩形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矩形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灯片编号占位符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04461E07-02FD-4F4F-B600-4B42FD217930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539686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l" rtl="0" eaLnBrk="1" latinLnBrk="0" hangingPunct="1">
        <a:spcBef>
          <a:spcPct val="0"/>
        </a:spcBef>
        <a:buNone/>
        <a:defRPr kumimoji="0" sz="44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b="1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4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3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wmf"/><Relationship Id="rId3" Type="http://schemas.openxmlformats.org/officeDocument/2006/relationships/oleObject" Target="../embeddings/oleObject3.bin"/><Relationship Id="rId7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6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5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9.w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8.emf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wmf"/><Relationship Id="rId3" Type="http://schemas.openxmlformats.org/officeDocument/2006/relationships/oleObject" Target="../embeddings/oleObject8.bin"/><Relationship Id="rId7" Type="http://schemas.openxmlformats.org/officeDocument/2006/relationships/oleObject" Target="../embeddings/oleObject1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1.wmf"/><Relationship Id="rId5" Type="http://schemas.openxmlformats.org/officeDocument/2006/relationships/oleObject" Target="../embeddings/oleObject9.bin"/><Relationship Id="rId4" Type="http://schemas.openxmlformats.org/officeDocument/2006/relationships/image" Target="../media/image10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.bin"/><Relationship Id="rId3" Type="http://schemas.openxmlformats.org/officeDocument/2006/relationships/oleObject" Target="../embeddings/oleObject11.bin"/><Relationship Id="rId7" Type="http://schemas.openxmlformats.org/officeDocument/2006/relationships/image" Target="../media/image17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4.wmf"/><Relationship Id="rId11" Type="http://schemas.openxmlformats.org/officeDocument/2006/relationships/image" Target="../media/image16.wmf"/><Relationship Id="rId5" Type="http://schemas.openxmlformats.org/officeDocument/2006/relationships/oleObject" Target="../embeddings/oleObject12.bin"/><Relationship Id="rId10" Type="http://schemas.openxmlformats.org/officeDocument/2006/relationships/oleObject" Target="../embeddings/oleObject14.bin"/><Relationship Id="rId4" Type="http://schemas.openxmlformats.org/officeDocument/2006/relationships/image" Target="../media/image13.wmf"/><Relationship Id="rId9" Type="http://schemas.openxmlformats.org/officeDocument/2006/relationships/image" Target="../media/image15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wmf"/><Relationship Id="rId3" Type="http://schemas.openxmlformats.org/officeDocument/2006/relationships/oleObject" Target="../embeddings/oleObject15.bin"/><Relationship Id="rId7" Type="http://schemas.openxmlformats.org/officeDocument/2006/relationships/oleObject" Target="../embeddings/oleObject1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19.wmf"/><Relationship Id="rId5" Type="http://schemas.openxmlformats.org/officeDocument/2006/relationships/oleObject" Target="../embeddings/oleObject16.bin"/><Relationship Id="rId10" Type="http://schemas.openxmlformats.org/officeDocument/2006/relationships/image" Target="../media/image21.emf"/><Relationship Id="rId4" Type="http://schemas.openxmlformats.org/officeDocument/2006/relationships/image" Target="../media/image18.wmf"/><Relationship Id="rId9" Type="http://schemas.openxmlformats.org/officeDocument/2006/relationships/oleObject" Target="../embeddings/oleObject18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1.bin"/><Relationship Id="rId13" Type="http://schemas.openxmlformats.org/officeDocument/2006/relationships/image" Target="../media/image26.emf"/><Relationship Id="rId18" Type="http://schemas.openxmlformats.org/officeDocument/2006/relationships/image" Target="../media/image31.emf"/><Relationship Id="rId3" Type="http://schemas.openxmlformats.org/officeDocument/2006/relationships/oleObject" Target="../embeddings/oleObject19.bin"/><Relationship Id="rId7" Type="http://schemas.openxmlformats.org/officeDocument/2006/relationships/image" Target="../media/image28.emf"/><Relationship Id="rId12" Type="http://schemas.openxmlformats.org/officeDocument/2006/relationships/oleObject" Target="../embeddings/oleObject23.bin"/><Relationship Id="rId17" Type="http://schemas.openxmlformats.org/officeDocument/2006/relationships/customXml" Target="../ink/ink1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9.emf"/><Relationship Id="rId1" Type="http://schemas.openxmlformats.org/officeDocument/2006/relationships/vmlDrawing" Target="../drawings/vmlDrawing7.vml"/><Relationship Id="rId6" Type="http://schemas.openxmlformats.org/officeDocument/2006/relationships/image" Target="../media/image23.emf"/><Relationship Id="rId11" Type="http://schemas.openxmlformats.org/officeDocument/2006/relationships/image" Target="../media/image25.emf"/><Relationship Id="rId5" Type="http://schemas.openxmlformats.org/officeDocument/2006/relationships/oleObject" Target="../embeddings/oleObject20.bin"/><Relationship Id="rId15" Type="http://schemas.openxmlformats.org/officeDocument/2006/relationships/image" Target="../media/image27.emf"/><Relationship Id="rId10" Type="http://schemas.openxmlformats.org/officeDocument/2006/relationships/oleObject" Target="../embeddings/oleObject22.bin"/><Relationship Id="rId4" Type="http://schemas.openxmlformats.org/officeDocument/2006/relationships/image" Target="../media/image22.emf"/><Relationship Id="rId9" Type="http://schemas.openxmlformats.org/officeDocument/2006/relationships/image" Target="../media/image24.emf"/><Relationship Id="rId14" Type="http://schemas.openxmlformats.org/officeDocument/2006/relationships/oleObject" Target="../embeddings/oleObject24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wmf"/><Relationship Id="rId13" Type="http://schemas.openxmlformats.org/officeDocument/2006/relationships/oleObject" Target="../embeddings/oleObject30.bin"/><Relationship Id="rId3" Type="http://schemas.openxmlformats.org/officeDocument/2006/relationships/oleObject" Target="../embeddings/oleObject25.bin"/><Relationship Id="rId7" Type="http://schemas.openxmlformats.org/officeDocument/2006/relationships/oleObject" Target="../embeddings/oleObject27.bin"/><Relationship Id="rId12" Type="http://schemas.openxmlformats.org/officeDocument/2006/relationships/image" Target="../media/image34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31.wmf"/><Relationship Id="rId11" Type="http://schemas.openxmlformats.org/officeDocument/2006/relationships/oleObject" Target="../embeddings/oleObject29.bin"/><Relationship Id="rId5" Type="http://schemas.openxmlformats.org/officeDocument/2006/relationships/oleObject" Target="../embeddings/oleObject26.bin"/><Relationship Id="rId10" Type="http://schemas.openxmlformats.org/officeDocument/2006/relationships/image" Target="../media/image33.wmf"/><Relationship Id="rId4" Type="http://schemas.openxmlformats.org/officeDocument/2006/relationships/image" Target="../media/image30.wmf"/><Relationship Id="rId9" Type="http://schemas.openxmlformats.org/officeDocument/2006/relationships/oleObject" Target="../embeddings/oleObject28.bin"/><Relationship Id="rId14" Type="http://schemas.openxmlformats.org/officeDocument/2006/relationships/image" Target="../media/image35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3.bin"/><Relationship Id="rId13" Type="http://schemas.openxmlformats.org/officeDocument/2006/relationships/image" Target="../media/image40.wmf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37.wmf"/><Relationship Id="rId12" Type="http://schemas.openxmlformats.org/officeDocument/2006/relationships/oleObject" Target="../embeddings/oleObject35.bin"/><Relationship Id="rId17" Type="http://schemas.openxmlformats.org/officeDocument/2006/relationships/image" Target="../media/image42.w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37.bin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32.bin"/><Relationship Id="rId11" Type="http://schemas.openxmlformats.org/officeDocument/2006/relationships/image" Target="../media/image39.wmf"/><Relationship Id="rId5" Type="http://schemas.openxmlformats.org/officeDocument/2006/relationships/image" Target="../media/image36.wmf"/><Relationship Id="rId15" Type="http://schemas.openxmlformats.org/officeDocument/2006/relationships/image" Target="../media/image41.wmf"/><Relationship Id="rId10" Type="http://schemas.openxmlformats.org/officeDocument/2006/relationships/oleObject" Target="../embeddings/oleObject34.bin"/><Relationship Id="rId4" Type="http://schemas.openxmlformats.org/officeDocument/2006/relationships/oleObject" Target="../embeddings/oleObject31.bin"/><Relationship Id="rId9" Type="http://schemas.openxmlformats.org/officeDocument/2006/relationships/image" Target="../media/image38.wmf"/><Relationship Id="rId14" Type="http://schemas.openxmlformats.org/officeDocument/2006/relationships/oleObject" Target="../embeddings/oleObject36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wmf"/><Relationship Id="rId3" Type="http://schemas.openxmlformats.org/officeDocument/2006/relationships/oleObject" Target="../embeddings/oleObject38.bin"/><Relationship Id="rId7" Type="http://schemas.openxmlformats.org/officeDocument/2006/relationships/oleObject" Target="../embeddings/oleObject4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44.wmf"/><Relationship Id="rId11" Type="http://schemas.openxmlformats.org/officeDocument/2006/relationships/image" Target="../media/image46.wmf"/><Relationship Id="rId5" Type="http://schemas.openxmlformats.org/officeDocument/2006/relationships/oleObject" Target="../embeddings/oleObject39.bin"/><Relationship Id="rId10" Type="http://schemas.openxmlformats.org/officeDocument/2006/relationships/oleObject" Target="../embeddings/oleObject41.bin"/><Relationship Id="rId4" Type="http://schemas.openxmlformats.org/officeDocument/2006/relationships/image" Target="../media/image43.wmf"/><Relationship Id="rId9" Type="http://schemas.openxmlformats.org/officeDocument/2006/relationships/image" Target="../media/image47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wmf"/><Relationship Id="rId3" Type="http://schemas.openxmlformats.org/officeDocument/2006/relationships/oleObject" Target="../embeddings/oleObject42.bin"/><Relationship Id="rId7" Type="http://schemas.openxmlformats.org/officeDocument/2006/relationships/oleObject" Target="../embeddings/oleObject4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49.wmf"/><Relationship Id="rId5" Type="http://schemas.openxmlformats.org/officeDocument/2006/relationships/oleObject" Target="../embeddings/oleObject43.bin"/><Relationship Id="rId10" Type="http://schemas.openxmlformats.org/officeDocument/2006/relationships/image" Target="../media/image51.wmf"/><Relationship Id="rId4" Type="http://schemas.openxmlformats.org/officeDocument/2006/relationships/image" Target="../media/image48.wmf"/><Relationship Id="rId9" Type="http://schemas.openxmlformats.org/officeDocument/2006/relationships/oleObject" Target="../embeddings/oleObject45.bin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8.bin"/><Relationship Id="rId13" Type="http://schemas.openxmlformats.org/officeDocument/2006/relationships/image" Target="../media/image56.wmf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53.wmf"/><Relationship Id="rId12" Type="http://schemas.openxmlformats.org/officeDocument/2006/relationships/oleObject" Target="../embeddings/oleObject5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47.bin"/><Relationship Id="rId11" Type="http://schemas.openxmlformats.org/officeDocument/2006/relationships/image" Target="../media/image55.wmf"/><Relationship Id="rId5" Type="http://schemas.openxmlformats.org/officeDocument/2006/relationships/image" Target="../media/image52.wmf"/><Relationship Id="rId10" Type="http://schemas.openxmlformats.org/officeDocument/2006/relationships/oleObject" Target="../embeddings/oleObject49.bin"/><Relationship Id="rId4" Type="http://schemas.openxmlformats.org/officeDocument/2006/relationships/oleObject" Target="../embeddings/oleObject46.bin"/><Relationship Id="rId9" Type="http://schemas.openxmlformats.org/officeDocument/2006/relationships/image" Target="../media/image54.w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3.bin"/><Relationship Id="rId3" Type="http://schemas.openxmlformats.org/officeDocument/2006/relationships/oleObject" Target="../embeddings/oleObject51.bin"/><Relationship Id="rId7" Type="http://schemas.openxmlformats.org/officeDocument/2006/relationships/image" Target="../media/image58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6" Type="http://schemas.openxmlformats.org/officeDocument/2006/relationships/oleObject" Target="../embeddings/oleObject52.bin"/><Relationship Id="rId5" Type="http://schemas.openxmlformats.org/officeDocument/2006/relationships/image" Target="../media/image60.png"/><Relationship Id="rId4" Type="http://schemas.openxmlformats.org/officeDocument/2006/relationships/image" Target="../media/image57.wmf"/><Relationship Id="rId9" Type="http://schemas.openxmlformats.org/officeDocument/2006/relationships/image" Target="../media/image59.w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6.bin"/><Relationship Id="rId13" Type="http://schemas.openxmlformats.org/officeDocument/2006/relationships/image" Target="../media/image65.wmf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62.wmf"/><Relationship Id="rId12" Type="http://schemas.openxmlformats.org/officeDocument/2006/relationships/oleObject" Target="../embeddings/oleObject5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6" Type="http://schemas.openxmlformats.org/officeDocument/2006/relationships/oleObject" Target="../embeddings/oleObject55.bin"/><Relationship Id="rId11" Type="http://schemas.openxmlformats.org/officeDocument/2006/relationships/image" Target="../media/image64.wmf"/><Relationship Id="rId5" Type="http://schemas.openxmlformats.org/officeDocument/2006/relationships/image" Target="../media/image61.wmf"/><Relationship Id="rId10" Type="http://schemas.openxmlformats.org/officeDocument/2006/relationships/oleObject" Target="../embeddings/oleObject57.bin"/><Relationship Id="rId4" Type="http://schemas.openxmlformats.org/officeDocument/2006/relationships/oleObject" Target="../embeddings/oleObject54.bin"/><Relationship Id="rId9" Type="http://schemas.openxmlformats.org/officeDocument/2006/relationships/image" Target="../media/image63.w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1.bin"/><Relationship Id="rId13" Type="http://schemas.openxmlformats.org/officeDocument/2006/relationships/image" Target="../media/image70.wmf"/><Relationship Id="rId3" Type="http://schemas.openxmlformats.org/officeDocument/2006/relationships/notesSlide" Target="../notesSlides/notesSlide4.xml"/><Relationship Id="rId7" Type="http://schemas.openxmlformats.org/officeDocument/2006/relationships/image" Target="../media/image67.wmf"/><Relationship Id="rId12" Type="http://schemas.openxmlformats.org/officeDocument/2006/relationships/oleObject" Target="../embeddings/oleObject6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6" Type="http://schemas.openxmlformats.org/officeDocument/2006/relationships/oleObject" Target="../embeddings/oleObject60.bin"/><Relationship Id="rId11" Type="http://schemas.openxmlformats.org/officeDocument/2006/relationships/image" Target="../media/image69.wmf"/><Relationship Id="rId5" Type="http://schemas.openxmlformats.org/officeDocument/2006/relationships/image" Target="../media/image66.wmf"/><Relationship Id="rId15" Type="http://schemas.openxmlformats.org/officeDocument/2006/relationships/image" Target="../media/image71.wmf"/><Relationship Id="rId10" Type="http://schemas.openxmlformats.org/officeDocument/2006/relationships/oleObject" Target="../embeddings/oleObject62.bin"/><Relationship Id="rId4" Type="http://schemas.openxmlformats.org/officeDocument/2006/relationships/oleObject" Target="../embeddings/oleObject59.bin"/><Relationship Id="rId9" Type="http://schemas.openxmlformats.org/officeDocument/2006/relationships/image" Target="../media/image68.wmf"/><Relationship Id="rId14" Type="http://schemas.openxmlformats.org/officeDocument/2006/relationships/oleObject" Target="../embeddings/oleObject64.bin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emf"/><Relationship Id="rId3" Type="http://schemas.openxmlformats.org/officeDocument/2006/relationships/oleObject" Target="../embeddings/oleObject65.bin"/><Relationship Id="rId7" Type="http://schemas.openxmlformats.org/officeDocument/2006/relationships/oleObject" Target="../embeddings/oleObject6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73.emf"/><Relationship Id="rId5" Type="http://schemas.openxmlformats.org/officeDocument/2006/relationships/oleObject" Target="../embeddings/oleObject66.bin"/><Relationship Id="rId4" Type="http://schemas.openxmlformats.org/officeDocument/2006/relationships/image" Target="../media/image72.e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emf"/><Relationship Id="rId13" Type="http://schemas.openxmlformats.org/officeDocument/2006/relationships/oleObject" Target="../embeddings/oleObject73.bin"/><Relationship Id="rId3" Type="http://schemas.openxmlformats.org/officeDocument/2006/relationships/oleObject" Target="../embeddings/oleObject68.bin"/><Relationship Id="rId7" Type="http://schemas.openxmlformats.org/officeDocument/2006/relationships/oleObject" Target="../embeddings/oleObject70.bin"/><Relationship Id="rId12" Type="http://schemas.openxmlformats.org/officeDocument/2006/relationships/image" Target="../media/image79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76.emf"/><Relationship Id="rId11" Type="http://schemas.openxmlformats.org/officeDocument/2006/relationships/oleObject" Target="../embeddings/oleObject72.bin"/><Relationship Id="rId5" Type="http://schemas.openxmlformats.org/officeDocument/2006/relationships/oleObject" Target="../embeddings/oleObject69.bin"/><Relationship Id="rId10" Type="http://schemas.openxmlformats.org/officeDocument/2006/relationships/image" Target="../media/image78.emf"/><Relationship Id="rId4" Type="http://schemas.openxmlformats.org/officeDocument/2006/relationships/image" Target="../media/image75.emf"/><Relationship Id="rId9" Type="http://schemas.openxmlformats.org/officeDocument/2006/relationships/oleObject" Target="../embeddings/oleObject71.bin"/><Relationship Id="rId14" Type="http://schemas.openxmlformats.org/officeDocument/2006/relationships/image" Target="../media/image80.e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emf"/><Relationship Id="rId3" Type="http://schemas.openxmlformats.org/officeDocument/2006/relationships/oleObject" Target="../embeddings/oleObject74.bin"/><Relationship Id="rId7" Type="http://schemas.openxmlformats.org/officeDocument/2006/relationships/oleObject" Target="../embeddings/oleObject7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8.vml"/><Relationship Id="rId6" Type="http://schemas.openxmlformats.org/officeDocument/2006/relationships/image" Target="../media/image82.emf"/><Relationship Id="rId5" Type="http://schemas.openxmlformats.org/officeDocument/2006/relationships/oleObject" Target="../embeddings/oleObject75.bin"/><Relationship Id="rId10" Type="http://schemas.openxmlformats.org/officeDocument/2006/relationships/image" Target="../media/image84.emf"/><Relationship Id="rId4" Type="http://schemas.openxmlformats.org/officeDocument/2006/relationships/image" Target="../media/image81.emf"/><Relationship Id="rId9" Type="http://schemas.openxmlformats.org/officeDocument/2006/relationships/oleObject" Target="../embeddings/oleObject77.bin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0.bin"/><Relationship Id="rId13" Type="http://schemas.openxmlformats.org/officeDocument/2006/relationships/image" Target="../media/image89.emf"/><Relationship Id="rId3" Type="http://schemas.openxmlformats.org/officeDocument/2006/relationships/notesSlide" Target="../notesSlides/notesSlide5.xml"/><Relationship Id="rId7" Type="http://schemas.openxmlformats.org/officeDocument/2006/relationships/image" Target="../media/image86.emf"/><Relationship Id="rId12" Type="http://schemas.openxmlformats.org/officeDocument/2006/relationships/oleObject" Target="../embeddings/oleObject8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9.vml"/><Relationship Id="rId6" Type="http://schemas.openxmlformats.org/officeDocument/2006/relationships/oleObject" Target="../embeddings/oleObject79.bin"/><Relationship Id="rId11" Type="http://schemas.openxmlformats.org/officeDocument/2006/relationships/image" Target="../media/image88.wmf"/><Relationship Id="rId5" Type="http://schemas.openxmlformats.org/officeDocument/2006/relationships/image" Target="../media/image85.emf"/><Relationship Id="rId10" Type="http://schemas.openxmlformats.org/officeDocument/2006/relationships/oleObject" Target="../embeddings/oleObject81.bin"/><Relationship Id="rId4" Type="http://schemas.openxmlformats.org/officeDocument/2006/relationships/oleObject" Target="../embeddings/oleObject78.bin"/><Relationship Id="rId9" Type="http://schemas.openxmlformats.org/officeDocument/2006/relationships/image" Target="../media/image87.emf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.emf"/><Relationship Id="rId3" Type="http://schemas.openxmlformats.org/officeDocument/2006/relationships/oleObject" Target="../embeddings/oleObject83.bin"/><Relationship Id="rId7" Type="http://schemas.openxmlformats.org/officeDocument/2006/relationships/oleObject" Target="../embeddings/oleObject85.bin"/><Relationship Id="rId12" Type="http://schemas.openxmlformats.org/officeDocument/2006/relationships/image" Target="../media/image94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0.vml"/><Relationship Id="rId6" Type="http://schemas.openxmlformats.org/officeDocument/2006/relationships/image" Target="../media/image91.emf"/><Relationship Id="rId11" Type="http://schemas.openxmlformats.org/officeDocument/2006/relationships/oleObject" Target="../embeddings/oleObject87.bin"/><Relationship Id="rId5" Type="http://schemas.openxmlformats.org/officeDocument/2006/relationships/oleObject" Target="../embeddings/oleObject84.bin"/><Relationship Id="rId10" Type="http://schemas.openxmlformats.org/officeDocument/2006/relationships/image" Target="../media/image93.emf"/><Relationship Id="rId4" Type="http://schemas.openxmlformats.org/officeDocument/2006/relationships/image" Target="../media/image90.emf"/><Relationship Id="rId9" Type="http://schemas.openxmlformats.org/officeDocument/2006/relationships/oleObject" Target="../embeddings/oleObject86.bin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.emf"/><Relationship Id="rId3" Type="http://schemas.openxmlformats.org/officeDocument/2006/relationships/oleObject" Target="../embeddings/oleObject88.bin"/><Relationship Id="rId7" Type="http://schemas.openxmlformats.org/officeDocument/2006/relationships/oleObject" Target="../embeddings/oleObject9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1.vml"/><Relationship Id="rId6" Type="http://schemas.openxmlformats.org/officeDocument/2006/relationships/image" Target="../media/image96.emf"/><Relationship Id="rId5" Type="http://schemas.openxmlformats.org/officeDocument/2006/relationships/oleObject" Target="../embeddings/oleObject89.bin"/><Relationship Id="rId10" Type="http://schemas.openxmlformats.org/officeDocument/2006/relationships/image" Target="../media/image98.emf"/><Relationship Id="rId4" Type="http://schemas.openxmlformats.org/officeDocument/2006/relationships/image" Target="../media/image95.emf"/><Relationship Id="rId9" Type="http://schemas.openxmlformats.org/officeDocument/2006/relationships/oleObject" Target="../embeddings/oleObject91.bin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1.emf"/><Relationship Id="rId3" Type="http://schemas.openxmlformats.org/officeDocument/2006/relationships/oleObject" Target="../embeddings/oleObject92.bin"/><Relationship Id="rId7" Type="http://schemas.openxmlformats.org/officeDocument/2006/relationships/oleObject" Target="../embeddings/oleObject9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2.vml"/><Relationship Id="rId6" Type="http://schemas.openxmlformats.org/officeDocument/2006/relationships/image" Target="../media/image100.emf"/><Relationship Id="rId5" Type="http://schemas.openxmlformats.org/officeDocument/2006/relationships/oleObject" Target="../embeddings/oleObject93.bin"/><Relationship Id="rId10" Type="http://schemas.openxmlformats.org/officeDocument/2006/relationships/image" Target="../media/image102.emf"/><Relationship Id="rId4" Type="http://schemas.openxmlformats.org/officeDocument/2006/relationships/image" Target="../media/image99.emf"/><Relationship Id="rId9" Type="http://schemas.openxmlformats.org/officeDocument/2006/relationships/oleObject" Target="../embeddings/oleObject95.bin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wmf"/><Relationship Id="rId3" Type="http://schemas.openxmlformats.org/officeDocument/2006/relationships/oleObject" Target="../embeddings/oleObject96.bin"/><Relationship Id="rId7" Type="http://schemas.openxmlformats.org/officeDocument/2006/relationships/oleObject" Target="../embeddings/oleObject9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3.vml"/><Relationship Id="rId6" Type="http://schemas.openxmlformats.org/officeDocument/2006/relationships/image" Target="../media/image104.wmf"/><Relationship Id="rId5" Type="http://schemas.openxmlformats.org/officeDocument/2006/relationships/oleObject" Target="../embeddings/oleObject97.bin"/><Relationship Id="rId4" Type="http://schemas.openxmlformats.org/officeDocument/2006/relationships/image" Target="../media/image103.wm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8.wmf"/><Relationship Id="rId3" Type="http://schemas.openxmlformats.org/officeDocument/2006/relationships/oleObject" Target="../embeddings/oleObject99.bin"/><Relationship Id="rId7" Type="http://schemas.openxmlformats.org/officeDocument/2006/relationships/oleObject" Target="../embeddings/oleObject10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4.vml"/><Relationship Id="rId6" Type="http://schemas.openxmlformats.org/officeDocument/2006/relationships/image" Target="../media/image107.wmf"/><Relationship Id="rId5" Type="http://schemas.openxmlformats.org/officeDocument/2006/relationships/oleObject" Target="../embeddings/oleObject100.bin"/><Relationship Id="rId4" Type="http://schemas.openxmlformats.org/officeDocument/2006/relationships/image" Target="../media/image106.wmf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1.wmf"/><Relationship Id="rId13" Type="http://schemas.openxmlformats.org/officeDocument/2006/relationships/oleObject" Target="../embeddings/oleObject107.bin"/><Relationship Id="rId3" Type="http://schemas.openxmlformats.org/officeDocument/2006/relationships/oleObject" Target="../embeddings/oleObject102.bin"/><Relationship Id="rId7" Type="http://schemas.openxmlformats.org/officeDocument/2006/relationships/oleObject" Target="../embeddings/oleObject104.bin"/><Relationship Id="rId12" Type="http://schemas.openxmlformats.org/officeDocument/2006/relationships/image" Target="../media/image113.w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15.wmf"/><Relationship Id="rId1" Type="http://schemas.openxmlformats.org/officeDocument/2006/relationships/vmlDrawing" Target="../drawings/vmlDrawing25.vml"/><Relationship Id="rId6" Type="http://schemas.openxmlformats.org/officeDocument/2006/relationships/image" Target="../media/image110.wmf"/><Relationship Id="rId11" Type="http://schemas.openxmlformats.org/officeDocument/2006/relationships/oleObject" Target="../embeddings/oleObject106.bin"/><Relationship Id="rId5" Type="http://schemas.openxmlformats.org/officeDocument/2006/relationships/oleObject" Target="../embeddings/oleObject103.bin"/><Relationship Id="rId15" Type="http://schemas.openxmlformats.org/officeDocument/2006/relationships/oleObject" Target="../embeddings/oleObject108.bin"/><Relationship Id="rId10" Type="http://schemas.openxmlformats.org/officeDocument/2006/relationships/image" Target="../media/image112.wmf"/><Relationship Id="rId4" Type="http://schemas.openxmlformats.org/officeDocument/2006/relationships/image" Target="../media/image109.wmf"/><Relationship Id="rId9" Type="http://schemas.openxmlformats.org/officeDocument/2006/relationships/oleObject" Target="../embeddings/oleObject105.bin"/><Relationship Id="rId14" Type="http://schemas.openxmlformats.org/officeDocument/2006/relationships/image" Target="../media/image114.wmf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1.wmf"/><Relationship Id="rId13" Type="http://schemas.openxmlformats.org/officeDocument/2006/relationships/oleObject" Target="../embeddings/oleObject114.bin"/><Relationship Id="rId3" Type="http://schemas.openxmlformats.org/officeDocument/2006/relationships/oleObject" Target="../embeddings/oleObject109.bin"/><Relationship Id="rId7" Type="http://schemas.openxmlformats.org/officeDocument/2006/relationships/oleObject" Target="../embeddings/oleObject111.bin"/><Relationship Id="rId12" Type="http://schemas.openxmlformats.org/officeDocument/2006/relationships/image" Target="../media/image119.w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21.wmf"/><Relationship Id="rId1" Type="http://schemas.openxmlformats.org/officeDocument/2006/relationships/vmlDrawing" Target="../drawings/vmlDrawing26.vml"/><Relationship Id="rId6" Type="http://schemas.openxmlformats.org/officeDocument/2006/relationships/image" Target="../media/image117.wmf"/><Relationship Id="rId11" Type="http://schemas.openxmlformats.org/officeDocument/2006/relationships/oleObject" Target="../embeddings/oleObject113.bin"/><Relationship Id="rId5" Type="http://schemas.openxmlformats.org/officeDocument/2006/relationships/oleObject" Target="../embeddings/oleObject110.bin"/><Relationship Id="rId15" Type="http://schemas.openxmlformats.org/officeDocument/2006/relationships/oleObject" Target="../embeddings/oleObject115.bin"/><Relationship Id="rId10" Type="http://schemas.openxmlformats.org/officeDocument/2006/relationships/image" Target="../media/image118.wmf"/><Relationship Id="rId4" Type="http://schemas.openxmlformats.org/officeDocument/2006/relationships/image" Target="../media/image116.wmf"/><Relationship Id="rId9" Type="http://schemas.openxmlformats.org/officeDocument/2006/relationships/oleObject" Target="../embeddings/oleObject112.bin"/><Relationship Id="rId14" Type="http://schemas.openxmlformats.org/officeDocument/2006/relationships/image" Target="../media/image120.wmf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9.bin"/><Relationship Id="rId13" Type="http://schemas.openxmlformats.org/officeDocument/2006/relationships/image" Target="../media/image126.wmf"/><Relationship Id="rId3" Type="http://schemas.openxmlformats.org/officeDocument/2006/relationships/oleObject" Target="../embeddings/oleObject116.bin"/><Relationship Id="rId7" Type="http://schemas.openxmlformats.org/officeDocument/2006/relationships/image" Target="../media/image123.wmf"/><Relationship Id="rId12" Type="http://schemas.openxmlformats.org/officeDocument/2006/relationships/oleObject" Target="../embeddings/oleObject121.bin"/><Relationship Id="rId17" Type="http://schemas.openxmlformats.org/officeDocument/2006/relationships/image" Target="../media/image128.w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123.bin"/><Relationship Id="rId1" Type="http://schemas.openxmlformats.org/officeDocument/2006/relationships/vmlDrawing" Target="../drawings/vmlDrawing27.vml"/><Relationship Id="rId6" Type="http://schemas.openxmlformats.org/officeDocument/2006/relationships/oleObject" Target="../embeddings/oleObject118.bin"/><Relationship Id="rId11" Type="http://schemas.openxmlformats.org/officeDocument/2006/relationships/image" Target="../media/image125.wmf"/><Relationship Id="rId5" Type="http://schemas.openxmlformats.org/officeDocument/2006/relationships/oleObject" Target="../embeddings/oleObject117.bin"/><Relationship Id="rId15" Type="http://schemas.openxmlformats.org/officeDocument/2006/relationships/image" Target="../media/image127.wmf"/><Relationship Id="rId10" Type="http://schemas.openxmlformats.org/officeDocument/2006/relationships/oleObject" Target="../embeddings/oleObject120.bin"/><Relationship Id="rId4" Type="http://schemas.openxmlformats.org/officeDocument/2006/relationships/image" Target="../media/image122.wmf"/><Relationship Id="rId9" Type="http://schemas.openxmlformats.org/officeDocument/2006/relationships/image" Target="../media/image124.wmf"/><Relationship Id="rId14" Type="http://schemas.openxmlformats.org/officeDocument/2006/relationships/oleObject" Target="../embeddings/oleObject122.bin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2.png"/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0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wmf"/><Relationship Id="rId3" Type="http://schemas.openxmlformats.org/officeDocument/2006/relationships/oleObject" Target="../embeddings/oleObject124.bin"/><Relationship Id="rId7" Type="http://schemas.openxmlformats.org/officeDocument/2006/relationships/oleObject" Target="../embeddings/oleObject126.bin"/><Relationship Id="rId12" Type="http://schemas.openxmlformats.org/officeDocument/2006/relationships/image" Target="../media/image89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8.vml"/><Relationship Id="rId6" Type="http://schemas.openxmlformats.org/officeDocument/2006/relationships/image" Target="../media/image51.wmf"/><Relationship Id="rId11" Type="http://schemas.openxmlformats.org/officeDocument/2006/relationships/oleObject" Target="../embeddings/oleObject128.bin"/><Relationship Id="rId5" Type="http://schemas.openxmlformats.org/officeDocument/2006/relationships/oleObject" Target="../embeddings/oleObject125.bin"/><Relationship Id="rId10" Type="http://schemas.openxmlformats.org/officeDocument/2006/relationships/image" Target="../media/image82.emf"/><Relationship Id="rId4" Type="http://schemas.openxmlformats.org/officeDocument/2006/relationships/image" Target="../media/image20.wmf"/><Relationship Id="rId9" Type="http://schemas.openxmlformats.org/officeDocument/2006/relationships/oleObject" Target="../embeddings/oleObject127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CN" altLang="en-US" sz="6000" dirty="0" smtClean="0"/>
              <a:t>参数估计</a:t>
            </a:r>
            <a:endParaRPr lang="zh-CN" altLang="en-US" sz="600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551423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提纲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r>
              <a:rPr lang="zh-CN" altLang="en-US" sz="32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矩估计</a:t>
            </a:r>
            <a:r>
              <a:rPr lang="en-US" altLang="zh-CN" sz="32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(The Method of Moments)</a:t>
            </a:r>
          </a:p>
          <a:p>
            <a:endParaRPr lang="en-US" altLang="zh-CN" sz="3200" i="1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zh-CN" altLang="en-US" sz="3200" i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极大似然估计（</a:t>
            </a:r>
            <a:r>
              <a:rPr lang="en-US" altLang="zh-CN" sz="3200" i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The Method of Maximum Likelihood</a:t>
            </a:r>
            <a:r>
              <a:rPr lang="zh-CN" altLang="en-US" sz="3200" i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）</a:t>
            </a:r>
            <a:endParaRPr lang="en-US" altLang="zh-CN" sz="3200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endParaRPr lang="en-US" altLang="zh-CN" sz="3200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zh-CN" altLang="en-US" sz="3200" i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估计量的评选标准</a:t>
            </a:r>
            <a:endParaRPr lang="en-US" altLang="zh-CN" sz="3200" i="1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endParaRPr lang="en-US" altLang="zh-CN" sz="3200" dirty="0"/>
          </a:p>
          <a:p>
            <a:r>
              <a:rPr lang="zh-CN" altLang="en-US" sz="3200" dirty="0" smtClean="0"/>
              <a:t>区间估计</a:t>
            </a:r>
            <a:endParaRPr lang="zh-CN" altLang="en-US" sz="32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104BC68C-0E8E-4068-AB15-A80592A8595D}" type="slidenum">
              <a:rPr lang="en-US" altLang="zh-CN" smtClean="0"/>
              <a:pPr/>
              <a:t>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139550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内容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zh-CN" altLang="en-US" sz="3200" dirty="0" smtClean="0"/>
              <a:t>基本概念与枢轴变量法</a:t>
            </a:r>
            <a:endParaRPr lang="en-US" altLang="zh-CN" sz="3200" dirty="0"/>
          </a:p>
          <a:p>
            <a:r>
              <a:rPr lang="zh-CN" altLang="en-US" sz="3200" dirty="0" smtClean="0"/>
              <a:t>正态总体情形</a:t>
            </a:r>
            <a:endParaRPr lang="en-US" altLang="zh-CN" sz="3200" dirty="0" smtClean="0"/>
          </a:p>
          <a:p>
            <a:r>
              <a:rPr lang="zh-CN" altLang="en-US" sz="3200" dirty="0" smtClean="0"/>
              <a:t>双正态总体情形</a:t>
            </a:r>
            <a:endParaRPr lang="en-US" altLang="zh-CN" sz="3200" dirty="0" smtClean="0"/>
          </a:p>
          <a:p>
            <a:r>
              <a:rPr lang="zh-CN" altLang="en-US" sz="3200" dirty="0"/>
              <a:t>单侧</a:t>
            </a:r>
            <a:r>
              <a:rPr lang="zh-CN" altLang="en-US" sz="3200" dirty="0" smtClean="0"/>
              <a:t>置信区间</a:t>
            </a:r>
            <a:endParaRPr lang="en-US" altLang="zh-CN" sz="3200" dirty="0" smtClean="0"/>
          </a:p>
          <a:p>
            <a:r>
              <a:rPr lang="zh-CN" altLang="en-US" sz="3200" dirty="0"/>
              <a:t>非正态总体均值的区间估计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CAB1394B-3A46-42F6-8841-E262D5A0BA7B}" type="slidenum">
              <a:rPr lang="en-US" altLang="zh-CN" smtClean="0"/>
              <a:pPr/>
              <a:t>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429080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区间估计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CAB1394B-3A46-42F6-8841-E262D5A0BA7B}" type="slidenum">
              <a:rPr lang="en-US" altLang="zh-CN" smtClean="0"/>
              <a:pPr/>
              <a:t>4</a:t>
            </a:fld>
            <a:endParaRPr lang="en-US" altLang="zh-CN"/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465358" y="1916807"/>
            <a:ext cx="8153400" cy="1754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3600" dirty="0"/>
              <a:t>     </a:t>
            </a:r>
            <a:r>
              <a:rPr lang="zh-CN" altLang="en-US" sz="3600" dirty="0"/>
              <a:t>区间估计：根据样本给出未知参数</a:t>
            </a:r>
            <a:r>
              <a:rPr lang="el-GR" altLang="zh-CN" sz="3600" dirty="0">
                <a:latin typeface="宋体" panose="02010600030101010101" pitchFamily="2" charset="-122"/>
              </a:rPr>
              <a:t>θ</a:t>
            </a:r>
            <a:r>
              <a:rPr lang="zh-CN" altLang="en-US" sz="3600" dirty="0"/>
              <a:t>的一个范围           ，并保证这个范围以较大概率包含参数真值，即：</a:t>
            </a:r>
          </a:p>
        </p:txBody>
      </p:sp>
      <p:graphicFrame>
        <p:nvGraphicFramePr>
          <p:cNvPr id="6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22401096"/>
              </p:ext>
            </p:extLst>
          </p:nvPr>
        </p:nvGraphicFramePr>
        <p:xfrm>
          <a:off x="320896" y="3717032"/>
          <a:ext cx="8456612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412" name="Equation" r:id="rId3" imgW="3365280" imgH="253800" progId="Equation.DSMT4">
                  <p:embed/>
                </p:oleObj>
              </mc:Choice>
              <mc:Fallback>
                <p:oleObj name="Equation" r:id="rId3" imgW="3365280" imgH="253800" progId="Equation.DSMT4">
                  <p:embed/>
                  <p:pic>
                    <p:nvPicPr>
                      <p:cNvPr id="193552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896" y="3717032"/>
                        <a:ext cx="8456612" cy="66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7309400"/>
              </p:ext>
            </p:extLst>
          </p:nvPr>
        </p:nvGraphicFramePr>
        <p:xfrm>
          <a:off x="2915816" y="2480568"/>
          <a:ext cx="1212850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413" name="Equation" r:id="rId5" imgW="482400" imgH="253800" progId="Equation.DSMT4">
                  <p:embed/>
                </p:oleObj>
              </mc:Choice>
              <mc:Fallback>
                <p:oleObj name="Equation" r:id="rId5" imgW="482400" imgH="253800" progId="Equation.DSMT4">
                  <p:embed/>
                  <p:pic>
                    <p:nvPicPr>
                      <p:cNvPr id="193553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5816" y="2480568"/>
                        <a:ext cx="1212850" cy="66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876503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置信区间与置信度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CAB1394B-3A46-42F6-8841-E262D5A0BA7B}" type="slidenum">
              <a:rPr lang="en-US" altLang="zh-CN" smtClean="0"/>
              <a:pPr/>
              <a:t>5</a:t>
            </a:fld>
            <a:endParaRPr lang="en-US" altLang="zh-CN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4019228"/>
              </p:ext>
            </p:extLst>
          </p:nvPr>
        </p:nvGraphicFramePr>
        <p:xfrm>
          <a:off x="640380" y="1700808"/>
          <a:ext cx="7886700" cy="2016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526" name="Equation" r:id="rId3" imgW="2666880" imgH="685800" progId="Equation.DSMT4">
                  <p:embed/>
                </p:oleObj>
              </mc:Choice>
              <mc:Fallback>
                <p:oleObj name="Equation" r:id="rId3" imgW="2666880" imgH="685800" progId="Equation.DSMT4">
                  <p:embed/>
                  <p:pic>
                    <p:nvPicPr>
                      <p:cNvPr id="19456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380" y="1700808"/>
                        <a:ext cx="7886700" cy="2016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33651889"/>
              </p:ext>
            </p:extLst>
          </p:nvPr>
        </p:nvGraphicFramePr>
        <p:xfrm>
          <a:off x="1523030" y="3818533"/>
          <a:ext cx="5976938" cy="695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527" name="Equation" r:id="rId5" imgW="1968480" imgH="228600" progId="Equation.DSMT4">
                  <p:embed/>
                </p:oleObj>
              </mc:Choice>
              <mc:Fallback>
                <p:oleObj name="Equation" r:id="rId5" imgW="1968480" imgH="228600" progId="Equation.DSMT4">
                  <p:embed/>
                  <p:pic>
                    <p:nvPicPr>
                      <p:cNvPr id="19456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3030" y="3818533"/>
                        <a:ext cx="5976938" cy="695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6810724"/>
              </p:ext>
            </p:extLst>
          </p:nvPr>
        </p:nvGraphicFramePr>
        <p:xfrm>
          <a:off x="659430" y="4742458"/>
          <a:ext cx="7777163" cy="148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528" name="Equation" r:id="rId7" imgW="2311200" imgH="444240" progId="Equation.DSMT4">
                  <p:embed/>
                </p:oleObj>
              </mc:Choice>
              <mc:Fallback>
                <p:oleObj name="Equation" r:id="rId7" imgW="2311200" imgH="444240" progId="Equation.DSMT4">
                  <p:embed/>
                  <p:pic>
                    <p:nvPicPr>
                      <p:cNvPr id="194566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9430" y="4742458"/>
                        <a:ext cx="7777163" cy="148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63656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CAB1394B-3A46-42F6-8841-E262D5A0BA7B}" type="slidenum">
              <a:rPr lang="en-US" altLang="zh-CN" smtClean="0"/>
              <a:pPr/>
              <a:t>6</a:t>
            </a:fld>
            <a:endParaRPr lang="en-US" altLang="zh-CN"/>
          </a:p>
        </p:txBody>
      </p:sp>
      <p:graphicFrame>
        <p:nvGraphicFramePr>
          <p:cNvPr id="5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78373110"/>
              </p:ext>
            </p:extLst>
          </p:nvPr>
        </p:nvGraphicFramePr>
        <p:xfrm>
          <a:off x="765048" y="1700808"/>
          <a:ext cx="7848600" cy="1947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456" name="Equation" r:id="rId3" imgW="2234880" imgH="596880" progId="Equation.DSMT4">
                  <p:embed/>
                </p:oleObj>
              </mc:Choice>
              <mc:Fallback>
                <p:oleObj name="Equation" r:id="rId3" imgW="2234880" imgH="596880" progId="Equation.DSMT4">
                  <p:embed/>
                  <p:pic>
                    <p:nvPicPr>
                      <p:cNvPr id="195586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5048" y="1700808"/>
                        <a:ext cx="7848600" cy="1947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74782684"/>
              </p:ext>
            </p:extLst>
          </p:nvPr>
        </p:nvGraphicFramePr>
        <p:xfrm>
          <a:off x="781968" y="3683322"/>
          <a:ext cx="7921625" cy="176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457" name="Equation" r:id="rId5" imgW="2514600" imgH="571320" progId="Equation.DSMT4">
                  <p:embed/>
                </p:oleObj>
              </mc:Choice>
              <mc:Fallback>
                <p:oleObj name="Equation" r:id="rId5" imgW="2514600" imgH="571320" progId="Equation.DSMT4">
                  <p:embed/>
                  <p:pic>
                    <p:nvPicPr>
                      <p:cNvPr id="19558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1968" y="3683322"/>
                        <a:ext cx="7921625" cy="176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6"/>
          <p:cNvSpPr txBox="1">
            <a:spLocks noChangeArrowheads="1"/>
          </p:cNvSpPr>
          <p:nvPr/>
        </p:nvSpPr>
        <p:spPr bwMode="auto">
          <a:xfrm>
            <a:off x="765048" y="5581128"/>
            <a:ext cx="80645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900" u="sng" dirty="0">
                <a:solidFill>
                  <a:srgbClr val="800000"/>
                </a:solidFill>
              </a:rPr>
              <a:t>通常，采用</a:t>
            </a:r>
            <a:r>
              <a:rPr lang="en-US" altLang="zh-CN" sz="2900" u="sng" dirty="0">
                <a:solidFill>
                  <a:srgbClr val="800000"/>
                </a:solidFill>
              </a:rPr>
              <a:t>95%</a:t>
            </a:r>
            <a:r>
              <a:rPr lang="zh-CN" altLang="en-US" sz="2900" u="sng" dirty="0">
                <a:solidFill>
                  <a:srgbClr val="800000"/>
                </a:solidFill>
              </a:rPr>
              <a:t>的置信度，有时也取</a:t>
            </a:r>
            <a:r>
              <a:rPr lang="en-US" altLang="zh-CN" sz="2900" u="sng" dirty="0">
                <a:solidFill>
                  <a:srgbClr val="800000"/>
                </a:solidFill>
              </a:rPr>
              <a:t>99%</a:t>
            </a:r>
            <a:r>
              <a:rPr lang="zh-CN" altLang="en-US" sz="2900" u="sng" dirty="0">
                <a:solidFill>
                  <a:srgbClr val="800000"/>
                </a:solidFill>
              </a:rPr>
              <a:t>或</a:t>
            </a:r>
            <a:r>
              <a:rPr lang="en-US" altLang="zh-CN" sz="2900" u="sng" dirty="0">
                <a:solidFill>
                  <a:srgbClr val="800000"/>
                </a:solidFill>
              </a:rPr>
              <a:t>90%</a:t>
            </a:r>
          </a:p>
        </p:txBody>
      </p:sp>
    </p:spTree>
    <p:extLst>
      <p:ext uri="{BB962C8B-B14F-4D97-AF65-F5344CB8AC3E}">
        <p14:creationId xmlns:p14="http://schemas.microsoft.com/office/powerpoint/2010/main" val="2834728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几点说明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CAB1394B-3A46-42F6-8841-E262D5A0BA7B}" type="slidenum">
              <a:rPr lang="en-US" altLang="zh-CN" smtClean="0"/>
              <a:pPr/>
              <a:t>7</a:t>
            </a:fld>
            <a:endParaRPr lang="en-US" altLang="zh-CN"/>
          </a:p>
        </p:txBody>
      </p:sp>
      <p:sp>
        <p:nvSpPr>
          <p:cNvPr id="5" name="Text Box 2"/>
          <p:cNvSpPr txBox="1">
            <a:spLocks noChangeArrowheads="1"/>
          </p:cNvSpPr>
          <p:nvPr/>
        </p:nvSpPr>
        <p:spPr bwMode="auto">
          <a:xfrm>
            <a:off x="544612" y="2970848"/>
            <a:ext cx="773112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SzPct val="110000"/>
              <a:buFont typeface="Wingdings" panose="05000000000000000000" pitchFamily="2" charset="2"/>
              <a:buNone/>
            </a:pPr>
            <a:r>
              <a:rPr lang="en-US" altLang="zh-CN" b="1" dirty="0"/>
              <a:t> 2.  </a:t>
            </a:r>
            <a:r>
              <a:rPr lang="en-US" altLang="zh-CN" b="1" dirty="0">
                <a:sym typeface="Symbol" panose="05050102010706020507" pitchFamily="18" charset="2"/>
              </a:rPr>
              <a:t> </a:t>
            </a:r>
            <a:r>
              <a:rPr lang="zh-CN" altLang="en-US" b="1" dirty="0">
                <a:sym typeface="Symbol" panose="05050102010706020507" pitchFamily="18" charset="2"/>
              </a:rPr>
              <a:t>反映了估计的可靠度</a:t>
            </a:r>
            <a:r>
              <a:rPr lang="en-US" altLang="zh-CN" b="1" dirty="0">
                <a:sym typeface="Symbol" panose="05050102010706020507" pitchFamily="18" charset="2"/>
              </a:rPr>
              <a:t>,  </a:t>
            </a:r>
            <a:r>
              <a:rPr lang="zh-CN" altLang="en-US" b="1" dirty="0">
                <a:sym typeface="Symbol" panose="05050102010706020507" pitchFamily="18" charset="2"/>
              </a:rPr>
              <a:t>越小</a:t>
            </a:r>
            <a:r>
              <a:rPr lang="en-US" altLang="zh-CN" b="1" dirty="0">
                <a:sym typeface="Symbol" panose="05050102010706020507" pitchFamily="18" charset="2"/>
              </a:rPr>
              <a:t>, </a:t>
            </a:r>
            <a:r>
              <a:rPr lang="zh-CN" altLang="en-US" b="1" dirty="0">
                <a:sym typeface="Symbol" panose="05050102010706020507" pitchFamily="18" charset="2"/>
              </a:rPr>
              <a:t>越可靠</a:t>
            </a:r>
            <a:r>
              <a:rPr lang="en-US" altLang="zh-CN" b="1" dirty="0">
                <a:sym typeface="Symbol" panose="05050102010706020507" pitchFamily="18" charset="2"/>
              </a:rPr>
              <a:t>.</a:t>
            </a:r>
            <a:endParaRPr lang="en-US" altLang="zh-CN" b="1" dirty="0"/>
          </a:p>
        </p:txBody>
      </p:sp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612648" y="1672431"/>
            <a:ext cx="7183437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SzPct val="110000"/>
              <a:buFont typeface="Wingdings" panose="05000000000000000000" pitchFamily="2" charset="2"/>
              <a:buNone/>
            </a:pPr>
            <a:r>
              <a:rPr lang="en-US" altLang="zh-CN" b="1" dirty="0"/>
              <a:t>1. </a:t>
            </a:r>
            <a:r>
              <a:rPr lang="zh-CN" altLang="en-US" b="1" dirty="0"/>
              <a:t>置信区间的长度 </a:t>
            </a:r>
            <a:r>
              <a:rPr lang="en-US" altLang="zh-CN" b="1" dirty="0"/>
              <a:t>L </a:t>
            </a:r>
            <a:r>
              <a:rPr lang="zh-CN" altLang="en-US" b="1" dirty="0"/>
              <a:t>反映了估计精度</a:t>
            </a:r>
            <a:r>
              <a:rPr lang="en-US" altLang="zh-CN" b="1" dirty="0"/>
              <a:t>,   </a:t>
            </a: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1008063" y="3513138"/>
            <a:ext cx="715327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SzPct val="110000"/>
              <a:buFont typeface="Wingdings" panose="05000000000000000000" pitchFamily="2" charset="2"/>
              <a:buNone/>
            </a:pPr>
            <a:r>
              <a:rPr lang="en-US" altLang="zh-CN" b="1">
                <a:sym typeface="Symbol" panose="05050102010706020507" pitchFamily="18" charset="2"/>
              </a:rPr>
              <a:t> </a:t>
            </a:r>
            <a:r>
              <a:rPr lang="zh-CN" altLang="en-US" b="1">
                <a:sym typeface="Symbol" panose="05050102010706020507" pitchFamily="18" charset="2"/>
              </a:rPr>
              <a:t>越小</a:t>
            </a:r>
            <a:r>
              <a:rPr lang="en-US" altLang="zh-CN" b="1">
                <a:sym typeface="Symbol" panose="05050102010706020507" pitchFamily="18" charset="2"/>
              </a:rPr>
              <a:t>, 1-  </a:t>
            </a:r>
            <a:r>
              <a:rPr lang="zh-CN" altLang="en-US" b="1">
                <a:sym typeface="Symbol" panose="05050102010706020507" pitchFamily="18" charset="2"/>
              </a:rPr>
              <a:t>越大</a:t>
            </a:r>
            <a:r>
              <a:rPr lang="en-US" altLang="zh-CN" b="1">
                <a:sym typeface="Symbol" panose="05050102010706020507" pitchFamily="18" charset="2"/>
              </a:rPr>
              <a:t>, </a:t>
            </a:r>
            <a:r>
              <a:rPr lang="zh-CN" altLang="en-US" b="1">
                <a:sym typeface="Symbol" panose="05050102010706020507" pitchFamily="18" charset="2"/>
              </a:rPr>
              <a:t>估计的可靠度越高</a:t>
            </a:r>
            <a:r>
              <a:rPr lang="en-US" altLang="zh-CN" b="1">
                <a:sym typeface="Symbol" panose="05050102010706020507" pitchFamily="18" charset="2"/>
              </a:rPr>
              <a:t>,</a:t>
            </a:r>
            <a:r>
              <a:rPr lang="zh-CN" altLang="en-US" b="1">
                <a:sym typeface="Symbol" panose="05050102010706020507" pitchFamily="18" charset="2"/>
              </a:rPr>
              <a:t>但</a:t>
            </a:r>
          </a:p>
        </p:txBody>
      </p:sp>
      <p:sp>
        <p:nvSpPr>
          <p:cNvPr id="8" name="Text Box 5"/>
          <p:cNvSpPr txBox="1">
            <a:spLocks noChangeArrowheads="1"/>
          </p:cNvSpPr>
          <p:nvPr/>
        </p:nvSpPr>
        <p:spPr bwMode="auto">
          <a:xfrm>
            <a:off x="539750" y="4941888"/>
            <a:ext cx="7752443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SzPct val="110000"/>
              <a:buFont typeface="Wingdings" panose="05000000000000000000" pitchFamily="2" charset="2"/>
              <a:buNone/>
            </a:pPr>
            <a:r>
              <a:rPr lang="en-US" altLang="zh-CN" b="1" dirty="0"/>
              <a:t> 3. </a:t>
            </a:r>
            <a:r>
              <a:rPr lang="en-US" altLang="zh-CN" b="1" i="1" dirty="0">
                <a:sym typeface="Symbol" panose="05050102010706020507" pitchFamily="18" charset="2"/>
              </a:rPr>
              <a:t> </a:t>
            </a:r>
            <a:r>
              <a:rPr lang="zh-CN" altLang="en-US" b="1" dirty="0">
                <a:sym typeface="Symbol" panose="05050102010706020507" pitchFamily="18" charset="2"/>
              </a:rPr>
              <a:t>确定后</a:t>
            </a:r>
            <a:r>
              <a:rPr lang="en-US" altLang="zh-CN" b="1" dirty="0">
                <a:sym typeface="Symbol" panose="05050102010706020507" pitchFamily="18" charset="2"/>
              </a:rPr>
              <a:t>, </a:t>
            </a:r>
            <a:r>
              <a:rPr lang="zh-CN" altLang="en-US" b="1" dirty="0">
                <a:sym typeface="Symbol" panose="05050102010706020507" pitchFamily="18" charset="2"/>
              </a:rPr>
              <a:t>置信区间 的选取方法不唯一</a:t>
            </a:r>
            <a:r>
              <a:rPr lang="en-US" altLang="zh-CN" b="1" dirty="0"/>
              <a:t>, </a:t>
            </a:r>
          </a:p>
          <a:p>
            <a:pPr eaLnBrk="1" hangingPunct="1">
              <a:buSzPct val="110000"/>
              <a:buFont typeface="Wingdings" panose="05000000000000000000" pitchFamily="2" charset="2"/>
              <a:buNone/>
            </a:pPr>
            <a:r>
              <a:rPr lang="en-US" altLang="zh-CN" b="1" dirty="0"/>
              <a:t>     </a:t>
            </a:r>
            <a:r>
              <a:rPr lang="zh-CN" altLang="en-US" b="1" dirty="0"/>
              <a:t>常选长度最小的一个</a:t>
            </a:r>
            <a:r>
              <a:rPr lang="en-US" altLang="zh-CN" b="1" dirty="0"/>
              <a:t>.</a:t>
            </a:r>
          </a:p>
        </p:txBody>
      </p:sp>
      <p:sp>
        <p:nvSpPr>
          <p:cNvPr id="9" name="Text Box 7"/>
          <p:cNvSpPr txBox="1">
            <a:spLocks noChangeArrowheads="1"/>
          </p:cNvSpPr>
          <p:nvPr/>
        </p:nvSpPr>
        <p:spPr bwMode="auto">
          <a:xfrm>
            <a:off x="971550" y="2133600"/>
            <a:ext cx="422751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SzPct val="110000"/>
              <a:buFont typeface="Wingdings" panose="05000000000000000000" pitchFamily="2" charset="2"/>
              <a:buNone/>
            </a:pPr>
            <a:r>
              <a:rPr lang="en-US" altLang="zh-CN" b="1" dirty="0"/>
              <a:t> L </a:t>
            </a:r>
            <a:r>
              <a:rPr lang="zh-CN" altLang="en-US" b="1" dirty="0"/>
              <a:t>越小</a:t>
            </a:r>
            <a:r>
              <a:rPr lang="en-US" altLang="zh-CN" b="1" dirty="0"/>
              <a:t>,</a:t>
            </a:r>
            <a:r>
              <a:rPr lang="en-US" altLang="zh-CN" dirty="0"/>
              <a:t> </a:t>
            </a:r>
            <a:r>
              <a:rPr lang="zh-CN" altLang="en-US" b="1" dirty="0"/>
              <a:t>估计精度越高</a:t>
            </a:r>
            <a:r>
              <a:rPr lang="en-US" altLang="zh-CN" b="1" dirty="0"/>
              <a:t>.</a:t>
            </a:r>
          </a:p>
        </p:txBody>
      </p:sp>
      <p:sp>
        <p:nvSpPr>
          <p:cNvPr id="10" name="Text Box 8"/>
          <p:cNvSpPr txBox="1">
            <a:spLocks noChangeArrowheads="1"/>
          </p:cNvSpPr>
          <p:nvPr/>
        </p:nvSpPr>
        <p:spPr bwMode="auto">
          <a:xfrm>
            <a:off x="1002879" y="4033976"/>
            <a:ext cx="6878637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SzPct val="110000"/>
              <a:buFont typeface="Wingdings" panose="05000000000000000000" pitchFamily="2" charset="2"/>
              <a:buNone/>
            </a:pPr>
            <a:r>
              <a:rPr lang="zh-CN" altLang="en-US" b="1" dirty="0">
                <a:sym typeface="Symbol" panose="05050102010706020507" pitchFamily="18" charset="2"/>
              </a:rPr>
              <a:t>这时</a:t>
            </a:r>
            <a:r>
              <a:rPr lang="en-US" altLang="zh-CN" b="1" dirty="0">
                <a:sym typeface="Symbol" panose="05050102010706020507" pitchFamily="18" charset="2"/>
              </a:rPr>
              <a:t>,  L </a:t>
            </a:r>
            <a:r>
              <a:rPr lang="zh-CN" altLang="en-US" b="1" dirty="0"/>
              <a:t>往往增大</a:t>
            </a:r>
            <a:r>
              <a:rPr lang="en-US" altLang="zh-CN" b="1" dirty="0"/>
              <a:t>, </a:t>
            </a:r>
            <a:r>
              <a:rPr lang="zh-CN" altLang="en-US" b="1" dirty="0"/>
              <a:t>因而估计精度降低</a:t>
            </a:r>
            <a:r>
              <a:rPr lang="en-US" altLang="zh-CN" b="1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516801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枢轴变量法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CAB1394B-3A46-42F6-8841-E262D5A0BA7B}" type="slidenum">
              <a:rPr lang="en-US" altLang="zh-CN" smtClean="0"/>
              <a:pPr/>
              <a:t>8</a:t>
            </a:fld>
            <a:endParaRPr lang="en-US" altLang="zh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Box 3"/>
              <p:cNvSpPr txBox="1">
                <a:spLocks noChangeArrowheads="1"/>
              </p:cNvSpPr>
              <p:nvPr/>
            </p:nvSpPr>
            <p:spPr bwMode="auto">
              <a:xfrm>
                <a:off x="646556" y="1628800"/>
                <a:ext cx="7705227" cy="457625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514350" indent="-514350" eaLnBrk="1" hangingPunct="1">
                  <a:spcBef>
                    <a:spcPct val="50000"/>
                  </a:spcBef>
                  <a:buSzPct val="110000"/>
                  <a:buFont typeface="Wingdings" panose="05000000000000000000" pitchFamily="2" charset="2"/>
                  <a:buAutoNum type="arabicPeriod"/>
                </a:pPr>
                <a:r>
                  <a:rPr lang="zh-CN" altLang="en-US" b="1" dirty="0" smtClean="0"/>
                  <a:t>先找到一样本函数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𝑼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, …, </m:t>
                    </m:r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;</m:t>
                    </m:r>
                    <m:r>
                      <a:rPr lang="zh-CN" altLang="en-US" b="1" i="1" smtClean="0">
                        <a:latin typeface="Cambria Math" panose="02040503050406030204" pitchFamily="18" charset="0"/>
                      </a:rPr>
                      <m:t>𝜽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b="1" dirty="0" smtClean="0"/>
                  <a:t>,</a:t>
                </a:r>
                <a:r>
                  <a:rPr lang="zh-CN" altLang="en-US" b="1" dirty="0" smtClean="0"/>
                  <a:t>其包含待估参数</a:t>
                </a:r>
                <a14:m>
                  <m:oMath xmlns:m="http://schemas.openxmlformats.org/officeDocument/2006/math">
                    <m:r>
                      <a:rPr lang="zh-CN" altLang="en-US" b="1" i="1" smtClean="0">
                        <a:latin typeface="Cambria Math" panose="02040503050406030204" pitchFamily="18" charset="0"/>
                      </a:rPr>
                      <m:t>𝜽</m:t>
                    </m:r>
                  </m:oMath>
                </a14:m>
                <a:r>
                  <a:rPr lang="zh-CN" altLang="en-US" b="1" dirty="0" smtClean="0"/>
                  <a:t>，而不包含其他未知参数，且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𝑼</m:t>
                    </m:r>
                  </m:oMath>
                </a14:m>
                <a:r>
                  <a:rPr lang="zh-CN" altLang="en-US" b="1" dirty="0" smtClean="0"/>
                  <a:t>的分布已知，不依赖于任何未知参数。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𝑼</m:t>
                    </m:r>
                  </m:oMath>
                </a14:m>
                <a:r>
                  <a:rPr lang="zh-CN" altLang="en-US" b="1" dirty="0" smtClean="0"/>
                  <a:t>被称为</a:t>
                </a:r>
                <a:r>
                  <a:rPr lang="zh-CN" altLang="en-US" b="1" dirty="0" smtClean="0">
                    <a:solidFill>
                      <a:srgbClr val="FF0000"/>
                    </a:solidFill>
                  </a:rPr>
                  <a:t>枢轴变量</a:t>
                </a:r>
                <a:r>
                  <a:rPr lang="zh-CN" altLang="en-US" b="1" dirty="0" smtClean="0"/>
                  <a:t>。</a:t>
                </a:r>
                <a:endParaRPr lang="en-US" altLang="zh-CN" b="1" dirty="0" smtClean="0"/>
              </a:p>
              <a:p>
                <a:pPr marL="514350" indent="-514350" eaLnBrk="1" hangingPunct="1">
                  <a:spcBef>
                    <a:spcPct val="50000"/>
                  </a:spcBef>
                  <a:buSzPct val="110000"/>
                  <a:buFont typeface="Wingdings" panose="05000000000000000000" pitchFamily="2" charset="2"/>
                  <a:buAutoNum type="arabicPeriod"/>
                </a:pPr>
                <a:r>
                  <a:rPr lang="zh-CN" altLang="en-US" b="1" dirty="0" smtClean="0"/>
                  <a:t>给定置信度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zh-CN" altLang="en-US" b="1" i="1" smtClean="0">
                        <a:latin typeface="Cambria Math" panose="02040503050406030204" pitchFamily="18" charset="0"/>
                      </a:rPr>
                      <m:t>𝜶</m:t>
                    </m:r>
                  </m:oMath>
                </a14:m>
                <a:r>
                  <a:rPr lang="zh-CN" altLang="en-US" b="1" dirty="0" smtClean="0"/>
                  <a:t>，根据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𝑼</m:t>
                    </m:r>
                  </m:oMath>
                </a14:m>
                <a:r>
                  <a:rPr lang="zh-CN" altLang="en-US" b="1" dirty="0" smtClean="0"/>
                  <a:t>的分布找</a:t>
                </a:r>
                <a:r>
                  <a:rPr lang="en-US" altLang="zh-CN" b="1" dirty="0" smtClean="0"/>
                  <a:t>2</a:t>
                </a:r>
                <a:r>
                  <a:rPr lang="zh-CN" altLang="en-US" b="1" dirty="0" smtClean="0"/>
                  <a:t>个常数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zh-CN" altLang="en-US" b="1" dirty="0" smtClean="0"/>
                  <a:t>和</a:t>
                </a:r>
                <a14:m>
                  <m:oMath xmlns:m="http://schemas.openxmlformats.org/officeDocument/2006/math"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lang="zh-CN" altLang="en-US" b="1" dirty="0" smtClean="0"/>
                  <a:t>，使得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𝒂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𝑼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</m:d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zh-CN" altLang="en-US" b="1" i="1" smtClean="0">
                        <a:latin typeface="Cambria Math" panose="02040503050406030204" pitchFamily="18" charset="0"/>
                      </a:rPr>
                      <m:t>𝜶</m:t>
                    </m:r>
                  </m:oMath>
                </a14:m>
                <a:endParaRPr lang="en-US" altLang="zh-CN" b="1" dirty="0" smtClean="0"/>
              </a:p>
              <a:p>
                <a:pPr marL="514350" indent="-514350" eaLnBrk="1" hangingPunct="1">
                  <a:spcBef>
                    <a:spcPct val="50000"/>
                  </a:spcBef>
                  <a:buSzPct val="110000"/>
                  <a:buFont typeface="Wingdings" panose="05000000000000000000" pitchFamily="2" charset="2"/>
                  <a:buAutoNum type="arabicPeriod"/>
                </a:pPr>
                <a:r>
                  <a:rPr lang="zh-CN" altLang="en-US" b="1" dirty="0" smtClean="0"/>
                  <a:t>由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𝑼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lang="zh-CN" altLang="en-US" b="1" dirty="0" smtClean="0"/>
                  <a:t>解出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𝜽</m:t>
                            </m:r>
                          </m:e>
                        </m:acc>
                      </m:e>
                      <m:sub>
                        <m: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𝜽</m:t>
                    </m:r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altLang="zh-CN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zh-CN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b="1" i="1">
                                <a:latin typeface="Cambria Math" panose="02040503050406030204" pitchFamily="18" charset="0"/>
                              </a:rPr>
                              <m:t>𝜽</m:t>
                            </m:r>
                          </m:e>
                        </m:acc>
                      </m:e>
                      <m:sub>
                        <m: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zh-CN" altLang="en-US" b="1" dirty="0" smtClean="0"/>
                  <a:t>，则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zh-CN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b="1" i="1">
                                <a:latin typeface="Cambria Math" panose="02040503050406030204" pitchFamily="18" charset="0"/>
                              </a:rPr>
                              <m:t>𝜽</m:t>
                            </m:r>
                          </m:e>
                        </m:acc>
                      </m:e>
                      <m:sub>
                        <m:r>
                          <a:rPr lang="en-US" altLang="zh-CN" b="1" i="1" dirty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zh-CN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b="1" i="1">
                                <a:latin typeface="Cambria Math" panose="02040503050406030204" pitchFamily="18" charset="0"/>
                              </a:rPr>
                              <m:t>𝜽</m:t>
                            </m:r>
                          </m:e>
                        </m:acc>
                      </m:e>
                      <m:sub>
                        <m: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b="1" dirty="0" smtClean="0"/>
                  <a:t>为所求置信区间。</a:t>
                </a:r>
                <a:endParaRPr lang="en-US" altLang="zh-CN" b="1" dirty="0" smtClean="0"/>
              </a:p>
            </p:txBody>
          </p:sp>
        </mc:Choice>
        <mc:Fallback xmlns="">
          <p:sp>
            <p:nvSpPr>
              <p:cNvPr id="5" name="Text 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46556" y="1628800"/>
                <a:ext cx="7705227" cy="4576253"/>
              </a:xfrm>
              <a:prstGeom prst="rect">
                <a:avLst/>
              </a:prstGeom>
              <a:blipFill>
                <a:blip r:embed="rId2"/>
                <a:stretch>
                  <a:fillRect l="-2057" t="-2264" b="-2796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581504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正态总体</a:t>
            </a:r>
            <a:r>
              <a:rPr lang="zh-CN" altLang="en-US" dirty="0" smtClean="0"/>
              <a:t>，均值</a:t>
            </a:r>
            <a:r>
              <a:rPr lang="zh-CN" altLang="en-US" dirty="0"/>
              <a:t>的</a:t>
            </a:r>
            <a:r>
              <a:rPr lang="en-US" altLang="zh-CN" dirty="0"/>
              <a:t>μ</a:t>
            </a:r>
            <a:r>
              <a:rPr lang="zh-CN" altLang="en-US" dirty="0"/>
              <a:t>区间估计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CAB1394B-3A46-42F6-8841-E262D5A0BA7B}" type="slidenum">
              <a:rPr lang="en-US" altLang="zh-CN" smtClean="0"/>
              <a:pPr/>
              <a:t>9</a:t>
            </a:fld>
            <a:endParaRPr lang="en-US" altLang="zh-CN"/>
          </a:p>
        </p:txBody>
      </p:sp>
      <p:graphicFrame>
        <p:nvGraphicFramePr>
          <p:cNvPr id="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0321388"/>
              </p:ext>
            </p:extLst>
          </p:nvPr>
        </p:nvGraphicFramePr>
        <p:xfrm>
          <a:off x="611188" y="1571625"/>
          <a:ext cx="8064500" cy="1323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556" name="Equation" r:id="rId3" imgW="2552400" imgH="419040" progId="Equation.DSMT4">
                  <p:embed/>
                </p:oleObj>
              </mc:Choice>
              <mc:Fallback>
                <p:oleObj name="Equation" r:id="rId3" imgW="2552400" imgH="419040" progId="Equation.DSMT4">
                  <p:embed/>
                  <p:pic>
                    <p:nvPicPr>
                      <p:cNvPr id="19763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1571625"/>
                        <a:ext cx="8064500" cy="1323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611188" y="2924175"/>
            <a:ext cx="4681537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 dirty="0">
                <a:solidFill>
                  <a:srgbClr val="800000"/>
                </a:solidFill>
              </a:rPr>
              <a:t>(1). </a:t>
            </a:r>
            <a:r>
              <a:rPr lang="zh-CN" altLang="en-US" b="1" dirty="0">
                <a:solidFill>
                  <a:srgbClr val="800000"/>
                </a:solidFill>
              </a:rPr>
              <a:t>已知方差，估计均值</a:t>
            </a:r>
          </a:p>
        </p:txBody>
      </p:sp>
      <p:graphicFrame>
        <p:nvGraphicFramePr>
          <p:cNvPr id="7" name="Object 7"/>
          <p:cNvGraphicFramePr>
            <a:graphicFrameLocks noChangeAspect="1"/>
          </p:cNvGraphicFramePr>
          <p:nvPr/>
        </p:nvGraphicFramePr>
        <p:xfrm>
          <a:off x="395288" y="3327400"/>
          <a:ext cx="8064500" cy="1277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557" name="Equation" r:id="rId5" imgW="2603160" imgH="406080" progId="Equation.DSMT4">
                  <p:embed/>
                </p:oleObj>
              </mc:Choice>
              <mc:Fallback>
                <p:oleObj name="Equation" r:id="rId5" imgW="2603160" imgH="406080" progId="Equation.DSMT4">
                  <p:embed/>
                  <p:pic>
                    <p:nvPicPr>
                      <p:cNvPr id="197639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3327400"/>
                        <a:ext cx="8064500" cy="1277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8"/>
          <p:cNvGraphicFramePr>
            <a:graphicFrameLocks noChangeAspect="1"/>
          </p:cNvGraphicFramePr>
          <p:nvPr/>
        </p:nvGraphicFramePr>
        <p:xfrm>
          <a:off x="468313" y="4572000"/>
          <a:ext cx="8424862" cy="1830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558" name="Equation" r:id="rId7" imgW="2806560" imgH="583920" progId="Equation.DSMT4">
                  <p:embed/>
                </p:oleObj>
              </mc:Choice>
              <mc:Fallback>
                <p:oleObj name="Equation" r:id="rId7" imgW="2806560" imgH="583920" progId="Equation.DSMT4">
                  <p:embed/>
                  <p:pic>
                    <p:nvPicPr>
                      <p:cNvPr id="19764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4572000"/>
                        <a:ext cx="8424862" cy="1830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405759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正态总体，均值的</a:t>
            </a:r>
            <a:r>
              <a:rPr lang="en-US" altLang="zh-CN" dirty="0"/>
              <a:t>μ</a:t>
            </a:r>
            <a:r>
              <a:rPr lang="zh-CN" altLang="en-US" dirty="0"/>
              <a:t>区间估计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CAB1394B-3A46-42F6-8841-E262D5A0BA7B}" type="slidenum">
              <a:rPr lang="en-US" altLang="zh-CN" smtClean="0"/>
              <a:pPr/>
              <a:t>10</a:t>
            </a:fld>
            <a:endParaRPr lang="en-US" altLang="zh-CN"/>
          </a:p>
        </p:txBody>
      </p:sp>
      <p:graphicFrame>
        <p:nvGraphicFramePr>
          <p:cNvPr id="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63248832"/>
              </p:ext>
            </p:extLst>
          </p:nvPr>
        </p:nvGraphicFramePr>
        <p:xfrm>
          <a:off x="598584" y="1575445"/>
          <a:ext cx="7632700" cy="1198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654" name="Equation" r:id="rId3" imgW="2501640" imgH="393480" progId="Equation.DSMT4">
                  <p:embed/>
                </p:oleObj>
              </mc:Choice>
              <mc:Fallback>
                <p:oleObj name="Equation" r:id="rId3" imgW="2501640" imgH="393480" progId="Equation.DSMT4">
                  <p:embed/>
                  <p:pic>
                    <p:nvPicPr>
                      <p:cNvPr id="198659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8584" y="1575445"/>
                        <a:ext cx="7632700" cy="1198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1544878" y="5803776"/>
            <a:ext cx="1143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dirty="0"/>
              <a:t>即：</a:t>
            </a:r>
          </a:p>
        </p:txBody>
      </p:sp>
      <p:graphicFrame>
        <p:nvGraphicFramePr>
          <p:cNvPr id="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31573220"/>
              </p:ext>
            </p:extLst>
          </p:nvPr>
        </p:nvGraphicFramePr>
        <p:xfrm>
          <a:off x="2417955" y="5485631"/>
          <a:ext cx="5214937" cy="1244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655" name="Equation" r:id="rId5" imgW="1701720" imgH="406080" progId="Equation.DSMT4">
                  <p:embed/>
                </p:oleObj>
              </mc:Choice>
              <mc:Fallback>
                <p:oleObj name="Equation" r:id="rId5" imgW="1701720" imgH="406080" progId="Equation.DSMT4">
                  <p:embed/>
                  <p:pic>
                    <p:nvPicPr>
                      <p:cNvPr id="19866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7955" y="5485631"/>
                        <a:ext cx="5214937" cy="1244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Picture 6" descr="Tu9-1-2"/>
          <p:cNvPicPr>
            <a:picLocks noChangeAspect="1" noChangeArrowheads="1"/>
          </p:cNvPicPr>
          <p:nvPr/>
        </p:nvPicPr>
        <p:blipFill>
          <a:blip r:embed="rId7">
            <a:lum bright="-1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255"/>
          <a:stretch>
            <a:fillRect/>
          </a:stretch>
        </p:blipFill>
        <p:spPr bwMode="auto">
          <a:xfrm>
            <a:off x="741459" y="2708920"/>
            <a:ext cx="3890962" cy="2109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 Box 7"/>
          <p:cNvSpPr txBox="1">
            <a:spLocks noChangeArrowheads="1"/>
          </p:cNvSpPr>
          <p:nvPr/>
        </p:nvSpPr>
        <p:spPr bwMode="auto">
          <a:xfrm>
            <a:off x="5134071" y="2997845"/>
            <a:ext cx="3168650" cy="588963"/>
          </a:xfrm>
          <a:prstGeom prst="rect">
            <a:avLst/>
          </a:prstGeom>
          <a:noFill/>
          <a:ln w="9525">
            <a:solidFill>
              <a:srgbClr val="CC33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solidFill>
                  <a:srgbClr val="DF21C4"/>
                </a:solidFill>
              </a:rPr>
              <a:t>  </a:t>
            </a:r>
            <a:r>
              <a:rPr lang="zh-CN" altLang="en-US" b="1">
                <a:solidFill>
                  <a:srgbClr val="DF21C4"/>
                </a:solidFill>
              </a:rPr>
              <a:t>对称区间最短</a:t>
            </a:r>
          </a:p>
        </p:txBody>
      </p:sp>
      <p:graphicFrame>
        <p:nvGraphicFramePr>
          <p:cNvPr id="1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56788193"/>
              </p:ext>
            </p:extLst>
          </p:nvPr>
        </p:nvGraphicFramePr>
        <p:xfrm>
          <a:off x="5335411" y="3880669"/>
          <a:ext cx="2447925" cy="612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656" name="Equation" r:id="rId8" imgW="761760" imgH="190440" progId="Equation.DSMT4">
                  <p:embed/>
                </p:oleObj>
              </mc:Choice>
              <mc:Fallback>
                <p:oleObj name="Equation" r:id="rId8" imgW="761760" imgH="190440" progId="Equation.DSMT4">
                  <p:embed/>
                  <p:pic>
                    <p:nvPicPr>
                      <p:cNvPr id="198664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5411" y="3880669"/>
                        <a:ext cx="2447925" cy="612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4126342"/>
              </p:ext>
            </p:extLst>
          </p:nvPr>
        </p:nvGraphicFramePr>
        <p:xfrm>
          <a:off x="885921" y="4887764"/>
          <a:ext cx="6913563" cy="631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657" name="Equation" r:id="rId10" imgW="2197080" imgH="203040" progId="Equation.DSMT4">
                  <p:embed/>
                </p:oleObj>
              </mc:Choice>
              <mc:Fallback>
                <p:oleObj name="Equation" r:id="rId10" imgW="2197080" imgH="203040" progId="Equation.DSMT4">
                  <p:embed/>
                  <p:pic>
                    <p:nvPicPr>
                      <p:cNvPr id="198665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5921" y="4887764"/>
                        <a:ext cx="6913563" cy="631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" name="Group 26"/>
          <p:cNvGrpSpPr>
            <a:grpSpLocks/>
          </p:cNvGrpSpPr>
          <p:nvPr/>
        </p:nvGrpSpPr>
        <p:grpSpPr bwMode="auto">
          <a:xfrm>
            <a:off x="2343246" y="3505845"/>
            <a:ext cx="1655763" cy="1027113"/>
            <a:chOff x="1519" y="1785"/>
            <a:chExt cx="1043" cy="647"/>
          </a:xfrm>
        </p:grpSpPr>
        <p:sp>
          <p:nvSpPr>
            <p:cNvPr id="13" name="Line 24"/>
            <p:cNvSpPr>
              <a:spLocks noChangeShapeType="1"/>
            </p:cNvSpPr>
            <p:nvPr/>
          </p:nvSpPr>
          <p:spPr bwMode="auto">
            <a:xfrm>
              <a:off x="2562" y="2341"/>
              <a:ext cx="0" cy="91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Line 25"/>
            <p:cNvSpPr>
              <a:spLocks noChangeShapeType="1"/>
            </p:cNvSpPr>
            <p:nvPr/>
          </p:nvSpPr>
          <p:spPr bwMode="auto">
            <a:xfrm>
              <a:off x="1519" y="1785"/>
              <a:ext cx="0" cy="635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8094171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utoUpdateAnimBg="0"/>
      <p:bldP spid="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正态总体，均值的</a:t>
            </a:r>
            <a:r>
              <a:rPr lang="en-US" altLang="zh-CN" dirty="0"/>
              <a:t>μ</a:t>
            </a:r>
            <a:r>
              <a:rPr lang="zh-CN" altLang="en-US" dirty="0"/>
              <a:t>区间估计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CAB1394B-3A46-42F6-8841-E262D5A0BA7B}" type="slidenum">
              <a:rPr lang="en-US" altLang="zh-CN" smtClean="0"/>
              <a:pPr/>
              <a:t>11</a:t>
            </a:fld>
            <a:endParaRPr lang="en-US" altLang="zh-CN"/>
          </a:p>
        </p:txBody>
      </p:sp>
      <p:graphicFrame>
        <p:nvGraphicFramePr>
          <p:cNvPr id="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21986781"/>
              </p:ext>
            </p:extLst>
          </p:nvPr>
        </p:nvGraphicFramePr>
        <p:xfrm>
          <a:off x="1907779" y="1524214"/>
          <a:ext cx="4048125" cy="1239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674" name="Equation" r:id="rId3" imgW="1320480" imgH="406080" progId="Equation.DSMT4">
                  <p:embed/>
                </p:oleObj>
              </mc:Choice>
              <mc:Fallback>
                <p:oleObj name="Equation" r:id="rId3" imgW="1320480" imgH="406080" progId="Equation.DSMT4">
                  <p:embed/>
                  <p:pic>
                    <p:nvPicPr>
                      <p:cNvPr id="199683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7779" y="1524214"/>
                        <a:ext cx="4048125" cy="1239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828279" y="3827676"/>
            <a:ext cx="6768057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dirty="0"/>
              <a:t>得到</a:t>
            </a:r>
            <a:r>
              <a:rPr lang="el-GR" altLang="zh-CN" i="1" dirty="0"/>
              <a:t>μ</a:t>
            </a:r>
            <a:r>
              <a:rPr lang="zh-CN" altLang="en-US" dirty="0" smtClean="0"/>
              <a:t>的置信度为</a:t>
            </a:r>
            <a:r>
              <a:rPr lang="en-US" altLang="zh-CN" dirty="0" smtClean="0"/>
              <a:t>1-</a:t>
            </a:r>
            <a:r>
              <a:rPr lang="el-GR" altLang="zh-CN" dirty="0" smtClean="0"/>
              <a:t>α</a:t>
            </a:r>
            <a:r>
              <a:rPr lang="zh-CN" altLang="en-US" dirty="0" smtClean="0"/>
              <a:t>置信区间</a:t>
            </a:r>
            <a:r>
              <a:rPr lang="zh-CN" altLang="en-US" dirty="0"/>
              <a:t>为：</a:t>
            </a:r>
          </a:p>
        </p:txBody>
      </p:sp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91137681"/>
              </p:ext>
            </p:extLst>
          </p:nvPr>
        </p:nvGraphicFramePr>
        <p:xfrm>
          <a:off x="1115616" y="2676739"/>
          <a:ext cx="6696075" cy="1127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675" name="Equation" r:id="rId5" imgW="2184120" imgH="368280" progId="Equation.DSMT4">
                  <p:embed/>
                </p:oleObj>
              </mc:Choice>
              <mc:Fallback>
                <p:oleObj name="Equation" r:id="rId5" imgW="2184120" imgH="368280" progId="Equation.DSMT4">
                  <p:embed/>
                  <p:pic>
                    <p:nvPicPr>
                      <p:cNvPr id="199687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5616" y="2676739"/>
                        <a:ext cx="6696075" cy="1127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4758089"/>
              </p:ext>
            </p:extLst>
          </p:nvPr>
        </p:nvGraphicFramePr>
        <p:xfrm>
          <a:off x="2212592" y="4322682"/>
          <a:ext cx="4672012" cy="1127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676" name="Equation" r:id="rId7" imgW="1523880" imgH="368280" progId="Equation.DSMT4">
                  <p:embed/>
                </p:oleObj>
              </mc:Choice>
              <mc:Fallback>
                <p:oleObj name="Equation" r:id="rId7" imgW="1523880" imgH="368280" progId="Equation.DSMT4">
                  <p:embed/>
                  <p:pic>
                    <p:nvPicPr>
                      <p:cNvPr id="199688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2592" y="4322682"/>
                        <a:ext cx="4672012" cy="1127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" name="Group 9"/>
          <p:cNvGrpSpPr>
            <a:grpSpLocks/>
          </p:cNvGrpSpPr>
          <p:nvPr/>
        </p:nvGrpSpPr>
        <p:grpSpPr bwMode="auto">
          <a:xfrm>
            <a:off x="737010" y="5564187"/>
            <a:ext cx="7623175" cy="1293813"/>
            <a:chOff x="319" y="3259"/>
            <a:chExt cx="4574" cy="755"/>
          </a:xfrm>
        </p:grpSpPr>
        <p:grpSp>
          <p:nvGrpSpPr>
            <p:cNvPr id="11" name="Group 10"/>
            <p:cNvGrpSpPr>
              <a:grpSpLocks/>
            </p:cNvGrpSpPr>
            <p:nvPr/>
          </p:nvGrpSpPr>
          <p:grpSpPr bwMode="auto">
            <a:xfrm>
              <a:off x="319" y="3259"/>
              <a:ext cx="2899" cy="755"/>
              <a:chOff x="319" y="2971"/>
              <a:chExt cx="2899" cy="755"/>
            </a:xfrm>
          </p:grpSpPr>
          <p:sp>
            <p:nvSpPr>
              <p:cNvPr id="13" name="Text Box 11"/>
              <p:cNvSpPr txBox="1">
                <a:spLocks noChangeArrowheads="1"/>
              </p:cNvSpPr>
              <p:nvPr/>
            </p:nvSpPr>
            <p:spPr bwMode="auto">
              <a:xfrm>
                <a:off x="319" y="3128"/>
                <a:ext cx="1620" cy="34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3300" dirty="0"/>
                  <a:t> </a:t>
                </a:r>
                <a:r>
                  <a:rPr lang="zh-CN" altLang="en-US" sz="3300" dirty="0"/>
                  <a:t>区间长度  </a:t>
                </a:r>
                <a:r>
                  <a:rPr lang="en-US" altLang="zh-CN" sz="3300" dirty="0"/>
                  <a:t>L=</a:t>
                </a:r>
              </a:p>
            </p:txBody>
          </p:sp>
          <p:graphicFrame>
            <p:nvGraphicFramePr>
              <p:cNvPr id="14" name="Object 12"/>
              <p:cNvGraphicFramePr>
                <a:graphicFrameLocks noChangeAspect="1"/>
              </p:cNvGraphicFramePr>
              <p:nvPr/>
            </p:nvGraphicFramePr>
            <p:xfrm>
              <a:off x="1918" y="2971"/>
              <a:ext cx="1300" cy="75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7677" name="Equation" r:id="rId9" imgW="672840" imgH="431640" progId="Equation.DSMT4">
                      <p:embed/>
                    </p:oleObj>
                  </mc:Choice>
                  <mc:Fallback>
                    <p:oleObj name="Equation" r:id="rId9" imgW="672840" imgH="431640" progId="Equation.DSMT4">
                      <p:embed/>
                      <p:pic>
                        <p:nvPicPr>
                          <p:cNvPr id="26631" name="Object 1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lum bright="-100000"/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918" y="2971"/>
                            <a:ext cx="1300" cy="75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 algn="ctr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12" name="Text Box 13"/>
            <p:cNvSpPr txBox="1">
              <a:spLocks noChangeArrowheads="1"/>
            </p:cNvSpPr>
            <p:nvPr/>
          </p:nvSpPr>
          <p:spPr bwMode="auto">
            <a:xfrm>
              <a:off x="3148" y="3465"/>
              <a:ext cx="1745" cy="3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900" dirty="0">
                  <a:solidFill>
                    <a:schemeClr val="tx2"/>
                  </a:solidFill>
                </a:rPr>
                <a:t>  </a:t>
              </a:r>
              <a:r>
                <a:rPr lang="en-US" altLang="zh-CN" sz="2500" b="1" dirty="0">
                  <a:solidFill>
                    <a:schemeClr val="tx2"/>
                  </a:solidFill>
                </a:rPr>
                <a:t>——</a:t>
              </a:r>
              <a:r>
                <a:rPr lang="en-US" altLang="zh-CN" sz="3300" dirty="0">
                  <a:solidFill>
                    <a:schemeClr val="tx2"/>
                  </a:solidFill>
                </a:rPr>
                <a:t> </a:t>
              </a:r>
              <a:r>
                <a:rPr lang="zh-CN" altLang="en-US" sz="3300" dirty="0">
                  <a:solidFill>
                    <a:schemeClr val="tx2"/>
                  </a:solidFill>
                </a:rPr>
                <a:t>达到最短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47458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正态总体，均值的</a:t>
            </a:r>
            <a:r>
              <a:rPr lang="en-US" altLang="zh-CN" dirty="0"/>
              <a:t>μ</a:t>
            </a:r>
            <a:r>
              <a:rPr lang="zh-CN" altLang="en-US" dirty="0"/>
              <a:t>区间估计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CAB1394B-3A46-42F6-8841-E262D5A0BA7B}" type="slidenum">
              <a:rPr lang="en-US" altLang="zh-CN" smtClean="0"/>
              <a:pPr/>
              <a:t>12</a:t>
            </a:fld>
            <a:endParaRPr lang="en-US" altLang="zh-CN"/>
          </a:p>
        </p:txBody>
      </p:sp>
      <p:graphicFrame>
        <p:nvGraphicFramePr>
          <p:cNvPr id="5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66723490"/>
              </p:ext>
            </p:extLst>
          </p:nvPr>
        </p:nvGraphicFramePr>
        <p:xfrm>
          <a:off x="4750500" y="4926529"/>
          <a:ext cx="4310063" cy="1525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844" name="Equation" r:id="rId3" imgW="1625400" imgH="469800" progId="Equation.DSMT4">
                  <p:embed/>
                </p:oleObj>
              </mc:Choice>
              <mc:Fallback>
                <p:oleObj name="Equation" r:id="rId3" imgW="1625400" imgH="469800" progId="Equation.DSMT4">
                  <p:embed/>
                  <p:pic>
                    <p:nvPicPr>
                      <p:cNvPr id="200706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lum bright="-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50500" y="4926529"/>
                        <a:ext cx="4310063" cy="1525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6325274"/>
              </p:ext>
            </p:extLst>
          </p:nvPr>
        </p:nvGraphicFramePr>
        <p:xfrm>
          <a:off x="665068" y="5011508"/>
          <a:ext cx="3597275" cy="1525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845" name="Equation" r:id="rId5" imgW="1434960" imgH="495000" progId="Equation.DSMT4">
                  <p:embed/>
                </p:oleObj>
              </mc:Choice>
              <mc:Fallback>
                <p:oleObj name="Equation" r:id="rId5" imgW="1434960" imgH="495000" progId="Equation.DSMT4">
                  <p:embed/>
                  <p:pic>
                    <p:nvPicPr>
                      <p:cNvPr id="200707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lum bright="-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5068" y="5011508"/>
                        <a:ext cx="3597275" cy="1525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Group 4"/>
          <p:cNvGrpSpPr>
            <a:grpSpLocks/>
          </p:cNvGrpSpPr>
          <p:nvPr/>
        </p:nvGrpSpPr>
        <p:grpSpPr bwMode="auto">
          <a:xfrm>
            <a:off x="4587730" y="1516698"/>
            <a:ext cx="4343400" cy="3022600"/>
            <a:chOff x="567" y="2068"/>
            <a:chExt cx="2256" cy="1598"/>
          </a:xfrm>
        </p:grpSpPr>
        <p:pic>
          <p:nvPicPr>
            <p:cNvPr id="8" name="Picture 5"/>
            <p:cNvPicPr>
              <a:picLocks noChangeAspect="1" noChangeArrowheads="1"/>
            </p:cNvPicPr>
            <p:nvPr/>
          </p:nvPicPr>
          <p:blipFill>
            <a:blip r:embed="rId7">
              <a:lum bright="-10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7" y="2068"/>
              <a:ext cx="2256" cy="13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Freeform 6" descr="浅色竖线"/>
            <p:cNvSpPr>
              <a:spLocks/>
            </p:cNvSpPr>
            <p:nvPr/>
          </p:nvSpPr>
          <p:spPr bwMode="auto">
            <a:xfrm>
              <a:off x="769" y="3155"/>
              <a:ext cx="213" cy="113"/>
            </a:xfrm>
            <a:custGeom>
              <a:avLst/>
              <a:gdLst>
                <a:gd name="T0" fmla="*/ 213 w 213"/>
                <a:gd name="T1" fmla="*/ 0 h 113"/>
                <a:gd name="T2" fmla="*/ 210 w 213"/>
                <a:gd name="T3" fmla="*/ 113 h 113"/>
                <a:gd name="T4" fmla="*/ 0 w 213"/>
                <a:gd name="T5" fmla="*/ 101 h 113"/>
                <a:gd name="T6" fmla="*/ 105 w 213"/>
                <a:gd name="T7" fmla="*/ 54 h 113"/>
                <a:gd name="T8" fmla="*/ 213 w 213"/>
                <a:gd name="T9" fmla="*/ 0 h 11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3"/>
                <a:gd name="T16" fmla="*/ 0 h 113"/>
                <a:gd name="T17" fmla="*/ 213 w 213"/>
                <a:gd name="T18" fmla="*/ 113 h 11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3" h="113">
                  <a:moveTo>
                    <a:pt x="213" y="0"/>
                  </a:moveTo>
                  <a:lnTo>
                    <a:pt x="210" y="113"/>
                  </a:lnTo>
                  <a:lnTo>
                    <a:pt x="0" y="101"/>
                  </a:lnTo>
                  <a:lnTo>
                    <a:pt x="105" y="54"/>
                  </a:lnTo>
                  <a:lnTo>
                    <a:pt x="213" y="0"/>
                  </a:lnTo>
                  <a:close/>
                </a:path>
              </a:pathLst>
            </a:custGeom>
            <a:pattFill prst="ltVert">
              <a:fgClr>
                <a:srgbClr val="FF0000"/>
              </a:fgClr>
              <a:bgClr>
                <a:srgbClr val="FFFFFF"/>
              </a:bgClr>
            </a:patt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0" name="Rectangle 7"/>
            <p:cNvSpPr>
              <a:spLocks noChangeArrowheads="1"/>
            </p:cNvSpPr>
            <p:nvPr/>
          </p:nvSpPr>
          <p:spPr bwMode="auto">
            <a:xfrm>
              <a:off x="864" y="3312"/>
              <a:ext cx="1584" cy="144"/>
            </a:xfrm>
            <a:prstGeom prst="rect">
              <a:avLst/>
            </a:prstGeom>
            <a:solidFill>
              <a:srgbClr val="C3E6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graphicFrame>
          <p:nvGraphicFramePr>
            <p:cNvPr id="11" name="Object 8"/>
            <p:cNvGraphicFramePr>
              <a:graphicFrameLocks noChangeAspect="1"/>
            </p:cNvGraphicFramePr>
            <p:nvPr/>
          </p:nvGraphicFramePr>
          <p:xfrm>
            <a:off x="2116" y="3261"/>
            <a:ext cx="345" cy="4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8846" name="Equation" r:id="rId8" imgW="228600" imgH="266400" progId="Equation.DSMT4">
                    <p:embed/>
                  </p:oleObj>
                </mc:Choice>
                <mc:Fallback>
                  <p:oleObj name="Equation" r:id="rId8" imgW="228600" imgH="266400" progId="Equation.DSMT4">
                    <p:embed/>
                    <p:pic>
                      <p:nvPicPr>
                        <p:cNvPr id="27655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lum bright="-10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16" y="3261"/>
                          <a:ext cx="345" cy="40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" name="Object 9"/>
            <p:cNvGraphicFramePr>
              <a:graphicFrameLocks noChangeAspect="1"/>
            </p:cNvGraphicFramePr>
            <p:nvPr/>
          </p:nvGraphicFramePr>
          <p:xfrm>
            <a:off x="824" y="3248"/>
            <a:ext cx="421" cy="4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8847" name="Equation" r:id="rId10" imgW="279360" imgH="266400" progId="Equation.DSMT4">
                    <p:embed/>
                  </p:oleObj>
                </mc:Choice>
                <mc:Fallback>
                  <p:oleObj name="Equation" r:id="rId10" imgW="279360" imgH="266400" progId="Equation.DSMT4">
                    <p:embed/>
                    <p:pic>
                      <p:nvPicPr>
                        <p:cNvPr id="27656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lum bright="-10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24" y="3248"/>
                          <a:ext cx="421" cy="40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" name="Freeform 10" descr="浅色竖线"/>
            <p:cNvSpPr>
              <a:spLocks/>
            </p:cNvSpPr>
            <p:nvPr/>
          </p:nvSpPr>
          <p:spPr bwMode="auto">
            <a:xfrm>
              <a:off x="2221" y="2880"/>
              <a:ext cx="384" cy="385"/>
            </a:xfrm>
            <a:custGeom>
              <a:avLst/>
              <a:gdLst>
                <a:gd name="T0" fmla="*/ 0 w 384"/>
                <a:gd name="T1" fmla="*/ 0 h 385"/>
                <a:gd name="T2" fmla="*/ 111 w 384"/>
                <a:gd name="T3" fmla="*/ 192 h 385"/>
                <a:gd name="T4" fmla="*/ 192 w 384"/>
                <a:gd name="T5" fmla="*/ 273 h 385"/>
                <a:gd name="T6" fmla="*/ 288 w 384"/>
                <a:gd name="T7" fmla="*/ 329 h 385"/>
                <a:gd name="T8" fmla="*/ 384 w 384"/>
                <a:gd name="T9" fmla="*/ 385 h 385"/>
                <a:gd name="T10" fmla="*/ 0 w 384"/>
                <a:gd name="T11" fmla="*/ 385 h 385"/>
                <a:gd name="T12" fmla="*/ 0 w 384"/>
                <a:gd name="T13" fmla="*/ 0 h 38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84"/>
                <a:gd name="T22" fmla="*/ 0 h 385"/>
                <a:gd name="T23" fmla="*/ 384 w 384"/>
                <a:gd name="T24" fmla="*/ 385 h 385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84" h="385">
                  <a:moveTo>
                    <a:pt x="0" y="0"/>
                  </a:moveTo>
                  <a:lnTo>
                    <a:pt x="111" y="192"/>
                  </a:lnTo>
                  <a:lnTo>
                    <a:pt x="192" y="273"/>
                  </a:lnTo>
                  <a:lnTo>
                    <a:pt x="288" y="329"/>
                  </a:lnTo>
                  <a:lnTo>
                    <a:pt x="384" y="385"/>
                  </a:lnTo>
                  <a:lnTo>
                    <a:pt x="0" y="385"/>
                  </a:lnTo>
                  <a:lnTo>
                    <a:pt x="0" y="0"/>
                  </a:lnTo>
                  <a:close/>
                </a:path>
              </a:pathLst>
            </a:custGeom>
            <a:pattFill prst="ltVert">
              <a:fgClr>
                <a:srgbClr val="FF0000"/>
              </a:fgClr>
              <a:bgClr>
                <a:schemeClr val="tx1"/>
              </a:bgClr>
            </a:patt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4" name="Group 11"/>
          <p:cNvGrpSpPr>
            <a:grpSpLocks/>
          </p:cNvGrpSpPr>
          <p:nvPr/>
        </p:nvGrpSpPr>
        <p:grpSpPr bwMode="auto">
          <a:xfrm>
            <a:off x="483300" y="1399295"/>
            <a:ext cx="4267200" cy="3125787"/>
            <a:chOff x="506" y="263"/>
            <a:chExt cx="2352" cy="1635"/>
          </a:xfrm>
        </p:grpSpPr>
        <p:sp>
          <p:nvSpPr>
            <p:cNvPr id="15" name="Freeform 12" descr="浅色竖线"/>
            <p:cNvSpPr>
              <a:spLocks/>
            </p:cNvSpPr>
            <p:nvPr/>
          </p:nvSpPr>
          <p:spPr bwMode="auto">
            <a:xfrm>
              <a:off x="2260" y="1309"/>
              <a:ext cx="363" cy="234"/>
            </a:xfrm>
            <a:custGeom>
              <a:avLst/>
              <a:gdLst>
                <a:gd name="T0" fmla="*/ 12 w 363"/>
                <a:gd name="T1" fmla="*/ 0 h 234"/>
                <a:gd name="T2" fmla="*/ 0 w 363"/>
                <a:gd name="T3" fmla="*/ 234 h 234"/>
                <a:gd name="T4" fmla="*/ 363 w 363"/>
                <a:gd name="T5" fmla="*/ 222 h 234"/>
                <a:gd name="T6" fmla="*/ 164 w 363"/>
                <a:gd name="T7" fmla="*/ 133 h 234"/>
                <a:gd name="T8" fmla="*/ 82 w 363"/>
                <a:gd name="T9" fmla="*/ 63 h 234"/>
                <a:gd name="T10" fmla="*/ 12 w 363"/>
                <a:gd name="T11" fmla="*/ 0 h 23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63"/>
                <a:gd name="T19" fmla="*/ 0 h 234"/>
                <a:gd name="T20" fmla="*/ 363 w 363"/>
                <a:gd name="T21" fmla="*/ 234 h 234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63" h="234">
                  <a:moveTo>
                    <a:pt x="12" y="0"/>
                  </a:moveTo>
                  <a:lnTo>
                    <a:pt x="0" y="234"/>
                  </a:lnTo>
                  <a:lnTo>
                    <a:pt x="363" y="222"/>
                  </a:lnTo>
                  <a:lnTo>
                    <a:pt x="164" y="133"/>
                  </a:lnTo>
                  <a:lnTo>
                    <a:pt x="82" y="63"/>
                  </a:lnTo>
                  <a:lnTo>
                    <a:pt x="12" y="0"/>
                  </a:lnTo>
                  <a:close/>
                </a:path>
              </a:pathLst>
            </a:custGeom>
            <a:pattFill prst="ltVert">
              <a:fgClr>
                <a:srgbClr val="FF0000"/>
              </a:fgClr>
              <a:bgClr>
                <a:srgbClr val="FFFFFF"/>
              </a:bgClr>
            </a:patt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6" name="Freeform 13" descr="浅色竖线"/>
            <p:cNvSpPr>
              <a:spLocks/>
            </p:cNvSpPr>
            <p:nvPr/>
          </p:nvSpPr>
          <p:spPr bwMode="auto">
            <a:xfrm>
              <a:off x="645" y="1272"/>
              <a:ext cx="351" cy="246"/>
            </a:xfrm>
            <a:custGeom>
              <a:avLst/>
              <a:gdLst>
                <a:gd name="T0" fmla="*/ 328 w 351"/>
                <a:gd name="T1" fmla="*/ 0 h 246"/>
                <a:gd name="T2" fmla="*/ 351 w 351"/>
                <a:gd name="T3" fmla="*/ 234 h 246"/>
                <a:gd name="T4" fmla="*/ 0 w 351"/>
                <a:gd name="T5" fmla="*/ 246 h 246"/>
                <a:gd name="T6" fmla="*/ 197 w 351"/>
                <a:gd name="T7" fmla="*/ 145 h 246"/>
                <a:gd name="T8" fmla="*/ 279 w 351"/>
                <a:gd name="T9" fmla="*/ 75 h 246"/>
                <a:gd name="T10" fmla="*/ 328 w 351"/>
                <a:gd name="T11" fmla="*/ 0 h 24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51"/>
                <a:gd name="T19" fmla="*/ 0 h 246"/>
                <a:gd name="T20" fmla="*/ 351 w 351"/>
                <a:gd name="T21" fmla="*/ 246 h 24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51" h="246">
                  <a:moveTo>
                    <a:pt x="328" y="0"/>
                  </a:moveTo>
                  <a:lnTo>
                    <a:pt x="351" y="234"/>
                  </a:lnTo>
                  <a:lnTo>
                    <a:pt x="0" y="246"/>
                  </a:lnTo>
                  <a:lnTo>
                    <a:pt x="197" y="145"/>
                  </a:lnTo>
                  <a:lnTo>
                    <a:pt x="279" y="75"/>
                  </a:lnTo>
                  <a:lnTo>
                    <a:pt x="328" y="0"/>
                  </a:lnTo>
                  <a:close/>
                </a:path>
              </a:pathLst>
            </a:custGeom>
            <a:pattFill prst="ltVert">
              <a:fgClr>
                <a:srgbClr val="FF0000"/>
              </a:fgClr>
              <a:bgClr>
                <a:srgbClr val="FFFFFF"/>
              </a:bgClr>
            </a:patt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7" name="Picture 14"/>
            <p:cNvSpPr>
              <a:spLocks noChangeAspect="1" noChangeArrowheads="1"/>
            </p:cNvSpPr>
            <p:nvPr/>
          </p:nvSpPr>
          <p:spPr bwMode="auto">
            <a:xfrm>
              <a:off x="506" y="263"/>
              <a:ext cx="2352" cy="14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8" name="Rectangle 15"/>
            <p:cNvSpPr>
              <a:spLocks noChangeArrowheads="1"/>
            </p:cNvSpPr>
            <p:nvPr/>
          </p:nvSpPr>
          <p:spPr bwMode="auto">
            <a:xfrm>
              <a:off x="864" y="1584"/>
              <a:ext cx="1680" cy="192"/>
            </a:xfrm>
            <a:prstGeom prst="rect">
              <a:avLst/>
            </a:prstGeom>
            <a:solidFill>
              <a:srgbClr val="C3E6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graphicFrame>
          <p:nvGraphicFramePr>
            <p:cNvPr id="19" name="Object 16"/>
            <p:cNvGraphicFramePr>
              <a:graphicFrameLocks noChangeAspect="1"/>
            </p:cNvGraphicFramePr>
            <p:nvPr/>
          </p:nvGraphicFramePr>
          <p:xfrm>
            <a:off x="2069" y="1493"/>
            <a:ext cx="266" cy="4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8848" name="Equation" r:id="rId12" imgW="177480" imgH="266400" progId="Equation.DSMT4">
                    <p:embed/>
                  </p:oleObj>
                </mc:Choice>
                <mc:Fallback>
                  <p:oleObj name="Equation" r:id="rId12" imgW="177480" imgH="266400" progId="Equation.DSMT4">
                    <p:embed/>
                    <p:pic>
                      <p:nvPicPr>
                        <p:cNvPr id="27653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lum bright="-10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69" y="1493"/>
                          <a:ext cx="266" cy="40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" name="Object 17"/>
            <p:cNvGraphicFramePr>
              <a:graphicFrameLocks noChangeAspect="1"/>
            </p:cNvGraphicFramePr>
            <p:nvPr/>
          </p:nvGraphicFramePr>
          <p:xfrm>
            <a:off x="856" y="1528"/>
            <a:ext cx="374" cy="3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8849" name="Equation" r:id="rId14" imgW="279360" imgH="266400" progId="Equation.DSMT4">
                    <p:embed/>
                  </p:oleObj>
                </mc:Choice>
                <mc:Fallback>
                  <p:oleObj name="Equation" r:id="rId14" imgW="279360" imgH="266400" progId="Equation.DSMT4">
                    <p:embed/>
                    <p:pic>
                      <p:nvPicPr>
                        <p:cNvPr id="27654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lum bright="-10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56" y="1528"/>
                          <a:ext cx="374" cy="3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 algn="ctr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1" name="Text Box 18"/>
          <p:cNvSpPr txBox="1">
            <a:spLocks noChangeArrowheads="1"/>
          </p:cNvSpPr>
          <p:nvPr/>
        </p:nvSpPr>
        <p:spPr bwMode="auto">
          <a:xfrm>
            <a:off x="3485262" y="1949411"/>
            <a:ext cx="2682875" cy="595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300" dirty="0"/>
              <a:t>若 </a:t>
            </a:r>
            <a:r>
              <a:rPr lang="zh-CN" altLang="en-US" sz="3300" i="1" dirty="0">
                <a:sym typeface="Symbol" panose="05050102010706020507" pitchFamily="18" charset="2"/>
              </a:rPr>
              <a:t> </a:t>
            </a:r>
            <a:r>
              <a:rPr lang="en-US" altLang="zh-CN" sz="3300" i="1" dirty="0">
                <a:sym typeface="Symbol" panose="05050102010706020507" pitchFamily="18" charset="2"/>
              </a:rPr>
              <a:t>=</a:t>
            </a:r>
            <a:r>
              <a:rPr lang="en-US" altLang="zh-CN" sz="3300" dirty="0">
                <a:sym typeface="Symbol" panose="05050102010706020507" pitchFamily="18" charset="2"/>
              </a:rPr>
              <a:t> 0.05</a:t>
            </a:r>
            <a:endParaRPr lang="en-US" altLang="zh-CN" sz="3300" dirty="0"/>
          </a:p>
        </p:txBody>
      </p:sp>
      <p:sp>
        <p:nvSpPr>
          <p:cNvPr id="22" name="Text Box 19"/>
          <p:cNvSpPr txBox="1">
            <a:spLocks noChangeArrowheads="1"/>
          </p:cNvSpPr>
          <p:nvPr/>
        </p:nvSpPr>
        <p:spPr bwMode="auto">
          <a:xfrm>
            <a:off x="2073975" y="2670882"/>
            <a:ext cx="779462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CC3399"/>
                </a:solidFill>
              </a:rPr>
              <a:t>1</a:t>
            </a:r>
            <a:r>
              <a:rPr lang="en-US" altLang="zh-CN" sz="3600">
                <a:solidFill>
                  <a:srgbClr val="CC3399"/>
                </a:solidFill>
              </a:rPr>
              <a:t>-</a:t>
            </a:r>
            <a:r>
              <a:rPr lang="el-GR" altLang="zh-CN" sz="3600">
                <a:solidFill>
                  <a:srgbClr val="CC3399"/>
                </a:solidFill>
              </a:rPr>
              <a:t>α</a:t>
            </a:r>
          </a:p>
        </p:txBody>
      </p:sp>
      <p:sp>
        <p:nvSpPr>
          <p:cNvPr id="23" name="Text Box 20"/>
          <p:cNvSpPr txBox="1">
            <a:spLocks noChangeArrowheads="1"/>
          </p:cNvSpPr>
          <p:nvPr/>
        </p:nvSpPr>
        <p:spPr bwMode="auto">
          <a:xfrm>
            <a:off x="6326043" y="2669223"/>
            <a:ext cx="779462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CC3399"/>
                </a:solidFill>
              </a:rPr>
              <a:t>1</a:t>
            </a:r>
            <a:r>
              <a:rPr lang="en-US" altLang="zh-CN" sz="3600">
                <a:solidFill>
                  <a:srgbClr val="CC3399"/>
                </a:solidFill>
              </a:rPr>
              <a:t>-</a:t>
            </a:r>
            <a:r>
              <a:rPr lang="el-GR" altLang="zh-CN" sz="3600">
                <a:solidFill>
                  <a:srgbClr val="CC3399"/>
                </a:solidFill>
              </a:rPr>
              <a:t>α</a:t>
            </a:r>
          </a:p>
        </p:txBody>
      </p:sp>
      <p:sp>
        <p:nvSpPr>
          <p:cNvPr id="24" name="Text Box 25"/>
          <p:cNvSpPr txBox="1">
            <a:spLocks noChangeArrowheads="1"/>
          </p:cNvSpPr>
          <p:nvPr/>
        </p:nvSpPr>
        <p:spPr bwMode="auto">
          <a:xfrm>
            <a:off x="365821" y="4476741"/>
            <a:ext cx="26225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/>
              <a:t>取对称区间：</a:t>
            </a:r>
          </a:p>
        </p:txBody>
      </p:sp>
      <p:sp>
        <p:nvSpPr>
          <p:cNvPr id="25" name="Text Box 26"/>
          <p:cNvSpPr txBox="1">
            <a:spLocks noChangeArrowheads="1"/>
          </p:cNvSpPr>
          <p:nvPr/>
        </p:nvSpPr>
        <p:spPr bwMode="auto">
          <a:xfrm>
            <a:off x="4615653" y="4506498"/>
            <a:ext cx="30289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/>
              <a:t>取非对称区间：</a:t>
            </a:r>
          </a:p>
        </p:txBody>
      </p:sp>
      <p:pic>
        <p:nvPicPr>
          <p:cNvPr id="26" name="Picture 5"/>
          <p:cNvPicPr>
            <a:picLocks noChangeAspect="1" noChangeArrowheads="1"/>
          </p:cNvPicPr>
          <p:nvPr/>
        </p:nvPicPr>
        <p:blipFill>
          <a:blip r:embed="rId16">
            <a:lum bright="-10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087" y="1542170"/>
            <a:ext cx="4343400" cy="2636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27" name="Ink 24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6233434" y="3511550"/>
              <a:ext cx="1587" cy="1587"/>
            </p14:xfrm>
          </p:contentPart>
        </mc:Choice>
        <mc:Fallback xmlns="">
          <p:pic>
            <p:nvPicPr>
              <p:cNvPr id="27" name="Ink 24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6155671" y="3433787"/>
                <a:ext cx="157113" cy="157113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743067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例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CAB1394B-3A46-42F6-8841-E262D5A0BA7B}" type="slidenum">
              <a:rPr lang="en-US" altLang="zh-CN" smtClean="0"/>
              <a:pPr/>
              <a:t>13</a:t>
            </a:fld>
            <a:endParaRPr lang="en-US" altLang="zh-CN"/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624108" y="1556792"/>
            <a:ext cx="7848600" cy="138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dirty="0" smtClean="0"/>
              <a:t>已知</a:t>
            </a:r>
            <a:r>
              <a:rPr lang="zh-CN" altLang="en-US" sz="2800" dirty="0"/>
              <a:t>幼儿身高服从正态分布，现从</a:t>
            </a:r>
            <a:r>
              <a:rPr lang="en-US" altLang="zh-CN" sz="2800" dirty="0"/>
              <a:t>5</a:t>
            </a:r>
            <a:r>
              <a:rPr lang="zh-CN" altLang="en-US" sz="2800" dirty="0"/>
              <a:t>岁的幼儿      中</a:t>
            </a:r>
            <a:r>
              <a:rPr lang="zh-CN" altLang="en-US" sz="2900" dirty="0"/>
              <a:t>随机</a:t>
            </a:r>
            <a:r>
              <a:rPr lang="zh-CN" altLang="en-US" sz="2800" dirty="0"/>
              <a:t>地抽查了</a:t>
            </a:r>
            <a:r>
              <a:rPr lang="en-US" altLang="zh-CN" sz="2800" dirty="0"/>
              <a:t>9</a:t>
            </a:r>
            <a:r>
              <a:rPr lang="zh-CN" altLang="en-US" sz="2800" dirty="0"/>
              <a:t>人，其高度分别为：          </a:t>
            </a:r>
            <a:r>
              <a:rPr lang="en-US" altLang="zh-CN" sz="2800" dirty="0"/>
              <a:t>115,120,131,115,109,115,115,105,110cm;</a:t>
            </a:r>
          </a:p>
        </p:txBody>
      </p:sp>
      <p:graphicFrame>
        <p:nvGraphicFramePr>
          <p:cNvPr id="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7627664"/>
              </p:ext>
            </p:extLst>
          </p:nvPr>
        </p:nvGraphicFramePr>
        <p:xfrm>
          <a:off x="639388" y="2914551"/>
          <a:ext cx="5302250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850" name="Equation" r:id="rId3" imgW="1879560" imgH="203040" progId="Equation.DSMT4">
                  <p:embed/>
                </p:oleObj>
              </mc:Choice>
              <mc:Fallback>
                <p:oleObj name="Equation" r:id="rId3" imgW="1879560" imgH="203040" progId="Equation.DSMT4">
                  <p:embed/>
                  <p:pic>
                    <p:nvPicPr>
                      <p:cNvPr id="20173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9388" y="2914551"/>
                        <a:ext cx="5302250" cy="568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646237"/>
              </p:ext>
            </p:extLst>
          </p:nvPr>
        </p:nvGraphicFramePr>
        <p:xfrm>
          <a:off x="596823" y="3356992"/>
          <a:ext cx="4406900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851" name="公式" r:id="rId5" imgW="1562040" imgH="203040" progId="Equation.3">
                  <p:embed/>
                </p:oleObj>
              </mc:Choice>
              <mc:Fallback>
                <p:oleObj name="公式" r:id="rId5" imgW="1562040" imgH="203040" progId="Equation.3">
                  <p:embed/>
                  <p:pic>
                    <p:nvPicPr>
                      <p:cNvPr id="201733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6823" y="3356992"/>
                        <a:ext cx="4406900" cy="568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67751263"/>
              </p:ext>
            </p:extLst>
          </p:nvPr>
        </p:nvGraphicFramePr>
        <p:xfrm>
          <a:off x="724768" y="3967609"/>
          <a:ext cx="7315200" cy="560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852" name="公式" r:id="rId7" imgW="2641320" imgH="203040" progId="Equation.3">
                  <p:embed/>
                </p:oleObj>
              </mc:Choice>
              <mc:Fallback>
                <p:oleObj name="公式" r:id="rId7" imgW="2641320" imgH="203040" progId="Equation.3">
                  <p:embed/>
                  <p:pic>
                    <p:nvPicPr>
                      <p:cNvPr id="201734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4768" y="3967609"/>
                        <a:ext cx="7315200" cy="560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07993079"/>
              </p:ext>
            </p:extLst>
          </p:nvPr>
        </p:nvGraphicFramePr>
        <p:xfrm>
          <a:off x="1475656" y="4458753"/>
          <a:ext cx="4176464" cy="7673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853" name="公式" r:id="rId9" imgW="1803240" imgH="330120" progId="Equation.3">
                  <p:embed/>
                </p:oleObj>
              </mc:Choice>
              <mc:Fallback>
                <p:oleObj name="公式" r:id="rId9" imgW="1803240" imgH="330120" progId="Equation.3">
                  <p:embed/>
                  <p:pic>
                    <p:nvPicPr>
                      <p:cNvPr id="201735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5656" y="4458753"/>
                        <a:ext cx="4176464" cy="76732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94821878"/>
              </p:ext>
            </p:extLst>
          </p:nvPr>
        </p:nvGraphicFramePr>
        <p:xfrm>
          <a:off x="596823" y="5162040"/>
          <a:ext cx="8475662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854" name="Equation" r:id="rId11" imgW="2946240" imgH="203040" progId="Equation.DSMT4">
                  <p:embed/>
                </p:oleObj>
              </mc:Choice>
              <mc:Fallback>
                <p:oleObj name="Equation" r:id="rId11" imgW="2946240" imgH="203040" progId="Equation.DSMT4">
                  <p:embed/>
                  <p:pic>
                    <p:nvPicPr>
                      <p:cNvPr id="201736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6823" y="5162040"/>
                        <a:ext cx="8475662" cy="582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74964722"/>
              </p:ext>
            </p:extLst>
          </p:nvPr>
        </p:nvGraphicFramePr>
        <p:xfrm>
          <a:off x="1475656" y="5764684"/>
          <a:ext cx="4789681" cy="9915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855" name="公式" r:id="rId13" imgW="2019240" imgH="419040" progId="Equation.3">
                  <p:embed/>
                </p:oleObj>
              </mc:Choice>
              <mc:Fallback>
                <p:oleObj name="公式" r:id="rId13" imgW="2019240" imgH="419040" progId="Equation.3">
                  <p:embed/>
                  <p:pic>
                    <p:nvPicPr>
                      <p:cNvPr id="201737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5656" y="5764684"/>
                        <a:ext cx="4789681" cy="99158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795560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正态总体，均值的</a:t>
            </a:r>
            <a:r>
              <a:rPr lang="en-US" altLang="zh-CN" dirty="0"/>
              <a:t>μ</a:t>
            </a:r>
            <a:r>
              <a:rPr lang="zh-CN" altLang="en-US" dirty="0"/>
              <a:t>区间估计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CAB1394B-3A46-42F6-8841-E262D5A0BA7B}" type="slidenum">
              <a:rPr lang="en-US" altLang="zh-CN" smtClean="0"/>
              <a:pPr/>
              <a:t>14</a:t>
            </a:fld>
            <a:endParaRPr lang="en-US" altLang="zh-CN"/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627928" y="1600200"/>
            <a:ext cx="475456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 dirty="0">
                <a:solidFill>
                  <a:srgbClr val="800000"/>
                </a:solidFill>
              </a:rPr>
              <a:t>(2). </a:t>
            </a:r>
            <a:r>
              <a:rPr lang="zh-CN" altLang="en-US" b="1" dirty="0">
                <a:solidFill>
                  <a:srgbClr val="800000"/>
                </a:solidFill>
              </a:rPr>
              <a:t>未知方差，估计均值</a:t>
            </a:r>
          </a:p>
        </p:txBody>
      </p:sp>
      <p:graphicFrame>
        <p:nvGraphicFramePr>
          <p:cNvPr id="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4556875"/>
              </p:ext>
            </p:extLst>
          </p:nvPr>
        </p:nvGraphicFramePr>
        <p:xfrm>
          <a:off x="196032" y="2223136"/>
          <a:ext cx="5634037" cy="563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929" name="Equation" r:id="rId4" imgW="2057400" imgH="203040" progId="Equation.DSMT4">
                  <p:embed/>
                </p:oleObj>
              </mc:Choice>
              <mc:Fallback>
                <p:oleObj name="Equation" r:id="rId4" imgW="2057400" imgH="203040" progId="Equation.DSMT4">
                  <p:embed/>
                  <p:pic>
                    <p:nvPicPr>
                      <p:cNvPr id="20275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6032" y="2223136"/>
                        <a:ext cx="5634037" cy="563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56515221"/>
              </p:ext>
            </p:extLst>
          </p:nvPr>
        </p:nvGraphicFramePr>
        <p:xfrm>
          <a:off x="541809" y="3247073"/>
          <a:ext cx="6694487" cy="1162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930" name="Equation" r:id="rId6" imgW="2374560" imgH="406080" progId="Equation.DSMT4">
                  <p:embed/>
                </p:oleObj>
              </mc:Choice>
              <mc:Fallback>
                <p:oleObj name="Equation" r:id="rId6" imgW="2374560" imgH="406080" progId="Equation.DSMT4">
                  <p:embed/>
                  <p:pic>
                    <p:nvPicPr>
                      <p:cNvPr id="20275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809" y="3247073"/>
                        <a:ext cx="6694487" cy="1162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4075911"/>
              </p:ext>
            </p:extLst>
          </p:nvPr>
        </p:nvGraphicFramePr>
        <p:xfrm>
          <a:off x="594888" y="4568404"/>
          <a:ext cx="8305800" cy="560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931" name="公式" r:id="rId8" imgW="2984400" imgH="203040" progId="Equation.3">
                  <p:embed/>
                </p:oleObj>
              </mc:Choice>
              <mc:Fallback>
                <p:oleObj name="公式" r:id="rId8" imgW="2984400" imgH="203040" progId="Equation.3">
                  <p:embed/>
                  <p:pic>
                    <p:nvPicPr>
                      <p:cNvPr id="202758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888" y="4568404"/>
                        <a:ext cx="8305800" cy="560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94206671"/>
              </p:ext>
            </p:extLst>
          </p:nvPr>
        </p:nvGraphicFramePr>
        <p:xfrm>
          <a:off x="2106188" y="5171365"/>
          <a:ext cx="3324225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932" name="Equation" r:id="rId10" imgW="1193760" imgH="190440" progId="Equation.DSMT4">
                  <p:embed/>
                </p:oleObj>
              </mc:Choice>
              <mc:Fallback>
                <p:oleObj name="Equation" r:id="rId10" imgW="1193760" imgH="190440" progId="Equation.DSMT4">
                  <p:embed/>
                  <p:pic>
                    <p:nvPicPr>
                      <p:cNvPr id="202759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06188" y="5171365"/>
                        <a:ext cx="3324225" cy="530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1097926"/>
              </p:ext>
            </p:extLst>
          </p:nvPr>
        </p:nvGraphicFramePr>
        <p:xfrm>
          <a:off x="612648" y="5817766"/>
          <a:ext cx="7105650" cy="563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933" name="Equation" r:id="rId12" imgW="2552400" imgH="203040" progId="Equation.DSMT4">
                  <p:embed/>
                </p:oleObj>
              </mc:Choice>
              <mc:Fallback>
                <p:oleObj name="Equation" r:id="rId12" imgW="2552400" imgH="203040" progId="Equation.DSMT4">
                  <p:embed/>
                  <p:pic>
                    <p:nvPicPr>
                      <p:cNvPr id="20276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2648" y="5817766"/>
                        <a:ext cx="7105650" cy="563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03307969"/>
              </p:ext>
            </p:extLst>
          </p:nvPr>
        </p:nvGraphicFramePr>
        <p:xfrm>
          <a:off x="541809" y="2569211"/>
          <a:ext cx="4154488" cy="1022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934" name="Equation" r:id="rId14" imgW="1498320" imgH="368280" progId="Equation.DSMT4">
                  <p:embed/>
                </p:oleObj>
              </mc:Choice>
              <mc:Fallback>
                <p:oleObj name="Equation" r:id="rId14" imgW="1498320" imgH="368280" progId="Equation.DSMT4">
                  <p:embed/>
                  <p:pic>
                    <p:nvPicPr>
                      <p:cNvPr id="202762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809" y="2569211"/>
                        <a:ext cx="4154488" cy="1022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6318964"/>
              </p:ext>
            </p:extLst>
          </p:nvPr>
        </p:nvGraphicFramePr>
        <p:xfrm>
          <a:off x="5822677" y="2167573"/>
          <a:ext cx="3275013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935" name="Equation" r:id="rId16" imgW="1384200" imgH="406080" progId="Equation.DSMT4">
                  <p:embed/>
                </p:oleObj>
              </mc:Choice>
              <mc:Fallback>
                <p:oleObj name="Equation" r:id="rId16" imgW="1384200" imgH="406080" progId="Equation.DSMT4">
                  <p:embed/>
                  <p:pic>
                    <p:nvPicPr>
                      <p:cNvPr id="202763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22677" y="2167573"/>
                        <a:ext cx="3275013" cy="107950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CC3399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942075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正态总体，均值的</a:t>
            </a:r>
            <a:r>
              <a:rPr lang="en-US" altLang="zh-CN" dirty="0"/>
              <a:t>μ</a:t>
            </a:r>
            <a:r>
              <a:rPr lang="zh-CN" altLang="en-US" dirty="0"/>
              <a:t>区间估计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CAB1394B-3A46-42F6-8841-E262D5A0BA7B}" type="slidenum">
              <a:rPr lang="en-US" altLang="zh-CN" smtClean="0"/>
              <a:pPr/>
              <a:t>15</a:t>
            </a:fld>
            <a:endParaRPr lang="en-US" altLang="zh-CN"/>
          </a:p>
        </p:txBody>
      </p:sp>
      <p:graphicFrame>
        <p:nvGraphicFramePr>
          <p:cNvPr id="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154616"/>
              </p:ext>
            </p:extLst>
          </p:nvPr>
        </p:nvGraphicFramePr>
        <p:xfrm>
          <a:off x="753142" y="4492437"/>
          <a:ext cx="4733925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30" name="Equation" r:id="rId3" imgW="1600200" imgH="203040" progId="Equation.DSMT4">
                  <p:embed/>
                </p:oleObj>
              </mc:Choice>
              <mc:Fallback>
                <p:oleObj name="Equation" r:id="rId3" imgW="1600200" imgH="203040" progId="Equation.DSMT4">
                  <p:embed/>
                  <p:pic>
                    <p:nvPicPr>
                      <p:cNvPr id="203779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3142" y="4492437"/>
                        <a:ext cx="4733925" cy="593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99174979"/>
              </p:ext>
            </p:extLst>
          </p:nvPr>
        </p:nvGraphicFramePr>
        <p:xfrm>
          <a:off x="784024" y="5128316"/>
          <a:ext cx="7748416" cy="12024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31" name="Equation" r:id="rId5" imgW="2616120" imgH="406080" progId="Equation.DSMT4">
                  <p:embed/>
                </p:oleObj>
              </mc:Choice>
              <mc:Fallback>
                <p:oleObj name="Equation" r:id="rId5" imgW="2616120" imgH="406080" progId="Equation.DSMT4">
                  <p:embed/>
                  <p:pic>
                    <p:nvPicPr>
                      <p:cNvPr id="20378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4024" y="5128316"/>
                        <a:ext cx="7748416" cy="120244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8192242"/>
              </p:ext>
            </p:extLst>
          </p:nvPr>
        </p:nvGraphicFramePr>
        <p:xfrm>
          <a:off x="1004761" y="1415480"/>
          <a:ext cx="5503862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32" name="Equation" r:id="rId7" imgW="1892160" imgH="406080" progId="Equation.DSMT4">
                  <p:embed/>
                </p:oleObj>
              </mc:Choice>
              <mc:Fallback>
                <p:oleObj name="Equation" r:id="rId7" imgW="1892160" imgH="406080" progId="Equation.DSMT4">
                  <p:embed/>
                  <p:pic>
                    <p:nvPicPr>
                      <p:cNvPr id="20378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4761" y="1415480"/>
                        <a:ext cx="5503862" cy="1041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Picture 6" descr="Tu9-3-4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499"/>
          <a:stretch>
            <a:fillRect/>
          </a:stretch>
        </p:blipFill>
        <p:spPr bwMode="auto">
          <a:xfrm>
            <a:off x="536228" y="2094930"/>
            <a:ext cx="3598863" cy="241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 Box 8"/>
          <p:cNvSpPr txBox="1">
            <a:spLocks noChangeArrowheads="1"/>
          </p:cNvSpPr>
          <p:nvPr/>
        </p:nvSpPr>
        <p:spPr bwMode="auto">
          <a:xfrm>
            <a:off x="4827461" y="2573594"/>
            <a:ext cx="3095625" cy="588963"/>
          </a:xfrm>
          <a:prstGeom prst="rect">
            <a:avLst/>
          </a:prstGeom>
          <a:noFill/>
          <a:ln w="9525">
            <a:solidFill>
              <a:srgbClr val="CC33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 dirty="0">
                <a:solidFill>
                  <a:srgbClr val="DF21C4"/>
                </a:solidFill>
              </a:rPr>
              <a:t>  </a:t>
            </a:r>
            <a:r>
              <a:rPr lang="zh-CN" altLang="en-US" b="1" dirty="0">
                <a:solidFill>
                  <a:srgbClr val="DF21C4"/>
                </a:solidFill>
              </a:rPr>
              <a:t>对称区间最短</a:t>
            </a:r>
          </a:p>
        </p:txBody>
      </p:sp>
      <p:graphicFrame>
        <p:nvGraphicFramePr>
          <p:cNvPr id="1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41347484"/>
              </p:ext>
            </p:extLst>
          </p:nvPr>
        </p:nvGraphicFramePr>
        <p:xfrm>
          <a:off x="4794049" y="3400424"/>
          <a:ext cx="3386138" cy="612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33" name="Equation" r:id="rId10" imgW="1054080" imgH="190440" progId="Equation.DSMT4">
                  <p:embed/>
                </p:oleObj>
              </mc:Choice>
              <mc:Fallback>
                <p:oleObj name="Equation" r:id="rId10" imgW="1054080" imgH="190440" progId="Equation.DSMT4">
                  <p:embed/>
                  <p:pic>
                    <p:nvPicPr>
                      <p:cNvPr id="203785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94049" y="3400424"/>
                        <a:ext cx="3386138" cy="612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363247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正态总体，均值的</a:t>
            </a:r>
            <a:r>
              <a:rPr lang="en-US" altLang="zh-CN" dirty="0"/>
              <a:t>μ</a:t>
            </a:r>
            <a:r>
              <a:rPr lang="zh-CN" altLang="en-US" dirty="0"/>
              <a:t>区间估计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CAB1394B-3A46-42F6-8841-E262D5A0BA7B}" type="slidenum">
              <a:rPr lang="en-US" altLang="zh-CN" smtClean="0"/>
              <a:pPr/>
              <a:t>16</a:t>
            </a:fld>
            <a:endParaRPr lang="en-US" altLang="zh-CN"/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589704" y="3946326"/>
            <a:ext cx="48958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dirty="0"/>
              <a:t>得到</a:t>
            </a:r>
            <a:r>
              <a:rPr lang="el-GR" altLang="zh-CN" i="1" dirty="0"/>
              <a:t>μ</a:t>
            </a:r>
            <a:r>
              <a:rPr lang="zh-CN" altLang="en-US" dirty="0"/>
              <a:t>的置信区间为：</a:t>
            </a:r>
          </a:p>
        </p:txBody>
      </p:sp>
      <p:graphicFrame>
        <p:nvGraphicFramePr>
          <p:cNvPr id="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4488527"/>
              </p:ext>
            </p:extLst>
          </p:nvPr>
        </p:nvGraphicFramePr>
        <p:xfrm>
          <a:off x="640377" y="5617170"/>
          <a:ext cx="5184775" cy="69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750" name="Equation" r:id="rId3" imgW="1511280" imgH="203040" progId="Equation.DSMT4">
                  <p:embed/>
                </p:oleObj>
              </mc:Choice>
              <mc:Fallback>
                <p:oleObj name="Equation" r:id="rId3" imgW="1511280" imgH="203040" progId="Equation.DSMT4">
                  <p:embed/>
                  <p:pic>
                    <p:nvPicPr>
                      <p:cNvPr id="20480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377" y="5617170"/>
                        <a:ext cx="5184775" cy="692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0967963"/>
              </p:ext>
            </p:extLst>
          </p:nvPr>
        </p:nvGraphicFramePr>
        <p:xfrm>
          <a:off x="533400" y="2626994"/>
          <a:ext cx="8332788" cy="1127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751" name="Equation" r:id="rId5" imgW="2908080" imgH="368280" progId="Equation.DSMT4">
                  <p:embed/>
                </p:oleObj>
              </mc:Choice>
              <mc:Fallback>
                <p:oleObj name="Equation" r:id="rId5" imgW="2908080" imgH="368280" progId="Equation.DSMT4">
                  <p:embed/>
                  <p:pic>
                    <p:nvPicPr>
                      <p:cNvPr id="204806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2626994"/>
                        <a:ext cx="8332788" cy="1127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81118154"/>
              </p:ext>
            </p:extLst>
          </p:nvPr>
        </p:nvGraphicFramePr>
        <p:xfrm>
          <a:off x="826716" y="1531620"/>
          <a:ext cx="6229350" cy="1244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752" name="Equation" r:id="rId7" imgW="2031840" imgH="406080" progId="Equation.DSMT4">
                  <p:embed/>
                </p:oleObj>
              </mc:Choice>
              <mc:Fallback>
                <p:oleObj name="Equation" r:id="rId7" imgW="2031840" imgH="406080" progId="Equation.DSMT4">
                  <p:embed/>
                  <p:pic>
                    <p:nvPicPr>
                      <p:cNvPr id="204807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6716" y="1531620"/>
                        <a:ext cx="6229350" cy="1244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83365"/>
              </p:ext>
            </p:extLst>
          </p:nvPr>
        </p:nvGraphicFramePr>
        <p:xfrm>
          <a:off x="800696" y="4449117"/>
          <a:ext cx="6967538" cy="1127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753" name="Equation" r:id="rId9" imgW="2273040" imgH="368280" progId="Equation.DSMT4">
                  <p:embed/>
                </p:oleObj>
              </mc:Choice>
              <mc:Fallback>
                <p:oleObj name="Equation" r:id="rId9" imgW="2273040" imgH="368280" progId="Equation.DSMT4">
                  <p:embed/>
                  <p:pic>
                    <p:nvPicPr>
                      <p:cNvPr id="204808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0696" y="4449117"/>
                        <a:ext cx="6967538" cy="1127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515230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正态总体</a:t>
            </a:r>
            <a:r>
              <a:rPr lang="zh-CN" altLang="en-US" dirty="0" smtClean="0"/>
              <a:t>，</a:t>
            </a:r>
            <a:r>
              <a:rPr lang="zh-CN" altLang="en-US" dirty="0" smtClean="0">
                <a:latin typeface="+mn-ea"/>
                <a:ea typeface="+mn-ea"/>
              </a:rPr>
              <a:t>方差</a:t>
            </a:r>
            <a:r>
              <a:rPr lang="el-GR" altLang="zh-CN" dirty="0">
                <a:latin typeface="+mn-ea"/>
                <a:ea typeface="+mn-ea"/>
              </a:rPr>
              <a:t>σ</a:t>
            </a:r>
            <a:r>
              <a:rPr lang="en-US" altLang="zh-CN" baseline="30000" dirty="0">
                <a:latin typeface="+mn-ea"/>
                <a:ea typeface="+mn-ea"/>
              </a:rPr>
              <a:t>2 </a:t>
            </a:r>
            <a:r>
              <a:rPr lang="zh-CN" altLang="en-US" dirty="0" smtClean="0">
                <a:latin typeface="+mn-ea"/>
                <a:ea typeface="+mn-ea"/>
              </a:rPr>
              <a:t>的</a:t>
            </a:r>
            <a:r>
              <a:rPr lang="zh-CN" altLang="en-US" dirty="0"/>
              <a:t>区间估计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CAB1394B-3A46-42F6-8841-E262D5A0BA7B}" type="slidenum">
              <a:rPr lang="en-US" altLang="zh-CN" smtClean="0"/>
              <a:pPr/>
              <a:t>17</a:t>
            </a:fld>
            <a:endParaRPr lang="en-US" altLang="zh-CN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557213" y="2205038"/>
          <a:ext cx="7323137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810" name="Equation" r:id="rId4" imgW="2527200" imgH="203040" progId="Equation.DSMT4">
                  <p:embed/>
                </p:oleObj>
              </mc:Choice>
              <mc:Fallback>
                <p:oleObj name="Equation" r:id="rId4" imgW="2527200" imgH="203040" progId="Equation.DSMT4">
                  <p:embed/>
                  <p:pic>
                    <p:nvPicPr>
                      <p:cNvPr id="20685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7213" y="2205038"/>
                        <a:ext cx="7323137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611188" y="2924175"/>
          <a:ext cx="5976937" cy="1042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811" name="Equation" r:id="rId6" imgW="2108160" imgH="368280" progId="Equation.DSMT4">
                  <p:embed/>
                </p:oleObj>
              </mc:Choice>
              <mc:Fallback>
                <p:oleObj name="Equation" r:id="rId6" imgW="2108160" imgH="368280" progId="Equation.DSMT4">
                  <p:embed/>
                  <p:pic>
                    <p:nvPicPr>
                      <p:cNvPr id="206853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2924175"/>
                        <a:ext cx="5976937" cy="1042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7"/>
          <p:cNvGraphicFramePr>
            <a:graphicFrameLocks noChangeAspect="1"/>
          </p:cNvGraphicFramePr>
          <p:nvPr/>
        </p:nvGraphicFramePr>
        <p:xfrm>
          <a:off x="971550" y="1557338"/>
          <a:ext cx="6988175" cy="56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812" name="Equation" r:id="rId8" imgW="2527200" imgH="203040" progId="Equation.DSMT4">
                  <p:embed/>
                </p:oleObj>
              </mc:Choice>
              <mc:Fallback>
                <p:oleObj name="Equation" r:id="rId8" imgW="2527200" imgH="203040" progId="Equation.DSMT4">
                  <p:embed/>
                  <p:pic>
                    <p:nvPicPr>
                      <p:cNvPr id="206855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1557338"/>
                        <a:ext cx="6988175" cy="561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8"/>
          <p:cNvGraphicFramePr>
            <a:graphicFrameLocks noChangeAspect="1"/>
          </p:cNvGraphicFramePr>
          <p:nvPr/>
        </p:nvGraphicFramePr>
        <p:xfrm>
          <a:off x="539750" y="4005263"/>
          <a:ext cx="8128000" cy="560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813" name="Equation" r:id="rId10" imgW="2920680" imgH="203040" progId="Equation.DSMT4">
                  <p:embed/>
                </p:oleObj>
              </mc:Choice>
              <mc:Fallback>
                <p:oleObj name="Equation" r:id="rId10" imgW="2920680" imgH="203040" progId="Equation.DSMT4">
                  <p:embed/>
                  <p:pic>
                    <p:nvPicPr>
                      <p:cNvPr id="206856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4005263"/>
                        <a:ext cx="8128000" cy="560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9"/>
          <p:cNvGraphicFramePr>
            <a:graphicFrameLocks noChangeAspect="1"/>
          </p:cNvGraphicFramePr>
          <p:nvPr/>
        </p:nvGraphicFramePr>
        <p:xfrm>
          <a:off x="1835150" y="4941888"/>
          <a:ext cx="3816350" cy="615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814" name="Equation" r:id="rId12" imgW="1257120" imgH="203040" progId="Equation.DSMT4">
                  <p:embed/>
                </p:oleObj>
              </mc:Choice>
              <mc:Fallback>
                <p:oleObj name="Equation" r:id="rId12" imgW="1257120" imgH="203040" progId="Equation.DSMT4">
                  <p:embed/>
                  <p:pic>
                    <p:nvPicPr>
                      <p:cNvPr id="206857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150" y="4941888"/>
                        <a:ext cx="3816350" cy="615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232408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1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正态总体，</a:t>
            </a:r>
            <a:r>
              <a:rPr lang="zh-CN" altLang="en-US" dirty="0">
                <a:latin typeface="+mn-ea"/>
              </a:rPr>
              <a:t>方差</a:t>
            </a:r>
            <a:r>
              <a:rPr lang="el-GR" altLang="zh-CN" dirty="0">
                <a:latin typeface="+mn-ea"/>
              </a:rPr>
              <a:t>σ</a:t>
            </a:r>
            <a:r>
              <a:rPr lang="en-US" altLang="zh-CN" baseline="30000" dirty="0">
                <a:latin typeface="+mn-ea"/>
              </a:rPr>
              <a:t>2 </a:t>
            </a:r>
            <a:r>
              <a:rPr lang="zh-CN" altLang="en-US" dirty="0">
                <a:latin typeface="+mn-ea"/>
              </a:rPr>
              <a:t>的</a:t>
            </a:r>
            <a:r>
              <a:rPr lang="zh-CN" altLang="en-US" dirty="0"/>
              <a:t>区间估计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CAB1394B-3A46-42F6-8841-E262D5A0BA7B}" type="slidenum">
              <a:rPr lang="en-US" altLang="zh-CN" smtClean="0"/>
              <a:pPr/>
              <a:t>18</a:t>
            </a:fld>
            <a:endParaRPr lang="en-US" altLang="zh-CN"/>
          </a:p>
        </p:txBody>
      </p:sp>
      <p:graphicFrame>
        <p:nvGraphicFramePr>
          <p:cNvPr id="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42937809"/>
              </p:ext>
            </p:extLst>
          </p:nvPr>
        </p:nvGraphicFramePr>
        <p:xfrm>
          <a:off x="755700" y="1542216"/>
          <a:ext cx="6768628" cy="20495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685" name="Equation" r:id="rId3" imgW="2603160" imgH="787320" progId="Equation.DSMT4">
                  <p:embed/>
                </p:oleObj>
              </mc:Choice>
              <mc:Fallback>
                <p:oleObj name="Equation" r:id="rId3" imgW="2603160" imgH="787320" progId="Equation.DSMT4">
                  <p:embed/>
                  <p:pic>
                    <p:nvPicPr>
                      <p:cNvPr id="207875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700" y="1542216"/>
                        <a:ext cx="6768628" cy="204957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5" descr="TU9-5-6"/>
          <p:cNvPicPr>
            <a:picLocks noChangeAspect="1" noChangeArrowheads="1"/>
          </p:cNvPicPr>
          <p:nvPr/>
        </p:nvPicPr>
        <p:blipFill>
          <a:blip r:embed="rId5">
            <a:lum bright="-2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899"/>
          <a:stretch>
            <a:fillRect/>
          </a:stretch>
        </p:blipFill>
        <p:spPr bwMode="auto">
          <a:xfrm>
            <a:off x="1214446" y="3362148"/>
            <a:ext cx="3468688" cy="1936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25242150"/>
              </p:ext>
            </p:extLst>
          </p:nvPr>
        </p:nvGraphicFramePr>
        <p:xfrm>
          <a:off x="4787950" y="3918704"/>
          <a:ext cx="3586163" cy="1201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686" name="Equation" r:id="rId6" imgW="1244520" imgH="419040" progId="Equation.DSMT4">
                  <p:embed/>
                </p:oleObj>
              </mc:Choice>
              <mc:Fallback>
                <p:oleObj name="Equation" r:id="rId6" imgW="1244520" imgH="419040" progId="Equation.DSMT4">
                  <p:embed/>
                  <p:pic>
                    <p:nvPicPr>
                      <p:cNvPr id="207878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7950" y="3918704"/>
                        <a:ext cx="3586163" cy="1201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82028306"/>
              </p:ext>
            </p:extLst>
          </p:nvPr>
        </p:nvGraphicFramePr>
        <p:xfrm>
          <a:off x="1547664" y="5447358"/>
          <a:ext cx="5456238" cy="1125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687" name="Equation" r:id="rId8" imgW="1777680" imgH="368280" progId="Equation.DSMT4">
                  <p:embed/>
                </p:oleObj>
              </mc:Choice>
              <mc:Fallback>
                <p:oleObj name="Equation" r:id="rId8" imgW="1777680" imgH="368280" progId="Equation.DSMT4">
                  <p:embed/>
                  <p:pic>
                    <p:nvPicPr>
                      <p:cNvPr id="207879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664" y="5447358"/>
                        <a:ext cx="5456238" cy="1125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133775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正态总体，</a:t>
            </a:r>
            <a:r>
              <a:rPr lang="zh-CN" altLang="en-US" dirty="0">
                <a:latin typeface="+mn-ea"/>
              </a:rPr>
              <a:t>方差</a:t>
            </a:r>
            <a:r>
              <a:rPr lang="el-GR" altLang="zh-CN" dirty="0">
                <a:latin typeface="+mn-ea"/>
              </a:rPr>
              <a:t>σ</a:t>
            </a:r>
            <a:r>
              <a:rPr lang="en-US" altLang="zh-CN" baseline="30000" dirty="0">
                <a:latin typeface="+mn-ea"/>
              </a:rPr>
              <a:t>2 </a:t>
            </a:r>
            <a:r>
              <a:rPr lang="zh-CN" altLang="en-US" dirty="0">
                <a:latin typeface="+mn-ea"/>
              </a:rPr>
              <a:t>的</a:t>
            </a:r>
            <a:r>
              <a:rPr lang="zh-CN" altLang="en-US" dirty="0"/>
              <a:t>区间估计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CAB1394B-3A46-42F6-8841-E262D5A0BA7B}" type="slidenum">
              <a:rPr lang="en-US" altLang="zh-CN" smtClean="0"/>
              <a:pPr/>
              <a:t>19</a:t>
            </a:fld>
            <a:endParaRPr lang="en-US" altLang="zh-CN"/>
          </a:p>
        </p:txBody>
      </p:sp>
      <p:graphicFrame>
        <p:nvGraphicFramePr>
          <p:cNvPr id="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0113670"/>
              </p:ext>
            </p:extLst>
          </p:nvPr>
        </p:nvGraphicFramePr>
        <p:xfrm>
          <a:off x="821187" y="1516698"/>
          <a:ext cx="5623022" cy="10321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818" name="Equation" r:id="rId4" imgW="2133360" imgH="393480" progId="Equation.DSMT4">
                  <p:embed/>
                </p:oleObj>
              </mc:Choice>
              <mc:Fallback>
                <p:oleObj name="Equation" r:id="rId4" imgW="2133360" imgH="393480" progId="Equation.DSMT4">
                  <p:embed/>
                  <p:pic>
                    <p:nvPicPr>
                      <p:cNvPr id="208899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1187" y="1516698"/>
                        <a:ext cx="5623022" cy="103211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58046879"/>
              </p:ext>
            </p:extLst>
          </p:nvPr>
        </p:nvGraphicFramePr>
        <p:xfrm>
          <a:off x="826660" y="4092621"/>
          <a:ext cx="3102866" cy="4902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819" name="Equation" r:id="rId6" imgW="1193760" imgH="190440" progId="Equation.DSMT4">
                  <p:embed/>
                </p:oleObj>
              </mc:Choice>
              <mc:Fallback>
                <p:oleObj name="Equation" r:id="rId6" imgW="1193760" imgH="190440" progId="Equation.DSMT4">
                  <p:embed/>
                  <p:pic>
                    <p:nvPicPr>
                      <p:cNvPr id="20890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6660" y="4092621"/>
                        <a:ext cx="3102866" cy="49029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54086471"/>
              </p:ext>
            </p:extLst>
          </p:nvPr>
        </p:nvGraphicFramePr>
        <p:xfrm>
          <a:off x="861193" y="5700678"/>
          <a:ext cx="3101942" cy="5165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820" name="公式" r:id="rId8" imgW="1143000" imgH="190440" progId="Equation.3">
                  <p:embed/>
                </p:oleObj>
              </mc:Choice>
              <mc:Fallback>
                <p:oleObj name="公式" r:id="rId8" imgW="1143000" imgH="190440" progId="Equation.3">
                  <p:embed/>
                  <p:pic>
                    <p:nvPicPr>
                      <p:cNvPr id="20890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1193" y="5700678"/>
                        <a:ext cx="3101942" cy="51650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6837687"/>
              </p:ext>
            </p:extLst>
          </p:nvPr>
        </p:nvGraphicFramePr>
        <p:xfrm>
          <a:off x="2118271" y="3010239"/>
          <a:ext cx="3821881" cy="9817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821" name="Equation" r:id="rId10" imgW="1523880" imgH="393480" progId="Equation.DSMT4">
                  <p:embed/>
                </p:oleObj>
              </mc:Choice>
              <mc:Fallback>
                <p:oleObj name="Equation" r:id="rId10" imgW="1523880" imgH="393480" progId="Equation.DSMT4">
                  <p:embed/>
                  <p:pic>
                    <p:nvPicPr>
                      <p:cNvPr id="208903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8271" y="3010239"/>
                        <a:ext cx="3821881" cy="98176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8"/>
          <p:cNvSpPr txBox="1">
            <a:spLocks noChangeArrowheads="1"/>
          </p:cNvSpPr>
          <p:nvPr/>
        </p:nvSpPr>
        <p:spPr bwMode="auto">
          <a:xfrm>
            <a:off x="715396" y="2559831"/>
            <a:ext cx="38100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dirty="0"/>
              <a:t>得到</a:t>
            </a:r>
            <a:r>
              <a:rPr lang="el-GR" altLang="zh-CN" sz="2800" dirty="0"/>
              <a:t>σ</a:t>
            </a:r>
            <a:r>
              <a:rPr lang="en-US" altLang="zh-CN" sz="2800" baseline="30000" dirty="0"/>
              <a:t>2</a:t>
            </a:r>
            <a:r>
              <a:rPr lang="zh-CN" altLang="en-US" sz="2800" dirty="0"/>
              <a:t>的置信区间为：</a:t>
            </a:r>
          </a:p>
        </p:txBody>
      </p:sp>
      <p:graphicFrame>
        <p:nvGraphicFramePr>
          <p:cNvPr id="1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0924532"/>
              </p:ext>
            </p:extLst>
          </p:nvPr>
        </p:nvGraphicFramePr>
        <p:xfrm>
          <a:off x="827584" y="4515742"/>
          <a:ext cx="7386027" cy="11100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822" name="Equation" r:id="rId12" imgW="2857320" imgH="431640" progId="Equation.DSMT4">
                  <p:embed/>
                </p:oleObj>
              </mc:Choice>
              <mc:Fallback>
                <p:oleObj name="Equation" r:id="rId12" imgW="2857320" imgH="431640" progId="Equation.DSMT4">
                  <p:embed/>
                  <p:pic>
                    <p:nvPicPr>
                      <p:cNvPr id="208905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584" y="4515742"/>
                        <a:ext cx="7386027" cy="111007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295047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例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CAB1394B-3A46-42F6-8841-E262D5A0BA7B}" type="slidenum">
              <a:rPr lang="en-US" altLang="zh-CN" smtClean="0"/>
              <a:pPr/>
              <a:t>20</a:t>
            </a:fld>
            <a:endParaRPr lang="en-US" altLang="zh-CN" dirty="0"/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596417" y="1484784"/>
            <a:ext cx="4953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dirty="0" smtClean="0"/>
              <a:t>设</a:t>
            </a:r>
            <a:r>
              <a:rPr lang="zh-CN" altLang="en-US" sz="2800" dirty="0"/>
              <a:t>某机床加工的零件长度</a:t>
            </a:r>
          </a:p>
        </p:txBody>
      </p:sp>
      <p:graphicFrame>
        <p:nvGraphicFramePr>
          <p:cNvPr id="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71040316"/>
              </p:ext>
            </p:extLst>
          </p:nvPr>
        </p:nvGraphicFramePr>
        <p:xfrm>
          <a:off x="4788024" y="1495897"/>
          <a:ext cx="1981200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872" name="公式" r:id="rId4" imgW="812520" imgH="215640" progId="Equation.3">
                  <p:embed/>
                </p:oleObj>
              </mc:Choice>
              <mc:Fallback>
                <p:oleObj name="公式" r:id="rId4" imgW="812520" imgH="215640" progId="Equation.3">
                  <p:embed/>
                  <p:pic>
                    <p:nvPicPr>
                      <p:cNvPr id="20992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8024" y="1495897"/>
                        <a:ext cx="1981200" cy="523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596417" y="1941984"/>
            <a:ext cx="8001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dirty="0"/>
              <a:t>今抽查</a:t>
            </a:r>
            <a:r>
              <a:rPr lang="en-US" altLang="zh-CN" sz="2800" dirty="0"/>
              <a:t>16</a:t>
            </a:r>
            <a:r>
              <a:rPr lang="zh-CN" altLang="en-US" sz="2800" dirty="0"/>
              <a:t>个零件，测得长度（</a:t>
            </a:r>
            <a:r>
              <a:rPr lang="en-US" altLang="zh-CN" sz="2800" dirty="0"/>
              <a:t>mm</a:t>
            </a:r>
            <a:r>
              <a:rPr lang="zh-CN" altLang="en-US" sz="2800" dirty="0"/>
              <a:t>）如下：</a:t>
            </a:r>
          </a:p>
        </p:txBody>
      </p:sp>
      <p:sp>
        <p:nvSpPr>
          <p:cNvPr id="8" name="Text Box 6"/>
          <p:cNvSpPr txBox="1">
            <a:spLocks noChangeArrowheads="1"/>
          </p:cNvSpPr>
          <p:nvPr/>
        </p:nvSpPr>
        <p:spPr bwMode="auto">
          <a:xfrm>
            <a:off x="683568" y="2460353"/>
            <a:ext cx="6335712" cy="137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dirty="0"/>
              <a:t>12.15,  12.12,  12.01,  12.08,  12.09,  12.16,  12.03,  12.01,  12.06,  12.13,  12.07,  12.11,  12.08,  12.01,  12.03,  12.06,</a:t>
            </a:r>
          </a:p>
        </p:txBody>
      </p:sp>
      <p:grpSp>
        <p:nvGrpSpPr>
          <p:cNvPr id="9" name="Group 15"/>
          <p:cNvGrpSpPr>
            <a:grpSpLocks/>
          </p:cNvGrpSpPr>
          <p:nvPr/>
        </p:nvGrpSpPr>
        <p:grpSpPr bwMode="auto">
          <a:xfrm>
            <a:off x="306261" y="3728366"/>
            <a:ext cx="8459787" cy="519112"/>
            <a:chOff x="431" y="1933"/>
            <a:chExt cx="5329" cy="327"/>
          </a:xfrm>
        </p:grpSpPr>
        <p:sp>
          <p:nvSpPr>
            <p:cNvPr id="10" name="Text Box 8"/>
            <p:cNvSpPr txBox="1">
              <a:spLocks noChangeArrowheads="1"/>
            </p:cNvSpPr>
            <p:nvPr/>
          </p:nvSpPr>
          <p:spPr bwMode="auto">
            <a:xfrm>
              <a:off x="431" y="1933"/>
              <a:ext cx="5329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dirty="0"/>
                <a:t>    </a:t>
              </a:r>
              <a:r>
                <a:rPr lang="zh-CN" altLang="en-US" sz="2800" dirty="0"/>
                <a:t>以置信度为</a:t>
              </a:r>
              <a:r>
                <a:rPr lang="en-US" altLang="zh-CN" sz="2800" dirty="0"/>
                <a:t>95%</a:t>
              </a:r>
              <a:r>
                <a:rPr lang="zh-CN" altLang="en-US" sz="2800" dirty="0"/>
                <a:t>，试求总体方差     的置信区间。</a:t>
              </a:r>
            </a:p>
          </p:txBody>
        </p:sp>
        <p:graphicFrame>
          <p:nvGraphicFramePr>
            <p:cNvPr id="11" name="Object 9"/>
            <p:cNvGraphicFramePr>
              <a:graphicFrameLocks noChangeAspect="1"/>
            </p:cNvGraphicFramePr>
            <p:nvPr/>
          </p:nvGraphicFramePr>
          <p:xfrm>
            <a:off x="3829" y="1953"/>
            <a:ext cx="288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6873" name="公式" r:id="rId6" imgW="190440" imgH="190440" progId="Equation.3">
                    <p:embed/>
                  </p:oleObj>
                </mc:Choice>
                <mc:Fallback>
                  <p:oleObj name="公式" r:id="rId6" imgW="190440" imgH="190440" progId="Equation.3">
                    <p:embed/>
                    <p:pic>
                      <p:nvPicPr>
                        <p:cNvPr id="36872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29" y="1953"/>
                          <a:ext cx="288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2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21813039"/>
              </p:ext>
            </p:extLst>
          </p:nvPr>
        </p:nvGraphicFramePr>
        <p:xfrm>
          <a:off x="251520" y="4221088"/>
          <a:ext cx="6327775" cy="560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874" name="公式" r:id="rId8" imgW="2286000" imgH="203040" progId="Equation.3">
                  <p:embed/>
                </p:oleObj>
              </mc:Choice>
              <mc:Fallback>
                <p:oleObj name="公式" r:id="rId8" imgW="2286000" imgH="203040" progId="Equation.3">
                  <p:embed/>
                  <p:pic>
                    <p:nvPicPr>
                      <p:cNvPr id="20993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520" y="4221088"/>
                        <a:ext cx="6327775" cy="560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77086990"/>
              </p:ext>
            </p:extLst>
          </p:nvPr>
        </p:nvGraphicFramePr>
        <p:xfrm>
          <a:off x="6666686" y="4232881"/>
          <a:ext cx="2070100" cy="563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875" name="Equation" r:id="rId10" imgW="749160" imgH="203040" progId="Equation.DSMT4">
                  <p:embed/>
                </p:oleObj>
              </mc:Choice>
              <mc:Fallback>
                <p:oleObj name="Equation" r:id="rId10" imgW="749160" imgH="203040" progId="Equation.DSMT4">
                  <p:embed/>
                  <p:pic>
                    <p:nvPicPr>
                      <p:cNvPr id="209931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66686" y="4232881"/>
                        <a:ext cx="2070100" cy="563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15559352"/>
              </p:ext>
            </p:extLst>
          </p:nvPr>
        </p:nvGraphicFramePr>
        <p:xfrm>
          <a:off x="899592" y="4687334"/>
          <a:ext cx="6242050" cy="1052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876" name="Equation" r:id="rId12" imgW="2323800" imgH="393480" progId="Equation.DSMT4">
                  <p:embed/>
                </p:oleObj>
              </mc:Choice>
              <mc:Fallback>
                <p:oleObj name="Equation" r:id="rId12" imgW="2323800" imgH="393480" progId="Equation.DSMT4">
                  <p:embed/>
                  <p:pic>
                    <p:nvPicPr>
                      <p:cNvPr id="209932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9592" y="4687334"/>
                        <a:ext cx="6242050" cy="1052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28554195"/>
              </p:ext>
            </p:extLst>
          </p:nvPr>
        </p:nvGraphicFramePr>
        <p:xfrm>
          <a:off x="1456511" y="5658209"/>
          <a:ext cx="7280275" cy="1042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877" name="Equation" r:id="rId14" imgW="2565360" imgH="368280" progId="Equation.DSMT4">
                  <p:embed/>
                </p:oleObj>
              </mc:Choice>
              <mc:Fallback>
                <p:oleObj name="Equation" r:id="rId14" imgW="2565360" imgH="368280" progId="Equation.DSMT4">
                  <p:embed/>
                  <p:pic>
                    <p:nvPicPr>
                      <p:cNvPr id="209933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56511" y="5658209"/>
                        <a:ext cx="7280275" cy="1042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481752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双</a:t>
            </a:r>
            <a:r>
              <a:rPr lang="zh-CN" altLang="en-US" dirty="0"/>
              <a:t>正态总体情形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CAB1394B-3A46-42F6-8841-E262D5A0BA7B}" type="slidenum">
              <a:rPr lang="en-US" altLang="zh-CN" smtClean="0"/>
              <a:pPr/>
              <a:t>21</a:t>
            </a:fld>
            <a:endParaRPr lang="en-US" altLang="zh-CN"/>
          </a:p>
        </p:txBody>
      </p:sp>
      <p:grpSp>
        <p:nvGrpSpPr>
          <p:cNvPr id="5" name="Group 2"/>
          <p:cNvGrpSpPr>
            <a:grpSpLocks/>
          </p:cNvGrpSpPr>
          <p:nvPr/>
        </p:nvGrpSpPr>
        <p:grpSpPr bwMode="auto">
          <a:xfrm>
            <a:off x="611188" y="1916113"/>
            <a:ext cx="7948612" cy="641350"/>
            <a:chOff x="277" y="1162"/>
            <a:chExt cx="5007" cy="404"/>
          </a:xfrm>
        </p:grpSpPr>
        <p:graphicFrame>
          <p:nvGraphicFramePr>
            <p:cNvPr id="6" name="Object 3"/>
            <p:cNvGraphicFramePr>
              <a:graphicFrameLocks noChangeAspect="1"/>
            </p:cNvGraphicFramePr>
            <p:nvPr/>
          </p:nvGraphicFramePr>
          <p:xfrm>
            <a:off x="277" y="1165"/>
            <a:ext cx="1506" cy="3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7730" name="Equation" r:id="rId3" imgW="1054080" imgH="253800" progId="Equation.DSMT4">
                    <p:embed/>
                  </p:oleObj>
                </mc:Choice>
                <mc:Fallback>
                  <p:oleObj name="Equation" r:id="rId3" imgW="1054080" imgH="253800" progId="Equation.DSMT4">
                    <p:embed/>
                    <p:pic>
                      <p:nvPicPr>
                        <p:cNvPr id="37895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lum bright="-10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7" y="1165"/>
                          <a:ext cx="1506" cy="3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" name="Text Box 4"/>
            <p:cNvSpPr txBox="1">
              <a:spLocks noChangeArrowheads="1"/>
            </p:cNvSpPr>
            <p:nvPr/>
          </p:nvSpPr>
          <p:spPr bwMode="auto">
            <a:xfrm>
              <a:off x="1704" y="1162"/>
              <a:ext cx="3580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dirty="0"/>
                <a:t>为总体</a:t>
              </a:r>
              <a:r>
                <a:rPr lang="zh-CN" altLang="en-US" i="1" dirty="0"/>
                <a:t> </a:t>
              </a:r>
              <a:r>
                <a:rPr lang="en-US" altLang="zh-CN" i="1" dirty="0"/>
                <a:t>X~N </a:t>
              </a:r>
              <a:r>
                <a:rPr lang="en-US" altLang="zh-CN" dirty="0"/>
                <a:t>( </a:t>
              </a:r>
              <a:r>
                <a:rPr lang="en-US" altLang="zh-CN" i="1" dirty="0">
                  <a:sym typeface="Symbol" panose="05050102010706020507" pitchFamily="18" charset="2"/>
                </a:rPr>
                <a:t></a:t>
              </a:r>
              <a:r>
                <a:rPr lang="en-US" altLang="zh-CN" baseline="-25000" dirty="0">
                  <a:sym typeface="Symbol" panose="05050102010706020507" pitchFamily="18" charset="2"/>
                </a:rPr>
                <a:t>1</a:t>
              </a:r>
              <a:r>
                <a:rPr lang="en-US" altLang="zh-CN" i="1" dirty="0">
                  <a:sym typeface="Symbol" panose="05050102010706020507" pitchFamily="18" charset="2"/>
                </a:rPr>
                <a:t>  </a:t>
              </a:r>
              <a:r>
                <a:rPr lang="en-US" altLang="zh-CN" baseline="-25000" dirty="0">
                  <a:sym typeface="Symbol" panose="05050102010706020507" pitchFamily="18" charset="2"/>
                </a:rPr>
                <a:t>1</a:t>
              </a:r>
              <a:r>
                <a:rPr lang="en-US" altLang="zh-CN" baseline="30000" dirty="0">
                  <a:sym typeface="Symbol" panose="05050102010706020507" pitchFamily="18" charset="2"/>
                </a:rPr>
                <a:t>2 </a:t>
              </a:r>
              <a:r>
                <a:rPr lang="en-US" altLang="zh-CN" dirty="0"/>
                <a:t>) </a:t>
              </a:r>
              <a:r>
                <a:rPr lang="zh-CN" altLang="en-US" dirty="0"/>
                <a:t>的样本</a:t>
              </a:r>
              <a:r>
                <a:rPr lang="en-US" altLang="zh-CN" dirty="0"/>
                <a:t>,</a:t>
              </a:r>
            </a:p>
          </p:txBody>
        </p:sp>
      </p:grpSp>
      <p:grpSp>
        <p:nvGrpSpPr>
          <p:cNvPr id="8" name="Group 5"/>
          <p:cNvGrpSpPr>
            <a:grpSpLocks/>
          </p:cNvGrpSpPr>
          <p:nvPr/>
        </p:nvGrpSpPr>
        <p:grpSpPr bwMode="auto">
          <a:xfrm>
            <a:off x="555625" y="2636838"/>
            <a:ext cx="8201025" cy="684212"/>
            <a:chOff x="254" y="1595"/>
            <a:chExt cx="5166" cy="431"/>
          </a:xfrm>
        </p:grpSpPr>
        <p:graphicFrame>
          <p:nvGraphicFramePr>
            <p:cNvPr id="9" name="Object 6"/>
            <p:cNvGraphicFramePr>
              <a:graphicFrameLocks noChangeAspect="1"/>
            </p:cNvGraphicFramePr>
            <p:nvPr/>
          </p:nvGraphicFramePr>
          <p:xfrm>
            <a:off x="254" y="1595"/>
            <a:ext cx="1534" cy="4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7731" name="Equation" r:id="rId5" imgW="939600" imgH="253800" progId="Equation.DSMT4">
                    <p:embed/>
                  </p:oleObj>
                </mc:Choice>
                <mc:Fallback>
                  <p:oleObj name="Equation" r:id="rId5" imgW="939600" imgH="253800" progId="Equation.DSMT4">
                    <p:embed/>
                    <p:pic>
                      <p:nvPicPr>
                        <p:cNvPr id="37894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lum bright="-10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4" y="1595"/>
                          <a:ext cx="1534" cy="43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" name="Text Box 7"/>
            <p:cNvSpPr txBox="1">
              <a:spLocks noChangeArrowheads="1"/>
            </p:cNvSpPr>
            <p:nvPr/>
          </p:nvSpPr>
          <p:spPr bwMode="auto">
            <a:xfrm>
              <a:off x="1656" y="1616"/>
              <a:ext cx="3764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dirty="0"/>
                <a:t>为总体 </a:t>
              </a:r>
              <a:r>
                <a:rPr lang="en-US" altLang="zh-CN" i="1" dirty="0"/>
                <a:t>Y</a:t>
              </a:r>
              <a:r>
                <a:rPr lang="en-US" altLang="zh-CN" dirty="0"/>
                <a:t>~</a:t>
              </a:r>
              <a:r>
                <a:rPr lang="en-US" altLang="zh-CN" i="1" dirty="0"/>
                <a:t>N </a:t>
              </a:r>
              <a:r>
                <a:rPr lang="en-US" altLang="zh-CN" dirty="0"/>
                <a:t>( </a:t>
              </a:r>
              <a:r>
                <a:rPr lang="en-US" altLang="zh-CN" i="1" dirty="0">
                  <a:sym typeface="Symbol" panose="05050102010706020507" pitchFamily="18" charset="2"/>
                </a:rPr>
                <a:t></a:t>
              </a:r>
              <a:r>
                <a:rPr lang="en-US" altLang="zh-CN" i="1" baseline="-25000" dirty="0">
                  <a:sym typeface="Symbol" panose="05050102010706020507" pitchFamily="18" charset="2"/>
                </a:rPr>
                <a:t>2</a:t>
              </a:r>
              <a:r>
                <a:rPr lang="en-US" altLang="zh-CN" i="1" dirty="0">
                  <a:sym typeface="Symbol" panose="05050102010706020507" pitchFamily="18" charset="2"/>
                </a:rPr>
                <a:t> </a:t>
              </a:r>
              <a:r>
                <a:rPr lang="en-US" altLang="zh-CN" i="1" baseline="-25000" dirty="0">
                  <a:sym typeface="Symbol" panose="05050102010706020507" pitchFamily="18" charset="2"/>
                </a:rPr>
                <a:t> </a:t>
              </a:r>
              <a:r>
                <a:rPr lang="en-US" altLang="zh-CN" i="1" dirty="0">
                  <a:sym typeface="Symbol" panose="05050102010706020507" pitchFamily="18" charset="2"/>
                </a:rPr>
                <a:t> </a:t>
              </a:r>
              <a:r>
                <a:rPr lang="en-US" altLang="zh-CN" baseline="-25000" dirty="0">
                  <a:sym typeface="Symbol" panose="05050102010706020507" pitchFamily="18" charset="2"/>
                </a:rPr>
                <a:t>2</a:t>
              </a:r>
              <a:r>
                <a:rPr lang="en-US" altLang="zh-CN" baseline="30000" dirty="0">
                  <a:sym typeface="Symbol" panose="05050102010706020507" pitchFamily="18" charset="2"/>
                </a:rPr>
                <a:t>2 </a:t>
              </a:r>
              <a:r>
                <a:rPr lang="en-US" altLang="zh-CN" dirty="0"/>
                <a:t>)</a:t>
              </a:r>
              <a:r>
                <a:rPr lang="en-US" altLang="zh-CN" i="1" dirty="0"/>
                <a:t> </a:t>
              </a:r>
              <a:r>
                <a:rPr lang="zh-CN" altLang="en-US" dirty="0"/>
                <a:t>的样本</a:t>
              </a:r>
              <a:r>
                <a:rPr lang="en-US" altLang="zh-CN" dirty="0"/>
                <a:t>,</a:t>
              </a:r>
            </a:p>
          </p:txBody>
        </p:sp>
      </p:grpSp>
      <p:sp>
        <p:nvSpPr>
          <p:cNvPr id="11" name="Rectangle 8"/>
          <p:cNvSpPr>
            <a:spLocks noChangeArrowheads="1"/>
          </p:cNvSpPr>
          <p:nvPr/>
        </p:nvSpPr>
        <p:spPr bwMode="auto">
          <a:xfrm>
            <a:off x="2771775" y="4221163"/>
            <a:ext cx="5316538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dirty="0"/>
              <a:t>设</a:t>
            </a:r>
            <a:r>
              <a:rPr lang="en-US" altLang="zh-CN" dirty="0"/>
              <a:t>X,Y</a:t>
            </a:r>
            <a:r>
              <a:rPr lang="zh-CN" altLang="en-US" dirty="0"/>
              <a:t>独立，置信度为 </a:t>
            </a:r>
            <a:r>
              <a:rPr lang="en-US" altLang="zh-CN" dirty="0"/>
              <a:t>1 </a:t>
            </a:r>
            <a:r>
              <a:rPr lang="en-US" altLang="zh-CN" dirty="0">
                <a:sym typeface="Symbol" panose="05050102010706020507" pitchFamily="18" charset="2"/>
              </a:rPr>
              <a:t> </a:t>
            </a:r>
            <a:r>
              <a:rPr lang="en-US" altLang="zh-CN" i="1" dirty="0">
                <a:sym typeface="Symbol" panose="05050102010706020507" pitchFamily="18" charset="2"/>
              </a:rPr>
              <a:t> .</a:t>
            </a:r>
          </a:p>
        </p:txBody>
      </p:sp>
      <p:graphicFrame>
        <p:nvGraphicFramePr>
          <p:cNvPr id="12" name="Object 9"/>
          <p:cNvGraphicFramePr>
            <a:graphicFrameLocks noChangeAspect="1"/>
          </p:cNvGraphicFramePr>
          <p:nvPr/>
        </p:nvGraphicFramePr>
        <p:xfrm>
          <a:off x="684213" y="3429000"/>
          <a:ext cx="2057400" cy="631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732" name="Equation" r:id="rId7" imgW="863280" imgH="228600" progId="Equation.DSMT4">
                  <p:embed/>
                </p:oleObj>
              </mc:Choice>
              <mc:Fallback>
                <p:oleObj name="Equation" r:id="rId7" imgW="863280" imgH="228600" progId="Equation.DSMT4">
                  <p:embed/>
                  <p:pic>
                    <p:nvPicPr>
                      <p:cNvPr id="211977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lum bright="-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3429000"/>
                        <a:ext cx="2057400" cy="631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Box 10"/>
          <p:cNvSpPr txBox="1">
            <a:spLocks noChangeArrowheads="1"/>
          </p:cNvSpPr>
          <p:nvPr/>
        </p:nvSpPr>
        <p:spPr bwMode="auto">
          <a:xfrm>
            <a:off x="2743200" y="3459163"/>
            <a:ext cx="585152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dirty="0"/>
              <a:t>分别表示</a:t>
            </a:r>
            <a:r>
              <a:rPr lang="en-US" altLang="zh-CN" dirty="0"/>
              <a:t>X, Y</a:t>
            </a:r>
            <a:r>
              <a:rPr lang="zh-CN" altLang="en-US" dirty="0"/>
              <a:t>的样本均值与修正</a:t>
            </a:r>
          </a:p>
        </p:txBody>
      </p:sp>
      <p:sp>
        <p:nvSpPr>
          <p:cNvPr id="14" name="Rectangle 14"/>
          <p:cNvSpPr>
            <a:spLocks noChangeArrowheads="1"/>
          </p:cNvSpPr>
          <p:nvPr/>
        </p:nvSpPr>
        <p:spPr bwMode="auto">
          <a:xfrm>
            <a:off x="684213" y="4248150"/>
            <a:ext cx="19113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/>
              <a:t>样本方差</a:t>
            </a:r>
            <a:r>
              <a:rPr lang="en-US" altLang="zh-CN"/>
              <a:t>.</a:t>
            </a:r>
          </a:p>
        </p:txBody>
      </p:sp>
      <p:sp>
        <p:nvSpPr>
          <p:cNvPr id="15" name="Rectangle 17"/>
          <p:cNvSpPr>
            <a:spLocks noChangeArrowheads="1"/>
          </p:cNvSpPr>
          <p:nvPr/>
        </p:nvSpPr>
        <p:spPr bwMode="auto">
          <a:xfrm>
            <a:off x="684213" y="4967288"/>
            <a:ext cx="65722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dirty="0"/>
              <a:t>求 </a:t>
            </a:r>
            <a:r>
              <a:rPr lang="el-GR" altLang="zh-CN" sz="3600" i="1" dirty="0">
                <a:solidFill>
                  <a:srgbClr val="FF0066"/>
                </a:solidFill>
              </a:rPr>
              <a:t>μ</a:t>
            </a:r>
            <a:r>
              <a:rPr lang="en-US" altLang="zh-CN" sz="3600" baseline="-25000" dirty="0">
                <a:solidFill>
                  <a:srgbClr val="FF0066"/>
                </a:solidFill>
              </a:rPr>
              <a:t>1</a:t>
            </a:r>
            <a:r>
              <a:rPr lang="en-US" altLang="zh-CN" sz="3600" dirty="0">
                <a:solidFill>
                  <a:srgbClr val="FF0066"/>
                </a:solidFill>
              </a:rPr>
              <a:t>- </a:t>
            </a:r>
            <a:r>
              <a:rPr lang="el-GR" altLang="zh-CN" sz="3600" i="1" dirty="0">
                <a:solidFill>
                  <a:srgbClr val="FF0066"/>
                </a:solidFill>
              </a:rPr>
              <a:t>μ</a:t>
            </a:r>
            <a:r>
              <a:rPr lang="en-US" altLang="zh-CN" sz="3600" baseline="-25000" dirty="0">
                <a:solidFill>
                  <a:srgbClr val="FF0066"/>
                </a:solidFill>
              </a:rPr>
              <a:t>2</a:t>
            </a:r>
            <a:r>
              <a:rPr lang="zh-CN" altLang="en-US" sz="3600" dirty="0">
                <a:solidFill>
                  <a:srgbClr val="FF0066"/>
                </a:solidFill>
              </a:rPr>
              <a:t>，</a:t>
            </a:r>
            <a:r>
              <a:rPr lang="el-GR" altLang="zh-CN" sz="3600" dirty="0">
                <a:solidFill>
                  <a:srgbClr val="FF0066"/>
                </a:solidFill>
              </a:rPr>
              <a:t>σ</a:t>
            </a:r>
            <a:r>
              <a:rPr lang="en-US" altLang="zh-CN" sz="3600" baseline="-25000" dirty="0">
                <a:solidFill>
                  <a:srgbClr val="FF0066"/>
                </a:solidFill>
              </a:rPr>
              <a:t>1</a:t>
            </a:r>
            <a:r>
              <a:rPr lang="en-US" altLang="zh-CN" sz="3600" baseline="30000" dirty="0">
                <a:solidFill>
                  <a:srgbClr val="FF0066"/>
                </a:solidFill>
              </a:rPr>
              <a:t>2</a:t>
            </a:r>
            <a:r>
              <a:rPr lang="en-US" altLang="zh-CN" sz="3600" dirty="0">
                <a:solidFill>
                  <a:srgbClr val="FF0066"/>
                </a:solidFill>
              </a:rPr>
              <a:t>/</a:t>
            </a:r>
            <a:r>
              <a:rPr lang="en-US" altLang="zh-CN" sz="3600" baseline="30000" dirty="0">
                <a:solidFill>
                  <a:srgbClr val="FF0066"/>
                </a:solidFill>
              </a:rPr>
              <a:t> </a:t>
            </a:r>
            <a:r>
              <a:rPr lang="el-GR" altLang="zh-CN" sz="3600" dirty="0">
                <a:solidFill>
                  <a:srgbClr val="FF0066"/>
                </a:solidFill>
              </a:rPr>
              <a:t>σ</a:t>
            </a:r>
            <a:r>
              <a:rPr lang="en-US" altLang="zh-CN" sz="3600" baseline="-25000" dirty="0">
                <a:solidFill>
                  <a:srgbClr val="FF0066"/>
                </a:solidFill>
              </a:rPr>
              <a:t>2</a:t>
            </a:r>
            <a:r>
              <a:rPr lang="en-US" altLang="zh-CN" sz="3600" baseline="30000" dirty="0">
                <a:solidFill>
                  <a:srgbClr val="FF0066"/>
                </a:solidFill>
              </a:rPr>
              <a:t>2 </a:t>
            </a:r>
            <a:r>
              <a:rPr lang="zh-CN" altLang="en-US" dirty="0"/>
              <a:t>的区间估计</a:t>
            </a:r>
            <a:r>
              <a:rPr lang="en-US" altLang="zh-CN" dirty="0"/>
              <a:t>.</a:t>
            </a:r>
            <a:endParaRPr lang="en-US" altLang="zh-CN" i="1" dirty="0"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304291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utoUpdateAnimBg="0"/>
      <p:bldP spid="13" grpId="0" autoUpdateAnimBg="0"/>
      <p:bldP spid="14" grpId="0"/>
      <p:bldP spid="15" grpId="0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双正态总体情形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CAB1394B-3A46-42F6-8841-E262D5A0BA7B}" type="slidenum">
              <a:rPr lang="en-US" altLang="zh-CN" smtClean="0"/>
              <a:pPr/>
              <a:t>22</a:t>
            </a:fld>
            <a:endParaRPr lang="en-US" altLang="zh-CN"/>
          </a:p>
        </p:txBody>
      </p:sp>
      <p:graphicFrame>
        <p:nvGraphicFramePr>
          <p:cNvPr id="5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2776840"/>
              </p:ext>
            </p:extLst>
          </p:nvPr>
        </p:nvGraphicFramePr>
        <p:xfrm>
          <a:off x="716163" y="2165561"/>
          <a:ext cx="4700588" cy="1020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886" name="Equation" r:id="rId3" imgW="2006280" imgH="457200" progId="Equation.DSMT4">
                  <p:embed/>
                </p:oleObj>
              </mc:Choice>
              <mc:Fallback>
                <p:oleObj name="Equation" r:id="rId3" imgW="2006280" imgH="457200" progId="Equation.DSMT4">
                  <p:embed/>
                  <p:pic>
                    <p:nvPicPr>
                      <p:cNvPr id="212994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lum bright="-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6163" y="2165561"/>
                        <a:ext cx="4700588" cy="1020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Group 3"/>
          <p:cNvGrpSpPr>
            <a:grpSpLocks/>
          </p:cNvGrpSpPr>
          <p:nvPr/>
        </p:nvGrpSpPr>
        <p:grpSpPr bwMode="auto">
          <a:xfrm>
            <a:off x="5523113" y="2308436"/>
            <a:ext cx="3254375" cy="646112"/>
            <a:chOff x="826" y="946"/>
            <a:chExt cx="2050" cy="407"/>
          </a:xfrm>
        </p:grpSpPr>
        <p:graphicFrame>
          <p:nvGraphicFramePr>
            <p:cNvPr id="7" name="Object 4"/>
            <p:cNvGraphicFramePr>
              <a:graphicFrameLocks noChangeAspect="1"/>
            </p:cNvGraphicFramePr>
            <p:nvPr/>
          </p:nvGraphicFramePr>
          <p:xfrm>
            <a:off x="826" y="1014"/>
            <a:ext cx="540" cy="3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8887" name="公式" r:id="rId5" imgW="342720" imgH="215640" progId="Equation.3">
                    <p:embed/>
                  </p:oleObj>
                </mc:Choice>
                <mc:Fallback>
                  <p:oleObj name="公式" r:id="rId5" imgW="342720" imgH="215640" progId="Equation.3">
                    <p:embed/>
                    <p:pic>
                      <p:nvPicPr>
                        <p:cNvPr id="3892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lum bright="-10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26" y="1014"/>
                          <a:ext cx="540" cy="33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" name="Text Box 5"/>
            <p:cNvSpPr txBox="1">
              <a:spLocks noChangeArrowheads="1"/>
            </p:cNvSpPr>
            <p:nvPr/>
          </p:nvSpPr>
          <p:spPr bwMode="auto">
            <a:xfrm>
              <a:off x="1392" y="946"/>
              <a:ext cx="1484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3600"/>
                <a:t>相互独立</a:t>
              </a:r>
              <a:r>
                <a:rPr lang="en-US" altLang="zh-CN" sz="3600"/>
                <a:t>,  </a:t>
              </a:r>
            </a:p>
          </p:txBody>
        </p:sp>
      </p:grpSp>
      <p:graphicFrame>
        <p:nvGraphicFramePr>
          <p:cNvPr id="9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1815799"/>
              </p:ext>
            </p:extLst>
          </p:nvPr>
        </p:nvGraphicFramePr>
        <p:xfrm>
          <a:off x="2457323" y="4327336"/>
          <a:ext cx="4464050" cy="178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888" name="Equation" r:id="rId7" imgW="1815840" imgH="711000" progId="Equation.DSMT4">
                  <p:embed/>
                </p:oleObj>
              </mc:Choice>
              <mc:Fallback>
                <p:oleObj name="Equation" r:id="rId7" imgW="1815840" imgH="711000" progId="Equation.DSMT4">
                  <p:embed/>
                  <p:pic>
                    <p:nvPicPr>
                      <p:cNvPr id="212998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lum bright="-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7323" y="4327336"/>
                        <a:ext cx="4464050" cy="1781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" name="Group 7"/>
          <p:cNvGrpSpPr>
            <a:grpSpLocks/>
          </p:cNvGrpSpPr>
          <p:nvPr/>
        </p:nvGrpSpPr>
        <p:grpSpPr bwMode="auto">
          <a:xfrm>
            <a:off x="698701" y="1516273"/>
            <a:ext cx="7221537" cy="663575"/>
            <a:chOff x="406" y="200"/>
            <a:chExt cx="4549" cy="418"/>
          </a:xfrm>
        </p:grpSpPr>
        <p:sp>
          <p:nvSpPr>
            <p:cNvPr id="11" name="Text Box 8"/>
            <p:cNvSpPr txBox="1">
              <a:spLocks noChangeArrowheads="1"/>
            </p:cNvSpPr>
            <p:nvPr/>
          </p:nvSpPr>
          <p:spPr bwMode="auto">
            <a:xfrm>
              <a:off x="406" y="253"/>
              <a:ext cx="524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>
                  <a:solidFill>
                    <a:srgbClr val="FF0066"/>
                  </a:solidFill>
                </a:rPr>
                <a:t>1. </a:t>
              </a:r>
            </a:p>
          </p:txBody>
        </p:sp>
        <p:graphicFrame>
          <p:nvGraphicFramePr>
            <p:cNvPr id="12" name="Object 9"/>
            <p:cNvGraphicFramePr>
              <a:graphicFrameLocks noChangeAspect="1"/>
            </p:cNvGraphicFramePr>
            <p:nvPr/>
          </p:nvGraphicFramePr>
          <p:xfrm>
            <a:off x="707" y="237"/>
            <a:ext cx="686" cy="3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8889" name="Equation" r:id="rId9" imgW="431640" imgH="241200" progId="Equation.DSMT4">
                    <p:embed/>
                  </p:oleObj>
                </mc:Choice>
                <mc:Fallback>
                  <p:oleObj name="Equation" r:id="rId9" imgW="431640" imgH="241200" progId="Equation.DSMT4">
                    <p:embed/>
                    <p:pic>
                      <p:nvPicPr>
                        <p:cNvPr id="38918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07" y="237"/>
                          <a:ext cx="686" cy="3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" name="Text Box 10"/>
            <p:cNvSpPr txBox="1">
              <a:spLocks noChangeArrowheads="1"/>
            </p:cNvSpPr>
            <p:nvPr/>
          </p:nvSpPr>
          <p:spPr bwMode="auto">
            <a:xfrm>
              <a:off x="1447" y="226"/>
              <a:ext cx="3508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dirty="0">
                  <a:solidFill>
                    <a:srgbClr val="FF0066"/>
                  </a:solidFill>
                </a:rPr>
                <a:t>已知</a:t>
              </a:r>
              <a:r>
                <a:rPr lang="en-US" altLang="zh-CN" dirty="0">
                  <a:solidFill>
                    <a:srgbClr val="FF0066"/>
                  </a:solidFill>
                </a:rPr>
                <a:t>, </a:t>
              </a:r>
              <a:r>
                <a:rPr lang="zh-CN" altLang="en-US" dirty="0">
                  <a:solidFill>
                    <a:srgbClr val="FF0066"/>
                  </a:solidFill>
                </a:rPr>
                <a:t>求             的置信区间</a:t>
              </a:r>
            </a:p>
          </p:txBody>
        </p:sp>
        <p:graphicFrame>
          <p:nvGraphicFramePr>
            <p:cNvPr id="14" name="Object 11"/>
            <p:cNvGraphicFramePr>
              <a:graphicFrameLocks noChangeAspect="1"/>
            </p:cNvGraphicFramePr>
            <p:nvPr/>
          </p:nvGraphicFramePr>
          <p:xfrm>
            <a:off x="2436" y="200"/>
            <a:ext cx="799" cy="3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8890" name="Equation" r:id="rId11" imgW="469800" imgH="228600" progId="Equation.DSMT4">
                    <p:embed/>
                  </p:oleObj>
                </mc:Choice>
                <mc:Fallback>
                  <p:oleObj name="Equation" r:id="rId11" imgW="469800" imgH="228600" progId="Equation.DSMT4">
                    <p:embed/>
                    <p:pic>
                      <p:nvPicPr>
                        <p:cNvPr id="38919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36" y="200"/>
                          <a:ext cx="799" cy="36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5" name="AutoShape 12"/>
          <p:cNvSpPr>
            <a:spLocks noChangeArrowheads="1"/>
          </p:cNvSpPr>
          <p:nvPr/>
        </p:nvSpPr>
        <p:spPr bwMode="auto">
          <a:xfrm>
            <a:off x="1414663" y="5022652"/>
            <a:ext cx="850900" cy="180975"/>
          </a:xfrm>
          <a:prstGeom prst="rightArrow">
            <a:avLst>
              <a:gd name="adj1" fmla="val 50000"/>
              <a:gd name="adj2" fmla="val 117544"/>
            </a:avLst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16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0076875"/>
              </p:ext>
            </p:extLst>
          </p:nvPr>
        </p:nvGraphicFramePr>
        <p:xfrm>
          <a:off x="1235514" y="3199023"/>
          <a:ext cx="5064125" cy="1100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891" name="Equation" r:id="rId13" imgW="2006280" imgH="457200" progId="Equation.DSMT4">
                  <p:embed/>
                </p:oleObj>
              </mc:Choice>
              <mc:Fallback>
                <p:oleObj name="Equation" r:id="rId13" imgW="2006280" imgH="457200" progId="Equation.DSMT4">
                  <p:embed/>
                  <p:pic>
                    <p:nvPicPr>
                      <p:cNvPr id="213007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lum bright="-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35514" y="3199023"/>
                        <a:ext cx="5064125" cy="1100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152860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双正态总体情形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CAB1394B-3A46-42F6-8841-E262D5A0BA7B}" type="slidenum">
              <a:rPr lang="en-US" altLang="zh-CN" smtClean="0"/>
              <a:pPr/>
              <a:t>23</a:t>
            </a:fld>
            <a:endParaRPr lang="en-US" altLang="zh-CN"/>
          </a:p>
        </p:txBody>
      </p:sp>
      <p:grpSp>
        <p:nvGrpSpPr>
          <p:cNvPr id="5" name="Group 2"/>
          <p:cNvGrpSpPr>
            <a:grpSpLocks/>
          </p:cNvGrpSpPr>
          <p:nvPr/>
        </p:nvGrpSpPr>
        <p:grpSpPr bwMode="auto">
          <a:xfrm>
            <a:off x="760356" y="4531526"/>
            <a:ext cx="6553200" cy="641350"/>
            <a:chOff x="1383" y="2614"/>
            <a:chExt cx="4128" cy="404"/>
          </a:xfrm>
        </p:grpSpPr>
        <p:graphicFrame>
          <p:nvGraphicFramePr>
            <p:cNvPr id="6" name="Object 3"/>
            <p:cNvGraphicFramePr>
              <a:graphicFrameLocks noChangeAspect="1"/>
            </p:cNvGraphicFramePr>
            <p:nvPr/>
          </p:nvGraphicFramePr>
          <p:xfrm>
            <a:off x="2040" y="2641"/>
            <a:ext cx="776" cy="3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9814" name="公式" r:id="rId3" imgW="482400" imgH="215640" progId="Equation.3">
                    <p:embed/>
                  </p:oleObj>
                </mc:Choice>
                <mc:Fallback>
                  <p:oleObj name="公式" r:id="rId3" imgW="482400" imgH="215640" progId="Equation.3">
                    <p:embed/>
                    <p:pic>
                      <p:nvPicPr>
                        <p:cNvPr id="39941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lum bright="-10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40" y="2641"/>
                          <a:ext cx="776" cy="34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" name="Text Box 4"/>
            <p:cNvSpPr txBox="1">
              <a:spLocks noChangeArrowheads="1"/>
            </p:cNvSpPr>
            <p:nvPr/>
          </p:nvSpPr>
          <p:spPr bwMode="auto">
            <a:xfrm>
              <a:off x="1383" y="2614"/>
              <a:ext cx="4128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dirty="0"/>
                <a:t>解出            的置信区间为：</a:t>
              </a:r>
            </a:p>
          </p:txBody>
        </p:sp>
      </p:grpSp>
      <p:graphicFrame>
        <p:nvGraphicFramePr>
          <p:cNvPr id="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441675"/>
              </p:ext>
            </p:extLst>
          </p:nvPr>
        </p:nvGraphicFramePr>
        <p:xfrm>
          <a:off x="1535662" y="5215739"/>
          <a:ext cx="6307371" cy="12509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815" name="Equation" r:id="rId5" imgW="3314520" imgH="545760" progId="Equation.DSMT4">
                  <p:embed/>
                </p:oleObj>
              </mc:Choice>
              <mc:Fallback>
                <p:oleObj name="Equation" r:id="rId5" imgW="3314520" imgH="545760" progId="Equation.DSMT4">
                  <p:embed/>
                  <p:pic>
                    <p:nvPicPr>
                      <p:cNvPr id="214022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lum bright="-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35662" y="5215739"/>
                        <a:ext cx="6307371" cy="125099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88732994"/>
              </p:ext>
            </p:extLst>
          </p:nvPr>
        </p:nvGraphicFramePr>
        <p:xfrm>
          <a:off x="899593" y="1491972"/>
          <a:ext cx="6553200" cy="15515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816" name="Equation" r:id="rId7" imgW="3060360" imgH="711000" progId="Equation.DSMT4">
                  <p:embed/>
                </p:oleObj>
              </mc:Choice>
              <mc:Fallback>
                <p:oleObj name="Equation" r:id="rId7" imgW="3060360" imgH="711000" progId="Equation.DSMT4">
                  <p:embed/>
                  <p:pic>
                    <p:nvPicPr>
                      <p:cNvPr id="214024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lum bright="-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9593" y="1491972"/>
                        <a:ext cx="6553200" cy="155152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54382062"/>
              </p:ext>
            </p:extLst>
          </p:nvPr>
        </p:nvGraphicFramePr>
        <p:xfrm>
          <a:off x="899592" y="3088101"/>
          <a:ext cx="4680197" cy="1443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817" name="Equation" r:id="rId9" imgW="2349360" imgH="711000" progId="Equation.DSMT4">
                  <p:embed/>
                </p:oleObj>
              </mc:Choice>
              <mc:Fallback>
                <p:oleObj name="Equation" r:id="rId9" imgW="2349360" imgH="711000" progId="Equation.DSMT4">
                  <p:embed/>
                  <p:pic>
                    <p:nvPicPr>
                      <p:cNvPr id="214025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lum bright="-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9592" y="3088101"/>
                        <a:ext cx="4680197" cy="1443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09016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1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双正态总体情形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CAB1394B-3A46-42F6-8841-E262D5A0BA7B}" type="slidenum">
              <a:rPr lang="en-US" altLang="zh-CN" smtClean="0"/>
              <a:pPr/>
              <a:t>24</a:t>
            </a:fld>
            <a:endParaRPr lang="en-US" altLang="zh-CN"/>
          </a:p>
        </p:txBody>
      </p:sp>
      <p:sp>
        <p:nvSpPr>
          <p:cNvPr id="5" name="Text Box 2"/>
          <p:cNvSpPr txBox="1">
            <a:spLocks noChangeArrowheads="1"/>
          </p:cNvSpPr>
          <p:nvPr/>
        </p:nvSpPr>
        <p:spPr bwMode="auto">
          <a:xfrm>
            <a:off x="542007" y="2636912"/>
            <a:ext cx="223651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dirty="0"/>
              <a:t>取样本函数</a:t>
            </a:r>
          </a:p>
        </p:txBody>
      </p:sp>
      <p:grpSp>
        <p:nvGrpSpPr>
          <p:cNvPr id="6" name="Group 3"/>
          <p:cNvGrpSpPr>
            <a:grpSpLocks/>
          </p:cNvGrpSpPr>
          <p:nvPr/>
        </p:nvGrpSpPr>
        <p:grpSpPr bwMode="auto">
          <a:xfrm>
            <a:off x="600521" y="1465186"/>
            <a:ext cx="4765675" cy="1143000"/>
            <a:chOff x="385" y="119"/>
            <a:chExt cx="3002" cy="720"/>
          </a:xfrm>
        </p:grpSpPr>
        <p:sp>
          <p:nvSpPr>
            <p:cNvPr id="7" name="Text Box 4"/>
            <p:cNvSpPr txBox="1">
              <a:spLocks noChangeArrowheads="1"/>
            </p:cNvSpPr>
            <p:nvPr/>
          </p:nvSpPr>
          <p:spPr bwMode="auto">
            <a:xfrm>
              <a:off x="385" y="255"/>
              <a:ext cx="1148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dirty="0">
                  <a:solidFill>
                    <a:srgbClr val="FF0066"/>
                  </a:solidFill>
                </a:rPr>
                <a:t>2.</a:t>
              </a:r>
              <a:r>
                <a:rPr lang="en-US" altLang="zh-CN" sz="3600" b="1" dirty="0">
                  <a:solidFill>
                    <a:schemeClr val="tx2"/>
                  </a:solidFill>
                </a:rPr>
                <a:t> </a:t>
              </a:r>
              <a:r>
                <a:rPr lang="zh-CN" altLang="en-US" dirty="0">
                  <a:solidFill>
                    <a:srgbClr val="FF0066"/>
                  </a:solidFill>
                </a:rPr>
                <a:t>方差比</a:t>
              </a:r>
            </a:p>
          </p:txBody>
        </p:sp>
        <p:graphicFrame>
          <p:nvGraphicFramePr>
            <p:cNvPr id="8" name="Object 5"/>
            <p:cNvGraphicFramePr>
              <a:graphicFrameLocks noChangeAspect="1"/>
            </p:cNvGraphicFramePr>
            <p:nvPr/>
          </p:nvGraphicFramePr>
          <p:xfrm>
            <a:off x="1530" y="119"/>
            <a:ext cx="420" cy="7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0873" name="Equation" r:id="rId4" imgW="241200" imgH="457200" progId="Equation.DSMT4">
                    <p:embed/>
                  </p:oleObj>
                </mc:Choice>
                <mc:Fallback>
                  <p:oleObj name="Equation" r:id="rId4" imgW="241200" imgH="457200" progId="Equation.DSMT4">
                    <p:embed/>
                    <p:pic>
                      <p:nvPicPr>
                        <p:cNvPr id="40968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30" y="119"/>
                          <a:ext cx="420" cy="7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" name="Text Box 6"/>
            <p:cNvSpPr txBox="1">
              <a:spLocks noChangeArrowheads="1"/>
            </p:cNvSpPr>
            <p:nvPr/>
          </p:nvSpPr>
          <p:spPr bwMode="auto">
            <a:xfrm>
              <a:off x="1927" y="301"/>
              <a:ext cx="1460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>
                  <a:solidFill>
                    <a:srgbClr val="FF0066"/>
                  </a:solidFill>
                </a:rPr>
                <a:t>的置信区间 </a:t>
              </a:r>
            </a:p>
          </p:txBody>
        </p:sp>
      </p:grpSp>
      <p:graphicFrame>
        <p:nvGraphicFramePr>
          <p:cNvPr id="10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44574916"/>
              </p:ext>
            </p:extLst>
          </p:nvPr>
        </p:nvGraphicFramePr>
        <p:xfrm>
          <a:off x="2847057" y="2413075"/>
          <a:ext cx="4537075" cy="1155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874" name="Equation" r:id="rId6" imgW="1879560" imgH="457200" progId="Equation.DSMT4">
                  <p:embed/>
                </p:oleObj>
              </mc:Choice>
              <mc:Fallback>
                <p:oleObj name="Equation" r:id="rId6" imgW="1879560" imgH="457200" progId="Equation.DSMT4">
                  <p:embed/>
                  <p:pic>
                    <p:nvPicPr>
                      <p:cNvPr id="215047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lum bright="-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7057" y="2413075"/>
                        <a:ext cx="4537075" cy="1155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" name="Group 17"/>
          <p:cNvGrpSpPr>
            <a:grpSpLocks/>
          </p:cNvGrpSpPr>
          <p:nvPr/>
        </p:nvGrpSpPr>
        <p:grpSpPr bwMode="auto">
          <a:xfrm>
            <a:off x="332457" y="4332143"/>
            <a:ext cx="7051675" cy="990600"/>
            <a:chOff x="431" y="1979"/>
            <a:chExt cx="4442" cy="624"/>
          </a:xfrm>
        </p:grpSpPr>
        <p:sp>
          <p:nvSpPr>
            <p:cNvPr id="12" name="Rectangle 9"/>
            <p:cNvSpPr>
              <a:spLocks noChangeArrowheads="1"/>
            </p:cNvSpPr>
            <p:nvPr/>
          </p:nvSpPr>
          <p:spPr bwMode="auto">
            <a:xfrm>
              <a:off x="431" y="2120"/>
              <a:ext cx="1833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dirty="0"/>
                <a:t>  </a:t>
              </a:r>
              <a:r>
                <a:rPr lang="zh-CN" altLang="en-US" dirty="0"/>
                <a:t>得，方差比</a:t>
              </a:r>
            </a:p>
          </p:txBody>
        </p:sp>
        <p:graphicFrame>
          <p:nvGraphicFramePr>
            <p:cNvPr id="13" name="Object 10"/>
            <p:cNvGraphicFramePr>
              <a:graphicFrameLocks noChangeAspect="1"/>
            </p:cNvGraphicFramePr>
            <p:nvPr/>
          </p:nvGraphicFramePr>
          <p:xfrm>
            <a:off x="2018" y="1979"/>
            <a:ext cx="419" cy="6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0875" name="Equation" r:id="rId8" imgW="253800" imgH="457200" progId="Equation.DSMT4">
                    <p:embed/>
                  </p:oleObj>
                </mc:Choice>
                <mc:Fallback>
                  <p:oleObj name="Equation" r:id="rId8" imgW="253800" imgH="457200" progId="Equation.DSMT4">
                    <p:embed/>
                    <p:pic>
                      <p:nvPicPr>
                        <p:cNvPr id="40967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lum bright="-10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18" y="1979"/>
                          <a:ext cx="419" cy="6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" name="Text Box 11"/>
            <p:cNvSpPr txBox="1">
              <a:spLocks noChangeArrowheads="1"/>
            </p:cNvSpPr>
            <p:nvPr/>
          </p:nvSpPr>
          <p:spPr bwMode="auto">
            <a:xfrm>
              <a:off x="2381" y="2103"/>
              <a:ext cx="2492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dirty="0"/>
                <a:t>的置信区间：</a:t>
              </a:r>
            </a:p>
          </p:txBody>
        </p:sp>
      </p:grpSp>
      <p:graphicFrame>
        <p:nvGraphicFramePr>
          <p:cNvPr id="15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8435040"/>
              </p:ext>
            </p:extLst>
          </p:nvPr>
        </p:nvGraphicFramePr>
        <p:xfrm>
          <a:off x="618777" y="3523531"/>
          <a:ext cx="8342313" cy="1033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876" name="Equation" r:id="rId10" imgW="3759120" imgH="457200" progId="Equation.DSMT4">
                  <p:embed/>
                </p:oleObj>
              </mc:Choice>
              <mc:Fallback>
                <p:oleObj name="Equation" r:id="rId10" imgW="3759120" imgH="457200" progId="Equation.DSMT4">
                  <p:embed/>
                  <p:pic>
                    <p:nvPicPr>
                      <p:cNvPr id="215062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lum bright="-10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8777" y="3523531"/>
                        <a:ext cx="8342313" cy="1033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64165139"/>
              </p:ext>
            </p:extLst>
          </p:nvPr>
        </p:nvGraphicFramePr>
        <p:xfrm>
          <a:off x="1482253" y="5372832"/>
          <a:ext cx="6552530" cy="1144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877" name="Equation" r:id="rId12" imgW="3111480" imgH="482400" progId="Equation.DSMT4">
                  <p:embed/>
                </p:oleObj>
              </mc:Choice>
              <mc:Fallback>
                <p:oleObj name="Equation" r:id="rId12" imgW="3111480" imgH="482400" progId="Equation.DSMT4">
                  <p:embed/>
                  <p:pic>
                    <p:nvPicPr>
                      <p:cNvPr id="215063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lum bright="-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82253" y="5372832"/>
                        <a:ext cx="6552530" cy="1144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73368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1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例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CAB1394B-3A46-42F6-8841-E262D5A0BA7B}" type="slidenum">
              <a:rPr lang="en-US" altLang="zh-CN" smtClean="0"/>
              <a:pPr/>
              <a:t>25</a:t>
            </a:fld>
            <a:endParaRPr lang="en-US" altLang="zh-CN"/>
          </a:p>
        </p:txBody>
      </p:sp>
      <p:sp>
        <p:nvSpPr>
          <p:cNvPr id="5" name="Text Box 2"/>
          <p:cNvSpPr txBox="1">
            <a:spLocks noChangeArrowheads="1"/>
          </p:cNvSpPr>
          <p:nvPr/>
        </p:nvSpPr>
        <p:spPr bwMode="auto">
          <a:xfrm>
            <a:off x="533400" y="1628601"/>
            <a:ext cx="8413750" cy="1677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20000"/>
              </a:spcBef>
            </a:pPr>
            <a:r>
              <a:rPr lang="zh-CN" altLang="en-US" dirty="0" smtClean="0"/>
              <a:t>某</a:t>
            </a:r>
            <a:r>
              <a:rPr lang="zh-CN" altLang="en-US" dirty="0"/>
              <a:t>厂两条流水线包装产品，重量都</a:t>
            </a:r>
            <a:r>
              <a:rPr lang="zh-CN" altLang="en-US" dirty="0" smtClean="0"/>
              <a:t>服从正态分布</a:t>
            </a:r>
            <a:r>
              <a:rPr lang="zh-CN" altLang="en-US" dirty="0"/>
              <a:t>，其均值为 </a:t>
            </a:r>
            <a:r>
              <a:rPr lang="en-US" altLang="en-US" i="1" dirty="0">
                <a:sym typeface="Symbol" panose="05050102010706020507" pitchFamily="18" charset="2"/>
              </a:rPr>
              <a:t> </a:t>
            </a:r>
            <a:r>
              <a:rPr lang="en-US" altLang="en-US" baseline="-25000" dirty="0">
                <a:sym typeface="Symbol" panose="05050102010706020507" pitchFamily="18" charset="2"/>
              </a:rPr>
              <a:t>1</a:t>
            </a:r>
            <a:r>
              <a:rPr lang="zh-CN" altLang="en-US" dirty="0">
                <a:sym typeface="Symbol" panose="05050102010706020507" pitchFamily="18" charset="2"/>
              </a:rPr>
              <a:t>与 </a:t>
            </a:r>
            <a:r>
              <a:rPr lang="en-US" altLang="en-US" i="1" dirty="0">
                <a:sym typeface="Symbol" panose="05050102010706020507" pitchFamily="18" charset="2"/>
              </a:rPr>
              <a:t> </a:t>
            </a:r>
            <a:r>
              <a:rPr lang="en-US" altLang="en-US" baseline="-25000" dirty="0">
                <a:sym typeface="Symbol" panose="05050102010706020507" pitchFamily="18" charset="2"/>
              </a:rPr>
              <a:t>2</a:t>
            </a:r>
            <a:r>
              <a:rPr lang="en-US" altLang="zh-CN" dirty="0">
                <a:sym typeface="Symbol" panose="05050102010706020507" pitchFamily="18" charset="2"/>
              </a:rPr>
              <a:t>. </a:t>
            </a:r>
            <a:r>
              <a:rPr lang="zh-CN" altLang="en-US" dirty="0"/>
              <a:t>现分别抽取</a:t>
            </a:r>
            <a:r>
              <a:rPr lang="zh-CN" altLang="en-US" dirty="0" smtClean="0"/>
              <a:t>容量</a:t>
            </a:r>
            <a:r>
              <a:rPr lang="zh-CN" altLang="en-US" dirty="0"/>
              <a:t>分别为</a:t>
            </a:r>
            <a:r>
              <a:rPr lang="en-US" altLang="zh-CN" dirty="0"/>
              <a:t>n</a:t>
            </a:r>
            <a:r>
              <a:rPr lang="en-US" altLang="zh-CN" baseline="-25000" dirty="0"/>
              <a:t>1</a:t>
            </a:r>
            <a:r>
              <a:rPr lang="en-US" altLang="zh-CN" dirty="0"/>
              <a:t>=13</a:t>
            </a:r>
            <a:r>
              <a:rPr lang="zh-CN" altLang="en-US" dirty="0"/>
              <a:t>与</a:t>
            </a:r>
            <a:r>
              <a:rPr lang="en-US" altLang="zh-CN" dirty="0"/>
              <a:t>n</a:t>
            </a:r>
            <a:r>
              <a:rPr lang="en-US" altLang="zh-CN" baseline="-25000" dirty="0"/>
              <a:t>2</a:t>
            </a:r>
            <a:r>
              <a:rPr lang="en-US" altLang="zh-CN" dirty="0"/>
              <a:t>=17</a:t>
            </a:r>
            <a:r>
              <a:rPr lang="zh-CN" altLang="en-US" dirty="0"/>
              <a:t>的两独立样本：</a:t>
            </a:r>
          </a:p>
        </p:txBody>
      </p:sp>
      <p:grpSp>
        <p:nvGrpSpPr>
          <p:cNvPr id="6" name="Group 3"/>
          <p:cNvGrpSpPr>
            <a:grpSpLocks/>
          </p:cNvGrpSpPr>
          <p:nvPr/>
        </p:nvGrpSpPr>
        <p:grpSpPr bwMode="auto">
          <a:xfrm>
            <a:off x="1470025" y="2780928"/>
            <a:ext cx="5184775" cy="647700"/>
            <a:chOff x="1392" y="1293"/>
            <a:chExt cx="3264" cy="483"/>
          </a:xfrm>
        </p:grpSpPr>
        <p:graphicFrame>
          <p:nvGraphicFramePr>
            <p:cNvPr id="7" name="Object 4"/>
            <p:cNvGraphicFramePr>
              <a:graphicFrameLocks noChangeAspect="1"/>
            </p:cNvGraphicFramePr>
            <p:nvPr/>
          </p:nvGraphicFramePr>
          <p:xfrm>
            <a:off x="1392" y="1293"/>
            <a:ext cx="1448" cy="4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872" name="Equation" r:id="rId3" imgW="939600" imgH="228600" progId="Equation.DSMT4">
                    <p:embed/>
                  </p:oleObj>
                </mc:Choice>
                <mc:Fallback>
                  <p:oleObj name="Equation" r:id="rId3" imgW="939600" imgH="228600" progId="Equation.DSMT4">
                    <p:embed/>
                    <p:pic>
                      <p:nvPicPr>
                        <p:cNvPr id="4199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lum bright="-10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92" y="1293"/>
                          <a:ext cx="1448" cy="44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" name="Object 5"/>
            <p:cNvGraphicFramePr>
              <a:graphicFrameLocks noChangeAspect="1"/>
            </p:cNvGraphicFramePr>
            <p:nvPr/>
          </p:nvGraphicFramePr>
          <p:xfrm>
            <a:off x="3350" y="1301"/>
            <a:ext cx="1306" cy="4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873" name="Equation" r:id="rId5" imgW="787320" imgH="228600" progId="Equation.DSMT4">
                    <p:embed/>
                  </p:oleObj>
                </mc:Choice>
                <mc:Fallback>
                  <p:oleObj name="Equation" r:id="rId5" imgW="787320" imgH="228600" progId="Equation.DSMT4">
                    <p:embed/>
                    <p:pic>
                      <p:nvPicPr>
                        <p:cNvPr id="41991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lum bright="-10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50" y="1301"/>
                          <a:ext cx="1306" cy="4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" name="Text Box 6"/>
            <p:cNvSpPr txBox="1">
              <a:spLocks noChangeArrowheads="1"/>
            </p:cNvSpPr>
            <p:nvPr/>
          </p:nvSpPr>
          <p:spPr bwMode="auto">
            <a:xfrm>
              <a:off x="2774" y="1345"/>
              <a:ext cx="476" cy="3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80000"/>
                </a:lnSpc>
                <a:spcBef>
                  <a:spcPct val="20000"/>
                </a:spcBef>
              </a:pPr>
              <a:r>
                <a:rPr lang="en-US" altLang="zh-CN" sz="3600"/>
                <a:t> </a:t>
              </a:r>
              <a:r>
                <a:rPr lang="zh-CN" altLang="en-US" sz="3600"/>
                <a:t>与</a:t>
              </a:r>
            </a:p>
          </p:txBody>
        </p:sp>
      </p:grpSp>
      <p:sp>
        <p:nvSpPr>
          <p:cNvPr id="10" name="Text Box 7"/>
          <p:cNvSpPr txBox="1">
            <a:spLocks noChangeArrowheads="1"/>
          </p:cNvSpPr>
          <p:nvPr/>
        </p:nvSpPr>
        <p:spPr bwMode="auto">
          <a:xfrm>
            <a:off x="6797675" y="2853953"/>
            <a:ext cx="1403350" cy="48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20000"/>
              </a:spcBef>
            </a:pPr>
            <a:r>
              <a:rPr lang="zh-CN" altLang="en-US" dirty="0"/>
              <a:t>测得：</a:t>
            </a:r>
          </a:p>
        </p:txBody>
      </p:sp>
      <p:graphicFrame>
        <p:nvGraphicFramePr>
          <p:cNvPr id="11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14247688"/>
              </p:ext>
            </p:extLst>
          </p:nvPr>
        </p:nvGraphicFramePr>
        <p:xfrm>
          <a:off x="749300" y="3501653"/>
          <a:ext cx="7945437" cy="757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74" name="Equation" r:id="rId7" imgW="2501640" imgH="266400" progId="Equation.DSMT4">
                  <p:embed/>
                </p:oleObj>
              </mc:Choice>
              <mc:Fallback>
                <p:oleObj name="Equation" r:id="rId7" imgW="2501640" imgH="266400" progId="Equation.DSMT4">
                  <p:embed/>
                  <p:pic>
                    <p:nvPicPr>
                      <p:cNvPr id="216072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lum bright="-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9300" y="3501653"/>
                        <a:ext cx="7945437" cy="757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" name="Group 13"/>
          <p:cNvGrpSpPr>
            <a:grpSpLocks/>
          </p:cNvGrpSpPr>
          <p:nvPr/>
        </p:nvGrpSpPr>
        <p:grpSpPr bwMode="auto">
          <a:xfrm>
            <a:off x="610304" y="4281711"/>
            <a:ext cx="7880350" cy="668338"/>
            <a:chOff x="184" y="391"/>
            <a:chExt cx="4964" cy="421"/>
          </a:xfrm>
        </p:grpSpPr>
        <p:sp>
          <p:nvSpPr>
            <p:cNvPr id="13" name="Text Box 14"/>
            <p:cNvSpPr txBox="1">
              <a:spLocks noChangeArrowheads="1"/>
            </p:cNvSpPr>
            <p:nvPr/>
          </p:nvSpPr>
          <p:spPr bwMode="auto">
            <a:xfrm>
              <a:off x="184" y="457"/>
              <a:ext cx="2972" cy="3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80000"/>
                </a:lnSpc>
                <a:spcBef>
                  <a:spcPct val="20000"/>
                </a:spcBef>
              </a:pPr>
              <a:r>
                <a:rPr lang="en-US" altLang="zh-CN" sz="3300" dirty="0"/>
                <a:t>(1)  </a:t>
              </a:r>
              <a:r>
                <a:rPr lang="zh-CN" altLang="en-US" sz="3300" dirty="0"/>
                <a:t>若已知方差</a:t>
              </a:r>
              <a:r>
                <a:rPr lang="en-US" altLang="zh-CN" sz="3300" dirty="0"/>
                <a:t>,</a:t>
              </a:r>
            </a:p>
          </p:txBody>
        </p:sp>
        <p:graphicFrame>
          <p:nvGraphicFramePr>
            <p:cNvPr id="14" name="Object 15"/>
            <p:cNvGraphicFramePr>
              <a:graphicFrameLocks noChangeAspect="1"/>
            </p:cNvGraphicFramePr>
            <p:nvPr/>
          </p:nvGraphicFramePr>
          <p:xfrm>
            <a:off x="2245" y="391"/>
            <a:ext cx="1469" cy="4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875" name="Equation" r:id="rId9" imgW="990360" imgH="241200" progId="Equation.DSMT4">
                    <p:embed/>
                  </p:oleObj>
                </mc:Choice>
                <mc:Fallback>
                  <p:oleObj name="Equation" r:id="rId9" imgW="990360" imgH="241200" progId="Equation.DSMT4">
                    <p:embed/>
                    <p:pic>
                      <p:nvPicPr>
                        <p:cNvPr id="41989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lum bright="-10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45" y="391"/>
                          <a:ext cx="1469" cy="42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" name="Text Box 16"/>
            <p:cNvSpPr txBox="1">
              <a:spLocks noChangeArrowheads="1"/>
            </p:cNvSpPr>
            <p:nvPr/>
          </p:nvSpPr>
          <p:spPr bwMode="auto">
            <a:xfrm>
              <a:off x="3787" y="436"/>
              <a:ext cx="1361" cy="3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80000"/>
                </a:lnSpc>
                <a:spcBef>
                  <a:spcPct val="20000"/>
                </a:spcBef>
              </a:pPr>
              <a:r>
                <a:rPr lang="zh-CN" altLang="en-US" sz="3300"/>
                <a:t>求均值差</a:t>
              </a:r>
            </a:p>
          </p:txBody>
        </p:sp>
      </p:grpSp>
      <p:grpSp>
        <p:nvGrpSpPr>
          <p:cNvPr id="16" name="Group 17"/>
          <p:cNvGrpSpPr>
            <a:grpSpLocks/>
          </p:cNvGrpSpPr>
          <p:nvPr/>
        </p:nvGrpSpPr>
        <p:grpSpPr bwMode="auto">
          <a:xfrm>
            <a:off x="754766" y="4856386"/>
            <a:ext cx="7632700" cy="704850"/>
            <a:chOff x="624" y="720"/>
            <a:chExt cx="4808" cy="444"/>
          </a:xfrm>
        </p:grpSpPr>
        <p:graphicFrame>
          <p:nvGraphicFramePr>
            <p:cNvPr id="17" name="Object 18"/>
            <p:cNvGraphicFramePr>
              <a:graphicFrameLocks noChangeAspect="1"/>
            </p:cNvGraphicFramePr>
            <p:nvPr/>
          </p:nvGraphicFramePr>
          <p:xfrm>
            <a:off x="1008" y="720"/>
            <a:ext cx="776" cy="4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876" name="公式" r:id="rId11" imgW="482400" imgH="215640" progId="Equation.3">
                    <p:embed/>
                  </p:oleObj>
                </mc:Choice>
                <mc:Fallback>
                  <p:oleObj name="公式" r:id="rId11" imgW="482400" imgH="215640" progId="Equation.3">
                    <p:embed/>
                    <p:pic>
                      <p:nvPicPr>
                        <p:cNvPr id="41988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lum bright="-10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08" y="720"/>
                          <a:ext cx="776" cy="4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" name="Text Box 19"/>
            <p:cNvSpPr txBox="1">
              <a:spLocks noChangeArrowheads="1"/>
            </p:cNvSpPr>
            <p:nvPr/>
          </p:nvSpPr>
          <p:spPr bwMode="auto">
            <a:xfrm>
              <a:off x="1780" y="817"/>
              <a:ext cx="3652" cy="3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80000"/>
                </a:lnSpc>
                <a:spcBef>
                  <a:spcPct val="20000"/>
                </a:spcBef>
              </a:pPr>
              <a:r>
                <a:rPr lang="zh-CN" altLang="en-US" sz="3300" dirty="0"/>
                <a:t>的置信度为</a:t>
              </a:r>
              <a:r>
                <a:rPr lang="en-US" altLang="zh-CN" sz="3300" dirty="0"/>
                <a:t>0.95 </a:t>
              </a:r>
              <a:r>
                <a:rPr lang="zh-CN" altLang="en-US" sz="3300" dirty="0"/>
                <a:t>的置信区间</a:t>
              </a:r>
              <a:r>
                <a:rPr lang="en-US" altLang="zh-CN" sz="3300" dirty="0"/>
                <a:t>;</a:t>
              </a:r>
            </a:p>
          </p:txBody>
        </p:sp>
        <p:sp>
          <p:nvSpPr>
            <p:cNvPr id="19" name="Text Box 20"/>
            <p:cNvSpPr txBox="1">
              <a:spLocks noChangeArrowheads="1"/>
            </p:cNvSpPr>
            <p:nvPr/>
          </p:nvSpPr>
          <p:spPr bwMode="auto">
            <a:xfrm>
              <a:off x="624" y="748"/>
              <a:ext cx="404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zh-CN" altLang="zh-CN" sz="3300"/>
            </a:p>
          </p:txBody>
        </p:sp>
      </p:grpSp>
      <p:sp>
        <p:nvSpPr>
          <p:cNvPr id="20" name="Text Box 22"/>
          <p:cNvSpPr txBox="1">
            <a:spLocks noChangeArrowheads="1"/>
          </p:cNvSpPr>
          <p:nvPr/>
        </p:nvSpPr>
        <p:spPr bwMode="auto">
          <a:xfrm>
            <a:off x="610304" y="5802536"/>
            <a:ext cx="7483475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457200" indent="-4572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20000"/>
              </a:spcBef>
              <a:buFontTx/>
              <a:buAutoNum type="arabicParenBoth" startAt="2"/>
            </a:pPr>
            <a:r>
              <a:rPr lang="en-US" altLang="zh-CN" sz="3300"/>
              <a:t>   </a:t>
            </a:r>
            <a:r>
              <a:rPr lang="zh-CN" altLang="en-US" sz="3300"/>
              <a:t>求方差比置信度为 </a:t>
            </a:r>
            <a:r>
              <a:rPr lang="en-US" altLang="zh-CN" sz="3300"/>
              <a:t>0.95 </a:t>
            </a:r>
            <a:r>
              <a:rPr lang="zh-CN" altLang="en-US" sz="3300"/>
              <a:t>的置信区间</a:t>
            </a:r>
            <a:r>
              <a:rPr lang="en-US" altLang="zh-CN" sz="330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438742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CAB1394B-3A46-42F6-8841-E262D5A0BA7B}" type="slidenum">
              <a:rPr lang="en-US" altLang="zh-CN" smtClean="0"/>
              <a:pPr/>
              <a:t>26</a:t>
            </a:fld>
            <a:endParaRPr lang="en-US" altLang="zh-CN"/>
          </a:p>
        </p:txBody>
      </p:sp>
      <p:graphicFrame>
        <p:nvGraphicFramePr>
          <p:cNvPr id="5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0408093"/>
              </p:ext>
            </p:extLst>
          </p:nvPr>
        </p:nvGraphicFramePr>
        <p:xfrm>
          <a:off x="4713929" y="1565287"/>
          <a:ext cx="3713782" cy="16293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854" name="Equation" r:id="rId3" imgW="1815840" imgH="711000" progId="Equation.DSMT4">
                  <p:embed/>
                </p:oleObj>
              </mc:Choice>
              <mc:Fallback>
                <p:oleObj name="Equation" r:id="rId3" imgW="1815840" imgH="711000" progId="Equation.DSMT4">
                  <p:embed/>
                  <p:pic>
                    <p:nvPicPr>
                      <p:cNvPr id="218114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lum bright="-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3929" y="1565287"/>
                        <a:ext cx="3713782" cy="16293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307901" y="1512736"/>
            <a:ext cx="642938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600" b="1">
                <a:solidFill>
                  <a:srgbClr val="CC3399"/>
                </a:solidFill>
              </a:rPr>
              <a:t>解</a:t>
            </a:r>
          </a:p>
        </p:txBody>
      </p:sp>
      <p:grpSp>
        <p:nvGrpSpPr>
          <p:cNvPr id="7" name="Group 4"/>
          <p:cNvGrpSpPr>
            <a:grpSpLocks/>
          </p:cNvGrpSpPr>
          <p:nvPr/>
        </p:nvGrpSpPr>
        <p:grpSpPr bwMode="auto">
          <a:xfrm>
            <a:off x="950839" y="3289231"/>
            <a:ext cx="6769100" cy="649288"/>
            <a:chOff x="385" y="1803"/>
            <a:chExt cx="4355" cy="448"/>
          </a:xfrm>
        </p:grpSpPr>
        <p:sp>
          <p:nvSpPr>
            <p:cNvPr id="8" name="Text Box 5"/>
            <p:cNvSpPr txBox="1">
              <a:spLocks noChangeArrowheads="1"/>
            </p:cNvSpPr>
            <p:nvPr/>
          </p:nvSpPr>
          <p:spPr bwMode="auto">
            <a:xfrm>
              <a:off x="385" y="1803"/>
              <a:ext cx="4355" cy="4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dirty="0"/>
                <a:t>查表得                    ，</a:t>
              </a:r>
              <a:r>
                <a:rPr lang="en-US" altLang="zh-CN" dirty="0"/>
                <a:t>n</a:t>
              </a:r>
              <a:r>
                <a:rPr lang="en-US" altLang="zh-CN" baseline="-25000" dirty="0"/>
                <a:t>1</a:t>
              </a:r>
              <a:r>
                <a:rPr lang="en-US" altLang="zh-CN" dirty="0"/>
                <a:t>=13, n</a:t>
              </a:r>
              <a:r>
                <a:rPr lang="en-US" altLang="zh-CN" baseline="-25000" dirty="0"/>
                <a:t>2</a:t>
              </a:r>
              <a:r>
                <a:rPr lang="en-US" altLang="zh-CN" dirty="0"/>
                <a:t>=17</a:t>
              </a:r>
            </a:p>
          </p:txBody>
        </p:sp>
        <p:graphicFrame>
          <p:nvGraphicFramePr>
            <p:cNvPr id="9" name="Object 6"/>
            <p:cNvGraphicFramePr>
              <a:graphicFrameLocks noChangeAspect="1"/>
            </p:cNvGraphicFramePr>
            <p:nvPr/>
          </p:nvGraphicFramePr>
          <p:xfrm>
            <a:off x="1383" y="1809"/>
            <a:ext cx="1365" cy="4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855" name="Equation" r:id="rId5" imgW="749160" imgH="228600" progId="Equation.DSMT4">
                    <p:embed/>
                  </p:oleObj>
                </mc:Choice>
                <mc:Fallback>
                  <p:oleObj name="Equation" r:id="rId5" imgW="749160" imgH="228600" progId="Equation.DSMT4">
                    <p:embed/>
                    <p:pic>
                      <p:nvPicPr>
                        <p:cNvPr id="43013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lum bright="-10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83" y="1809"/>
                          <a:ext cx="1365" cy="44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" name="Group 7"/>
          <p:cNvGrpSpPr>
            <a:grpSpLocks/>
          </p:cNvGrpSpPr>
          <p:nvPr/>
        </p:nvGrpSpPr>
        <p:grpSpPr bwMode="auto">
          <a:xfrm>
            <a:off x="827584" y="3981246"/>
            <a:ext cx="6546850" cy="706438"/>
            <a:chOff x="566" y="1824"/>
            <a:chExt cx="3636" cy="445"/>
          </a:xfrm>
        </p:grpSpPr>
        <p:graphicFrame>
          <p:nvGraphicFramePr>
            <p:cNvPr id="11" name="Object 8"/>
            <p:cNvGraphicFramePr>
              <a:graphicFrameLocks noChangeAspect="1"/>
            </p:cNvGraphicFramePr>
            <p:nvPr/>
          </p:nvGraphicFramePr>
          <p:xfrm>
            <a:off x="1624" y="1824"/>
            <a:ext cx="776" cy="4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856" name="公式" r:id="rId7" imgW="482400" imgH="215640" progId="Equation.3">
                    <p:embed/>
                  </p:oleObj>
                </mc:Choice>
                <mc:Fallback>
                  <p:oleObj name="公式" r:id="rId7" imgW="482400" imgH="215640" progId="Equation.3">
                    <p:embed/>
                    <p:pic>
                      <p:nvPicPr>
                        <p:cNvPr id="43012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lum bright="-10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24" y="1824"/>
                          <a:ext cx="776" cy="4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" name="Text Box 9"/>
            <p:cNvSpPr txBox="1">
              <a:spLocks noChangeArrowheads="1"/>
            </p:cNvSpPr>
            <p:nvPr/>
          </p:nvSpPr>
          <p:spPr bwMode="auto">
            <a:xfrm>
              <a:off x="566" y="1934"/>
              <a:ext cx="3636" cy="3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80000"/>
                </a:lnSpc>
                <a:spcBef>
                  <a:spcPct val="20000"/>
                </a:spcBef>
              </a:pPr>
              <a:r>
                <a:rPr lang="en-US" altLang="zh-CN" dirty="0"/>
                <a:t> </a:t>
              </a:r>
              <a:r>
                <a:rPr lang="zh-CN" altLang="en-US" dirty="0"/>
                <a:t>代入公式              的置信区间为</a:t>
              </a:r>
            </a:p>
          </p:txBody>
        </p:sp>
      </p:grpSp>
      <p:graphicFrame>
        <p:nvGraphicFramePr>
          <p:cNvPr id="13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09253485"/>
              </p:ext>
            </p:extLst>
          </p:nvPr>
        </p:nvGraphicFramePr>
        <p:xfrm>
          <a:off x="977107" y="4834775"/>
          <a:ext cx="6731347" cy="13929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857" name="Equation" r:id="rId9" imgW="3098520" imgH="545760" progId="Equation.DSMT4">
                  <p:embed/>
                </p:oleObj>
              </mc:Choice>
              <mc:Fallback>
                <p:oleObj name="Equation" r:id="rId9" imgW="3098520" imgH="545760" progId="Equation.DSMT4">
                  <p:embed/>
                  <p:pic>
                    <p:nvPicPr>
                      <p:cNvPr id="218122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lum bright="-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7107" y="4834775"/>
                        <a:ext cx="6731347" cy="139292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tangle 11"/>
          <p:cNvSpPr>
            <a:spLocks noChangeArrowheads="1"/>
          </p:cNvSpPr>
          <p:nvPr/>
        </p:nvSpPr>
        <p:spPr bwMode="auto">
          <a:xfrm>
            <a:off x="950839" y="1515497"/>
            <a:ext cx="4068763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dirty="0"/>
              <a:t>(1)  </a:t>
            </a:r>
            <a:r>
              <a:rPr lang="zh-CN" altLang="en-US" dirty="0"/>
              <a:t>取样本的函数</a:t>
            </a:r>
          </a:p>
        </p:txBody>
      </p:sp>
    </p:spTree>
    <p:extLst>
      <p:ext uri="{BB962C8B-B14F-4D97-AF65-F5344CB8AC3E}">
        <p14:creationId xmlns:p14="http://schemas.microsoft.com/office/powerpoint/2010/main" val="1668445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utoUpdateAnimBg="0"/>
      <p:bldP spid="14" grpId="0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CAB1394B-3A46-42F6-8841-E262D5A0BA7B}" type="slidenum">
              <a:rPr lang="en-US" altLang="zh-CN" smtClean="0"/>
              <a:pPr/>
              <a:t>27</a:t>
            </a:fld>
            <a:endParaRPr lang="en-US" altLang="zh-CN"/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337418" y="1571421"/>
            <a:ext cx="38163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dirty="0"/>
              <a:t>(2)  </a:t>
            </a:r>
            <a:r>
              <a:rPr lang="zh-CN" altLang="en-US" dirty="0"/>
              <a:t>取样本函数</a:t>
            </a:r>
          </a:p>
        </p:txBody>
      </p:sp>
      <p:grpSp>
        <p:nvGrpSpPr>
          <p:cNvPr id="6" name="Group 5"/>
          <p:cNvGrpSpPr>
            <a:grpSpLocks/>
          </p:cNvGrpSpPr>
          <p:nvPr/>
        </p:nvGrpSpPr>
        <p:grpSpPr bwMode="auto">
          <a:xfrm>
            <a:off x="890712" y="2433248"/>
            <a:ext cx="6878638" cy="1792965"/>
            <a:chOff x="522" y="1297"/>
            <a:chExt cx="4333" cy="1022"/>
          </a:xfrm>
        </p:grpSpPr>
        <p:sp>
          <p:nvSpPr>
            <p:cNvPr id="7" name="Text Box 6"/>
            <p:cNvSpPr txBox="1">
              <a:spLocks noChangeArrowheads="1"/>
            </p:cNvSpPr>
            <p:nvPr/>
          </p:nvSpPr>
          <p:spPr bwMode="auto">
            <a:xfrm>
              <a:off x="522" y="1297"/>
              <a:ext cx="980" cy="3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dirty="0"/>
                <a:t>查表得</a:t>
              </a:r>
            </a:p>
          </p:txBody>
        </p:sp>
        <p:graphicFrame>
          <p:nvGraphicFramePr>
            <p:cNvPr id="8" name="Object 7"/>
            <p:cNvGraphicFramePr>
              <a:graphicFrameLocks noChangeAspect="1"/>
            </p:cNvGraphicFramePr>
            <p:nvPr/>
          </p:nvGraphicFramePr>
          <p:xfrm>
            <a:off x="1481" y="1344"/>
            <a:ext cx="3374" cy="9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3874" name="Equation" r:id="rId3" imgW="2286000" imgH="660240" progId="Equation.3">
                    <p:embed/>
                  </p:oleObj>
                </mc:Choice>
                <mc:Fallback>
                  <p:oleObj name="Equation" r:id="rId3" imgW="2286000" imgH="660240" progId="Equation.3">
                    <p:embed/>
                    <p:pic>
                      <p:nvPicPr>
                        <p:cNvPr id="44037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lum bright="-10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81" y="1344"/>
                          <a:ext cx="3374" cy="9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" name="Group 12"/>
          <p:cNvGrpSpPr>
            <a:grpSpLocks/>
          </p:cNvGrpSpPr>
          <p:nvPr/>
        </p:nvGrpSpPr>
        <p:grpSpPr bwMode="auto">
          <a:xfrm>
            <a:off x="337418" y="4077144"/>
            <a:ext cx="8534400" cy="1069975"/>
            <a:chOff x="249" y="2341"/>
            <a:chExt cx="5376" cy="674"/>
          </a:xfrm>
        </p:grpSpPr>
        <p:graphicFrame>
          <p:nvGraphicFramePr>
            <p:cNvPr id="10" name="Object 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35249563"/>
                </p:ext>
              </p:extLst>
            </p:nvPr>
          </p:nvGraphicFramePr>
          <p:xfrm>
            <a:off x="2428" y="2341"/>
            <a:ext cx="543" cy="6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3875" name="公式" r:id="rId5" imgW="253800" imgH="457200" progId="Equation.3">
                    <p:embed/>
                  </p:oleObj>
                </mc:Choice>
                <mc:Fallback>
                  <p:oleObj name="公式" r:id="rId5" imgW="253800" imgH="457200" progId="Equation.3">
                    <p:embed/>
                    <p:pic>
                      <p:nvPicPr>
                        <p:cNvPr id="44036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lum bright="-10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28" y="2341"/>
                          <a:ext cx="543" cy="67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" name="Text Box 10"/>
            <p:cNvSpPr txBox="1">
              <a:spLocks noChangeArrowheads="1"/>
            </p:cNvSpPr>
            <p:nvPr/>
          </p:nvSpPr>
          <p:spPr bwMode="auto">
            <a:xfrm>
              <a:off x="249" y="2487"/>
              <a:ext cx="5376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dirty="0"/>
                <a:t>代入公式得方差比         的置信区间为</a:t>
              </a:r>
            </a:p>
          </p:txBody>
        </p:sp>
      </p:grpSp>
      <p:graphicFrame>
        <p:nvGraphicFramePr>
          <p:cNvPr id="12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2889235"/>
              </p:ext>
            </p:extLst>
          </p:nvPr>
        </p:nvGraphicFramePr>
        <p:xfrm>
          <a:off x="882030" y="5070694"/>
          <a:ext cx="7062936" cy="15921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876" name="Equation" r:id="rId7" imgW="3390840" imgH="761760" progId="Equation.DSMT4">
                  <p:embed/>
                </p:oleObj>
              </mc:Choice>
              <mc:Fallback>
                <p:oleObj name="Equation" r:id="rId7" imgW="3390840" imgH="761760" progId="Equation.DSMT4">
                  <p:embed/>
                  <p:pic>
                    <p:nvPicPr>
                      <p:cNvPr id="219147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lum bright="-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2030" y="5070694"/>
                        <a:ext cx="7062936" cy="159210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6254533"/>
              </p:ext>
            </p:extLst>
          </p:nvPr>
        </p:nvGraphicFramePr>
        <p:xfrm>
          <a:off x="3275856" y="1516698"/>
          <a:ext cx="3240360" cy="9602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877" name="Equation" r:id="rId9" imgW="1511280" imgH="457200" progId="Equation.DSMT4">
                  <p:embed/>
                </p:oleObj>
              </mc:Choice>
              <mc:Fallback>
                <p:oleObj name="Equation" r:id="rId9" imgW="1511280" imgH="457200" progId="Equation.DSMT4">
                  <p:embed/>
                  <p:pic>
                    <p:nvPicPr>
                      <p:cNvPr id="4403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lum bright="-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5856" y="1516698"/>
                        <a:ext cx="3240360" cy="96029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522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单侧</a:t>
            </a:r>
            <a:r>
              <a:rPr lang="zh-CN" altLang="en-US" dirty="0" smtClean="0"/>
              <a:t>置信区间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CAB1394B-3A46-42F6-8841-E262D5A0BA7B}" type="slidenum">
              <a:rPr lang="en-US" altLang="zh-CN" smtClean="0"/>
              <a:pPr/>
              <a:t>28</a:t>
            </a:fld>
            <a:endParaRPr lang="en-US" altLang="zh-CN"/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582386" y="1628651"/>
            <a:ext cx="8251825" cy="1601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300" dirty="0"/>
              <a:t>     </a:t>
            </a:r>
            <a:r>
              <a:rPr lang="zh-CN" altLang="en-US" sz="3300" dirty="0"/>
              <a:t>某些问题只关心置信区间的上限或下限，</a:t>
            </a:r>
          </a:p>
          <a:p>
            <a:pPr eaLnBrk="1" hangingPunct="1"/>
            <a:r>
              <a:rPr lang="zh-CN" altLang="en-US" sz="3300" dirty="0"/>
              <a:t>如次品率问题只关心上限</a:t>
            </a:r>
            <a:r>
              <a:rPr lang="en-US" altLang="zh-CN" sz="3300" dirty="0"/>
              <a:t>, </a:t>
            </a:r>
            <a:r>
              <a:rPr lang="zh-CN" altLang="en-US" sz="3300" dirty="0"/>
              <a:t>产品寿命问题只</a:t>
            </a:r>
          </a:p>
          <a:p>
            <a:pPr eaLnBrk="1" hangingPunct="1"/>
            <a:r>
              <a:rPr lang="zh-CN" altLang="en-US" sz="3300" dirty="0"/>
              <a:t>关心下限。</a:t>
            </a:r>
          </a:p>
        </p:txBody>
      </p:sp>
      <p:sp>
        <p:nvSpPr>
          <p:cNvPr id="9" name="Text Box 8"/>
          <p:cNvSpPr txBox="1">
            <a:spLocks noChangeArrowheads="1"/>
          </p:cNvSpPr>
          <p:nvPr/>
        </p:nvSpPr>
        <p:spPr bwMode="auto">
          <a:xfrm>
            <a:off x="755576" y="3429000"/>
            <a:ext cx="776287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/>
              <a:t>对</a:t>
            </a:r>
            <a:r>
              <a:rPr lang="en-US" altLang="zh-CN" dirty="0"/>
              <a:t>0&lt;</a:t>
            </a:r>
            <a:r>
              <a:rPr lang="el-GR" altLang="zh-CN" dirty="0"/>
              <a:t>α</a:t>
            </a:r>
            <a:r>
              <a:rPr lang="en-US" altLang="zh-CN" dirty="0"/>
              <a:t>&lt;1</a:t>
            </a:r>
            <a:r>
              <a:rPr lang="zh-CN" altLang="en-US" dirty="0"/>
              <a:t>，样本</a:t>
            </a:r>
            <a:r>
              <a:rPr kumimoji="0" lang="en-US" altLang="zh-CN" b="1" i="1" dirty="0"/>
              <a:t>X</a:t>
            </a:r>
            <a:r>
              <a:rPr kumimoji="0" lang="en-US" altLang="zh-CN" b="1" baseline="-25000" dirty="0"/>
              <a:t>1</a:t>
            </a:r>
            <a:r>
              <a:rPr kumimoji="0" lang="en-US" altLang="zh-CN" b="1" dirty="0"/>
              <a:t>, </a:t>
            </a:r>
            <a:r>
              <a:rPr kumimoji="0" lang="en-US" altLang="zh-CN" b="1" i="1" dirty="0"/>
              <a:t>X</a:t>
            </a:r>
            <a:r>
              <a:rPr kumimoji="0" lang="en-US" altLang="zh-CN" b="1" baseline="-25000" dirty="0"/>
              <a:t>2</a:t>
            </a:r>
            <a:r>
              <a:rPr kumimoji="0" lang="en-US" altLang="zh-CN" b="1" dirty="0"/>
              <a:t>, ... , </a:t>
            </a:r>
            <a:r>
              <a:rPr kumimoji="0" lang="en-US" altLang="zh-CN" b="1" i="1" dirty="0" err="1"/>
              <a:t>X</a:t>
            </a:r>
            <a:r>
              <a:rPr kumimoji="0" lang="en-US" altLang="zh-CN" b="1" i="1" baseline="-25000" dirty="0" err="1"/>
              <a:t>n</a:t>
            </a:r>
            <a:r>
              <a:rPr kumimoji="0" lang="zh-CN" altLang="en-US" b="1" dirty="0"/>
              <a:t>，确定统计量</a:t>
            </a:r>
            <a:endParaRPr kumimoji="0" lang="zh-CN" altLang="el-GR" b="1" baseline="-25000" dirty="0"/>
          </a:p>
        </p:txBody>
      </p:sp>
      <p:graphicFrame>
        <p:nvGraphicFramePr>
          <p:cNvPr id="10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0030401"/>
              </p:ext>
            </p:extLst>
          </p:nvPr>
        </p:nvGraphicFramePr>
        <p:xfrm>
          <a:off x="900039" y="4005263"/>
          <a:ext cx="6450012" cy="620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850" name="Equation" r:id="rId3" imgW="3035160" imgH="291960" progId="Equation.DSMT4">
                  <p:embed/>
                </p:oleObj>
              </mc:Choice>
              <mc:Fallback>
                <p:oleObj name="Equation" r:id="rId3" imgW="3035160" imgH="291960" progId="Equation.DSMT4">
                  <p:embed/>
                  <p:pic>
                    <p:nvPicPr>
                      <p:cNvPr id="226316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039" y="4005263"/>
                        <a:ext cx="6450012" cy="620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63842534"/>
              </p:ext>
            </p:extLst>
          </p:nvPr>
        </p:nvGraphicFramePr>
        <p:xfrm>
          <a:off x="846064" y="4699000"/>
          <a:ext cx="5310187" cy="674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851" name="Equation" r:id="rId5" imgW="2273040" imgH="279360" progId="Equation.DSMT4">
                  <p:embed/>
                </p:oleObj>
              </mc:Choice>
              <mc:Fallback>
                <p:oleObj name="Equation" r:id="rId5" imgW="2273040" imgH="279360" progId="Equation.DSMT4">
                  <p:embed/>
                  <p:pic>
                    <p:nvPicPr>
                      <p:cNvPr id="226317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6064" y="4699000"/>
                        <a:ext cx="5310187" cy="674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Box 14"/>
          <p:cNvSpPr txBox="1">
            <a:spLocks noChangeArrowheads="1"/>
          </p:cNvSpPr>
          <p:nvPr/>
        </p:nvSpPr>
        <p:spPr bwMode="auto">
          <a:xfrm>
            <a:off x="7504039" y="4044950"/>
            <a:ext cx="9969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/>
              <a:t>则称</a:t>
            </a:r>
          </a:p>
        </p:txBody>
      </p:sp>
      <p:sp>
        <p:nvSpPr>
          <p:cNvPr id="13" name="Text Box 15"/>
          <p:cNvSpPr txBox="1">
            <a:spLocks noChangeArrowheads="1"/>
          </p:cNvSpPr>
          <p:nvPr/>
        </p:nvSpPr>
        <p:spPr bwMode="auto">
          <a:xfrm>
            <a:off x="6095926" y="4725988"/>
            <a:ext cx="272415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/>
              <a:t>单侧置信区间</a:t>
            </a:r>
            <a:r>
              <a:rPr lang="en-US" altLang="zh-CN"/>
              <a:t>.</a:t>
            </a:r>
          </a:p>
        </p:txBody>
      </p:sp>
      <p:graphicFrame>
        <p:nvGraphicFramePr>
          <p:cNvPr id="14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55543728"/>
              </p:ext>
            </p:extLst>
          </p:nvPr>
        </p:nvGraphicFramePr>
        <p:xfrm>
          <a:off x="874639" y="5445125"/>
          <a:ext cx="423862" cy="72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852" name="Equation" r:id="rId7" imgW="177480" imgH="291960" progId="Equation.DSMT4">
                  <p:embed/>
                </p:oleObj>
              </mc:Choice>
              <mc:Fallback>
                <p:oleObj name="Equation" r:id="rId7" imgW="177480" imgH="291960" progId="Equation.DSMT4">
                  <p:embed/>
                  <p:pic>
                    <p:nvPicPr>
                      <p:cNvPr id="22632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4639" y="5445125"/>
                        <a:ext cx="423862" cy="720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 Box 17"/>
          <p:cNvSpPr txBox="1">
            <a:spLocks noChangeArrowheads="1"/>
          </p:cNvSpPr>
          <p:nvPr/>
        </p:nvSpPr>
        <p:spPr bwMode="auto">
          <a:xfrm>
            <a:off x="1235001" y="5518150"/>
            <a:ext cx="385127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/>
              <a:t>称为</a:t>
            </a:r>
            <a:r>
              <a:rPr lang="zh-CN" altLang="en-US" b="1">
                <a:solidFill>
                  <a:srgbClr val="CC3399"/>
                </a:solidFill>
              </a:rPr>
              <a:t>单侧置信下限</a:t>
            </a:r>
            <a:r>
              <a:rPr lang="zh-CN" altLang="en-US"/>
              <a:t>。</a:t>
            </a:r>
            <a:endParaRPr lang="zh-CN" altLang="el-GR"/>
          </a:p>
        </p:txBody>
      </p:sp>
    </p:spTree>
    <p:extLst>
      <p:ext uri="{BB962C8B-B14F-4D97-AF65-F5344CB8AC3E}">
        <p14:creationId xmlns:p14="http://schemas.microsoft.com/office/powerpoint/2010/main" val="219642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1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2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/>
      <p:bldP spid="12" grpId="0"/>
      <p:bldP spid="13" grpId="0"/>
      <p:bldP spid="1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单侧置信区间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CAB1394B-3A46-42F6-8841-E262D5A0BA7B}" type="slidenum">
              <a:rPr lang="en-US" altLang="zh-CN" smtClean="0"/>
              <a:pPr/>
              <a:t>29</a:t>
            </a:fld>
            <a:endParaRPr lang="en-US" altLang="zh-CN"/>
          </a:p>
        </p:txBody>
      </p:sp>
      <p:sp>
        <p:nvSpPr>
          <p:cNvPr id="5" name="Text Box 2"/>
          <p:cNvSpPr txBox="1">
            <a:spLocks noChangeArrowheads="1"/>
          </p:cNvSpPr>
          <p:nvPr/>
        </p:nvSpPr>
        <p:spPr bwMode="auto">
          <a:xfrm>
            <a:off x="963337" y="1988840"/>
            <a:ext cx="757872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/>
              <a:t>对</a:t>
            </a:r>
            <a:r>
              <a:rPr lang="en-US" altLang="zh-CN"/>
              <a:t>0&lt;</a:t>
            </a:r>
            <a:r>
              <a:rPr lang="el-GR" altLang="zh-CN"/>
              <a:t>α</a:t>
            </a:r>
            <a:r>
              <a:rPr lang="en-US" altLang="zh-CN"/>
              <a:t>&lt;1</a:t>
            </a:r>
            <a:r>
              <a:rPr lang="zh-CN" altLang="en-US"/>
              <a:t>，样本</a:t>
            </a:r>
            <a:r>
              <a:rPr kumimoji="0" lang="en-US" altLang="zh-CN" b="1" i="1"/>
              <a:t>X</a:t>
            </a:r>
            <a:r>
              <a:rPr kumimoji="0" lang="en-US" altLang="zh-CN" b="1" baseline="-25000"/>
              <a:t>1</a:t>
            </a:r>
            <a:r>
              <a:rPr kumimoji="0" lang="en-US" altLang="zh-CN" b="1"/>
              <a:t>, </a:t>
            </a:r>
            <a:r>
              <a:rPr kumimoji="0" lang="en-US" altLang="zh-CN" b="1" i="1"/>
              <a:t>X</a:t>
            </a:r>
            <a:r>
              <a:rPr kumimoji="0" lang="en-US" altLang="zh-CN" b="1" baseline="-25000"/>
              <a:t>2</a:t>
            </a:r>
            <a:r>
              <a:rPr kumimoji="0" lang="en-US" altLang="zh-CN" b="1"/>
              <a:t>, ... , </a:t>
            </a:r>
            <a:r>
              <a:rPr kumimoji="0" lang="en-US" altLang="zh-CN" b="1" i="1"/>
              <a:t>X</a:t>
            </a:r>
            <a:r>
              <a:rPr kumimoji="0" lang="en-US" altLang="zh-CN" b="1" i="1" baseline="-25000"/>
              <a:t>n</a:t>
            </a:r>
            <a:r>
              <a:rPr kumimoji="0" lang="zh-CN" altLang="en-US" b="1"/>
              <a:t>，确定统计量</a:t>
            </a:r>
            <a:endParaRPr kumimoji="0" lang="zh-CN" altLang="el-GR" b="1" baseline="-25000"/>
          </a:p>
        </p:txBody>
      </p:sp>
      <p:graphicFrame>
        <p:nvGraphicFramePr>
          <p:cNvPr id="6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73189791"/>
              </p:ext>
            </p:extLst>
          </p:nvPr>
        </p:nvGraphicFramePr>
        <p:xfrm>
          <a:off x="604562" y="2781003"/>
          <a:ext cx="6824662" cy="649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871" name="Equation" r:id="rId3" imgW="3073320" imgH="291960" progId="Equation.DSMT4">
                  <p:embed/>
                </p:oleObj>
              </mc:Choice>
              <mc:Fallback>
                <p:oleObj name="Equation" r:id="rId3" imgW="3073320" imgH="291960" progId="Equation.DSMT4">
                  <p:embed/>
                  <p:pic>
                    <p:nvPicPr>
                      <p:cNvPr id="308227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4562" y="2781003"/>
                        <a:ext cx="6824662" cy="649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1790258"/>
              </p:ext>
            </p:extLst>
          </p:nvPr>
        </p:nvGraphicFramePr>
        <p:xfrm>
          <a:off x="604562" y="3717628"/>
          <a:ext cx="5195887" cy="642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872" name="Equation" r:id="rId5" imgW="2311200" imgH="279360" progId="Equation.DSMT4">
                  <p:embed/>
                </p:oleObj>
              </mc:Choice>
              <mc:Fallback>
                <p:oleObj name="Equation" r:id="rId5" imgW="2311200" imgH="279360" progId="Equation.DSMT4">
                  <p:embed/>
                  <p:pic>
                    <p:nvPicPr>
                      <p:cNvPr id="30822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4562" y="3717628"/>
                        <a:ext cx="5195887" cy="642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5"/>
          <p:cNvSpPr txBox="1">
            <a:spLocks noChangeArrowheads="1"/>
          </p:cNvSpPr>
          <p:nvPr/>
        </p:nvSpPr>
        <p:spPr bwMode="auto">
          <a:xfrm>
            <a:off x="7497487" y="2820690"/>
            <a:ext cx="9969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/>
              <a:t>则称</a:t>
            </a:r>
          </a:p>
        </p:txBody>
      </p:sp>
      <p:sp>
        <p:nvSpPr>
          <p:cNvPr id="9" name="Text Box 6"/>
          <p:cNvSpPr txBox="1">
            <a:spLocks noChangeArrowheads="1"/>
          </p:cNvSpPr>
          <p:nvPr/>
        </p:nvSpPr>
        <p:spPr bwMode="auto">
          <a:xfrm>
            <a:off x="5681387" y="3757315"/>
            <a:ext cx="27241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/>
              <a:t>单侧置信区间</a:t>
            </a:r>
            <a:r>
              <a:rPr lang="en-US" altLang="zh-CN"/>
              <a:t>.</a:t>
            </a:r>
          </a:p>
        </p:txBody>
      </p:sp>
      <p:graphicFrame>
        <p:nvGraphicFramePr>
          <p:cNvPr id="10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8923843"/>
              </p:ext>
            </p:extLst>
          </p:nvPr>
        </p:nvGraphicFramePr>
        <p:xfrm>
          <a:off x="602974" y="4581228"/>
          <a:ext cx="454025" cy="72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873" name="Equation" r:id="rId7" imgW="190440" imgH="291960" progId="Equation.DSMT4">
                  <p:embed/>
                </p:oleObj>
              </mc:Choice>
              <mc:Fallback>
                <p:oleObj name="Equation" r:id="rId7" imgW="190440" imgH="291960" progId="Equation.DSMT4">
                  <p:embed/>
                  <p:pic>
                    <p:nvPicPr>
                      <p:cNvPr id="308231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2974" y="4581228"/>
                        <a:ext cx="454025" cy="720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Box 8"/>
          <p:cNvSpPr txBox="1">
            <a:spLocks noChangeArrowheads="1"/>
          </p:cNvSpPr>
          <p:nvPr/>
        </p:nvSpPr>
        <p:spPr bwMode="auto">
          <a:xfrm>
            <a:off x="963337" y="4654253"/>
            <a:ext cx="385127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/>
              <a:t>称为</a:t>
            </a:r>
            <a:r>
              <a:rPr lang="zh-CN" altLang="en-US" b="1">
                <a:solidFill>
                  <a:srgbClr val="CC3399"/>
                </a:solidFill>
              </a:rPr>
              <a:t>单侧置信上限</a:t>
            </a:r>
            <a:r>
              <a:rPr lang="zh-CN" altLang="en-US"/>
              <a:t>。</a:t>
            </a:r>
            <a:endParaRPr lang="zh-CN" altLang="el-GR"/>
          </a:p>
        </p:txBody>
      </p:sp>
    </p:spTree>
    <p:extLst>
      <p:ext uri="{BB962C8B-B14F-4D97-AF65-F5344CB8AC3E}">
        <p14:creationId xmlns:p14="http://schemas.microsoft.com/office/powerpoint/2010/main" val="36096470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正态</a:t>
            </a:r>
            <a:r>
              <a:rPr lang="zh-CN" altLang="en-US" dirty="0" smtClean="0"/>
              <a:t>总体的单侧置信区间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CAB1394B-3A46-42F6-8841-E262D5A0BA7B}" type="slidenum">
              <a:rPr lang="en-US" altLang="zh-CN" smtClean="0"/>
              <a:pPr/>
              <a:t>30</a:t>
            </a:fld>
            <a:endParaRPr lang="en-US" altLang="zh-CN"/>
          </a:p>
        </p:txBody>
      </p:sp>
      <p:graphicFrame>
        <p:nvGraphicFramePr>
          <p:cNvPr id="5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15386288"/>
              </p:ext>
            </p:extLst>
          </p:nvPr>
        </p:nvGraphicFramePr>
        <p:xfrm>
          <a:off x="755576" y="1516698"/>
          <a:ext cx="5556250" cy="636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019" name="Equation" r:id="rId3" imgW="2565360" imgH="279360" progId="Equation.DSMT4">
                  <p:embed/>
                </p:oleObj>
              </mc:Choice>
              <mc:Fallback>
                <p:oleObj name="Equation" r:id="rId3" imgW="2565360" imgH="279360" progId="Equation.DSMT4">
                  <p:embed/>
                  <p:pic>
                    <p:nvPicPr>
                      <p:cNvPr id="30925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576" y="1516698"/>
                        <a:ext cx="5556250" cy="636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617336" y="2051686"/>
            <a:ext cx="6192837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/>
              <a:t>置信度为          单侧置信下限</a:t>
            </a:r>
            <a:r>
              <a:rPr lang="en-US" altLang="zh-CN" b="1" dirty="0"/>
              <a:t>.</a:t>
            </a:r>
          </a:p>
        </p:txBody>
      </p:sp>
      <p:graphicFrame>
        <p:nvGraphicFramePr>
          <p:cNvPr id="7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1120775"/>
              </p:ext>
            </p:extLst>
          </p:nvPr>
        </p:nvGraphicFramePr>
        <p:xfrm>
          <a:off x="2635300" y="5586215"/>
          <a:ext cx="2943225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020" name="Equation" r:id="rId5" imgW="1473120" imgH="419040" progId="Equation.DSMT4">
                  <p:embed/>
                </p:oleObj>
              </mc:Choice>
              <mc:Fallback>
                <p:oleObj name="Equation" r:id="rId5" imgW="1473120" imgH="419040" progId="Equation.DSMT4">
                  <p:embed/>
                  <p:pic>
                    <p:nvPicPr>
                      <p:cNvPr id="47107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35300" y="5586215"/>
                        <a:ext cx="2943225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5"/>
          <p:cNvSpPr txBox="1">
            <a:spLocks noChangeArrowheads="1"/>
          </p:cNvSpPr>
          <p:nvPr/>
        </p:nvSpPr>
        <p:spPr bwMode="auto">
          <a:xfrm>
            <a:off x="250875" y="2715262"/>
            <a:ext cx="647700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/>
              <a:t>解：</a:t>
            </a:r>
          </a:p>
        </p:txBody>
      </p:sp>
      <p:sp>
        <p:nvSpPr>
          <p:cNvPr id="9" name="TextBox 6"/>
          <p:cNvSpPr txBox="1">
            <a:spLocks noChangeArrowheads="1"/>
          </p:cNvSpPr>
          <p:nvPr/>
        </p:nvSpPr>
        <p:spPr bwMode="auto">
          <a:xfrm>
            <a:off x="971600" y="2724787"/>
            <a:ext cx="74168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/>
              <a:t>设                      是来自总体</a:t>
            </a:r>
            <a:r>
              <a:rPr lang="en-US" altLang="zh-CN" dirty="0"/>
              <a:t>X</a:t>
            </a:r>
            <a:r>
              <a:rPr lang="zh-CN" altLang="en-US" dirty="0"/>
              <a:t>的样本，</a:t>
            </a:r>
            <a:endParaRPr lang="en-US" altLang="zh-CN" dirty="0"/>
          </a:p>
        </p:txBody>
      </p:sp>
      <p:graphicFrame>
        <p:nvGraphicFramePr>
          <p:cNvPr id="1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64149011"/>
              </p:ext>
            </p:extLst>
          </p:nvPr>
        </p:nvGraphicFramePr>
        <p:xfrm>
          <a:off x="1554212" y="2796224"/>
          <a:ext cx="2009775" cy="557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021" name="Equation" r:id="rId7" imgW="825480" imgH="228600" progId="Equation.DSMT4">
                  <p:embed/>
                </p:oleObj>
              </mc:Choice>
              <mc:Fallback>
                <p:oleObj name="Equation" r:id="rId7" imgW="825480" imgH="228600" progId="Equation.DSMT4">
                  <p:embed/>
                  <p:pic>
                    <p:nvPicPr>
                      <p:cNvPr id="47108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4212" y="2796224"/>
                        <a:ext cx="2009775" cy="557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65195386"/>
              </p:ext>
            </p:extLst>
          </p:nvPr>
        </p:nvGraphicFramePr>
        <p:xfrm>
          <a:off x="2313755" y="3262634"/>
          <a:ext cx="2636838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022" name="Equation" r:id="rId9" imgW="1320480" imgH="431640" progId="Equation.DSMT4">
                  <p:embed/>
                </p:oleObj>
              </mc:Choice>
              <mc:Fallback>
                <p:oleObj name="Equation" r:id="rId9" imgW="1320480" imgH="431640" progId="Equation.DSMT4">
                  <p:embed/>
                  <p:pic>
                    <p:nvPicPr>
                      <p:cNvPr id="47109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13755" y="3262634"/>
                        <a:ext cx="2636838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6237054"/>
              </p:ext>
            </p:extLst>
          </p:nvPr>
        </p:nvGraphicFramePr>
        <p:xfrm>
          <a:off x="2411760" y="2132856"/>
          <a:ext cx="936625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023" name="Equation" r:id="rId11" imgW="330120" imgH="177480" progId="Equation.DSMT4">
                  <p:embed/>
                </p:oleObj>
              </mc:Choice>
              <mc:Fallback>
                <p:oleObj name="Equation" r:id="rId11" imgW="330120" imgH="177480" progId="Equation.DSMT4">
                  <p:embed/>
                  <p:pic>
                    <p:nvPicPr>
                      <p:cNvPr id="4711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1760" y="2132856"/>
                        <a:ext cx="936625" cy="503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307939"/>
              </p:ext>
            </p:extLst>
          </p:nvPr>
        </p:nvGraphicFramePr>
        <p:xfrm>
          <a:off x="1118368" y="4238468"/>
          <a:ext cx="2840037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024" name="Equation" r:id="rId13" imgW="1422360" imgH="228600" progId="Equation.DSMT4">
                  <p:embed/>
                </p:oleObj>
              </mc:Choice>
              <mc:Fallback>
                <p:oleObj name="Equation" r:id="rId13" imgW="1422360" imgH="228600" progId="Equation.DSMT4">
                  <p:embed/>
                  <p:pic>
                    <p:nvPicPr>
                      <p:cNvPr id="47111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8368" y="4238468"/>
                        <a:ext cx="2840037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Box 11"/>
          <p:cNvSpPr txBox="1">
            <a:spLocks noChangeArrowheads="1"/>
          </p:cNvSpPr>
          <p:nvPr/>
        </p:nvSpPr>
        <p:spPr bwMode="auto">
          <a:xfrm>
            <a:off x="1241399" y="3329623"/>
            <a:ext cx="1296988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/>
              <a:t>考虑</a:t>
            </a:r>
          </a:p>
        </p:txBody>
      </p:sp>
      <p:sp>
        <p:nvSpPr>
          <p:cNvPr id="15" name="TextBox 12"/>
          <p:cNvSpPr txBox="1">
            <a:spLocks noChangeArrowheads="1"/>
          </p:cNvSpPr>
          <p:nvPr/>
        </p:nvSpPr>
        <p:spPr bwMode="auto">
          <a:xfrm>
            <a:off x="4140250" y="4130459"/>
            <a:ext cx="10795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/>
              <a:t>得到</a:t>
            </a:r>
          </a:p>
        </p:txBody>
      </p:sp>
      <p:graphicFrame>
        <p:nvGraphicFramePr>
          <p:cNvPr id="16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30042725"/>
              </p:ext>
            </p:extLst>
          </p:nvPr>
        </p:nvGraphicFramePr>
        <p:xfrm>
          <a:off x="5316637" y="4029010"/>
          <a:ext cx="2179638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025" name="Equation" r:id="rId15" imgW="1091880" imgH="431640" progId="Equation.DSMT4">
                  <p:embed/>
                </p:oleObj>
              </mc:Choice>
              <mc:Fallback>
                <p:oleObj name="Equation" r:id="rId15" imgW="1091880" imgH="431640" progId="Equation.DSMT4">
                  <p:embed/>
                  <p:pic>
                    <p:nvPicPr>
                      <p:cNvPr id="47112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16637" y="4029010"/>
                        <a:ext cx="2179638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Box 14"/>
          <p:cNvSpPr txBox="1">
            <a:spLocks noChangeArrowheads="1"/>
          </p:cNvSpPr>
          <p:nvPr/>
        </p:nvSpPr>
        <p:spPr bwMode="auto">
          <a:xfrm>
            <a:off x="1403400" y="4938515"/>
            <a:ext cx="3816350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/>
              <a:t>解得单侧置信区间</a:t>
            </a:r>
          </a:p>
        </p:txBody>
      </p:sp>
      <p:sp>
        <p:nvSpPr>
          <p:cNvPr id="18" name="TextBox 15"/>
          <p:cNvSpPr txBox="1">
            <a:spLocks noChangeArrowheads="1"/>
          </p:cNvSpPr>
          <p:nvPr/>
        </p:nvSpPr>
        <p:spPr bwMode="auto">
          <a:xfrm>
            <a:off x="467544" y="4140944"/>
            <a:ext cx="129698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/>
              <a:t>由</a:t>
            </a:r>
          </a:p>
        </p:txBody>
      </p:sp>
    </p:spTree>
    <p:extLst>
      <p:ext uri="{BB962C8B-B14F-4D97-AF65-F5344CB8AC3E}">
        <p14:creationId xmlns:p14="http://schemas.microsoft.com/office/powerpoint/2010/main" val="3323658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4" grpId="0"/>
      <p:bldP spid="15" grpId="0"/>
      <p:bldP spid="17" grpId="0"/>
      <p:bldP spid="18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正态总体的单侧置信区间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CAB1394B-3A46-42F6-8841-E262D5A0BA7B}" type="slidenum">
              <a:rPr lang="en-US" altLang="zh-CN" smtClean="0"/>
              <a:pPr/>
              <a:t>31</a:t>
            </a:fld>
            <a:endParaRPr lang="en-US" altLang="zh-CN"/>
          </a:p>
        </p:txBody>
      </p:sp>
      <p:graphicFrame>
        <p:nvGraphicFramePr>
          <p:cNvPr id="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7954816"/>
              </p:ext>
            </p:extLst>
          </p:nvPr>
        </p:nvGraphicFramePr>
        <p:xfrm>
          <a:off x="690563" y="1498600"/>
          <a:ext cx="2447925" cy="636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036" name="Equation" r:id="rId3" imgW="1130040" imgH="279360" progId="Equation.DSMT4">
                  <p:embed/>
                </p:oleObj>
              </mc:Choice>
              <mc:Fallback>
                <p:oleObj name="Equation" r:id="rId3" imgW="1130040" imgH="279360" progId="Equation.DSMT4">
                  <p:embed/>
                  <p:pic>
                    <p:nvPicPr>
                      <p:cNvPr id="30925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0563" y="1498600"/>
                        <a:ext cx="2447925" cy="636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3"/>
          <p:cNvSpPr txBox="1">
            <a:spLocks noChangeArrowheads="1"/>
          </p:cNvSpPr>
          <p:nvPr/>
        </p:nvSpPr>
        <p:spPr bwMode="auto">
          <a:xfrm>
            <a:off x="3159646" y="1528563"/>
            <a:ext cx="3960813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/>
              <a:t>求             的置信上限。</a:t>
            </a:r>
          </a:p>
        </p:txBody>
      </p:sp>
      <p:graphicFrame>
        <p:nvGraphicFramePr>
          <p:cNvPr id="8" name="Object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76701345"/>
              </p:ext>
            </p:extLst>
          </p:nvPr>
        </p:nvGraphicFramePr>
        <p:xfrm>
          <a:off x="3662884" y="1579835"/>
          <a:ext cx="1296987" cy="48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037" name="Equation" r:id="rId5" imgW="545760" imgH="203040" progId="Equation.DSMT4">
                  <p:embed/>
                </p:oleObj>
              </mc:Choice>
              <mc:Fallback>
                <p:oleObj name="Equation" r:id="rId5" imgW="545760" imgH="203040" progId="Equation.DSMT4">
                  <p:embed/>
                  <p:pic>
                    <p:nvPicPr>
                      <p:cNvPr id="48131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62884" y="1579835"/>
                        <a:ext cx="1296987" cy="481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Box 5"/>
          <p:cNvSpPr txBox="1">
            <a:spLocks noChangeArrowheads="1"/>
          </p:cNvSpPr>
          <p:nvPr/>
        </p:nvSpPr>
        <p:spPr bwMode="auto">
          <a:xfrm>
            <a:off x="250122" y="2193999"/>
            <a:ext cx="2016125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/>
              <a:t>解：</a:t>
            </a:r>
          </a:p>
        </p:txBody>
      </p:sp>
      <p:graphicFrame>
        <p:nvGraphicFramePr>
          <p:cNvPr id="10" name="Object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89672680"/>
              </p:ext>
            </p:extLst>
          </p:nvPr>
        </p:nvGraphicFramePr>
        <p:xfrm>
          <a:off x="1689985" y="2213049"/>
          <a:ext cx="2009775" cy="557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038" name="Equation" r:id="rId7" imgW="825480" imgH="228600" progId="Equation.DSMT4">
                  <p:embed/>
                </p:oleObj>
              </mc:Choice>
              <mc:Fallback>
                <p:oleObj name="Equation" r:id="rId7" imgW="825480" imgH="228600" progId="Equation.DSMT4">
                  <p:embed/>
                  <p:pic>
                    <p:nvPicPr>
                      <p:cNvPr id="48132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89985" y="2213049"/>
                        <a:ext cx="2009775" cy="557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Box 7"/>
          <p:cNvSpPr txBox="1">
            <a:spLocks noChangeArrowheads="1"/>
          </p:cNvSpPr>
          <p:nvPr/>
        </p:nvSpPr>
        <p:spPr bwMode="auto">
          <a:xfrm>
            <a:off x="1115616" y="2190823"/>
            <a:ext cx="7416800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/>
              <a:t>设                      是来自总体</a:t>
            </a:r>
            <a:r>
              <a:rPr lang="en-US" altLang="zh-CN" dirty="0"/>
              <a:t>X</a:t>
            </a:r>
            <a:r>
              <a:rPr lang="zh-CN" altLang="en-US" dirty="0"/>
              <a:t>的样本，</a:t>
            </a:r>
            <a:endParaRPr lang="en-US" altLang="zh-CN" dirty="0"/>
          </a:p>
        </p:txBody>
      </p:sp>
      <p:graphicFrame>
        <p:nvGraphicFramePr>
          <p:cNvPr id="12" name="Object 3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15493156"/>
              </p:ext>
            </p:extLst>
          </p:nvPr>
        </p:nvGraphicFramePr>
        <p:xfrm>
          <a:off x="2339752" y="2734816"/>
          <a:ext cx="2687637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039" name="Equation" r:id="rId9" imgW="1346040" imgH="419040" progId="Equation.DSMT4">
                  <p:embed/>
                </p:oleObj>
              </mc:Choice>
              <mc:Fallback>
                <p:oleObj name="Equation" r:id="rId9" imgW="1346040" imgH="419040" progId="Equation.DSMT4">
                  <p:embed/>
                  <p:pic>
                    <p:nvPicPr>
                      <p:cNvPr id="48133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9752" y="2734816"/>
                        <a:ext cx="2687637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Box 11"/>
          <p:cNvSpPr txBox="1">
            <a:spLocks noChangeArrowheads="1"/>
          </p:cNvSpPr>
          <p:nvPr/>
        </p:nvSpPr>
        <p:spPr bwMode="auto">
          <a:xfrm>
            <a:off x="1042714" y="2854723"/>
            <a:ext cx="1295400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/>
              <a:t>考虑</a:t>
            </a:r>
          </a:p>
        </p:txBody>
      </p:sp>
      <p:sp>
        <p:nvSpPr>
          <p:cNvPr id="14" name="TextBox 12"/>
          <p:cNvSpPr txBox="1">
            <a:spLocks noChangeArrowheads="1"/>
          </p:cNvSpPr>
          <p:nvPr/>
        </p:nvSpPr>
        <p:spPr bwMode="auto">
          <a:xfrm>
            <a:off x="5287640" y="3638423"/>
            <a:ext cx="108108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/>
              <a:t>得到</a:t>
            </a:r>
          </a:p>
        </p:txBody>
      </p:sp>
      <p:sp>
        <p:nvSpPr>
          <p:cNvPr id="15" name="TextBox 14"/>
          <p:cNvSpPr txBox="1">
            <a:spLocks noChangeArrowheads="1"/>
          </p:cNvSpPr>
          <p:nvPr/>
        </p:nvSpPr>
        <p:spPr bwMode="auto">
          <a:xfrm>
            <a:off x="1620515" y="4425404"/>
            <a:ext cx="3816350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/>
              <a:t>解得单侧置信区间</a:t>
            </a:r>
          </a:p>
        </p:txBody>
      </p:sp>
      <p:sp>
        <p:nvSpPr>
          <p:cNvPr id="16" name="TextBox 15"/>
          <p:cNvSpPr txBox="1">
            <a:spLocks noChangeArrowheads="1"/>
          </p:cNvSpPr>
          <p:nvPr/>
        </p:nvSpPr>
        <p:spPr bwMode="auto">
          <a:xfrm>
            <a:off x="323528" y="3609426"/>
            <a:ext cx="1296987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/>
              <a:t>由</a:t>
            </a:r>
          </a:p>
        </p:txBody>
      </p:sp>
      <p:graphicFrame>
        <p:nvGraphicFramePr>
          <p:cNvPr id="17" name="Object 3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09850811"/>
              </p:ext>
            </p:extLst>
          </p:nvPr>
        </p:nvGraphicFramePr>
        <p:xfrm>
          <a:off x="1225228" y="3609426"/>
          <a:ext cx="3967162" cy="576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040" name="Equation" r:id="rId11" imgW="1663560" imgH="241200" progId="Equation.DSMT4">
                  <p:embed/>
                </p:oleObj>
              </mc:Choice>
              <mc:Fallback>
                <p:oleObj name="Equation" r:id="rId11" imgW="1663560" imgH="241200" progId="Equation.DSMT4">
                  <p:embed/>
                  <p:pic>
                    <p:nvPicPr>
                      <p:cNvPr id="48134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25228" y="3609426"/>
                        <a:ext cx="3967162" cy="576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3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78247"/>
              </p:ext>
            </p:extLst>
          </p:nvPr>
        </p:nvGraphicFramePr>
        <p:xfrm>
          <a:off x="6368728" y="3435642"/>
          <a:ext cx="230505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041" name="Equation" r:id="rId13" imgW="1117440" imgH="419040" progId="Equation.DSMT4">
                  <p:embed/>
                </p:oleObj>
              </mc:Choice>
              <mc:Fallback>
                <p:oleObj name="Equation" r:id="rId13" imgW="1117440" imgH="419040" progId="Equation.DSMT4">
                  <p:embed/>
                  <p:pic>
                    <p:nvPicPr>
                      <p:cNvPr id="48135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68728" y="3435642"/>
                        <a:ext cx="2305050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3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36636220"/>
              </p:ext>
            </p:extLst>
          </p:nvPr>
        </p:nvGraphicFramePr>
        <p:xfrm>
          <a:off x="3106415" y="5146129"/>
          <a:ext cx="2262188" cy="1019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042" name="Equation" r:id="rId15" imgW="1015920" imgH="457200" progId="Equation.DSMT4">
                  <p:embed/>
                </p:oleObj>
              </mc:Choice>
              <mc:Fallback>
                <p:oleObj name="Equation" r:id="rId15" imgW="1015920" imgH="457200" progId="Equation.DSMT4">
                  <p:embed/>
                  <p:pic>
                    <p:nvPicPr>
                      <p:cNvPr id="48136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06415" y="5146129"/>
                        <a:ext cx="2262188" cy="1019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48794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  <p:bldP spid="13" grpId="0"/>
      <p:bldP spid="14" grpId="0"/>
      <p:bldP spid="15" grpId="0"/>
      <p:bldP spid="16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例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CAB1394B-3A46-42F6-8841-E262D5A0BA7B}" type="slidenum">
              <a:rPr lang="en-US" altLang="zh-CN" smtClean="0"/>
              <a:pPr/>
              <a:t>32</a:t>
            </a:fld>
            <a:endParaRPr lang="en-US" altLang="zh-CN"/>
          </a:p>
        </p:txBody>
      </p:sp>
      <p:sp>
        <p:nvSpPr>
          <p:cNvPr id="5" name="TextBox 2"/>
          <p:cNvSpPr txBox="1">
            <a:spLocks noGrp="1" noChangeArrowheads="1"/>
          </p:cNvSpPr>
          <p:nvPr>
            <p:ph sz="quarter" idx="1"/>
          </p:nvPr>
        </p:nvSpPr>
        <p:spPr bwMode="auto">
          <a:xfrm>
            <a:off x="624108" y="1490346"/>
            <a:ext cx="8153400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 smtClean="0"/>
              <a:t>一</a:t>
            </a:r>
            <a:r>
              <a:rPr lang="zh-CN" altLang="en-US" dirty="0"/>
              <a:t>批元件寿命服从正态分布，抽取</a:t>
            </a:r>
            <a:r>
              <a:rPr lang="en-US" altLang="zh-CN" dirty="0"/>
              <a:t>5</a:t>
            </a:r>
            <a:r>
              <a:rPr lang="zh-CN" altLang="en-US" dirty="0"/>
              <a:t>只测得寿命值：</a:t>
            </a:r>
            <a:r>
              <a:rPr lang="en-US" altLang="zh-CN" dirty="0"/>
              <a:t>1050,1100,1120,1250,1280.</a:t>
            </a:r>
            <a:r>
              <a:rPr lang="zh-CN" altLang="en-US" dirty="0"/>
              <a:t>求寿命均值     的置信度</a:t>
            </a:r>
            <a:r>
              <a:rPr lang="en-US" altLang="zh-CN" dirty="0"/>
              <a:t>0.95</a:t>
            </a:r>
            <a:r>
              <a:rPr lang="zh-CN" altLang="en-US" dirty="0"/>
              <a:t>的单侧置信下限。</a:t>
            </a:r>
          </a:p>
        </p:txBody>
      </p:sp>
      <p:graphicFrame>
        <p:nvGraphicFramePr>
          <p:cNvPr id="6" name="Object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02341330"/>
              </p:ext>
            </p:extLst>
          </p:nvPr>
        </p:nvGraphicFramePr>
        <p:xfrm>
          <a:off x="1907704" y="2708920"/>
          <a:ext cx="358775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082" name="Equation" r:id="rId3" imgW="152280" imgH="164880" progId="Equation.DSMT4">
                  <p:embed/>
                </p:oleObj>
              </mc:Choice>
              <mc:Fallback>
                <p:oleObj name="Equation" r:id="rId3" imgW="152280" imgH="164880" progId="Equation.DSMT4">
                  <p:embed/>
                  <p:pic>
                    <p:nvPicPr>
                      <p:cNvPr id="49154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7704" y="2708920"/>
                        <a:ext cx="358775" cy="390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4"/>
          <p:cNvSpPr txBox="1">
            <a:spLocks noChangeArrowheads="1"/>
          </p:cNvSpPr>
          <p:nvPr/>
        </p:nvSpPr>
        <p:spPr bwMode="auto">
          <a:xfrm>
            <a:off x="827584" y="3208486"/>
            <a:ext cx="748823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/>
              <a:t>解：   的单侧置信下限为                        ，</a:t>
            </a:r>
          </a:p>
        </p:txBody>
      </p:sp>
      <p:graphicFrame>
        <p:nvGraphicFramePr>
          <p:cNvPr id="8" name="Object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09698943"/>
              </p:ext>
            </p:extLst>
          </p:nvPr>
        </p:nvGraphicFramePr>
        <p:xfrm>
          <a:off x="1632729" y="3351361"/>
          <a:ext cx="358775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083" name="Equation" r:id="rId5" imgW="152280" imgH="164880" progId="Equation.DSMT4">
                  <p:embed/>
                </p:oleObj>
              </mc:Choice>
              <mc:Fallback>
                <p:oleObj name="Equation" r:id="rId5" imgW="152280" imgH="164880" progId="Equation.DSMT4">
                  <p:embed/>
                  <p:pic>
                    <p:nvPicPr>
                      <p:cNvPr id="49155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2729" y="3351361"/>
                        <a:ext cx="358775" cy="390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3684414"/>
              </p:ext>
            </p:extLst>
          </p:nvPr>
        </p:nvGraphicFramePr>
        <p:xfrm>
          <a:off x="5428441" y="3064024"/>
          <a:ext cx="2200275" cy="854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084" name="Equation" r:id="rId6" imgW="1079280" imgH="419040" progId="Equation.DSMT4">
                  <p:embed/>
                </p:oleObj>
              </mc:Choice>
              <mc:Fallback>
                <p:oleObj name="Equation" r:id="rId6" imgW="1079280" imgH="419040" progId="Equation.DSMT4">
                  <p:embed/>
                  <p:pic>
                    <p:nvPicPr>
                      <p:cNvPr id="49156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28441" y="3064024"/>
                        <a:ext cx="2200275" cy="854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7"/>
          <p:cNvSpPr txBox="1">
            <a:spLocks noChangeArrowheads="1"/>
          </p:cNvSpPr>
          <p:nvPr/>
        </p:nvSpPr>
        <p:spPr bwMode="auto">
          <a:xfrm>
            <a:off x="897410" y="3931543"/>
            <a:ext cx="2376487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/>
              <a:t>由样本知</a:t>
            </a:r>
          </a:p>
        </p:txBody>
      </p:sp>
      <p:graphicFrame>
        <p:nvGraphicFramePr>
          <p:cNvPr id="11" name="Object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38560390"/>
              </p:ext>
            </p:extLst>
          </p:nvPr>
        </p:nvGraphicFramePr>
        <p:xfrm>
          <a:off x="2720678" y="3861048"/>
          <a:ext cx="4770437" cy="66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085" name="Equation" r:id="rId8" imgW="1638000" imgH="228600" progId="Equation.DSMT4">
                  <p:embed/>
                </p:oleObj>
              </mc:Choice>
              <mc:Fallback>
                <p:oleObj name="Equation" r:id="rId8" imgW="1638000" imgH="228600" progId="Equation.DSMT4">
                  <p:embed/>
                  <p:pic>
                    <p:nvPicPr>
                      <p:cNvPr id="49157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20678" y="3861048"/>
                        <a:ext cx="4770437" cy="666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Box 9"/>
          <p:cNvSpPr txBox="1">
            <a:spLocks noChangeArrowheads="1"/>
          </p:cNvSpPr>
          <p:nvPr/>
        </p:nvSpPr>
        <p:spPr bwMode="auto">
          <a:xfrm>
            <a:off x="897410" y="4561581"/>
            <a:ext cx="649287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/>
              <a:t>及</a:t>
            </a:r>
          </a:p>
        </p:txBody>
      </p:sp>
      <p:graphicFrame>
        <p:nvGraphicFramePr>
          <p:cNvPr id="13" name="Object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6522526"/>
              </p:ext>
            </p:extLst>
          </p:nvPr>
        </p:nvGraphicFramePr>
        <p:xfrm>
          <a:off x="1648157" y="4658877"/>
          <a:ext cx="1824038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086" name="Equation" r:id="rId10" imgW="774360" imgH="177480" progId="Equation.DSMT4">
                  <p:embed/>
                </p:oleObj>
              </mc:Choice>
              <mc:Fallback>
                <p:oleObj name="Equation" r:id="rId10" imgW="774360" imgH="177480" progId="Equation.DSMT4">
                  <p:embed/>
                  <p:pic>
                    <p:nvPicPr>
                      <p:cNvPr id="49158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8157" y="4658877"/>
                        <a:ext cx="1824038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8589868"/>
              </p:ext>
            </p:extLst>
          </p:nvPr>
        </p:nvGraphicFramePr>
        <p:xfrm>
          <a:off x="3706248" y="4637011"/>
          <a:ext cx="3889375" cy="538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087" name="Equation" r:id="rId12" imgW="1650960" imgH="228600" progId="Equation.DSMT4">
                  <p:embed/>
                </p:oleObj>
              </mc:Choice>
              <mc:Fallback>
                <p:oleObj name="Equation" r:id="rId12" imgW="1650960" imgH="228600" progId="Equation.DSMT4">
                  <p:embed/>
                  <p:pic>
                    <p:nvPicPr>
                      <p:cNvPr id="49159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6248" y="4637011"/>
                        <a:ext cx="3889375" cy="538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3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52093854"/>
              </p:ext>
            </p:extLst>
          </p:nvPr>
        </p:nvGraphicFramePr>
        <p:xfrm>
          <a:off x="1187624" y="5430732"/>
          <a:ext cx="6615112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088" name="Equation" r:id="rId14" imgW="2666880" imgH="203040" progId="Equation.DSMT4">
                  <p:embed/>
                </p:oleObj>
              </mc:Choice>
              <mc:Fallback>
                <p:oleObj name="Equation" r:id="rId14" imgW="2666880" imgH="203040" progId="Equation.DSMT4">
                  <p:embed/>
                  <p:pic>
                    <p:nvPicPr>
                      <p:cNvPr id="4916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624" y="5430732"/>
                        <a:ext cx="6615112" cy="503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Box 13"/>
          <p:cNvSpPr txBox="1">
            <a:spLocks noChangeArrowheads="1"/>
          </p:cNvSpPr>
          <p:nvPr/>
        </p:nvSpPr>
        <p:spPr bwMode="auto">
          <a:xfrm>
            <a:off x="1125343" y="5924439"/>
            <a:ext cx="3455988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/>
              <a:t>或记为</a:t>
            </a:r>
          </a:p>
        </p:txBody>
      </p:sp>
      <p:graphicFrame>
        <p:nvGraphicFramePr>
          <p:cNvPr id="17" name="Object 3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51704861"/>
              </p:ext>
            </p:extLst>
          </p:nvPr>
        </p:nvGraphicFramePr>
        <p:xfrm>
          <a:off x="2519168" y="5997464"/>
          <a:ext cx="1889125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089" name="Equation" r:id="rId16" imgW="761760" imgH="203040" progId="Equation.DSMT4">
                  <p:embed/>
                </p:oleObj>
              </mc:Choice>
              <mc:Fallback>
                <p:oleObj name="Equation" r:id="rId16" imgW="761760" imgH="203040" progId="Equation.DSMT4">
                  <p:embed/>
                  <p:pic>
                    <p:nvPicPr>
                      <p:cNvPr id="49161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9168" y="5997464"/>
                        <a:ext cx="1889125" cy="503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5672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  <p:bldP spid="12" grpId="0"/>
      <p:bldP spid="16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非正态总体均值的</a:t>
            </a:r>
            <a:r>
              <a:rPr lang="zh-CN" altLang="en-US" dirty="0" smtClean="0"/>
              <a:t>区间估计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CAB1394B-3A46-42F6-8841-E262D5A0BA7B}" type="slidenum">
              <a:rPr lang="en-US" altLang="zh-CN" smtClean="0"/>
              <a:pPr/>
              <a:t>33</a:t>
            </a:fld>
            <a:endParaRPr lang="en-US" altLang="zh-CN"/>
          </a:p>
        </p:txBody>
      </p:sp>
      <p:sp>
        <p:nvSpPr>
          <p:cNvPr id="5" name="矩形 4"/>
          <p:cNvSpPr/>
          <p:nvPr/>
        </p:nvSpPr>
        <p:spPr>
          <a:xfrm>
            <a:off x="379512" y="1700808"/>
            <a:ext cx="295465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3600" b="1" dirty="0">
                <a:solidFill>
                  <a:srgbClr val="1E013E"/>
                </a:solidFill>
              </a:rPr>
              <a:t>（大样本法）</a:t>
            </a:r>
            <a:endParaRPr lang="zh-CN" altLang="en-US" sz="4000" b="1" dirty="0">
              <a:solidFill>
                <a:srgbClr val="1E013E"/>
              </a:solidFill>
            </a:endParaRPr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612648" y="2531249"/>
            <a:ext cx="8467599" cy="21236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300" dirty="0" smtClean="0"/>
              <a:t>总体分布非正态时，通常很难求出统计量的具体分布。若样本量较大，可利用极限定理求出枢轴变量的近似分布，再求出未知参数的区间估计。</a:t>
            </a:r>
            <a:endParaRPr lang="zh-CN" altLang="en-US" sz="3300" dirty="0"/>
          </a:p>
        </p:txBody>
      </p:sp>
    </p:spTree>
    <p:extLst>
      <p:ext uri="{BB962C8B-B14F-4D97-AF65-F5344CB8AC3E}">
        <p14:creationId xmlns:p14="http://schemas.microsoft.com/office/powerpoint/2010/main" val="30779748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非正态总体均值的区间估计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CAB1394B-3A46-42F6-8841-E262D5A0BA7B}" type="slidenum">
              <a:rPr lang="en-US" altLang="zh-CN" smtClean="0"/>
              <a:pPr/>
              <a:t>34</a:t>
            </a:fld>
            <a:endParaRPr lang="en-US" altLang="zh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Box 4"/>
              <p:cNvSpPr txBox="1">
                <a:spLocks noChangeArrowheads="1"/>
              </p:cNvSpPr>
              <p:nvPr/>
            </p:nvSpPr>
            <p:spPr bwMode="auto">
              <a:xfrm>
                <a:off x="232990" y="1581655"/>
                <a:ext cx="8467599" cy="110799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3300" dirty="0" smtClean="0">
                    <a:solidFill>
                      <a:srgbClr val="002060"/>
                    </a:solidFill>
                  </a:rPr>
                  <a:t>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3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3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33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33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,…, </m:t>
                    </m:r>
                    <m:sSub>
                      <m:sSubPr>
                        <m:ctrlPr>
                          <a:rPr lang="en-US" altLang="zh-CN" sz="33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3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33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3300" dirty="0" smtClean="0">
                    <a:solidFill>
                      <a:srgbClr val="002060"/>
                    </a:solidFill>
                  </a:rPr>
                  <a:t>为来自均值</a:t>
                </a:r>
                <a14:m>
                  <m:oMath xmlns:m="http://schemas.openxmlformats.org/officeDocument/2006/math">
                    <m:r>
                      <a:rPr lang="en-US" altLang="zh-CN" sz="33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zh-CN" altLang="en-US" sz="3300" dirty="0" smtClean="0">
                    <a:solidFill>
                      <a:srgbClr val="002060"/>
                    </a:solidFill>
                  </a:rPr>
                  <a:t>，方差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3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3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zh-CN" sz="33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sz="3300" dirty="0" smtClean="0">
                    <a:solidFill>
                      <a:srgbClr val="002060"/>
                    </a:solidFill>
                  </a:rPr>
                  <a:t>的总体的一组样本，求均值</a:t>
                </a:r>
                <a14:m>
                  <m:oMath xmlns:m="http://schemas.openxmlformats.org/officeDocument/2006/math">
                    <m:r>
                      <a:rPr lang="en-US" altLang="zh-CN" sz="33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zh-CN" altLang="en-US" sz="3300" dirty="0" smtClean="0">
                    <a:solidFill>
                      <a:srgbClr val="002060"/>
                    </a:solidFill>
                  </a:rPr>
                  <a:t>的置信度为</a:t>
                </a:r>
                <a14:m>
                  <m:oMath xmlns:m="http://schemas.openxmlformats.org/officeDocument/2006/math">
                    <m:r>
                      <a:rPr lang="en-US" altLang="zh-CN" sz="33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sz="33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33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zh-CN" altLang="en-US" sz="3300" dirty="0" smtClean="0">
                    <a:solidFill>
                      <a:srgbClr val="002060"/>
                    </a:solidFill>
                  </a:rPr>
                  <a:t>的置信区间。</a:t>
                </a:r>
                <a:endParaRPr lang="zh-CN" altLang="en-US" sz="33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" name="Text 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2990" y="1581655"/>
                <a:ext cx="8467599" cy="1107996"/>
              </a:xfrm>
              <a:prstGeom prst="rect">
                <a:avLst/>
              </a:prstGeom>
              <a:blipFill>
                <a:blip r:embed="rId2"/>
                <a:stretch>
                  <a:fillRect l="-1944" t="-8791" r="-936" b="-61538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Box 4"/>
              <p:cNvSpPr txBox="1">
                <a:spLocks noChangeArrowheads="1"/>
              </p:cNvSpPr>
              <p:nvPr/>
            </p:nvSpPr>
            <p:spPr bwMode="auto">
              <a:xfrm>
                <a:off x="827584" y="2924944"/>
                <a:ext cx="8467599" cy="35897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3300" dirty="0" smtClean="0"/>
                  <a:t>当</a:t>
                </a:r>
                <a14:m>
                  <m:oMath xmlns:m="http://schemas.openxmlformats.org/officeDocument/2006/math">
                    <m:r>
                      <a:rPr lang="en-US" altLang="zh-CN" sz="33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3300" dirty="0" smtClean="0"/>
                  <a:t>充分大时，利用中心极限定理，有</a:t>
                </a:r>
                <a:endParaRPr lang="en-US" altLang="zh-CN" sz="3300" dirty="0" smtClean="0"/>
              </a:p>
              <a:p>
                <a:pPr algn="ctr" eaLnBrk="1" hangingPunct="1"/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3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̅"/>
                            <m:ctrlPr>
                              <a:rPr lang="en-US" altLang="zh-CN" sz="33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33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  <m:r>
                          <a:rPr lang="en-US" altLang="zh-CN" sz="3300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3300" b="0" i="1" dirty="0" smtClean="0">
                            <a:latin typeface="Cambria Math" panose="02040503050406030204" pitchFamily="18" charset="0"/>
                          </a:rPr>
                          <m:t>𝜇</m:t>
                        </m:r>
                      </m:num>
                      <m:den>
                        <m:r>
                          <a:rPr lang="en-US" altLang="zh-CN" sz="33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  <m:r>
                          <a:rPr lang="en-US" altLang="zh-CN" sz="3300" b="0" i="1" smtClean="0">
                            <a:latin typeface="Cambria Math" panose="02040503050406030204" pitchFamily="18" charset="0"/>
                          </a:rPr>
                          <m:t>/</m:t>
                        </m:r>
                        <m:rad>
                          <m:radPr>
                            <m:degHide m:val="on"/>
                            <m:ctrlPr>
                              <a:rPr lang="en-US" altLang="zh-CN" sz="3300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33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rad>
                      </m:den>
                    </m:f>
                    <m:r>
                      <a:rPr lang="en-US" altLang="zh-CN" sz="33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∼</m:t>
                    </m:r>
                    <m:r>
                      <a:rPr lang="en-US" altLang="zh-CN" sz="33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en-US" altLang="zh-CN" sz="3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0,1</m:t>
                        </m:r>
                      </m:e>
                    </m:d>
                  </m:oMath>
                </a14:m>
                <a:r>
                  <a:rPr lang="zh-CN" altLang="en-US" sz="3300" dirty="0" smtClean="0"/>
                  <a:t> </a:t>
                </a:r>
                <a:r>
                  <a:rPr lang="en-US" altLang="zh-CN" sz="3300" dirty="0" smtClean="0"/>
                  <a:t>(</a:t>
                </a:r>
                <a:r>
                  <a:rPr lang="zh-CN" altLang="en-US" sz="3300" dirty="0" smtClean="0"/>
                  <a:t>近似</a:t>
                </a:r>
                <a:r>
                  <a:rPr lang="en-US" altLang="zh-CN" sz="3300" dirty="0" smtClean="0"/>
                  <a:t>)</a:t>
                </a:r>
              </a:p>
              <a:p>
                <a:pPr algn="just" eaLnBrk="1" hangingPunct="1"/>
                <a:r>
                  <a:rPr lang="zh-CN" altLang="en-US" sz="3300" dirty="0" smtClean="0"/>
                  <a:t>若</a:t>
                </a:r>
                <a14:m>
                  <m:oMath xmlns:m="http://schemas.openxmlformats.org/officeDocument/2006/math">
                    <m:r>
                      <a:rPr lang="en-US" altLang="zh-CN" sz="3300" b="0" i="1" smtClean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zh-CN" altLang="en-US" sz="3300" dirty="0" smtClean="0"/>
                  <a:t>未知，则可用修正样本标准差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3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3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CN" sz="33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33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zh-CN" altLang="en-US" sz="3300" dirty="0" smtClean="0"/>
                  <a:t>代替。</a:t>
                </a:r>
                <a:endParaRPr lang="en-US" altLang="zh-CN" sz="3300" dirty="0" smtClean="0"/>
              </a:p>
              <a:p>
                <a:pPr algn="just" eaLnBrk="1" hangingPunct="1"/>
                <a:r>
                  <a:rPr lang="zh-CN" altLang="en-US" sz="3300" dirty="0"/>
                  <a:t>所求均值</a:t>
                </a:r>
                <a14:m>
                  <m:oMath xmlns:m="http://schemas.openxmlformats.org/officeDocument/2006/math">
                    <m:r>
                      <a:rPr lang="en-US" altLang="zh-CN" sz="3300" i="1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zh-CN" altLang="en-US" sz="3300" dirty="0"/>
                  <a:t>的置信度为</a:t>
                </a:r>
                <a14:m>
                  <m:oMath xmlns:m="http://schemas.openxmlformats.org/officeDocument/2006/math">
                    <m:r>
                      <a:rPr lang="en-US" altLang="zh-CN" sz="3300" i="1">
                        <a:latin typeface="Cambria Math" panose="02040503050406030204" pitchFamily="18" charset="0"/>
                      </a:rPr>
                      <m:t>1−</m:t>
                    </m:r>
                    <m:r>
                      <a:rPr lang="en-US" altLang="zh-CN" sz="3300" i="1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zh-CN" altLang="en-US" sz="3300" dirty="0"/>
                  <a:t>的</a:t>
                </a:r>
                <a:r>
                  <a:rPr lang="zh-CN" altLang="en-US" sz="3300" dirty="0" smtClean="0"/>
                  <a:t>置信区间为</a:t>
                </a:r>
                <a:endParaRPr lang="en-US" altLang="zh-CN" sz="3300" dirty="0" smtClean="0"/>
              </a:p>
              <a:p>
                <a:pPr algn="just" eaLnBrk="1"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sz="33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̅"/>
                              <m:ctrlPr>
                                <a:rPr lang="en-US" altLang="zh-CN" sz="33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33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  <m:r>
                            <a:rPr lang="en-US" altLang="zh-CN" sz="33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sz="33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3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f>
                                <m:fPr>
                                  <m:ctrlPr>
                                    <a:rPr lang="en-US" altLang="zh-CN" sz="33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33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num>
                                <m:den>
                                  <m:r>
                                    <a:rPr lang="en-US" altLang="zh-CN" sz="33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sub>
                          </m:sSub>
                          <m:f>
                            <m:fPr>
                              <m:ctrlPr>
                                <a:rPr lang="en-US" altLang="zh-CN" sz="33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CN" sz="33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3300" b="0" i="1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altLang="zh-CN" sz="33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altLang="zh-CN" sz="3300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altLang="zh-CN" sz="33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zh-CN" sz="33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rad>
                            </m:den>
                          </m:f>
                          <m:r>
                            <a:rPr lang="en-US" altLang="zh-CN" sz="33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acc>
                            <m:accPr>
                              <m:chr m:val="̅"/>
                              <m:ctrlPr>
                                <a:rPr lang="en-US" altLang="zh-CN" sz="33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33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  <m:r>
                            <a:rPr lang="en-US" altLang="zh-CN" sz="330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33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3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f>
                                <m:fPr>
                                  <m:ctrlPr>
                                    <a:rPr lang="en-US" altLang="zh-CN" sz="33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33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num>
                                <m:den>
                                  <m:r>
                                    <a:rPr lang="en-US" altLang="zh-CN" sz="33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sub>
                          </m:sSub>
                          <m:f>
                            <m:fPr>
                              <m:ctrlPr>
                                <a:rPr lang="en-US" altLang="zh-CN" sz="33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CN" sz="33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33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altLang="zh-CN" sz="33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altLang="zh-CN" sz="3300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altLang="zh-CN" sz="3300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zh-CN" sz="33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rad>
                            </m:den>
                          </m:f>
                        </m:e>
                      </m:d>
                    </m:oMath>
                  </m:oMathPara>
                </a14:m>
                <a:endParaRPr lang="zh-CN" altLang="en-US" sz="3300" dirty="0"/>
              </a:p>
            </p:txBody>
          </p:sp>
        </mc:Choice>
        <mc:Fallback xmlns="">
          <p:sp>
            <p:nvSpPr>
              <p:cNvPr id="6" name="Text 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27584" y="2924944"/>
                <a:ext cx="8467599" cy="3589765"/>
              </a:xfrm>
              <a:prstGeom prst="rect">
                <a:avLst/>
              </a:prstGeom>
              <a:blipFill>
                <a:blip r:embed="rId3"/>
                <a:stretch>
                  <a:fillRect l="-1944" t="-3056" r="-1224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151108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例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zh-CN" altLang="en-US" dirty="0" smtClean="0"/>
                  <a:t>求分布</a:t>
                </a:r>
                <a:r>
                  <a:rPr lang="en-US" altLang="zh-CN" dirty="0" smtClean="0"/>
                  <a:t>B(1,p)</a:t>
                </a:r>
                <a:r>
                  <a:rPr lang="zh-CN" altLang="en-US" dirty="0" smtClean="0"/>
                  <a:t>中参数</a:t>
                </a:r>
                <a:r>
                  <a:rPr lang="en-US" altLang="zh-CN" dirty="0" smtClean="0"/>
                  <a:t>p</a:t>
                </a:r>
                <a:r>
                  <a:rPr lang="zh-CN" altLang="en-US" dirty="0" smtClean="0"/>
                  <a:t>的置信区间。样本容量为</a:t>
                </a:r>
                <a:r>
                  <a:rPr lang="en-US" altLang="zh-CN" dirty="0" smtClean="0"/>
                  <a:t>n</a:t>
                </a:r>
                <a:r>
                  <a:rPr lang="zh-CN" altLang="en-US" dirty="0" smtClean="0"/>
                  <a:t>，置信度</a:t>
                </a:r>
                <a14:m>
                  <m:oMath xmlns:m="http://schemas.openxmlformats.org/officeDocument/2006/math">
                    <m:r>
                      <a:rPr lang="en-US" altLang="zh-CN" sz="3200" i="1">
                        <a:latin typeface="Cambria Math" panose="02040503050406030204" pitchFamily="18" charset="0"/>
                      </a:rPr>
                      <m:t>1−</m:t>
                    </m:r>
                    <m:r>
                      <a:rPr lang="en-US" altLang="zh-CN" sz="3200" i="1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0">
                <a:blip r:embed="rId3"/>
                <a:stretch>
                  <a:fillRect l="-449" t="-2171" r="-7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CAB1394B-3A46-42F6-8841-E262D5A0BA7B}" type="slidenum">
              <a:rPr lang="en-US" altLang="zh-CN" smtClean="0"/>
              <a:pPr/>
              <a:t>35</a:t>
            </a:fld>
            <a:endParaRPr lang="en-US" altLang="zh-C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本框 8"/>
              <p:cNvSpPr txBox="1"/>
              <p:nvPr/>
            </p:nvSpPr>
            <p:spPr>
              <a:xfrm>
                <a:off x="899592" y="2780928"/>
                <a:ext cx="7416824" cy="22220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800" dirty="0" smtClean="0"/>
                  <a:t>解：令总体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∼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(1,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800" dirty="0" smtClean="0"/>
                  <a:t>，样本为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2800" dirty="0" smtClean="0"/>
                  <a:t>，样本方差为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</m:oMath>
                </a14:m>
                <a:r>
                  <a:rPr lang="zh-CN" altLang="en-US" sz="2800" dirty="0" smtClean="0"/>
                  <a:t>，修正样本方差为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  <m:sup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zh-CN" altLang="en-US" sz="2800" dirty="0" smtClean="0"/>
                  <a:t>。代入上页的公式，得所求置信区间为</a:t>
                </a:r>
                <a:endParaRPr lang="en-US" altLang="zh-CN" sz="2800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̅"/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f>
                                <m:f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num>
                                <m:den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sub>
                          </m:sSub>
                          <m:f>
                            <m:f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rad>
                            </m:den>
                          </m:f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acc>
                            <m:accPr>
                              <m:chr m:val="̅"/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f>
                                <m:f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num>
                                <m:den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sub>
                          </m:sSub>
                          <m:f>
                            <m:f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rad>
                            </m:den>
                          </m:f>
                        </m:e>
                      </m:d>
                    </m:oMath>
                  </m:oMathPara>
                </a14:m>
                <a:endParaRPr lang="en-US" altLang="zh-CN" dirty="0" smtClean="0"/>
              </a:p>
            </p:txBody>
          </p:sp>
        </mc:Choice>
        <mc:Fallback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592" y="2780928"/>
                <a:ext cx="7416824" cy="2222019"/>
              </a:xfrm>
              <a:prstGeom prst="rect">
                <a:avLst/>
              </a:prstGeom>
              <a:blipFill>
                <a:blip r:embed="rId4"/>
                <a:stretch>
                  <a:fillRect l="-1727" t="-274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文本框 11"/>
          <p:cNvSpPr txBox="1"/>
          <p:nvPr/>
        </p:nvSpPr>
        <p:spPr>
          <a:xfrm>
            <a:off x="1619672" y="5373216"/>
            <a:ext cx="597666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</a:rPr>
              <a:t>这题是否可以不用修正样本标准差替代总体标准差呢？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24336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55780070"/>
              </p:ext>
            </p:extLst>
          </p:nvPr>
        </p:nvGraphicFramePr>
        <p:xfrm>
          <a:off x="3601635" y="815726"/>
          <a:ext cx="3681407" cy="8881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987" name="Equation" r:id="rId3" imgW="1523880" imgH="368280" progId="Equation.DSMT4">
                  <p:embed/>
                </p:oleObj>
              </mc:Choice>
              <mc:Fallback>
                <p:oleObj name="Equation" r:id="rId3" imgW="1523880" imgH="368280" progId="Equation.DSMT4">
                  <p:embed/>
                  <p:pic>
                    <p:nvPicPr>
                      <p:cNvPr id="9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01635" y="815726"/>
                        <a:ext cx="3681407" cy="88814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/>
          <p:cNvSpPr/>
          <p:nvPr/>
        </p:nvSpPr>
        <p:spPr>
          <a:xfrm>
            <a:off x="395536" y="1075131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 b="1" dirty="0">
                <a:solidFill>
                  <a:srgbClr val="800000"/>
                </a:solidFill>
              </a:rPr>
              <a:t>已知方差，估计均值</a:t>
            </a:r>
          </a:p>
        </p:txBody>
      </p:sp>
      <p:sp>
        <p:nvSpPr>
          <p:cNvPr id="7" name="矩形 6"/>
          <p:cNvSpPr/>
          <p:nvPr/>
        </p:nvSpPr>
        <p:spPr>
          <a:xfrm>
            <a:off x="395536" y="1797281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 b="1" dirty="0">
                <a:solidFill>
                  <a:srgbClr val="800000"/>
                </a:solidFill>
              </a:rPr>
              <a:t>未知方差，估计均值</a:t>
            </a:r>
          </a:p>
        </p:txBody>
      </p:sp>
      <p:graphicFrame>
        <p:nvGraphicFramePr>
          <p:cNvPr id="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31004697"/>
              </p:ext>
            </p:extLst>
          </p:nvPr>
        </p:nvGraphicFramePr>
        <p:xfrm>
          <a:off x="3203848" y="1518956"/>
          <a:ext cx="5724128" cy="9259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988" name="Equation" r:id="rId5" imgW="2273040" imgH="368280" progId="Equation.DSMT4">
                  <p:embed/>
                </p:oleObj>
              </mc:Choice>
              <mc:Fallback>
                <p:oleObj name="Equation" r:id="rId5" imgW="2273040" imgH="368280" progId="Equation.DSMT4">
                  <p:embed/>
                  <p:pic>
                    <p:nvPicPr>
                      <p:cNvPr id="9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3848" y="1518956"/>
                        <a:ext cx="5724128" cy="92598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矩形 8"/>
          <p:cNvSpPr/>
          <p:nvPr/>
        </p:nvSpPr>
        <p:spPr>
          <a:xfrm>
            <a:off x="395536" y="2552402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 b="1" dirty="0" smtClean="0">
                <a:solidFill>
                  <a:srgbClr val="800000"/>
                </a:solidFill>
              </a:rPr>
              <a:t>未知均值，估计方差</a:t>
            </a:r>
            <a:endParaRPr lang="zh-CN" altLang="en-US" sz="2000" b="1" dirty="0">
              <a:solidFill>
                <a:srgbClr val="800000"/>
              </a:solidFill>
            </a:endParaRPr>
          </a:p>
        </p:txBody>
      </p:sp>
      <p:graphicFrame>
        <p:nvGraphicFramePr>
          <p:cNvPr id="10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07859564"/>
              </p:ext>
            </p:extLst>
          </p:nvPr>
        </p:nvGraphicFramePr>
        <p:xfrm>
          <a:off x="3968991" y="2358594"/>
          <a:ext cx="2946694" cy="7569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989" name="Equation" r:id="rId7" imgW="1523880" imgH="393480" progId="Equation.DSMT4">
                  <p:embed/>
                </p:oleObj>
              </mc:Choice>
              <mc:Fallback>
                <p:oleObj name="Equation" r:id="rId7" imgW="1523880" imgH="393480" progId="Equation.DSMT4">
                  <p:embed/>
                  <p:pic>
                    <p:nvPicPr>
                      <p:cNvPr id="8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8991" y="2358594"/>
                        <a:ext cx="2946694" cy="75694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矩形 10"/>
          <p:cNvSpPr/>
          <p:nvPr/>
        </p:nvSpPr>
        <p:spPr>
          <a:xfrm>
            <a:off x="0" y="256803"/>
            <a:ext cx="172354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 smtClean="0">
                <a:solidFill>
                  <a:srgbClr val="800000"/>
                </a:solidFill>
              </a:rPr>
              <a:t>单正态总体</a:t>
            </a:r>
            <a:endParaRPr lang="zh-CN" altLang="en-US" sz="2400" b="1" dirty="0">
              <a:solidFill>
                <a:srgbClr val="80000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0" y="3285476"/>
            <a:ext cx="172354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 smtClean="0">
                <a:solidFill>
                  <a:srgbClr val="800000"/>
                </a:solidFill>
              </a:rPr>
              <a:t>双正态总体</a:t>
            </a:r>
            <a:endParaRPr lang="zh-CN" altLang="en-US" sz="2400" b="1" dirty="0">
              <a:solidFill>
                <a:srgbClr val="800000"/>
              </a:solidFill>
            </a:endParaRPr>
          </a:p>
        </p:txBody>
      </p:sp>
      <p:graphicFrame>
        <p:nvGraphicFramePr>
          <p:cNvPr id="13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5990284"/>
              </p:ext>
            </p:extLst>
          </p:nvPr>
        </p:nvGraphicFramePr>
        <p:xfrm>
          <a:off x="3347864" y="3573016"/>
          <a:ext cx="5368693" cy="10648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990" name="Equation" r:id="rId9" imgW="3314520" imgH="545760" progId="Equation.DSMT4">
                  <p:embed/>
                </p:oleObj>
              </mc:Choice>
              <mc:Fallback>
                <p:oleObj name="Equation" r:id="rId9" imgW="3314520" imgH="545760" progId="Equation.DSMT4">
                  <p:embed/>
                  <p:pic>
                    <p:nvPicPr>
                      <p:cNvPr id="8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lum bright="-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7864" y="3573016"/>
                        <a:ext cx="5368693" cy="106481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矩形 13"/>
          <p:cNvSpPr/>
          <p:nvPr/>
        </p:nvSpPr>
        <p:spPr>
          <a:xfrm>
            <a:off x="395536" y="3941751"/>
            <a:ext cx="27494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 b="1" dirty="0">
                <a:solidFill>
                  <a:srgbClr val="800000"/>
                </a:solidFill>
              </a:rPr>
              <a:t>已知方差，估计</a:t>
            </a:r>
            <a:r>
              <a:rPr lang="zh-CN" altLang="en-US" sz="2000" b="1" dirty="0" smtClean="0">
                <a:solidFill>
                  <a:srgbClr val="800000"/>
                </a:solidFill>
              </a:rPr>
              <a:t>均值差</a:t>
            </a:r>
            <a:endParaRPr lang="zh-CN" altLang="en-US" sz="2000" b="1" dirty="0">
              <a:solidFill>
                <a:srgbClr val="800000"/>
              </a:solidFill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95536" y="4536325"/>
            <a:ext cx="351891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 b="1" dirty="0">
                <a:solidFill>
                  <a:srgbClr val="800000"/>
                </a:solidFill>
              </a:rPr>
              <a:t>未知</a:t>
            </a:r>
            <a:r>
              <a:rPr lang="zh-CN" altLang="en-US" sz="2000" b="1" dirty="0" smtClean="0">
                <a:solidFill>
                  <a:srgbClr val="800000"/>
                </a:solidFill>
              </a:rPr>
              <a:t>方差但相等，</a:t>
            </a:r>
            <a:r>
              <a:rPr lang="zh-CN" altLang="en-US" sz="2000" b="1" dirty="0">
                <a:solidFill>
                  <a:srgbClr val="800000"/>
                </a:solidFill>
              </a:rPr>
              <a:t>估计</a:t>
            </a:r>
            <a:r>
              <a:rPr lang="zh-CN" altLang="en-US" sz="2000" b="1" dirty="0" smtClean="0">
                <a:solidFill>
                  <a:srgbClr val="800000"/>
                </a:solidFill>
              </a:rPr>
              <a:t>均值差</a:t>
            </a:r>
            <a:endParaRPr lang="zh-CN" altLang="en-US" sz="2000" b="1" dirty="0">
              <a:solidFill>
                <a:srgbClr val="800000"/>
              </a:solidFill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395535" y="5165134"/>
            <a:ext cx="27494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 b="1" dirty="0">
                <a:solidFill>
                  <a:srgbClr val="800000"/>
                </a:solidFill>
              </a:rPr>
              <a:t>未知均值，</a:t>
            </a:r>
            <a:r>
              <a:rPr lang="zh-CN" altLang="en-US" sz="2000" b="1" dirty="0" smtClean="0">
                <a:solidFill>
                  <a:srgbClr val="800000"/>
                </a:solidFill>
              </a:rPr>
              <a:t>估计方差比</a:t>
            </a:r>
            <a:endParaRPr lang="zh-CN" altLang="en-US" sz="2000" b="1" dirty="0">
              <a:solidFill>
                <a:srgbClr val="800000"/>
              </a:solidFill>
            </a:endParaRPr>
          </a:p>
        </p:txBody>
      </p:sp>
      <p:graphicFrame>
        <p:nvGraphicFramePr>
          <p:cNvPr id="17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074538"/>
              </p:ext>
            </p:extLst>
          </p:nvPr>
        </p:nvGraphicFramePr>
        <p:xfrm>
          <a:off x="3362412" y="4891560"/>
          <a:ext cx="5406999" cy="9440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991" name="Equation" r:id="rId11" imgW="3111480" imgH="482400" progId="Equation.DSMT4">
                  <p:embed/>
                </p:oleObj>
              </mc:Choice>
              <mc:Fallback>
                <p:oleObj name="Equation" r:id="rId11" imgW="3111480" imgH="482400" progId="Equation.DSMT4">
                  <p:embed/>
                  <p:pic>
                    <p:nvPicPr>
                      <p:cNvPr id="16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lum bright="-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62412" y="4891560"/>
                        <a:ext cx="5406999" cy="94409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791288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中性">
  <a:themeElements>
    <a:clrScheme name="中性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中性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中性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lec9</Template>
  <TotalTime>8287</TotalTime>
  <Words>1099</Words>
  <Application>Microsoft Office PowerPoint</Application>
  <PresentationFormat>全屏显示(4:3)</PresentationFormat>
  <Paragraphs>202</Paragraphs>
  <Slides>36</Slides>
  <Notes>6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36</vt:i4>
      </vt:variant>
    </vt:vector>
  </HeadingPairs>
  <TitlesOfParts>
    <vt:vector size="48" baseType="lpstr">
      <vt:lpstr>Tw Cen MT</vt:lpstr>
      <vt:lpstr>华文仿宋</vt:lpstr>
      <vt:lpstr>宋体</vt:lpstr>
      <vt:lpstr>Calibri</vt:lpstr>
      <vt:lpstr>Cambria Math</vt:lpstr>
      <vt:lpstr>Symbol</vt:lpstr>
      <vt:lpstr>Times New Roman</vt:lpstr>
      <vt:lpstr>Wingdings</vt:lpstr>
      <vt:lpstr>Wingdings 2</vt:lpstr>
      <vt:lpstr>中性</vt:lpstr>
      <vt:lpstr>Equation</vt:lpstr>
      <vt:lpstr>公式</vt:lpstr>
      <vt:lpstr>参数估计</vt:lpstr>
      <vt:lpstr>提纲</vt:lpstr>
      <vt:lpstr>内容</vt:lpstr>
      <vt:lpstr>区间估计</vt:lpstr>
      <vt:lpstr>置信区间与置信度</vt:lpstr>
      <vt:lpstr>PowerPoint 演示文稿</vt:lpstr>
      <vt:lpstr>几点说明</vt:lpstr>
      <vt:lpstr>枢轴变量法</vt:lpstr>
      <vt:lpstr>正态总体，均值的μ区间估计</vt:lpstr>
      <vt:lpstr>正态总体，均值的μ区间估计</vt:lpstr>
      <vt:lpstr>正态总体，均值的μ区间估计</vt:lpstr>
      <vt:lpstr>正态总体，均值的μ区间估计</vt:lpstr>
      <vt:lpstr>例</vt:lpstr>
      <vt:lpstr>正态总体，均值的μ区间估计</vt:lpstr>
      <vt:lpstr>正态总体，均值的μ区间估计</vt:lpstr>
      <vt:lpstr>正态总体，均值的μ区间估计</vt:lpstr>
      <vt:lpstr>正态总体，方差σ2 的区间估计</vt:lpstr>
      <vt:lpstr>正态总体，方差σ2 的区间估计</vt:lpstr>
      <vt:lpstr>正态总体，方差σ2 的区间估计</vt:lpstr>
      <vt:lpstr>例</vt:lpstr>
      <vt:lpstr>双正态总体情形</vt:lpstr>
      <vt:lpstr>双正态总体情形</vt:lpstr>
      <vt:lpstr>双正态总体情形</vt:lpstr>
      <vt:lpstr>双正态总体情形</vt:lpstr>
      <vt:lpstr>例</vt:lpstr>
      <vt:lpstr>例</vt:lpstr>
      <vt:lpstr>例</vt:lpstr>
      <vt:lpstr>单侧置信区间</vt:lpstr>
      <vt:lpstr>单侧置信区间</vt:lpstr>
      <vt:lpstr>正态总体的单侧置信区间</vt:lpstr>
      <vt:lpstr>正态总体的单侧置信区间</vt:lpstr>
      <vt:lpstr>例</vt:lpstr>
      <vt:lpstr>非正态总体均值的区间估计</vt:lpstr>
      <vt:lpstr>非正态总体均值的区间估计</vt:lpstr>
      <vt:lpstr>例</vt:lpstr>
      <vt:lpstr>PowerPoint 演示文稿</vt:lpstr>
    </vt:vector>
  </TitlesOfParts>
  <Company>zhang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第四章    随机变量的数字特征</dc:title>
  <dc:creator>zhang</dc:creator>
  <cp:lastModifiedBy>唐 斌</cp:lastModifiedBy>
  <cp:revision>729</cp:revision>
  <dcterms:created xsi:type="dcterms:W3CDTF">1999-07-21T12:48:41Z</dcterms:created>
  <dcterms:modified xsi:type="dcterms:W3CDTF">2018-12-12T03:06:20Z</dcterms:modified>
</cp:coreProperties>
</file>