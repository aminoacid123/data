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8"/>
  </p:notes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3" autoAdjust="0"/>
  </p:normalViewPr>
  <p:slideViewPr>
    <p:cSldViewPr>
      <p:cViewPr varScale="1">
        <p:scale>
          <a:sx n="67" d="100"/>
          <a:sy n="67" d="100"/>
        </p:scale>
        <p:origin x="124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emf"/><Relationship Id="rId5" Type="http://schemas.openxmlformats.org/officeDocument/2006/relationships/image" Target="../media/image10.wmf"/><Relationship Id="rId4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8.bin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21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24" Type="http://schemas.openxmlformats.org/officeDocument/2006/relationships/oleObject" Target="../embeddings/oleObject19.bin"/><Relationship Id="rId32" Type="http://schemas.openxmlformats.org/officeDocument/2006/relationships/oleObject" Target="../embeddings/oleObject24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8.bin"/><Relationship Id="rId28" Type="http://schemas.openxmlformats.org/officeDocument/2006/relationships/oleObject" Target="../embeddings/oleObject22.bin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4.bin"/><Relationship Id="rId31" Type="http://schemas.openxmlformats.org/officeDocument/2006/relationships/image" Target="../media/image11.e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9.emf"/><Relationship Id="rId30" Type="http://schemas.openxmlformats.org/officeDocument/2006/relationships/oleObject" Target="../embeddings/oleObject2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9.png"/><Relationship Id="rId7" Type="http://schemas.openxmlformats.org/officeDocument/2006/relationships/image" Target="../media/image6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9.png"/><Relationship Id="rId7" Type="http://schemas.openxmlformats.org/officeDocument/2006/relationships/image" Target="../media/image6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9.png"/><Relationship Id="rId7" Type="http://schemas.openxmlformats.org/officeDocument/2006/relationships/image" Target="../media/image6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smtClean="0"/>
              <a:t>条件期望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条件期望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2800" dirty="0" smtClean="0"/>
                  <a:t>类似于条件概率，常需要在某事件发生的条件下，对随机变量进行分析</a:t>
                </a:r>
                <a:endParaRPr lang="en-US" altLang="zh-CN" sz="2800" dirty="0" smtClean="0"/>
              </a:p>
              <a:p>
                <a:endParaRPr lang="en-US" altLang="zh-CN" sz="2800" dirty="0"/>
              </a:p>
              <a:p>
                <a:r>
                  <a:rPr lang="zh-CN" altLang="en-US" sz="2800" dirty="0" smtClean="0"/>
                  <a:t>在事件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dirty="0" smtClean="0"/>
                  <a:t>的条件下，随机变量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的条件期望可定义为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𝒙𝑷</m:t>
                          </m:r>
                          <m:d>
                            <m:dPr>
                              <m:endChr m:val="|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sz="2800" dirty="0" smtClean="0"/>
                  <a:t>其中，求和是对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所有可能取值而言</a:t>
                </a:r>
                <a:r>
                  <a:rPr lang="zh-CN" altLang="en-US" sz="2800" dirty="0" smtClean="0"/>
                  <a:t>。</a:t>
                </a:r>
                <a:r>
                  <a:rPr lang="zh-CN" altLang="en-US" sz="2800" dirty="0" smtClean="0"/>
                  <a:t>这里，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 smtClean="0"/>
                  <a:t>被称为事件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dirty="0" smtClean="0"/>
                  <a:t>的条件下的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dirty="0" smtClean="0"/>
                  <a:t>的条件分布律。</a:t>
                </a:r>
                <a:endParaRPr lang="en-US" altLang="zh-CN" sz="2800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571" t="-1493" r="-3740" b="-10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53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 smtClean="0"/>
                  <a:t>特别地，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𝒙𝑷</m:t>
                          </m:r>
                          <m:d>
                            <m:dPr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r>
                  <a:rPr lang="zh-CN" altLang="en-US" dirty="0" smtClean="0"/>
                  <a:t>例：随机抛骰子两次。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第一个点数；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第二个点数；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点数和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𝒙𝑷</m:t>
                          </m:r>
                          <m:d>
                            <m:dPr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𝒙𝑷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𝟏𝟏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5" t="-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880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全期望公式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/>
                  <a:t>类似于全概率公式，我们有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对于随机变量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dirty="0" smtClean="0"/>
                  <a:t>,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  <m:sup/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这里假设所有的期望均存在。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证明：基于条件概率和条件期望的定义即可。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883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例：几何分布的期望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，利用全期望公式证明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重复伯努利试验直至事件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 smtClean="0"/>
                  <a:t>发生的次数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思路</a:t>
                </a:r>
                <a:r>
                  <a:rPr lang="zh-CN" altLang="en-US" dirty="0" smtClean="0"/>
                  <a:t>：根据第一次试验中事件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 smtClean="0"/>
                  <a:t>是否发生分情况讨论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第一次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试验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中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发生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否则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en-US" altLang="zh-CN" dirty="0" smtClean="0"/>
              </a:p>
              <a:p>
                <a:pPr lvl="1"/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74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例：几何分布的期望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1520" y="1600200"/>
                <a:ext cx="8640960" cy="4495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根据全期望公式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b="1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dirty="0" smtClean="0"/>
                  <a:t>意味着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altLang="zh-CN" dirty="0" smtClean="0"/>
                  <a:t>1</a:t>
                </a:r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 smtClean="0"/>
                  <a:t>条件下，假设还需要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zh-CN" altLang="en-US" dirty="0" smtClean="0"/>
                  <a:t>次试验，则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由几何分布的无记忆性，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zh-CN" altLang="en-US" dirty="0" smtClean="0"/>
                  <a:t>同分布，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因此，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解得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 smtClean="0"/>
              </a:p>
              <a:p>
                <a:pPr lvl="1"/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1520" y="1600200"/>
                <a:ext cx="8640960" cy="4495800"/>
              </a:xfrm>
              <a:blipFill rotWithShape="0">
                <a:blip r:embed="rId2"/>
                <a:stretch>
                  <a:fillRect l="-1481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872738" y="5373216"/>
            <a:ext cx="7633220" cy="1077218"/>
          </a:xfrm>
          <a:prstGeom prst="rect">
            <a:avLst/>
          </a:prstGeom>
          <a:noFill/>
          <a:ln w="19050">
            <a:solidFill>
              <a:srgbClr val="F820C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7030A0"/>
                </a:solidFill>
              </a:rPr>
              <a:t>利用条件期望是计算期望的一种有效手段，尤其是结合几何分布的无记忆性。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09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条件期望的线性性质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6309" y="1628800"/>
                <a:ext cx="8153400" cy="4495800"/>
              </a:xfrm>
            </p:spPr>
            <p:txBody>
              <a:bodyPr/>
              <a:lstStyle/>
              <a:p>
                <a:r>
                  <a:rPr lang="zh-CN" altLang="en-US" dirty="0" smtClean="0"/>
                  <a:t>对于有限个离散随机变量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，以及常数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 smtClean="0"/>
                  <a:t>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1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6309" y="1628800"/>
                <a:ext cx="8153400" cy="4495800"/>
              </a:xfrm>
              <a:blipFill rotWithShape="0">
                <a:blip r:embed="rId2"/>
                <a:stretch>
                  <a:fillRect l="-374" t="-1355" r="-1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474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条件期望定义的随机变量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下箭头 4"/>
          <p:cNvSpPr/>
          <p:nvPr/>
        </p:nvSpPr>
        <p:spPr bwMode="auto">
          <a:xfrm>
            <a:off x="4139952" y="2833173"/>
            <a:ext cx="432048" cy="63328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707904" y="3501008"/>
                <a:ext cx="1300035" cy="446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9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3501008"/>
                <a:ext cx="1300035" cy="4462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63624" y="4068361"/>
                <a:ext cx="79928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 smtClean="0">
                    <a:solidFill>
                      <a:srgbClr val="FF0000"/>
                    </a:solidFill>
                  </a:rPr>
                  <a:t>将事件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3200" dirty="0" smtClean="0">
                    <a:solidFill>
                      <a:srgbClr val="FF0000"/>
                    </a:solidFill>
                  </a:rPr>
                  <a:t>映射成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e>
                        <m: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3200" dirty="0" smtClean="0">
                    <a:solidFill>
                      <a:srgbClr val="FF0000"/>
                    </a:solidFill>
                  </a:rPr>
                  <a:t>的随机变量</a:t>
                </a:r>
                <a:endParaRPr lang="zh-CN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24" y="4068361"/>
                <a:ext cx="7992887" cy="584775"/>
              </a:xfrm>
              <a:prstGeom prst="rect">
                <a:avLst/>
              </a:prstGeom>
              <a:blipFill rotWithShape="0">
                <a:blip r:embed="rId4"/>
                <a:stretch>
                  <a:fillRect l="-1983" t="-12500" b="-34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83568" y="4774213"/>
                <a:ext cx="799288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r>
                  <a:rPr lang="zh-CN" altLang="en-US" sz="3200" dirty="0" smtClean="0"/>
                  <a:t>是一个随机变量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 smtClean="0"/>
                  <a:t>，且当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3200" dirty="0" smtClean="0"/>
                  <a:t>时，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 smtClean="0"/>
                  <a:t>取值为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774213"/>
                <a:ext cx="7992888" cy="1077218"/>
              </a:xfrm>
              <a:prstGeom prst="rect">
                <a:avLst/>
              </a:prstGeom>
              <a:blipFill rotWithShape="0">
                <a:blip r:embed="rId5"/>
                <a:stretch>
                  <a:fillRect t="-7345" r="-7018" b="-18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5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随机</a:t>
                </a:r>
                <a:r>
                  <a:rPr lang="zh-CN" altLang="en-US" dirty="0"/>
                  <a:t>抛骰子两次。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第一个点数；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第二个点数；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点数</a:t>
                </a:r>
                <a:r>
                  <a:rPr lang="zh-CN" altLang="en-US" dirty="0" smtClean="0"/>
                  <a:t>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475656" y="5013176"/>
                <a:ext cx="6322372" cy="10854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9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900" b="1" i="1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9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900" b="1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9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US" altLang="zh-CN" sz="29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2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900" b="1" i="1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9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9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9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9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9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9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013176"/>
                <a:ext cx="6322372" cy="10854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57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 smtClean="0"/>
                  <a:t>的性质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2924944"/>
                <a:ext cx="8153400" cy="3171056"/>
              </a:xfrm>
            </p:spPr>
            <p:txBody>
              <a:bodyPr/>
              <a:lstStyle/>
              <a:p>
                <a:r>
                  <a:rPr lang="zh-CN" altLang="en-US" dirty="0" smtClean="0"/>
                  <a:t>证明：记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  <m:sup/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  <m:sup/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2924944"/>
                <a:ext cx="8153400" cy="3171056"/>
              </a:xfrm>
              <a:blipFill rotWithShape="0">
                <a:blip r:embed="rId3"/>
                <a:stretch>
                  <a:fillRect l="-449" t="-1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1547664" y="1844824"/>
                <a:ext cx="5616624" cy="787139"/>
              </a:xfrm>
              <a:prstGeom prst="rect">
                <a:avLst/>
              </a:prstGeom>
              <a:noFill/>
              <a:ln w="19050">
                <a:solidFill>
                  <a:srgbClr val="F820C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8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4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3600" b="1" dirty="0" smtClean="0">
                    <a:solidFill>
                      <a:srgbClr val="002060"/>
                    </a:solidFill>
                  </a:rPr>
                  <a:t>定理：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solidFill>
                          <a:srgbClr val="070A13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4000" b="0" i="1" smtClean="0">
                            <a:solidFill>
                              <a:srgbClr val="070A1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solidFill>
                              <a:srgbClr val="070A1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0" i="1" smtClean="0">
                                <a:solidFill>
                                  <a:srgbClr val="070A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4000" b="0" i="1" smtClean="0">
                                <a:solidFill>
                                  <a:srgbClr val="070A13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altLang="zh-CN" sz="4000" b="0" i="1" smtClean="0">
                                <a:solidFill>
                                  <a:srgbClr val="070A13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sz="4000" b="0" i="1" smtClean="0">
                        <a:solidFill>
                          <a:srgbClr val="070A1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000" b="0" i="1" smtClean="0">
                        <a:solidFill>
                          <a:srgbClr val="070A13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4000" b="0" i="1" smtClean="0">
                            <a:solidFill>
                              <a:srgbClr val="070A1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solidFill>
                              <a:srgbClr val="070A1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zh-CN" altLang="en-US" sz="3600" dirty="0">
                  <a:solidFill>
                    <a:srgbClr val="070A13"/>
                  </a:solidFill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1844824"/>
                <a:ext cx="5616624" cy="787139"/>
              </a:xfrm>
              <a:prstGeom prst="rect">
                <a:avLst/>
              </a:prstGeom>
              <a:blipFill rotWithShape="0">
                <a:blip r:embed="rId4"/>
                <a:stretch>
                  <a:fillRect l="-3247" t="-4545" b="-15909"/>
                </a:stretch>
              </a:blipFill>
              <a:ln w="19050">
                <a:solidFill>
                  <a:srgbClr val="F820C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14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例：分支过程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某程序包含对进程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的一次调用。假设每次对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的调用均会独立地</a:t>
                </a:r>
                <a:r>
                  <a:rPr lang="zh-CN" altLang="en-US" dirty="0"/>
                  <a:t>衍生</a:t>
                </a:r>
                <a:r>
                  <a:rPr lang="zh-CN" altLang="en-US" dirty="0" smtClean="0"/>
                  <a:t>进程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的副本，其副本数服从参数为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dirty="0" smtClean="0"/>
                  <a:t>的二项分布，求该程序生成的</a:t>
                </a:r>
                <a:r>
                  <a:rPr lang="en-US" altLang="zh-CN" dirty="0" smtClean="0"/>
                  <a:t>S</a:t>
                </a:r>
                <a:r>
                  <a:rPr lang="zh-CN" altLang="en-US" dirty="0"/>
                  <a:t>副本</a:t>
                </a:r>
                <a:r>
                  <a:rPr lang="zh-CN" altLang="en-US" dirty="0" smtClean="0"/>
                  <a:t>数的期望值。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zh-CN" altLang="en-US" dirty="0" smtClean="0">
                    <a:solidFill>
                      <a:srgbClr val="7030A0"/>
                    </a:solidFill>
                  </a:rPr>
                  <a:t>进程的代：</a:t>
                </a:r>
                <a:endParaRPr lang="en-US" altLang="zh-CN" dirty="0" smtClean="0">
                  <a:solidFill>
                    <a:srgbClr val="7030A0"/>
                  </a:solidFill>
                </a:endParaRPr>
              </a:p>
              <a:p>
                <a:pPr lvl="1"/>
                <a:r>
                  <a:rPr lang="zh-CN" altLang="en-US" dirty="0" smtClean="0">
                    <a:solidFill>
                      <a:srgbClr val="7030A0"/>
                    </a:solidFill>
                  </a:rPr>
                  <a:t>初始进程为第</a:t>
                </a:r>
                <a:r>
                  <a:rPr lang="en-US" altLang="zh-CN" dirty="0" smtClean="0">
                    <a:solidFill>
                      <a:srgbClr val="7030A0"/>
                    </a:solidFill>
                  </a:rPr>
                  <a:t>0</a:t>
                </a:r>
                <a:r>
                  <a:rPr lang="zh-CN" altLang="en-US" dirty="0" smtClean="0">
                    <a:solidFill>
                      <a:srgbClr val="7030A0"/>
                    </a:solidFill>
                  </a:rPr>
                  <a:t>代：</a:t>
                </a:r>
                <a:endParaRPr lang="en-US" altLang="zh-CN" dirty="0" smtClean="0">
                  <a:solidFill>
                    <a:srgbClr val="7030A0"/>
                  </a:solidFill>
                </a:endParaRPr>
              </a:p>
              <a:p>
                <a:pPr lvl="1"/>
                <a:r>
                  <a:rPr lang="zh-CN" altLang="en-US" dirty="0" smtClean="0">
                    <a:solidFill>
                      <a:srgbClr val="7030A0"/>
                    </a:solidFill>
                  </a:rPr>
                  <a:t>由第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dirty="0" smtClean="0">
                    <a:solidFill>
                      <a:srgbClr val="7030A0"/>
                    </a:solidFill>
                  </a:rPr>
                  <a:t>代进程调用生成的进程为第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 smtClean="0">
                    <a:solidFill>
                      <a:srgbClr val="7030A0"/>
                    </a:solidFill>
                  </a:rPr>
                  <a:t>代</a:t>
                </a:r>
                <a:endParaRPr lang="en-US" altLang="zh-CN" dirty="0" smtClean="0">
                  <a:solidFill>
                    <a:srgbClr val="7030A0"/>
                  </a:solidFill>
                </a:endParaRPr>
              </a:p>
              <a:p>
                <a:pPr marL="365760" lvl="1" indent="0">
                  <a:buNone/>
                </a:pPr>
                <a:endParaRPr lang="en-US" altLang="zh-CN" dirty="0" smtClean="0">
                  <a:solidFill>
                    <a:srgbClr val="7030A0"/>
                  </a:solidFill>
                </a:endParaRPr>
              </a:p>
              <a:p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 smtClean="0"/>
                  <a:t>:</a:t>
                </a:r>
                <a:r>
                  <a:rPr lang="zh-CN" altLang="en-US" dirty="0" smtClean="0"/>
                  <a:t>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 smtClean="0"/>
                  <a:t>代进程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副本数，所求为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3121" r="-673" b="-2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934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例：分支过程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</m:oMath>
                </a14:m>
                <a:endParaRPr lang="en-US" altLang="zh-CN" b="1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𝒏𝒑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1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依赖于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 smtClean="0"/>
                  <a:t>的值：当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 smtClean="0"/>
                  <a:t>个二项分布随机变量的</a:t>
                </a:r>
                <a:r>
                  <a:rPr lang="zh-CN" altLang="en-US" dirty="0"/>
                  <a:t>和</a:t>
                </a:r>
                <a:endParaRPr lang="en-US" altLang="zh-CN" b="1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𝒌𝒏𝒑</m:t>
                      </m:r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更一般地，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𝒏𝒑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b="1" dirty="0" smtClean="0"/>
                  <a:t>因此，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𝒏𝒑𝑬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].</m:t>
                    </m:r>
                  </m:oMath>
                </a14:m>
                <a:endParaRPr lang="en-US" altLang="zh-CN" b="1" dirty="0" smtClean="0"/>
              </a:p>
              <a:p>
                <a:pPr marL="365760" lvl="1" indent="0">
                  <a:buNone/>
                </a:pP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b="-2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632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例：分支过程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647163" y="1760597"/>
                <a:ext cx="1261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163" y="1760597"/>
                <a:ext cx="1261179" cy="430887"/>
              </a:xfrm>
              <a:prstGeom prst="rect">
                <a:avLst/>
              </a:prstGeom>
              <a:blipFill rotWithShape="0">
                <a:blip r:embed="rId2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919592" y="2342582"/>
                <a:ext cx="19887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𝒏𝒑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92" y="2342582"/>
                <a:ext cx="1988750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92651" y="2902388"/>
                <a:ext cx="31032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𝒏𝒑𝑬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51" y="2902388"/>
                <a:ext cx="3103285" cy="430887"/>
              </a:xfrm>
              <a:prstGeom prst="rect">
                <a:avLst/>
              </a:prstGeom>
              <a:blipFill rotWithShape="0"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右大括号 7"/>
          <p:cNvSpPr/>
          <p:nvPr/>
        </p:nvSpPr>
        <p:spPr bwMode="auto">
          <a:xfrm>
            <a:off x="4067944" y="1887498"/>
            <a:ext cx="504056" cy="1368152"/>
          </a:xfrm>
          <a:prstGeom prst="rightBrac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860032" y="2325352"/>
                <a:ext cx="2340128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325352"/>
                <a:ext cx="2340128" cy="44191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778098" y="3843568"/>
                <a:ext cx="3081934" cy="796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/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98" y="3843568"/>
                <a:ext cx="3081934" cy="79624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574367" y="5049219"/>
                <a:ext cx="23762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𝒏𝒑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367" y="5049219"/>
                <a:ext cx="2376264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5128"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2555776" y="4786411"/>
                <a:ext cx="1644296" cy="882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4786411"/>
                <a:ext cx="1644296" cy="8820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2555776" y="6029332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或无穷大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4572000" y="6063962"/>
                <a:ext cx="23762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𝒏𝒑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6063962"/>
                <a:ext cx="2376264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5128" t="-1162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3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方差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4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克服均值</a:t>
            </a:r>
            <a:r>
              <a:rPr lang="en-US" altLang="zh-CN" dirty="0" smtClean="0"/>
              <a:t>/</a:t>
            </a:r>
            <a:r>
              <a:rPr lang="zh-CN" altLang="en-US" dirty="0" smtClean="0"/>
              <a:t>期望的局限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279832" cy="470912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均值在很多场合的分布情况刻画不准确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为随机变量</a:t>
                </a:r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对于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𝒎</m:t>
                    </m:r>
                    <m:r>
                      <a:rPr lang="en-US" altLang="zh-CN" b="1" i="1" smtClean="0">
                        <a:latin typeface="Cambria Math"/>
                      </a:rPr>
                      <m:t>∈</m:t>
                    </m:r>
                    <m:r>
                      <a:rPr lang="en-US" altLang="zh-CN" b="1" i="1" smtClean="0">
                        <a:latin typeface="Cambria Math"/>
                      </a:rPr>
                      <m:t>𝑹</m:t>
                    </m:r>
                  </m:oMath>
                </a14:m>
                <a:r>
                  <a:rPr lang="zh-CN" altLang="en-US" dirty="0" smtClean="0"/>
                  <a:t>，若</a:t>
                </a:r>
                <a:endParaRPr lang="en-US" altLang="zh-CN" b="1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≥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𝒎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≥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 </m:t>
                    </m:r>
                    <m:r>
                      <a:rPr lang="zh-CN" altLang="en-US" b="1" i="1" smtClean="0">
                        <a:latin typeface="Cambria Math"/>
                      </a:rPr>
                      <m:t>且</m:t>
                    </m:r>
                    <m:r>
                      <a:rPr lang="en-US" altLang="zh-CN" b="1" i="1" smtClean="0">
                        <a:latin typeface="Cambria Math"/>
                      </a:rPr>
                      <m:t> 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≤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𝒎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≥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dirty="0" smtClean="0"/>
                  <a:t>,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𝒎</m:t>
                    </m:r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中位数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r>
                  <a:rPr lang="zh-CN" altLang="en-US" dirty="0" smtClean="0"/>
                  <a:t>刻画随机变量取偏离期望的值的概率</a:t>
                </a:r>
                <a:r>
                  <a:rPr lang="en-US" altLang="zh-CN" dirty="0" smtClean="0"/>
                  <a:t>.</a:t>
                </a:r>
              </a:p>
              <a:p>
                <a:pPr lvl="1"/>
                <a:r>
                  <a:rPr lang="zh-CN" altLang="en-US" dirty="0" smtClean="0"/>
                  <a:t>尾部分布：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</a:rPr>
                      <m:t>𝒕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r>
                      <a:rPr lang="en-US" altLang="zh-CN" b="1" i="1" dirty="0" smtClean="0">
                        <a:latin typeface="Cambria Math"/>
                      </a:rPr>
                      <m:t>(</m:t>
                    </m:r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  <m:r>
                      <a:rPr lang="en-US" altLang="zh-CN" b="1" i="1" dirty="0" smtClean="0">
                        <a:latin typeface="Cambria Math"/>
                      </a:rPr>
                      <m:t>≤−</m:t>
                    </m:r>
                    <m:r>
                      <a:rPr lang="en-US" altLang="zh-CN" b="1" i="1" dirty="0" smtClean="0">
                        <a:latin typeface="Cambria Math"/>
                      </a:rPr>
                      <m:t>𝒕</m:t>
                    </m:r>
                    <m:r>
                      <a:rPr lang="en-US" altLang="zh-CN" b="1" i="1" dirty="0" smtClean="0">
                        <a:latin typeface="Cambria Math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279832" cy="4709120"/>
              </a:xfrm>
              <a:blipFill rotWithShape="0">
                <a:blip r:embed="rId2"/>
                <a:stretch>
                  <a:fillRect l="-1620" t="-2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3848" y="2204864"/>
            <a:ext cx="2232248" cy="132343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</a:rPr>
              <a:t>张村有个张千万，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</a:rPr>
              <a:t>隔壁九个穷光蛋。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</a:rPr>
              <a:t>平均起来算一算，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</a:rPr>
              <a:t>人人都是张百万</a:t>
            </a:r>
            <a:r>
              <a:rPr lang="zh-CN" altLang="en-US" b="1" dirty="0" smtClean="0">
                <a:solidFill>
                  <a:schemeClr val="accent2">
                    <a:lumMod val="75000"/>
                  </a:schemeClr>
                </a:solidFill>
              </a:rPr>
              <a:t>。</a:t>
            </a:r>
            <a:endParaRPr lang="en-US" altLang="zh-CN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11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马尔可夫不等式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5975576" cy="4495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设随机变量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非负，则对任意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5975576" cy="4495800"/>
              </a:xfrm>
              <a:blipFill rotWithShape="0">
                <a:blip r:embed="rId2"/>
                <a:stretch>
                  <a:fillRect l="-22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573734"/>
            <a:ext cx="2232248" cy="394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887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抛一枚匀质硬币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次，考虑出现至少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/</m:t>
                    </m:r>
                    <m:r>
                      <a:rPr lang="en-US" altLang="zh-CN" b="1" i="1" smtClean="0">
                        <a:latin typeface="Cambria Math"/>
                      </a:rPr>
                      <m:t>𝟒</m:t>
                    </m:r>
                  </m:oMath>
                </a14:m>
                <a:r>
                  <a:rPr lang="zh-CN" altLang="en-US" dirty="0" smtClean="0"/>
                  <a:t>次正面向上的概率。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 正面向上的次数，则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根据马尔可夫不等式，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≥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𝟑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𝑬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𝟑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𝟒</m:t>
                            </m:r>
                          </m:den>
                        </m:f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𝟑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𝟒</m:t>
                            </m:r>
                          </m:den>
                        </m:f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17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马尔可夫不等式的推广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2400" dirty="0" smtClean="0"/>
              <a:t>当我们对随机变量所知的只有其期望以及取值非负，则马尔可夫不等式给出了最好的尾部界（</a:t>
            </a:r>
            <a:r>
              <a:rPr lang="en-US" altLang="zh-CN" sz="2400" dirty="0" smtClean="0"/>
              <a:t>tail bound</a:t>
            </a:r>
            <a:r>
              <a:rPr lang="zh-CN" altLang="en-US" sz="2400" dirty="0" smtClean="0"/>
              <a:t>）。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r>
              <a:rPr lang="zh-CN" altLang="en-US" sz="2400" dirty="0" smtClean="0"/>
              <a:t>马尔可夫不等式建立的界通常很弱，但它是建立其余界的一个有效工具。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79712" y="4221088"/>
                <a:ext cx="5760640" cy="1548501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400" b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为随机变量，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zh-CN" altLang="en-US" sz="2400" b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为取值非负的实函数，则对于任意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</a:rPr>
                      <m:t>&gt;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sz="2400" b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𝒂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US" altLang="zh-CN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sz="2400" b="1" dirty="0" smtClean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221088"/>
                <a:ext cx="5760640" cy="1548501"/>
              </a:xfrm>
              <a:prstGeom prst="rect">
                <a:avLst/>
              </a:prstGeom>
              <a:blipFill rotWithShape="0">
                <a:blip r:embed="rId2"/>
                <a:stretch>
                  <a:fillRect l="-1582" t="-2724" r="-137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24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方差的引入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766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例：有两批灯泡，其平均寿命都是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小时，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787400" y="2481089"/>
            <a:ext cx="6507163" cy="546100"/>
            <a:chOff x="768" y="2400"/>
            <a:chExt cx="4099" cy="344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864" y="2448"/>
              <a:ext cx="3984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768" y="2400"/>
            <a:ext cx="18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" name="Equation" r:id="rId3" imgW="291973" imgH="545863" progId="Equation.3">
                    <p:embed/>
                  </p:oleObj>
                </mc:Choice>
                <mc:Fallback>
                  <p:oleObj name="Equation" r:id="rId3" imgW="291973" imgH="5458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400"/>
                          <a:ext cx="18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708" y="2548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3" name="Equation" r:id="rId5" imgW="253890" imgH="241195" progId="Equation.3">
                    <p:embed/>
                  </p:oleObj>
                </mc:Choice>
                <mc:Fallback>
                  <p:oleObj name="Equation" r:id="rId5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8" y="2548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2566988" y="2449339"/>
            <a:ext cx="2819400" cy="201612"/>
            <a:chOff x="1728" y="2556"/>
            <a:chExt cx="2143" cy="127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1728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4" name="Equation" r:id="rId7" imgW="203024" imgH="203024" progId="Equation.3">
                    <p:embed/>
                  </p:oleObj>
                </mc:Choice>
                <mc:Fallback>
                  <p:oleObj name="Equation" r:id="rId7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3072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5" name="Equation" r:id="rId9" imgW="203024" imgH="203024" progId="Equation.3">
                    <p:embed/>
                  </p:oleObj>
                </mc:Choice>
                <mc:Fallback>
                  <p:oleObj name="Equation" r:id="rId9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216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" name="Equation" r:id="rId10" imgW="203024" imgH="203024" progId="Equation.3">
                    <p:embed/>
                  </p:oleObj>
                </mc:Choice>
                <mc:Fallback>
                  <p:oleObj name="Equation" r:id="rId10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3744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" name="Equation" r:id="rId11" imgW="203024" imgH="203024" progId="Equation.DSMT4">
                    <p:embed/>
                  </p:oleObj>
                </mc:Choice>
                <mc:Fallback>
                  <p:oleObj name="Equation" r:id="rId11" imgW="203024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1968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" name="Equation" r:id="rId12" imgW="203024" imgH="203024" progId="Equation.3">
                    <p:embed/>
                  </p:oleObj>
                </mc:Choice>
                <mc:Fallback>
                  <p:oleObj name="Equation" r:id="rId12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2256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" name="Equation" r:id="rId13" imgW="203024" imgH="203024" progId="Equation.3">
                    <p:embed/>
                  </p:oleObj>
                </mc:Choice>
                <mc:Fallback>
                  <p:oleObj name="Equation" r:id="rId13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2448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" name="Equation" r:id="rId14" imgW="203024" imgH="203024" progId="Equation.3">
                    <p:embed/>
                  </p:oleObj>
                </mc:Choice>
                <mc:Fallback>
                  <p:oleObj name="Equation" r:id="rId14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504" y="2556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" name="Equation" r:id="rId15" imgW="203024" imgH="203024" progId="Equation.3">
                    <p:embed/>
                  </p:oleObj>
                </mc:Choice>
                <mc:Fallback>
                  <p:oleObj name="Equation" r:id="rId15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56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755650" y="3581226"/>
            <a:ext cx="6494463" cy="533400"/>
            <a:chOff x="768" y="3360"/>
            <a:chExt cx="4091" cy="336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856" y="3428"/>
              <a:ext cx="3984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768" y="3360"/>
            <a:ext cx="17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" name="Equation" r:id="rId16" imgW="291973" imgH="545863" progId="Equation.3">
                    <p:embed/>
                  </p:oleObj>
                </mc:Choice>
                <mc:Fallback>
                  <p:oleObj name="Equation" r:id="rId16" imgW="291973" imgH="5458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360"/>
                          <a:ext cx="17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700" y="3528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" name="Equation" r:id="rId17" imgW="253890" imgH="241195" progId="Equation.3">
                    <p:embed/>
                  </p:oleObj>
                </mc:Choice>
                <mc:Fallback>
                  <p:oleObj name="Equation" r:id="rId17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0" y="3528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1485900" y="3573289"/>
            <a:ext cx="5307013" cy="201612"/>
            <a:chOff x="1152" y="3268"/>
            <a:chExt cx="3343" cy="127"/>
          </a:xfrm>
        </p:grpSpPr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3216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" name="Equation" r:id="rId18" imgW="203024" imgH="203024" progId="Equation.3">
                    <p:embed/>
                  </p:oleObj>
                </mc:Choice>
                <mc:Fallback>
                  <p:oleObj name="Equation" r:id="rId18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3744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5" name="Equation" r:id="rId19" imgW="203024" imgH="203024" progId="Equation.3">
                    <p:embed/>
                  </p:oleObj>
                </mc:Choice>
                <mc:Fallback>
                  <p:oleObj name="Equation" r:id="rId19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4128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" name="Equation" r:id="rId20" imgW="203024" imgH="203024" progId="Equation.3">
                    <p:embed/>
                  </p:oleObj>
                </mc:Choice>
                <mc:Fallback>
                  <p:oleObj name="Equation" r:id="rId20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368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" name="Equation" r:id="rId21" imgW="203024" imgH="203024" progId="Equation.3">
                    <p:embed/>
                  </p:oleObj>
                </mc:Choice>
                <mc:Fallback>
                  <p:oleObj name="Equation" r:id="rId21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1872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" name="Equation" r:id="rId22" imgW="203024" imgH="203024" progId="Equation.3">
                    <p:embed/>
                  </p:oleObj>
                </mc:Choice>
                <mc:Fallback>
                  <p:oleObj name="Equation" r:id="rId22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1584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" name="Equation" r:id="rId23" imgW="203024" imgH="203024" progId="Equation.3">
                    <p:embed/>
                  </p:oleObj>
                </mc:Choice>
                <mc:Fallback>
                  <p:oleObj name="Equation" r:id="rId23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9"/>
            <p:cNvGraphicFramePr>
              <a:graphicFrameLocks noChangeAspect="1"/>
            </p:cNvGraphicFramePr>
            <p:nvPr/>
          </p:nvGraphicFramePr>
          <p:xfrm>
            <a:off x="1296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0" name="Equation" r:id="rId24" imgW="203024" imgH="203024" progId="Equation.3">
                    <p:embed/>
                  </p:oleObj>
                </mc:Choice>
                <mc:Fallback>
                  <p:oleObj name="Equation" r:id="rId24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0"/>
            <p:cNvGraphicFramePr>
              <a:graphicFrameLocks noChangeAspect="1"/>
            </p:cNvGraphicFramePr>
            <p:nvPr/>
          </p:nvGraphicFramePr>
          <p:xfrm>
            <a:off x="1152" y="3268"/>
            <a:ext cx="12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" name="Equation" r:id="rId25" imgW="203024" imgH="203024" progId="Equation.3">
                    <p:embed/>
                  </p:oleObj>
                </mc:Choice>
                <mc:Fallback>
                  <p:oleObj name="Equation" r:id="rId25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268"/>
                          <a:ext cx="12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31"/>
          <p:cNvGrpSpPr>
            <a:grpSpLocks/>
          </p:cNvGrpSpPr>
          <p:nvPr/>
        </p:nvGrpSpPr>
        <p:grpSpPr bwMode="auto">
          <a:xfrm>
            <a:off x="3606800" y="2431876"/>
            <a:ext cx="723900" cy="581025"/>
            <a:chOff x="2544" y="2534"/>
            <a:chExt cx="456" cy="366"/>
          </a:xfrm>
        </p:grpSpPr>
        <p:graphicFrame>
          <p:nvGraphicFramePr>
            <p:cNvPr id="32" name="Object 32"/>
            <p:cNvGraphicFramePr>
              <a:graphicFrameLocks noChangeAspect="1"/>
            </p:cNvGraphicFramePr>
            <p:nvPr/>
          </p:nvGraphicFramePr>
          <p:xfrm>
            <a:off x="2688" y="253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2" name="Equation" r:id="rId26" imgW="171471" imgH="171450" progId="Equation.3">
                    <p:embed/>
                  </p:oleObj>
                </mc:Choice>
                <mc:Fallback>
                  <p:oleObj name="Equation" r:id="rId26" imgW="171471" imgH="171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53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505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3"/>
            <p:cNvGraphicFramePr>
              <a:graphicFrameLocks noChangeAspect="1"/>
            </p:cNvGraphicFramePr>
            <p:nvPr/>
          </p:nvGraphicFramePr>
          <p:xfrm>
            <a:off x="2544" y="2700"/>
            <a:ext cx="45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" name="Equation" r:id="rId28" imgW="723586" imgH="317362" progId="Equation.3">
                    <p:embed/>
                  </p:oleObj>
                </mc:Choice>
                <mc:Fallback>
                  <p:oleObj name="Equation" r:id="rId28" imgW="723586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700"/>
                          <a:ext cx="45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Group 34"/>
          <p:cNvGrpSpPr>
            <a:grpSpLocks/>
          </p:cNvGrpSpPr>
          <p:nvPr/>
        </p:nvGrpSpPr>
        <p:grpSpPr bwMode="auto">
          <a:xfrm>
            <a:off x="3606800" y="3570114"/>
            <a:ext cx="723900" cy="573087"/>
            <a:chOff x="2544" y="3251"/>
            <a:chExt cx="456" cy="361"/>
          </a:xfrm>
        </p:grpSpPr>
        <p:graphicFrame>
          <p:nvGraphicFramePr>
            <p:cNvPr id="35" name="Object 35"/>
            <p:cNvGraphicFramePr>
              <a:graphicFrameLocks noChangeAspect="1"/>
            </p:cNvGraphicFramePr>
            <p:nvPr/>
          </p:nvGraphicFramePr>
          <p:xfrm>
            <a:off x="2688" y="3251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" name="Equation" r:id="rId30" imgW="180922" imgH="180900" progId="Equation.3">
                    <p:embed/>
                  </p:oleObj>
                </mc:Choice>
                <mc:Fallback>
                  <p:oleObj name="Equation" r:id="rId30" imgW="180922" imgH="180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251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505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6"/>
            <p:cNvGraphicFramePr>
              <a:graphicFrameLocks noChangeAspect="1"/>
            </p:cNvGraphicFramePr>
            <p:nvPr/>
          </p:nvGraphicFramePr>
          <p:xfrm>
            <a:off x="2544" y="3412"/>
            <a:ext cx="45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" name="Equation" r:id="rId32" imgW="723586" imgH="317362" progId="Equation.3">
                    <p:embed/>
                  </p:oleObj>
                </mc:Choice>
                <mc:Fallback>
                  <p:oleObj name="Equation" r:id="rId32" imgW="723586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412"/>
                          <a:ext cx="45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47"/>
          <p:cNvSpPr txBox="1">
            <a:spLocks noChangeArrowheads="1"/>
          </p:cNvSpPr>
          <p:nvPr/>
        </p:nvSpPr>
        <p:spPr bwMode="auto">
          <a:xfrm>
            <a:off x="7596188" y="2204864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DE32D6"/>
                </a:solidFill>
              </a:rPr>
              <a:t>集中</a:t>
            </a:r>
          </a:p>
        </p:txBody>
      </p:sp>
      <p:sp>
        <p:nvSpPr>
          <p:cNvPr id="38" name="Text Box 48"/>
          <p:cNvSpPr txBox="1">
            <a:spLocks noChangeArrowheads="1"/>
          </p:cNvSpPr>
          <p:nvPr/>
        </p:nvSpPr>
        <p:spPr bwMode="auto">
          <a:xfrm>
            <a:off x="7678738" y="3357389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DE32D6"/>
                </a:solidFill>
              </a:rPr>
              <a:t>分散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9750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41" name="内容占位符 2"/>
          <p:cNvSpPr txBox="1">
            <a:spLocks/>
          </p:cNvSpPr>
          <p:nvPr/>
        </p:nvSpPr>
        <p:spPr>
          <a:xfrm>
            <a:off x="611560" y="4840560"/>
            <a:ext cx="6840760" cy="6766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zh-CN" altLang="en-US" dirty="0" smtClean="0"/>
              <a:t>用</a:t>
            </a:r>
            <a:r>
              <a:rPr lang="zh-CN" altLang="en-US" dirty="0" smtClean="0">
                <a:solidFill>
                  <a:srgbClr val="FF0000"/>
                </a:solidFill>
              </a:rPr>
              <a:t>方差</a:t>
            </a:r>
            <a:r>
              <a:rPr lang="zh-CN" altLang="en-US" dirty="0" smtClean="0"/>
              <a:t>来反映随机变量取值的离散程度。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53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7" grpId="0"/>
      <p:bldP spid="38" grpId="0"/>
      <p:bldP spid="39" grpId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方差的引入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736712"/>
            <a:ext cx="5896644" cy="1471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649" y="3262142"/>
            <a:ext cx="5380769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11760" y="4725144"/>
                <a:ext cx="5040560" cy="1101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 smtClean="0"/>
                  <a:t>用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32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sz="3200" b="0" i="1" smtClean="0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32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200" dirty="0" smtClean="0"/>
                  <a:t>定义</a:t>
                </a:r>
                <a:endParaRPr lang="en-US" altLang="zh-CN" sz="3200" dirty="0" smtClean="0"/>
              </a:p>
              <a:p>
                <a:r>
                  <a:rPr lang="zh-CN" altLang="en-US" sz="3200" dirty="0" smtClean="0"/>
                  <a:t>离散型随机变量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zh-CN" altLang="en-US" sz="3200" dirty="0" smtClean="0"/>
                  <a:t>的方差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725144"/>
                <a:ext cx="5040560" cy="1101135"/>
              </a:xfrm>
              <a:prstGeom prst="rect">
                <a:avLst/>
              </a:prstGeom>
              <a:blipFill rotWithShape="0">
                <a:blip r:embed="rId4"/>
                <a:stretch>
                  <a:fillRect l="-3148" t="-6077" b="-16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48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方差的定义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是一个随机变量，若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𝑬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存在，则称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𝑬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方差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(variance)</a:t>
                </a:r>
                <a:r>
                  <a:rPr lang="zh-CN" altLang="en-US" dirty="0" smtClean="0"/>
                  <a:t>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或者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/>
                      </a:rPr>
                      <m:t>𝐕𝐚𝐫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dirty="0" smtClean="0"/>
                  <a:t>，即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𝐕𝐚𝐫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𝑬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 algn="ctr">
                  <a:buNone/>
                </a:pPr>
                <a:endParaRPr lang="en-US" altLang="zh-CN" dirty="0" smtClean="0"/>
              </a:p>
              <a:p>
                <a:r>
                  <a:rPr lang="zh-CN" altLang="en-US" dirty="0" smtClean="0"/>
                  <a:t>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𝑫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</m:d>
                      </m:e>
                    </m:rad>
                  </m:oMath>
                </a14:m>
                <a:r>
                  <a:rPr lang="zh-CN" altLang="en-US" dirty="0" smtClean="0"/>
                  <a:t>为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标准差</a:t>
                </a:r>
                <a:r>
                  <a:rPr lang="zh-CN" altLang="en-US" dirty="0" smtClean="0"/>
                  <a:t>或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均方差（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standard deviation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dirty="0" smtClean="0"/>
                  <a:t>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014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方差的简便计算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3140968"/>
            <a:ext cx="791000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证：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55776" y="1772816"/>
                <a:ext cx="4032448" cy="578685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1772816"/>
                <a:ext cx="4032448" cy="5786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403648" y="3140968"/>
                <a:ext cx="6552728" cy="1812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/>
                                    </a:rPr>
                                    <m:t>𝑋</m:t>
                                  </m:r>
                                  <m:r>
                                    <a:rPr lang="en-US" altLang="zh-CN" sz="28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/>
                            </a:rPr>
                            <m:t>−2</m:t>
                          </m:r>
                          <m:r>
                            <a:rPr lang="en-US" altLang="zh-CN" sz="28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/>
                            </a:rPr>
                            <m:t>⋅</m:t>
                          </m:r>
                          <m:r>
                            <a:rPr lang="en-US" altLang="zh-CN" sz="2800" b="0" i="1" smtClean="0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−2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⋅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140968"/>
                <a:ext cx="6552728" cy="18120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03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假设随机变量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为常数，则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假设随机变量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依概率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/</m:t>
                    </m:r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取值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𝒌𝑬</m:t>
                    </m:r>
                    <m:r>
                      <a:rPr lang="en-US" altLang="zh-CN" b="1" i="1" dirty="0" smtClean="0">
                        <a:latin typeface="Cambria Math"/>
                      </a:rPr>
                      <m:t>[</m:t>
                    </m:r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  <m:r>
                      <a:rPr lang="en-US" altLang="zh-CN" b="1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依概率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/</m:t>
                    </m:r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取值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直觉上而言，当随机变量取值越接近期望，方差越小；反之方差越大。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94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方差的性质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为常数，则有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𝑪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为随机变量，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/>
                  <a:t>为</a:t>
                </a:r>
                <a:r>
                  <a:rPr lang="zh-CN" altLang="en-US" dirty="0" smtClean="0"/>
                  <a:t>常数，则有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𝑪𝑿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𝑪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/>
                  <a:t>特别</a:t>
                </a:r>
                <a:r>
                  <a:rPr lang="zh-CN" altLang="en-US" dirty="0" smtClean="0"/>
                  <a:t>地，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99792" y="5138028"/>
            <a:ext cx="4032448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方差是否具有线性性质？</a:t>
            </a:r>
            <a:endParaRPr lang="en-US" altLang="zh-CN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90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协方差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定义随机变量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间的协方差</a:t>
                </a:r>
                <a:r>
                  <a:rPr lang="en-US" altLang="zh-CN" dirty="0" smtClean="0"/>
                  <a:t>(covariance)</a:t>
                </a:r>
                <a:r>
                  <a:rPr lang="zh-CN" altLang="en-US" dirty="0" smtClean="0"/>
                  <a:t>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0" smtClean="0">
                          <a:latin typeface="Cambria Math"/>
                        </a:rPr>
                        <m:t>𝐜𝐨𝐯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𝒀</m:t>
                              </m:r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</a:rPr>
                                    <m:t>𝒀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𝑬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[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𝑿𝒀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]−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⋅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𝑬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[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𝒀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altLang="zh-CN" sz="3200" dirty="0" smtClean="0"/>
              </a:p>
              <a:p>
                <a:pPr marL="0" indent="0">
                  <a:buNone/>
                </a:pPr>
                <a:r>
                  <a:rPr lang="zh-CN" altLang="en-US" sz="3200" dirty="0" smtClean="0"/>
                  <a:t>特别地，</a:t>
                </a:r>
                <a14:m>
                  <m:oMath xmlns:m="http://schemas.openxmlformats.org/officeDocument/2006/math">
                    <m:r>
                      <a:rPr lang="en-US" altLang="zh-CN" sz="3200" b="1" i="0" dirty="0">
                        <a:latin typeface="Cambria Math"/>
                      </a:rPr>
                      <m:t>𝐜𝐨</m:t>
                    </m:r>
                    <m:r>
                      <a:rPr lang="en-US" altLang="zh-CN" sz="3200" b="1" i="0" dirty="0" smtClean="0">
                        <a:latin typeface="Cambria Math"/>
                      </a:rPr>
                      <m:t>𝐯</m:t>
                    </m:r>
                    <m:d>
                      <m:d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dirty="0" smtClean="0">
                            <a:latin typeface="Cambria Math"/>
                          </a:rPr>
                          <m:t>𝑿</m:t>
                        </m:r>
                        <m:r>
                          <a:rPr lang="en-US" altLang="zh-CN" sz="3200" b="1" i="1" dirty="0" smtClean="0">
                            <a:latin typeface="Cambria Math"/>
                          </a:rPr>
                          <m:t>,</m:t>
                        </m:r>
                        <m:r>
                          <a:rPr lang="en-US" altLang="zh-CN" sz="3200" b="1" i="1" dirty="0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sz="3200" b="1" i="1" dirty="0" smtClean="0">
                        <a:latin typeface="Cambria Math"/>
                      </a:rPr>
                      <m:t>=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dirty="0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sz="3200" b="1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sz="3200" i="1" dirty="0" smtClean="0"/>
              </a:p>
              <a:p>
                <a:pPr marL="0" indent="0">
                  <a:buNone/>
                </a:pPr>
                <a:endParaRPr lang="en-US" altLang="zh-CN" sz="3200" dirty="0"/>
              </a:p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±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+</m:t>
                    </m:r>
                    <m:r>
                      <a:rPr lang="en-US" altLang="zh-CN" sz="3200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±</m:t>
                    </m:r>
                    <m:r>
                      <a:rPr lang="en-US" altLang="zh-CN" sz="3200" b="1" i="1" smtClean="0">
                        <a:latin typeface="Cambria Math"/>
                      </a:rPr>
                      <m:t>𝟐</m:t>
                    </m:r>
                    <m:r>
                      <a:rPr lang="en-US" altLang="zh-CN" sz="3200" b="1" i="0" smtClean="0">
                        <a:latin typeface="Cambria Math"/>
                      </a:rPr>
                      <m:t>𝐜𝐨𝐯</m:t>
                    </m:r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𝑿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𝒀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sz="32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945" t="-2171" r="-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742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协方差的基本性质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𝒄</m:t>
                    </m:r>
                  </m:oMath>
                </a14:m>
                <a:r>
                  <a:rPr lang="zh-CN" altLang="en-US" dirty="0" smtClean="0"/>
                  <a:t>为常数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𝐜𝐨𝐯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𝒂𝑿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𝒃𝒀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𝒂𝒃</m:t>
                    </m:r>
                    <m:r>
                      <a:rPr lang="en-US" altLang="zh-CN" b="1" i="0" smtClean="0">
                        <a:latin typeface="Cambria Math"/>
                      </a:rPr>
                      <m:t>𝐜𝐨𝐯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𝒂</m:t>
                    </m:r>
                    <m:r>
                      <a:rPr lang="en-US" altLang="zh-CN" b="1" i="1" dirty="0" smtClean="0">
                        <a:latin typeface="Cambria Math"/>
                      </a:rPr>
                      <m:t>,</m:t>
                    </m:r>
                    <m:r>
                      <a:rPr lang="en-US" altLang="zh-CN" b="1" i="1" dirty="0" smtClean="0">
                        <a:latin typeface="Cambria Math"/>
                      </a:rPr>
                      <m:t>𝒃</m:t>
                    </m:r>
                  </m:oMath>
                </a14:m>
                <a:r>
                  <a:rPr lang="zh-CN" altLang="en-US" dirty="0" smtClean="0"/>
                  <a:t>为常数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1" i="0" dirty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𝐗</m:t>
                            </m:r>
                          </m:e>
                          <m:sub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0" dirty="0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𝐗</m:t>
                            </m:r>
                          </m:e>
                          <m:sub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0" dirty="0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0" dirty="0" smtClean="0">
                            <a:latin typeface="Cambria Math"/>
                          </a:rPr>
                          <m:t>𝐘</m:t>
                        </m:r>
                      </m:e>
                    </m:d>
                    <m:r>
                      <a:rPr lang="en-US" altLang="zh-CN" b="1" i="0" dirty="0" smtClean="0">
                        <a:latin typeface="Cambria Math"/>
                      </a:rPr>
                      <m:t>=</m:t>
                    </m:r>
                    <m:r>
                      <a:rPr lang="en-US" altLang="zh-CN" b="1" i="0" dirty="0" smtClean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𝐗</m:t>
                            </m:r>
                          </m:e>
                          <m:sub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0" dirty="0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0" dirty="0" smtClean="0">
                            <a:latin typeface="Cambria Math"/>
                          </a:rPr>
                          <m:t>𝐘</m:t>
                        </m:r>
                      </m:e>
                    </m:d>
                    <m:r>
                      <a:rPr lang="en-US" altLang="zh-CN" b="1" i="0" dirty="0" smtClean="0">
                        <a:latin typeface="Cambria Math"/>
                      </a:rPr>
                      <m:t>+</m:t>
                    </m:r>
                    <m:r>
                      <a:rPr lang="en-US" altLang="zh-CN" b="1" i="0" dirty="0" smtClean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𝐗</m:t>
                            </m:r>
                          </m:e>
                          <m:sub>
                            <m:r>
                              <a:rPr lang="en-US" altLang="zh-CN" b="1" i="0" dirty="0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0" dirty="0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0" dirty="0" smtClean="0">
                            <a:latin typeface="Cambria Math"/>
                          </a:rPr>
                          <m:t>𝐘</m:t>
                        </m:r>
                      </m:e>
                    </m:d>
                  </m:oMath>
                </a14:m>
                <a:endParaRPr lang="en-US" altLang="zh-CN" b="1" dirty="0" smtClean="0"/>
              </a:p>
              <a:p>
                <a:pPr marL="0" indent="0">
                  <a:buNone/>
                </a:pPr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544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协方差的性质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独立，则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>
                          <a:latin typeface="Cambria Math"/>
                        </a:rPr>
                        <m:t>𝐜𝐨𝐯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dirty="0" smtClean="0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altLang="zh-CN" i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亦即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𝑿𝒀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⋅</m:t>
                      </m:r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因此，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𝑿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±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sz="2800" i="1">
                          <a:latin typeface="Cambria Math"/>
                        </a:rPr>
                        <m:t>=</m:t>
                      </m:r>
                      <m:r>
                        <a:rPr lang="en-US" altLang="zh-CN" sz="2800" i="1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2800" i="1">
                          <a:latin typeface="Cambria Math"/>
                        </a:rPr>
                        <m:t>+</m:t>
                      </m:r>
                      <m:r>
                        <a:rPr lang="en-US" altLang="zh-CN" sz="2800" i="1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 smtClean="0"/>
                  <a:t>注：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𝐜𝐨𝐯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不意味着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独立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4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随机变量和的方差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对于有限个随机变量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dirty="0" smtClean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𝑫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𝒋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b>
                        <m:sup/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𝐜𝐨𝐯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特别地，若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两两独立</a:t>
                </a:r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i="1">
                              <a:latin typeface="Cambria Math"/>
                            </a:rPr>
                            <m:t>𝑫</m:t>
                          </m:r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884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切比雪夫</a:t>
            </a:r>
            <a:r>
              <a:rPr lang="en-US" altLang="zh-CN" dirty="0" smtClean="0"/>
              <a:t>(Chebyshev)</a:t>
            </a:r>
            <a:r>
              <a:rPr lang="zh-CN" altLang="en-US" dirty="0" smtClean="0"/>
              <a:t>不等式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5903568" cy="4495800"/>
              </a:xfrm>
            </p:spPr>
            <p:txBody>
              <a:bodyPr/>
              <a:lstStyle/>
              <a:p>
                <a:r>
                  <a:rPr lang="zh-CN" altLang="en-US" dirty="0" smtClean="0"/>
                  <a:t>对于任意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CN" dirty="0" smtClean="0"/>
                  <a:t/>
                </a:r>
                <a:br>
                  <a:rPr lang="en-US" altLang="zh-CN" dirty="0" smtClean="0"/>
                </a:b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  <m:r>
                          <a:rPr lang="en-US" altLang="zh-CN" b="1" i="1" smtClean="0">
                            <a:latin typeface="Cambria Math"/>
                          </a:rPr>
                          <m:t>≥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𝑫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证明：应用马尔可夫不等式，有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i="1">
                              <a:latin typeface="Cambria Math"/>
                            </a:rPr>
                            <m:t>≥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𝒂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𝑬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/>
                            </a:rPr>
                            <m:t>≥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𝑿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𝑬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𝑿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)/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5903568" cy="4495800"/>
              </a:xfrm>
              <a:blipFill rotWithShape="0">
                <a:blip r:embed="rId2"/>
                <a:stretch>
                  <a:fillRect l="-2273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654221"/>
            <a:ext cx="2452687" cy="353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156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23528" y="1600200"/>
                <a:ext cx="8442520" cy="4495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800" dirty="0" smtClean="0"/>
                  <a:t>抛一枚匀质硬币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2800" dirty="0" smtClean="0"/>
                  <a:t>次，考虑出现至少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𝟑</m:t>
                    </m:r>
                    <m:r>
                      <a:rPr lang="en-US" altLang="zh-CN" sz="2800" b="1" i="1" smtClean="0">
                        <a:latin typeface="Cambria Math"/>
                      </a:rPr>
                      <m:t>𝒏</m:t>
                    </m:r>
                    <m:r>
                      <a:rPr lang="en-US" altLang="zh-CN" sz="2800" b="1" i="1" smtClean="0">
                        <a:latin typeface="Cambria Math"/>
                      </a:rPr>
                      <m:t>/</m:t>
                    </m:r>
                    <m:r>
                      <a:rPr lang="en-US" altLang="zh-CN" sz="2800" b="1" i="1" smtClean="0">
                        <a:latin typeface="Cambria Math"/>
                      </a:rPr>
                      <m:t>𝟒</m:t>
                    </m:r>
                  </m:oMath>
                </a14:m>
                <a:r>
                  <a:rPr lang="zh-CN" altLang="en-US" sz="2800" dirty="0" smtClean="0"/>
                  <a:t>次正面向上的概率（用切比雪夫不等式）</a:t>
                </a:r>
                <a:endParaRPr lang="en-US" altLang="zh-CN" sz="2800" dirty="0" smtClean="0"/>
              </a:p>
              <a:p>
                <a:r>
                  <a:rPr lang="zh-CN" altLang="en-US" sz="2800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  <m:r>
                      <a:rPr lang="en-US" altLang="zh-CN" sz="2800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sz="2800" dirty="0" smtClean="0"/>
                  <a:t> 正面向上的次数</a:t>
                </a:r>
                <a:r>
                  <a:rPr lang="en-US" altLang="zh-CN" sz="2800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𝑿</m:t>
                    </m:r>
                    <m:r>
                      <a:rPr lang="en-US" altLang="zh-CN" sz="2800" b="1" i="1" smtClean="0">
                        <a:latin typeface="Cambria Math"/>
                      </a:rPr>
                      <m:t>∼</m:t>
                    </m:r>
                    <m:r>
                      <a:rPr lang="en-US" altLang="zh-CN" sz="2800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800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/>
                      </a:rPr>
                      <m:t>𝑬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𝑿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)=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𝒏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/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𝟐</m:t>
                    </m:r>
                  </m:oMath>
                </a14:m>
                <a:endParaRPr lang="en-US" altLang="zh-CN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zh-CN" altLang="en-US" sz="2800" b="1" i="1" smtClean="0">
                                  <a:latin typeface="Cambria Math"/>
                                </a:rPr>
                                <m:t>第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zh-CN" altLang="en-US" sz="2800" b="1" i="1" smtClean="0">
                                  <a:latin typeface="Cambria Math"/>
                                </a:rPr>
                                <m:t>次</m:t>
                              </m:r>
                              <m:r>
                                <a:rPr lang="zh-CN" altLang="en-US" sz="2800" i="1">
                                  <a:latin typeface="Cambria Math"/>
                                </a:rPr>
                                <m:t>正面</m:t>
                              </m:r>
                              <m:r>
                                <a:rPr lang="zh-CN" altLang="en-US" sz="2800" i="1" smtClean="0">
                                  <a:latin typeface="Cambria Math"/>
                                </a:rPr>
                                <m:t>向上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                    </m:t>
                              </m:r>
                              <m:r>
                                <a:rPr lang="zh-CN" altLang="en-US" sz="2800" i="1">
                                  <a:latin typeface="Cambria Math"/>
                                </a:rPr>
                                <m:t>否则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8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800" b="1" i="1" smtClean="0">
                              <a:latin typeface="Cambria Math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𝑫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≥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≥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𝑫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23528" y="1600200"/>
                <a:ext cx="8442520" cy="4495800"/>
              </a:xfrm>
              <a:blipFill rotWithShape="0">
                <a:blip r:embed="rId2"/>
                <a:stretch>
                  <a:fillRect l="-1516" t="-2442" r="-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58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切比雪夫不等式的应用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切比雪夫不等式给出了随机变量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的分布未知情况下，事件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𝑬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</m:d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𝝐</m:t>
                    </m:r>
                    <m:r>
                      <a:rPr lang="en-US" altLang="zh-CN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dirty="0" smtClean="0"/>
                  <a:t>的概率的一种估计方法。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例：设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𝝁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dirty="0" smtClean="0"/>
                  <a:t>，在不等式中取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𝝐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𝟒</m:t>
                    </m:r>
                    <m:r>
                      <a:rPr lang="en-US" altLang="zh-CN" b="1" i="1" smtClean="0">
                        <a:latin typeface="Cambria Math"/>
                      </a:rPr>
                      <m:t>𝝈</m:t>
                    </m:r>
                  </m:oMath>
                </a14:m>
                <a:r>
                  <a:rPr lang="zh-CN" altLang="en-US" dirty="0" smtClean="0"/>
                  <a:t>，则有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≥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𝟗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𝟖𝟖𝟖𝟗</m:t>
                      </m:r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𝝁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</a:rPr>
                            <m:t>&lt;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𝝈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≥</m:t>
                      </m:r>
                      <m:r>
                        <a:rPr lang="en-US" altLang="zh-CN" i="1">
                          <a:latin typeface="Cambria Math"/>
                        </a:rPr>
                        <m:t>𝟏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𝟏𝟔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𝟎</m:t>
                      </m:r>
                      <m:r>
                        <a:rPr lang="en-US" altLang="zh-CN" i="1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𝟗𝟑𝟕𝟓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 r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969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典型离散分布的方差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CN" b="1" dirty="0" smtClean="0"/>
                  <a:t>0-1</a:t>
                </a:r>
                <a:r>
                  <a:rPr lang="zh-CN" altLang="en-US" b="1" dirty="0" smtClean="0"/>
                  <a:t>分布：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0" smtClean="0">
                        <a:latin typeface="Cambria Math"/>
                      </a:rPr>
                      <m:t> </m:t>
                    </m:r>
                    <m:r>
                      <a:rPr lang="en-US" altLang="zh-CN" b="1" i="0" smtClean="0">
                        <a:latin typeface="Cambria Math"/>
                      </a:rPr>
                      <m:t>𝟎</m:t>
                    </m:r>
                    <m:r>
                      <a:rPr lang="en-US" altLang="zh-CN" b="1" i="0" smtClean="0">
                        <a:latin typeface="Cambria Math"/>
                      </a:rPr>
                      <m:t>&lt;</m:t>
                    </m:r>
                    <m:r>
                      <a:rPr lang="en-US" altLang="zh-CN" i="1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直接计算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二项分布：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∼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,</m:t>
                        </m:r>
                        <m:r>
                          <a:rPr lang="en-US" altLang="zh-CN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>
                        <a:latin typeface="Cambria Math"/>
                      </a:rPr>
                      <m:t> </m:t>
                    </m:r>
                    <m:r>
                      <a:rPr lang="en-US" altLang="zh-CN">
                        <a:latin typeface="Cambria Math"/>
                      </a:rPr>
                      <m:t>𝟎</m:t>
                    </m:r>
                    <m:r>
                      <a:rPr lang="en-US" altLang="zh-CN">
                        <a:latin typeface="Cambria Math"/>
                      </a:rPr>
                      <m:t>&lt;</m:t>
                    </m:r>
                    <m:r>
                      <a:rPr lang="en-US" altLang="zh-CN" i="1">
                        <a:latin typeface="Cambria Math"/>
                      </a:rPr>
                      <m:t>𝒑</m:t>
                    </m:r>
                    <m:r>
                      <a:rPr lang="en-US" altLang="zh-CN" i="1">
                        <a:latin typeface="Cambria Math"/>
                      </a:rPr>
                      <m:t>&lt;</m:t>
                    </m:r>
                    <m:r>
                      <a:rPr lang="en-US" altLang="zh-CN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𝒏</m:t>
                      </m:r>
                      <m:r>
                        <a:rPr lang="en-US" altLang="zh-CN" i="1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𝒑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引入</a:t>
                </a:r>
                <a:r>
                  <a:rPr lang="en-US" altLang="zh-CN" dirty="0" smtClean="0"/>
                  <a:t>0-1</a:t>
                </a:r>
                <a:r>
                  <a:rPr lang="zh-CN" altLang="en-US" dirty="0" smtClean="0"/>
                  <a:t>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指示事件是否发生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根据独立性得，</a:t>
                </a:r>
                <a:endParaRPr lang="en-US" altLang="zh-CN" dirty="0" smtClean="0"/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𝑫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𝒏𝒑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33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典型离散分布的方差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泊松分布</a:t>
                </a:r>
                <a:r>
                  <a:rPr lang="en-US" altLang="zh-CN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𝝀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𝝀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</m:oMath>
                </a14:m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几何分布</a:t>
                </a:r>
                <a:r>
                  <a:rPr lang="en-US" altLang="zh-CN" dirty="0" smtClean="0"/>
                  <a:t>: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𝑮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lvl="1"/>
                <a:r>
                  <a:rPr lang="zh-CN" altLang="en-US" dirty="0"/>
                  <a:t>方</a:t>
                </a:r>
                <a:r>
                  <a:rPr lang="zh-CN" altLang="en-US" dirty="0" smtClean="0"/>
                  <a:t>法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：利用公式直接计算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，再计算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方法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：利用条件期望</a:t>
                </a:r>
                <a:r>
                  <a:rPr lang="en-US" altLang="zh-CN" dirty="0" smtClean="0"/>
                  <a:t>+</a:t>
                </a:r>
                <a:r>
                  <a:rPr lang="zh-CN" altLang="en-US" dirty="0" smtClean="0"/>
                  <a:t>无记忆性</a:t>
                </a:r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3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1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862CD-7F8D-4B1B-AD5E-3F825208A196}" type="slidenum">
              <a:rPr lang="zh-CN" altLang="en-US" smtClean="0"/>
              <a:pPr/>
              <a:t>34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67544" y="404664"/>
            <a:ext cx="3528392" cy="523220"/>
          </a:xfrm>
          <a:prstGeom prst="rect">
            <a:avLst/>
          </a:prstGeom>
          <a:noFill/>
          <a:ln w="19050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0000FF"/>
                </a:solidFill>
              </a:rPr>
              <a:t>再探：票券收集问题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172" y="260649"/>
            <a:ext cx="1821374" cy="2664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25255"/>
            <a:ext cx="1839054" cy="2672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某品牌的干脆面每包均含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种卡片中的某一种（等可能）。某小朋友欲收集齐这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种卡片，需要购买多少包干脆面？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blipFill rotWithShape="0">
                <a:blip r:embed="rId4"/>
                <a:stretch>
                  <a:fillRect l="-2564" t="-3691" r="-10128" b="-8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1601211" y="3183359"/>
                <a:ext cx="56070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: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从拥有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i="1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种卡片到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种购买的包数</a:t>
                </a:r>
                <a:endParaRPr lang="zh-CN" altLang="en-US" sz="2400" dirty="0">
                  <a:solidFill>
                    <a:srgbClr val="090807"/>
                  </a:solidFill>
                </a:endParaRPr>
              </a:p>
            </p:txBody>
          </p:sp>
        </mc:Choice>
        <mc:Fallback xmlns="">
          <p:sp>
            <p:nvSpPr>
              <p:cNvPr id="10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1211" y="3183359"/>
                <a:ext cx="560704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741" t="-14474" r="-979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744472" y="3682139"/>
                <a:ext cx="5006050" cy="5345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服从参数为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的几何分布</a:t>
                </a:r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472" y="3682139"/>
                <a:ext cx="5006050" cy="534570"/>
              </a:xfrm>
              <a:prstGeom prst="rect">
                <a:avLst/>
              </a:prstGeom>
              <a:blipFill rotWithShape="0">
                <a:blip r:embed="rId6"/>
                <a:stretch>
                  <a:fillRect l="-122" r="-3167" b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1303603" y="4399357"/>
                <a:ext cx="7300845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nary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den>
                          </m:f>
                        </m:e>
                      </m:nary>
                      <m:r>
                        <a:rPr lang="en-US" altLang="zh-CN" sz="2400" b="0" i="0" smtClean="0">
                          <a:latin typeface="Cambria Math"/>
                        </a:rPr>
                        <m:t>=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𝑯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603" y="4399357"/>
                <a:ext cx="7300845" cy="8298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23528" y="3212976"/>
            <a:ext cx="1296144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70C0"/>
                </a:solidFill>
              </a:rPr>
              <a:t>期望分析：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07704" y="5640359"/>
                <a:ext cx="5007406" cy="5232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  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的尾部分布如何？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5640359"/>
                <a:ext cx="5007406" cy="523220"/>
              </a:xfrm>
              <a:prstGeom prst="rect">
                <a:avLst/>
              </a:prstGeom>
              <a:blipFill rotWithShape="0">
                <a:blip r:embed="rId8"/>
                <a:stretch>
                  <a:fillRect t="-10465" r="-2436" b="-3255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53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0" grpId="0" autoUpdateAnimBg="0"/>
      <p:bldP spid="12" grpId="0"/>
      <p:bldP spid="14" grpId="0"/>
      <p:bldP spid="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862CD-7F8D-4B1B-AD5E-3F825208A196}" type="slidenum">
              <a:rPr lang="zh-CN" altLang="en-US" smtClean="0"/>
              <a:pPr/>
              <a:t>35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67544" y="404664"/>
            <a:ext cx="3528392" cy="523220"/>
          </a:xfrm>
          <a:prstGeom prst="rect">
            <a:avLst/>
          </a:prstGeom>
          <a:noFill/>
          <a:ln w="19050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0000FF"/>
                </a:solidFill>
              </a:rPr>
              <a:t>再探：票券收集问题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172" y="260649"/>
            <a:ext cx="1821374" cy="2664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25255"/>
            <a:ext cx="1839054" cy="2672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某品牌的干脆面每包均含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种卡片中的某一种（等可能）。某小朋友欲收集齐这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种卡片，需要购买多少包干脆面？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blipFill rotWithShape="0">
                <a:blip r:embed="rId4"/>
                <a:stretch>
                  <a:fillRect l="-2564" t="-3691" r="-10128" b="-8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1601211" y="3183359"/>
                <a:ext cx="56070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: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从拥有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i="1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种卡片到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种购买的包数</a:t>
                </a:r>
                <a:endParaRPr lang="zh-CN" altLang="en-US" sz="2400" dirty="0">
                  <a:solidFill>
                    <a:srgbClr val="090807"/>
                  </a:solidFill>
                </a:endParaRPr>
              </a:p>
            </p:txBody>
          </p:sp>
        </mc:Choice>
        <mc:Fallback xmlns="">
          <p:sp>
            <p:nvSpPr>
              <p:cNvPr id="10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1211" y="3183359"/>
                <a:ext cx="560704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741" t="-14474" r="-979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020087" y="3682139"/>
                <a:ext cx="7532703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服从参数为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的几何分布</a:t>
                </a:r>
                <a:r>
                  <a:rPr lang="en-US" altLang="zh-CN" sz="2400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den>
                    </m:f>
                  </m:oMath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87" y="3682139"/>
                <a:ext cx="7532703" cy="603370"/>
              </a:xfrm>
              <a:prstGeom prst="rect">
                <a:avLst/>
              </a:prstGeom>
              <a:blipFill rotWithShape="0">
                <a:blip r:embed="rId6"/>
                <a:stretch>
                  <a:fillRect l="-81" t="-6061" b="-7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971600" y="4797152"/>
                <a:ext cx="6422014" cy="174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𝑫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≤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𝒏</m:t>
                                      </m:r>
                                    </m:num>
                                    <m:den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𝒏</m:t>
                                      </m:r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 smtClean="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𝝅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797152"/>
                <a:ext cx="6422014" cy="174208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23528" y="3212976"/>
            <a:ext cx="1296144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70C0"/>
                </a:solidFill>
              </a:rPr>
              <a:t>方差分析：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4293096"/>
                <a:ext cx="53285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/>
                  <a:t>注意到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sz="2400" b="1" i="0" smtClean="0">
                        <a:latin typeface="Cambria Math"/>
                      </a:rPr>
                      <m:t>, </m:t>
                    </m:r>
                    <m:r>
                      <a:rPr lang="en-US" altLang="zh-CN" sz="2400" b="1" i="1" smtClean="0">
                        <a:latin typeface="Cambria Math"/>
                      </a:rPr>
                      <m:t>𝒊</m:t>
                    </m:r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r>
                      <a:rPr lang="en-US" altLang="zh-CN" sz="2400" b="1" i="1" smtClean="0">
                        <a:latin typeface="Cambria Math"/>
                      </a:rPr>
                      <m:t>𝟏</m:t>
                    </m:r>
                    <m:r>
                      <a:rPr lang="en-US" altLang="zh-CN" sz="2400" b="1" i="1" smtClean="0">
                        <a:latin typeface="Cambria Math"/>
                      </a:rPr>
                      <m:t>,</m:t>
                    </m:r>
                    <m:r>
                      <a:rPr lang="en-US" altLang="zh-CN" sz="2400" b="1" i="1" smtClean="0">
                        <a:latin typeface="Cambria Math"/>
                      </a:rPr>
                      <m:t>𝟐</m:t>
                    </m:r>
                    <m:r>
                      <a:rPr lang="en-US" altLang="zh-CN" sz="2400" b="1" i="1" smtClean="0">
                        <a:latin typeface="Cambria Math"/>
                      </a:rPr>
                      <m:t>,…,</m:t>
                    </m:r>
                    <m:r>
                      <a:rPr lang="en-US" altLang="zh-CN" sz="24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2400" b="1" dirty="0" smtClean="0"/>
                  <a:t>是相互独立的，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293096"/>
                <a:ext cx="5328592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831" t="-9211" r="-7437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03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0" grpId="0" autoUpdateAnimBg="0"/>
      <p:bldP spid="12" grpId="0"/>
      <p:bldP spid="14" grpId="0"/>
      <p:bldP spid="4" grpId="0" animBg="1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862CD-7F8D-4B1B-AD5E-3F825208A196}" type="slidenum">
              <a:rPr lang="zh-CN" altLang="en-US" smtClean="0"/>
              <a:pPr/>
              <a:t>36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67544" y="404664"/>
            <a:ext cx="3528392" cy="523220"/>
          </a:xfrm>
          <a:prstGeom prst="rect">
            <a:avLst/>
          </a:prstGeom>
          <a:noFill/>
          <a:ln w="19050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0000FF"/>
                </a:solidFill>
              </a:rPr>
              <a:t>再探：票券收集问题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172" y="260649"/>
            <a:ext cx="1821374" cy="2664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25255"/>
            <a:ext cx="1839054" cy="2672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某品牌的干脆面每包均含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种卡片中的某一种（等可能）。某小朋友欲收集齐这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种卡片，需要购买多少包干脆面？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blipFill rotWithShape="0">
                <a:blip r:embed="rId4"/>
                <a:stretch>
                  <a:fillRect l="-2564" t="-3691" r="-10128" b="-8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1601211" y="3183359"/>
                <a:ext cx="56070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: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从拥有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i="1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种卡片到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种购买的包数</a:t>
                </a:r>
                <a:endParaRPr lang="zh-CN" altLang="en-US" sz="2400" dirty="0">
                  <a:solidFill>
                    <a:srgbClr val="090807"/>
                  </a:solidFill>
                </a:endParaRPr>
              </a:p>
            </p:txBody>
          </p:sp>
        </mc:Choice>
        <mc:Fallback xmlns="">
          <p:sp>
            <p:nvSpPr>
              <p:cNvPr id="10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1211" y="3183359"/>
                <a:ext cx="560704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741" t="-14474" r="-979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195736" y="3717032"/>
                <a:ext cx="4094647" cy="846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400" b="1" i="1" smtClean="0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𝝅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717032"/>
                <a:ext cx="4094647" cy="84677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23528" y="3212976"/>
            <a:ext cx="1296144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70C0"/>
                </a:solidFill>
              </a:rPr>
              <a:t>方差分析：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2972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3"/>
              <p:cNvSpPr txBox="1"/>
              <p:nvPr/>
            </p:nvSpPr>
            <p:spPr>
              <a:xfrm>
                <a:off x="2239591" y="5157192"/>
                <a:ext cx="4111382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𝒏𝑯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400" b="1" i="1" smtClean="0">
                              <a:latin typeface="Cambria Math"/>
                            </a:rPr>
                            <m:t>≥</m:t>
                          </m:r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𝒄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𝝅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𝟔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sz="2400" b="1" i="1" smtClean="0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91" y="5157192"/>
                <a:ext cx="4111382" cy="8298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43608" y="4695527"/>
                <a:ext cx="7128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/>
                  <a:t>根据切比雪夫不等式，对于任意的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</a:rPr>
                      <m:t>𝒄</m:t>
                    </m:r>
                    <m:r>
                      <a:rPr lang="en-US" altLang="zh-CN" sz="2400" b="1" i="1" smtClean="0">
                        <a:latin typeface="Cambria Math"/>
                      </a:rPr>
                      <m:t>&gt;</m:t>
                    </m:r>
                    <m:r>
                      <a:rPr lang="en-US" altLang="zh-CN" sz="24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sz="2400" b="1" dirty="0" smtClean="0"/>
                  <a:t>,</a:t>
                </a:r>
                <a:r>
                  <a:rPr lang="zh-CN" altLang="en-US" sz="2400" b="1" dirty="0" smtClean="0"/>
                  <a:t>有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695527"/>
                <a:ext cx="7128792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282" t="-17105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91680" y="6093296"/>
            <a:ext cx="6264696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思考题：利用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union bound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结果会如何？</a:t>
            </a:r>
            <a:endParaRPr lang="en-US" altLang="zh-CN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7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0" grpId="0" autoUpdateAnimBg="0"/>
      <p:bldP spid="14" grpId="0"/>
      <p:bldP spid="4" grpId="0" animBg="1"/>
      <p:bldP spid="13" grpId="0"/>
      <p:bldP spid="15" grpId="0"/>
      <p:bldP spid="16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6933</TotalTime>
  <Words>874</Words>
  <Application>Microsoft Office PowerPoint</Application>
  <PresentationFormat>全屏显示(4:3)</PresentationFormat>
  <Paragraphs>268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Tw Cen MT</vt:lpstr>
      <vt:lpstr>华文仿宋</vt:lpstr>
      <vt:lpstr>宋体</vt:lpstr>
      <vt:lpstr>Calibri</vt:lpstr>
      <vt:lpstr>Cambria Math</vt:lpstr>
      <vt:lpstr>Times New Roman</vt:lpstr>
      <vt:lpstr>Wingdings</vt:lpstr>
      <vt:lpstr>Wingdings 2</vt:lpstr>
      <vt:lpstr>中性</vt:lpstr>
      <vt:lpstr>Equation</vt:lpstr>
      <vt:lpstr>条件期望</vt:lpstr>
      <vt:lpstr>条件期望</vt:lpstr>
      <vt:lpstr>条件期望</vt:lpstr>
      <vt:lpstr>全期望公式</vt:lpstr>
      <vt:lpstr>例：几何分布的期望</vt:lpstr>
      <vt:lpstr>例：几何分布的期望</vt:lpstr>
      <vt:lpstr>条件期望的线性性质</vt:lpstr>
      <vt:lpstr>条件期望定义的随机变量</vt:lpstr>
      <vt:lpstr>例</vt:lpstr>
      <vt:lpstr>E[X ┤|  Y]的性质</vt:lpstr>
      <vt:lpstr>例：分支过程</vt:lpstr>
      <vt:lpstr>例：分支过程</vt:lpstr>
      <vt:lpstr>例：分支过程</vt:lpstr>
      <vt:lpstr>方差</vt:lpstr>
      <vt:lpstr>克服均值/期望的局限</vt:lpstr>
      <vt:lpstr>马尔可夫不等式</vt:lpstr>
      <vt:lpstr>例</vt:lpstr>
      <vt:lpstr>马尔可夫不等式的推广</vt:lpstr>
      <vt:lpstr>方差的引入</vt:lpstr>
      <vt:lpstr>方差的引入</vt:lpstr>
      <vt:lpstr>方差的定义</vt:lpstr>
      <vt:lpstr>方差的简便计算</vt:lpstr>
      <vt:lpstr>例</vt:lpstr>
      <vt:lpstr>方差的性质</vt:lpstr>
      <vt:lpstr>协方差</vt:lpstr>
      <vt:lpstr>协方差的基本性质</vt:lpstr>
      <vt:lpstr>协方差的性质</vt:lpstr>
      <vt:lpstr>随机变量和的方差</vt:lpstr>
      <vt:lpstr>切比雪夫(Chebyshev)不等式</vt:lpstr>
      <vt:lpstr>例</vt:lpstr>
      <vt:lpstr>切比雪夫不等式的应用</vt:lpstr>
      <vt:lpstr>典型离散分布的方差</vt:lpstr>
      <vt:lpstr>典型离散分布的方差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唐斌</cp:lastModifiedBy>
  <cp:revision>345</cp:revision>
  <dcterms:created xsi:type="dcterms:W3CDTF">2016-02-22T01:45:17Z</dcterms:created>
  <dcterms:modified xsi:type="dcterms:W3CDTF">2018-04-04T01:07:45Z</dcterms:modified>
</cp:coreProperties>
</file>