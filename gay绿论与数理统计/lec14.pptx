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8"/>
  </p:notesMasterIdLst>
  <p:handoutMasterIdLst>
    <p:handoutMasterId r:id="rId39"/>
  </p:handoutMasterIdLst>
  <p:sldIdLst>
    <p:sldId id="426" r:id="rId2"/>
    <p:sldId id="432" r:id="rId3"/>
    <p:sldId id="427" r:id="rId4"/>
    <p:sldId id="428" r:id="rId5"/>
    <p:sldId id="430" r:id="rId6"/>
    <p:sldId id="431" r:id="rId7"/>
    <p:sldId id="435" r:id="rId8"/>
    <p:sldId id="436" r:id="rId9"/>
    <p:sldId id="434" r:id="rId10"/>
    <p:sldId id="433" r:id="rId11"/>
    <p:sldId id="437" r:id="rId12"/>
    <p:sldId id="438" r:id="rId13"/>
    <p:sldId id="439" r:id="rId14"/>
    <p:sldId id="440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0" r:id="rId24"/>
    <p:sldId id="451" r:id="rId25"/>
    <p:sldId id="453" r:id="rId26"/>
    <p:sldId id="454" r:id="rId27"/>
    <p:sldId id="455" r:id="rId28"/>
    <p:sldId id="456" r:id="rId29"/>
    <p:sldId id="457" r:id="rId30"/>
    <p:sldId id="458" r:id="rId31"/>
    <p:sldId id="459" r:id="rId32"/>
    <p:sldId id="286" r:id="rId33"/>
    <p:sldId id="287" r:id="rId34"/>
    <p:sldId id="288" r:id="rId35"/>
    <p:sldId id="416" r:id="rId36"/>
    <p:sldId id="418" r:id="rId37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5020EA7-AAB4-417C-A648-FA046094BF27}">
          <p14:sldIdLst>
            <p14:sldId id="426"/>
            <p14:sldId id="432"/>
            <p14:sldId id="427"/>
            <p14:sldId id="428"/>
            <p14:sldId id="430"/>
            <p14:sldId id="431"/>
            <p14:sldId id="435"/>
            <p14:sldId id="436"/>
            <p14:sldId id="434"/>
            <p14:sldId id="433"/>
            <p14:sldId id="437"/>
            <p14:sldId id="438"/>
            <p14:sldId id="439"/>
          </p14:sldIdLst>
        </p14:section>
        <p14:section name="无标题节" id="{85496826-A4BF-4D7F-A4E7-560E9DCC7FC0}">
          <p14:sldIdLst>
            <p14:sldId id="440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</p14:sldIdLst>
        </p14:section>
        <p14:section name="无标题节" id="{8D5038DF-9FA2-4050-9698-D527DAF90793}">
          <p14:sldIdLst>
            <p14:sldId id="451"/>
            <p14:sldId id="453"/>
            <p14:sldId id="454"/>
            <p14:sldId id="455"/>
            <p14:sldId id="456"/>
            <p14:sldId id="457"/>
            <p14:sldId id="458"/>
            <p14:sldId id="459"/>
            <p14:sldId id="286"/>
            <p14:sldId id="287"/>
            <p14:sldId id="288"/>
            <p14:sldId id="416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17B"/>
    <a:srgbClr val="D6F4FE"/>
    <a:srgbClr val="D5F1FF"/>
    <a:srgbClr val="C1EAFF"/>
    <a:srgbClr val="FFFFCC"/>
    <a:srgbClr val="47DB1F"/>
    <a:srgbClr val="0FA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3772" autoAdjust="0"/>
  </p:normalViewPr>
  <p:slideViewPr>
    <p:cSldViewPr>
      <p:cViewPr varScale="1">
        <p:scale>
          <a:sx n="93" d="100"/>
          <a:sy n="93" d="100"/>
        </p:scale>
        <p:origin x="159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18.wmf"/><Relationship Id="rId7" Type="http://schemas.openxmlformats.org/officeDocument/2006/relationships/image" Target="../media/image28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37.wmf"/><Relationship Id="rId7" Type="http://schemas.openxmlformats.org/officeDocument/2006/relationships/image" Target="../media/image44.wmf"/><Relationship Id="rId2" Type="http://schemas.openxmlformats.org/officeDocument/2006/relationships/image" Target="../media/image36.wmf"/><Relationship Id="rId1" Type="http://schemas.openxmlformats.org/officeDocument/2006/relationships/image" Target="../media/image40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37.wmf"/><Relationship Id="rId7" Type="http://schemas.openxmlformats.org/officeDocument/2006/relationships/image" Target="../media/image45.wmf"/><Relationship Id="rId2" Type="http://schemas.openxmlformats.org/officeDocument/2006/relationships/image" Target="../media/image36.wmf"/><Relationship Id="rId1" Type="http://schemas.openxmlformats.org/officeDocument/2006/relationships/image" Target="../media/image54.wmf"/><Relationship Id="rId6" Type="http://schemas.openxmlformats.org/officeDocument/2006/relationships/image" Target="../media/image44.wmf"/><Relationship Id="rId5" Type="http://schemas.openxmlformats.org/officeDocument/2006/relationships/image" Target="../media/image55.wmf"/><Relationship Id="rId4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4" Type="http://schemas.openxmlformats.org/officeDocument/2006/relationships/image" Target="../media/image68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6" Type="http://schemas.openxmlformats.org/officeDocument/2006/relationships/image" Target="../media/image74.w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e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e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D7E2FF2-956C-4950-94A5-2274C76F24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3542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98DFC11-1EB5-4430-B657-8DE59385DA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920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DFC11-1EB5-4430-B657-8DE59385DA6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2222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DFC11-1EB5-4430-B657-8DE59385DA6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41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不做考试要求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DFC11-1EB5-4430-B657-8DE59385DA6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178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8DFC11-1EB5-4430-B657-8DE59385DA6A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91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单击以编辑母版副标题样式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D83072-7E88-4583-AD46-6838ACD4B5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819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E3E6-0983-44B1-B996-A6A3CCAE388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9033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227A0CE-ADA8-4B8D-9C45-967DAC488EF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410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4166442-AAD8-4488-96ED-EE49898A9DD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874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20F8788-C3D5-475F-9156-7B1036E8784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84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3ED99D-212D-41AA-A374-D7A10C24BE1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2441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9EFE22-9524-4831-9E9E-8300E4137A1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8248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43E592D-795C-4032-B67F-9C0AC28B358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6082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DA64F17-209F-4466-A40A-A67E6612E17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8105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86-7FDD-4F7F-BC96-EF800C1D70D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69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9065704-89B3-4BA0-80DD-C9891BF5CC6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4617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9065704-89B3-4BA0-80DD-C9891BF5CC6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273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3.wmf"/><Relationship Id="rId3" Type="http://schemas.openxmlformats.org/officeDocument/2006/relationships/audio" Target="../media/audio1.wav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8" Type="http://schemas.openxmlformats.org/officeDocument/2006/relationships/oleObject" Target="../embeddings/oleObject21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19" Type="http://schemas.openxmlformats.org/officeDocument/2006/relationships/image" Target="../media/image22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30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19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3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39.png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image" Target="../media/image410.png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45.bin"/><Relationship Id="rId21" Type="http://schemas.openxmlformats.org/officeDocument/2006/relationships/image" Target="../media/image65.png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png"/><Relationship Id="rId5" Type="http://schemas.openxmlformats.org/officeDocument/2006/relationships/image" Target="../media/image42.wmf"/><Relationship Id="rId4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78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6.wmf"/><Relationship Id="rId12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53.wmf"/><Relationship Id="rId5" Type="http://schemas.openxmlformats.org/officeDocument/2006/relationships/image" Target="../media/image35.wmf"/><Relationship Id="rId15" Type="http://schemas.openxmlformats.org/officeDocument/2006/relationships/image" Target="../media/image80.png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37.wmf"/><Relationship Id="rId1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20" Type="http://schemas.openxmlformats.org/officeDocument/2006/relationships/image" Target="../media/image86.png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41.wmf"/><Relationship Id="rId19" Type="http://schemas.openxmlformats.org/officeDocument/2006/relationships/image" Target="../media/image85.png"/><Relationship Id="rId4" Type="http://schemas.openxmlformats.org/officeDocument/2006/relationships/image" Target="../media/image54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4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9.png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6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3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94.png"/><Relationship Id="rId4" Type="http://schemas.openxmlformats.org/officeDocument/2006/relationships/image" Target="../media/image3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6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63.e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7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8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7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0.e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7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79.e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75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101.bin"/><Relationship Id="rId24" Type="http://schemas.openxmlformats.org/officeDocument/2006/relationships/image" Target="../media/image95.wmf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7.bin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85.e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假设检验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83072-7E88-4583-AD46-6838ACD4B539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27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8600" y="228600"/>
            <a:ext cx="8839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康奈尔大学某教授得到了</a:t>
            </a:r>
            <a:r>
              <a:rPr lang="en-US" altLang="zh-CN" sz="2800" dirty="0" smtClean="0"/>
              <a:t>12</a:t>
            </a:r>
            <a:r>
              <a:rPr lang="zh-CN" altLang="en-US" sz="2800" dirty="0" smtClean="0"/>
              <a:t>张夜间非法泊车的罚款单，</a:t>
            </a:r>
            <a:endParaRPr lang="en-US" altLang="zh-CN" sz="2800" dirty="0" smtClean="0"/>
          </a:p>
          <a:p>
            <a:pPr marL="514350" indent="-514350">
              <a:buAutoNum type="arabicParenBoth"/>
            </a:pPr>
            <a:r>
              <a:rPr lang="zh-CN" altLang="en-US" sz="2800" dirty="0" smtClean="0"/>
              <a:t>这</a:t>
            </a:r>
            <a:r>
              <a:rPr lang="en-US" altLang="zh-CN" sz="2800" dirty="0" smtClean="0"/>
              <a:t>12</a:t>
            </a:r>
            <a:r>
              <a:rPr lang="zh-CN" altLang="en-US" sz="2800" dirty="0" smtClean="0"/>
              <a:t>张罚款单都是星期二和星期四得到的，请问：他是否只需要在星期二和星期四租用一个车库就没事了？</a:t>
            </a:r>
            <a:endParaRPr lang="en-US" altLang="zh-CN" sz="2800" dirty="0" smtClean="0"/>
          </a:p>
          <a:p>
            <a:pPr marL="514350" indent="-514350">
              <a:buAutoNum type="arabicParenBoth"/>
            </a:pPr>
            <a:r>
              <a:rPr lang="zh-CN" altLang="en-US" sz="2800" dirty="0" smtClean="0"/>
              <a:t>若这</a:t>
            </a:r>
            <a:r>
              <a:rPr lang="en-US" altLang="zh-CN" sz="2800" dirty="0" smtClean="0"/>
              <a:t>12</a:t>
            </a:r>
            <a:r>
              <a:rPr lang="zh-CN" altLang="en-US" sz="2800" dirty="0" smtClean="0"/>
              <a:t>张罚款单没有一张是星期天得到的，能否保证他星期天不会收到罚款单？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28600" y="3048000"/>
                <a:ext cx="8763000" cy="328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AutoNum type="arabicParenBoth"/>
                </a:pPr>
                <a:r>
                  <a:rPr lang="zh-CN" altLang="en-US" sz="2800" dirty="0" smtClean="0"/>
                  <a:t>假定罚款单时间具有随机性，则</a:t>
                </a:r>
                <a:r>
                  <a:rPr lang="en-US" altLang="zh-CN" sz="2800" dirty="0" smtClean="0"/>
                  <a:t>12</a:t>
                </a:r>
                <a:r>
                  <a:rPr lang="zh-CN" altLang="en-US" sz="2800" dirty="0" smtClean="0"/>
                  <a:t>张罚款单全部都在星期二和星期四的概率为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（"/>
                            <m:endChr m:val="）"/>
                            <m:ctrlPr>
                              <a:rPr lang="zh-CN" alt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=0.0000003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2800" dirty="0" smtClean="0"/>
                  <a:t> 只有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r>
                  <a:rPr lang="zh-CN" altLang="en-US" sz="2800" dirty="0" smtClean="0"/>
                  <a:t>日对，所以即使对任意两天来说，这个概率仍然很小，因此，有理由认为警方是有其体系的。</a:t>
                </a:r>
                <a:endParaRPr lang="en-US" altLang="zh-CN" sz="2800" dirty="0" smtClean="0"/>
              </a:p>
              <a:p>
                <a:pPr marL="514350" indent="-514350">
                  <a:buAutoNum type="arabicParenBoth"/>
                </a:pPr>
                <a:r>
                  <a:rPr lang="zh-CN" altLang="en-US" sz="2800" dirty="0" smtClean="0"/>
                  <a:t>假定有随机性，此事件发生的概率是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zh-CN" altLang="en-US" sz="2800" dirty="0" smtClean="0"/>
                  <a:t>，近似于</a:t>
                </a:r>
                <a:r>
                  <a:rPr lang="en-US" altLang="zh-CN" sz="2800" dirty="0" smtClean="0"/>
                  <a:t>1/6</a:t>
                </a:r>
                <a:r>
                  <a:rPr lang="zh-CN" altLang="en-US" sz="2800" dirty="0" smtClean="0"/>
                  <a:t>，不可能有可靠的结论。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48000"/>
                <a:ext cx="8763000" cy="3280000"/>
              </a:xfrm>
              <a:prstGeom prst="rect">
                <a:avLst/>
              </a:prstGeom>
              <a:blipFill rotWithShape="0">
                <a:blip r:embed="rId2"/>
                <a:stretch>
                  <a:fillRect l="-1253" t="-2416" r="-1322" b="-4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83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 smtClean="0"/>
              <a:t>基本概念</a:t>
            </a:r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 smtClean="0"/>
              <a:t>正态总体均值的假设检验</a:t>
            </a:r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/>
              <a:t>正态</a:t>
            </a:r>
            <a:r>
              <a:rPr lang="zh-CN" altLang="en-US" sz="3200" dirty="0" smtClean="0"/>
              <a:t>总体方差的假设检验</a:t>
            </a:r>
            <a:endParaRPr lang="zh-CN" altLang="en-US" sz="3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34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何为</a:t>
            </a:r>
            <a:r>
              <a:rPr kumimoji="1" lang="zh-CN" altLang="en-US" dirty="0" smtClean="0">
                <a:latin typeface="楷体_GB2312" pitchFamily="49" charset="-122"/>
              </a:rPr>
              <a:t>假设检验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39542" y="1691670"/>
            <a:ext cx="77993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 smtClean="0">
                <a:latin typeface="+mn-ea"/>
                <a:ea typeface="+mn-ea"/>
              </a:rPr>
              <a:t>假设是</a:t>
            </a:r>
            <a:r>
              <a:rPr kumimoji="1" lang="zh-CN" altLang="en-US" sz="3200" b="1" dirty="0">
                <a:latin typeface="+mn-ea"/>
                <a:ea typeface="+mn-ea"/>
              </a:rPr>
              <a:t>指施加于一个或多个总体的概率分布或参数的假设</a:t>
            </a:r>
            <a:r>
              <a:rPr kumimoji="1" lang="en-US" altLang="zh-CN" sz="3200" b="1" dirty="0">
                <a:latin typeface="+mn-ea"/>
                <a:ea typeface="+mn-ea"/>
              </a:rPr>
              <a:t>. </a:t>
            </a:r>
            <a:r>
              <a:rPr kumimoji="1" lang="zh-CN" altLang="en-US" sz="3200" b="1" dirty="0">
                <a:latin typeface="+mn-ea"/>
                <a:ea typeface="+mn-ea"/>
              </a:rPr>
              <a:t>所作假设</a:t>
            </a:r>
            <a:r>
              <a:rPr kumimoji="1" lang="zh-CN" altLang="en-US" sz="3200" b="1" dirty="0" smtClean="0">
                <a:latin typeface="+mn-ea"/>
                <a:ea typeface="+mn-ea"/>
              </a:rPr>
              <a:t>可以</a:t>
            </a:r>
            <a:r>
              <a:rPr kumimoji="1" lang="zh-CN" altLang="en-US" sz="3200" b="1" dirty="0">
                <a:latin typeface="+mn-ea"/>
                <a:ea typeface="+mn-ea"/>
              </a:rPr>
              <a:t>被</a:t>
            </a:r>
            <a:r>
              <a:rPr kumimoji="1" lang="zh-CN" altLang="en-US" sz="3200" b="1" dirty="0" smtClean="0">
                <a:latin typeface="+mn-ea"/>
                <a:ea typeface="+mn-ea"/>
              </a:rPr>
              <a:t>接受或被拒绝</a:t>
            </a:r>
            <a:r>
              <a:rPr kumimoji="1" lang="en-US" altLang="zh-CN" sz="3200" b="1" dirty="0" smtClean="0">
                <a:latin typeface="+mn-ea"/>
                <a:ea typeface="+mn-ea"/>
              </a:rPr>
              <a:t>.</a:t>
            </a:r>
            <a:endParaRPr kumimoji="1" lang="en-US" altLang="zh-CN" sz="3200" b="1" dirty="0">
              <a:latin typeface="+mn-ea"/>
              <a:ea typeface="+mn-ea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57739" y="3352800"/>
            <a:ext cx="7971058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反证法思想：</a:t>
            </a:r>
            <a:endParaRPr kumimoji="1" lang="en-US" altLang="zh-CN" sz="2800" b="1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为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判断所作的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假设能否被接受</a:t>
            </a:r>
            <a:r>
              <a:rPr kumimoji="1" lang="en-US" altLang="zh-CN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, 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先假设其成立</a:t>
            </a:r>
            <a:r>
              <a:rPr kumimoji="1" lang="en-US" altLang="zh-CN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, 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然后从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总体中抽取样本</a:t>
            </a:r>
            <a:r>
              <a:rPr kumimoji="1" lang="en-US" altLang="zh-CN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, 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根据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样本的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取值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看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是否有</a:t>
            </a:r>
            <a:r>
              <a:rPr kumimoji="1" lang="zh-CN" altLang="en-US" sz="2800" b="1" dirty="0" smtClean="0">
                <a:solidFill>
                  <a:schemeClr val="accent2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不合理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的现象出现</a:t>
            </a:r>
            <a:r>
              <a:rPr kumimoji="1" lang="en-US" altLang="zh-CN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, 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最后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作出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接受或拒绝所作假设的决定</a:t>
            </a:r>
            <a:r>
              <a:rPr kumimoji="1" lang="en-US" altLang="zh-CN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.</a:t>
            </a:r>
          </a:p>
        </p:txBody>
      </p:sp>
      <p:sp>
        <p:nvSpPr>
          <p:cNvPr id="7" name="矩形 6"/>
          <p:cNvSpPr/>
          <p:nvPr/>
        </p:nvSpPr>
        <p:spPr>
          <a:xfrm>
            <a:off x="657739" y="592337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不合理：</a:t>
            </a:r>
            <a:endParaRPr kumimoji="1" lang="zh-CN" altLang="en-US" sz="3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209800" y="5968038"/>
            <a:ext cx="670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/>
              <a:t>小概率事件在一次试验中几乎不会发生</a:t>
            </a:r>
            <a:endParaRPr kumimoji="1"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7145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/>
      <p:bldP spid="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5</a:t>
            </a:fld>
            <a:endParaRPr lang="en-US" altLang="zh-CN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381000" y="1985959"/>
            <a:ext cx="2843989" cy="2643188"/>
            <a:chOff x="576" y="687"/>
            <a:chExt cx="2390" cy="1665"/>
          </a:xfrm>
        </p:grpSpPr>
        <p:sp>
          <p:nvSpPr>
            <p:cNvPr id="6" name="AutoShape 7"/>
            <p:cNvSpPr>
              <a:spLocks/>
            </p:cNvSpPr>
            <p:nvPr/>
          </p:nvSpPr>
          <p:spPr bwMode="auto">
            <a:xfrm>
              <a:off x="576" y="768"/>
              <a:ext cx="240" cy="1584"/>
            </a:xfrm>
            <a:prstGeom prst="leftBrace">
              <a:avLst>
                <a:gd name="adj1" fmla="val 5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913" y="687"/>
              <a:ext cx="1692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b="1" dirty="0">
                  <a:ea typeface="楷体_GB2312" pitchFamily="49" charset="-122"/>
                </a:rPr>
                <a:t>参数检验</a:t>
              </a:r>
            </a:p>
            <a:p>
              <a:pPr eaLnBrk="1" hangingPunct="1"/>
              <a:endParaRPr kumimoji="1" lang="en-US" altLang="zh-CN" b="1" dirty="0">
                <a:solidFill>
                  <a:schemeClr val="bg2"/>
                </a:solidFill>
                <a:ea typeface="楷体_GB2312" pitchFamily="49" charset="-122"/>
              </a:endParaRP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864" y="1666"/>
              <a:ext cx="210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b="1" i="1" dirty="0">
                  <a:solidFill>
                    <a:schemeClr val="bg1">
                      <a:lumMod val="50000"/>
                    </a:schemeClr>
                  </a:solidFill>
                  <a:ea typeface="楷体_GB2312" pitchFamily="49" charset="-122"/>
                </a:rPr>
                <a:t>非参数检验</a:t>
              </a:r>
              <a:endParaRPr kumimoji="1" lang="zh-CN" altLang="en-US" i="1" dirty="0">
                <a:solidFill>
                  <a:schemeClr val="bg1">
                    <a:lumMod val="50000"/>
                  </a:schemeClr>
                </a:solidFill>
                <a:ea typeface="楷体_GB2312" pitchFamily="49" charset="-122"/>
              </a:endParaRPr>
            </a:p>
          </p:txBody>
        </p:sp>
      </p:grpSp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2743200" y="1909759"/>
            <a:ext cx="6369050" cy="1189038"/>
            <a:chOff x="2304" y="708"/>
            <a:chExt cx="4012" cy="749"/>
          </a:xfrm>
        </p:grpSpPr>
        <p:sp>
          <p:nvSpPr>
            <p:cNvPr id="10" name="AutoShape 11"/>
            <p:cNvSpPr>
              <a:spLocks/>
            </p:cNvSpPr>
            <p:nvPr/>
          </p:nvSpPr>
          <p:spPr bwMode="auto">
            <a:xfrm>
              <a:off x="2304" y="76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2544" y="708"/>
              <a:ext cx="300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 b="1" dirty="0">
                  <a:ea typeface="楷体_GB2312" pitchFamily="49" charset="-122"/>
                </a:rPr>
                <a:t>总体均值</a:t>
              </a:r>
              <a:r>
                <a:rPr kumimoji="1" lang="en-US" altLang="zh-CN" sz="3200" b="1" dirty="0">
                  <a:ea typeface="楷体_GB2312" pitchFamily="49" charset="-122"/>
                </a:rPr>
                <a:t>,</a:t>
              </a:r>
              <a:r>
                <a:rPr kumimoji="1" lang="zh-CN" altLang="en-US" sz="3200" b="1" dirty="0"/>
                <a:t>总体方差的检验</a:t>
              </a: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2544" y="1092"/>
              <a:ext cx="37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 b="1" dirty="0"/>
                <a:t>双正态总体均值差</a:t>
              </a:r>
              <a:r>
                <a:rPr kumimoji="1" lang="en-US" altLang="zh-CN" sz="3200" b="1" dirty="0">
                  <a:ea typeface="楷体_GB2312" pitchFamily="49" charset="-122"/>
                </a:rPr>
                <a:t>,</a:t>
              </a:r>
              <a:r>
                <a:rPr kumimoji="1" lang="zh-CN" altLang="en-US" sz="3200" b="1" dirty="0">
                  <a:ea typeface="楷体_GB2312" pitchFamily="49" charset="-122"/>
                </a:rPr>
                <a:t>方差比的检验</a:t>
              </a:r>
            </a:p>
          </p:txBody>
        </p:sp>
      </p:grpSp>
      <p:grpSp>
        <p:nvGrpSpPr>
          <p:cNvPr id="13" name="Group 27"/>
          <p:cNvGrpSpPr>
            <a:grpSpLocks/>
          </p:cNvGrpSpPr>
          <p:nvPr/>
        </p:nvGrpSpPr>
        <p:grpSpPr bwMode="auto">
          <a:xfrm>
            <a:off x="3251168" y="3276600"/>
            <a:ext cx="3036888" cy="1195458"/>
            <a:chOff x="2304" y="1440"/>
            <a:chExt cx="1913" cy="1071"/>
          </a:xfrm>
        </p:grpSpPr>
        <p:sp>
          <p:nvSpPr>
            <p:cNvPr id="14" name="AutoShape 28"/>
            <p:cNvSpPr>
              <a:spLocks/>
            </p:cNvSpPr>
            <p:nvPr/>
          </p:nvSpPr>
          <p:spPr bwMode="auto">
            <a:xfrm>
              <a:off x="2304" y="1536"/>
              <a:ext cx="144" cy="864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/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2544" y="1440"/>
              <a:ext cx="1673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 b="1" i="1" dirty="0" smtClean="0">
                  <a:solidFill>
                    <a:schemeClr val="bg1">
                      <a:lumMod val="50000"/>
                    </a:schemeClr>
                  </a:solidFill>
                  <a:ea typeface="楷体_GB2312" pitchFamily="49" charset="-122"/>
                </a:rPr>
                <a:t>拟合优度检验</a:t>
              </a:r>
              <a:endParaRPr kumimoji="1" lang="zh-CN" altLang="en-US" sz="3200" b="1" i="1" dirty="0">
                <a:solidFill>
                  <a:schemeClr val="bg1">
                    <a:lumMod val="50000"/>
                  </a:schemeClr>
                </a:solidFill>
                <a:ea typeface="楷体_GB2312" pitchFamily="49" charset="-122"/>
              </a:endParaRP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2544" y="1987"/>
              <a:ext cx="141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 b="1" i="1" dirty="0" smtClean="0">
                  <a:solidFill>
                    <a:schemeClr val="bg1">
                      <a:lumMod val="50000"/>
                    </a:schemeClr>
                  </a:solidFill>
                  <a:ea typeface="楷体_GB2312" pitchFamily="49" charset="-122"/>
                </a:rPr>
                <a:t>独立性检验</a:t>
              </a:r>
              <a:endParaRPr kumimoji="1" lang="zh-CN" altLang="en-US" sz="3200" b="1" i="1" dirty="0">
                <a:solidFill>
                  <a:schemeClr val="bg1">
                    <a:lumMod val="50000"/>
                  </a:schemeClr>
                </a:solidFill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01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</a:rPr>
              <a:t>某产品出厂检验规定</a:t>
            </a:r>
            <a:r>
              <a:rPr kumimoji="1" lang="en-US" altLang="zh-CN" dirty="0">
                <a:latin typeface="+mn-ea"/>
              </a:rPr>
              <a:t>: </a:t>
            </a:r>
            <a:r>
              <a:rPr kumimoji="1" lang="zh-CN" altLang="en-US" dirty="0">
                <a:latin typeface="+mn-ea"/>
              </a:rPr>
              <a:t>次品率</a:t>
            </a:r>
            <a:r>
              <a:rPr kumimoji="1" lang="en-US" altLang="zh-CN" i="1" dirty="0">
                <a:latin typeface="+mn-ea"/>
              </a:rPr>
              <a:t>p</a:t>
            </a:r>
            <a:r>
              <a:rPr kumimoji="1" lang="zh-CN" altLang="en-US" dirty="0" smtClean="0">
                <a:latin typeface="+mn-ea"/>
              </a:rPr>
              <a:t>不超过</a:t>
            </a:r>
            <a:r>
              <a:rPr kumimoji="1" lang="en-US" altLang="zh-CN" dirty="0">
                <a:latin typeface="+mn-ea"/>
              </a:rPr>
              <a:t>4%</a:t>
            </a:r>
            <a:r>
              <a:rPr kumimoji="1" lang="zh-CN" altLang="en-US" dirty="0">
                <a:latin typeface="+mn-ea"/>
              </a:rPr>
              <a:t>才能出厂</a:t>
            </a:r>
            <a:r>
              <a:rPr kumimoji="1" lang="en-US" altLang="zh-CN" dirty="0">
                <a:latin typeface="+mn-ea"/>
              </a:rPr>
              <a:t>. </a:t>
            </a:r>
            <a:r>
              <a:rPr kumimoji="1" lang="zh-CN" altLang="en-US" dirty="0">
                <a:latin typeface="+mn-ea"/>
              </a:rPr>
              <a:t>现从一万件产品中</a:t>
            </a:r>
            <a:r>
              <a:rPr kumimoji="1" lang="zh-CN" altLang="en-US" dirty="0" smtClean="0">
                <a:latin typeface="+mn-ea"/>
              </a:rPr>
              <a:t>任意抽查</a:t>
            </a:r>
            <a:r>
              <a:rPr kumimoji="1" lang="en-US" altLang="zh-CN" dirty="0">
                <a:latin typeface="+mn-ea"/>
              </a:rPr>
              <a:t>12</a:t>
            </a:r>
            <a:r>
              <a:rPr kumimoji="1" lang="zh-CN" altLang="en-US" dirty="0">
                <a:latin typeface="+mn-ea"/>
              </a:rPr>
              <a:t>件发现</a:t>
            </a:r>
            <a:r>
              <a:rPr kumimoji="1" lang="en-US" altLang="zh-CN" dirty="0">
                <a:latin typeface="+mn-ea"/>
              </a:rPr>
              <a:t>3</a:t>
            </a:r>
            <a:r>
              <a:rPr kumimoji="1" lang="zh-CN" altLang="en-US" dirty="0">
                <a:latin typeface="+mn-ea"/>
              </a:rPr>
              <a:t>件次品</a:t>
            </a:r>
            <a:r>
              <a:rPr kumimoji="1" lang="en-US" altLang="zh-CN" dirty="0">
                <a:latin typeface="+mn-ea"/>
              </a:rPr>
              <a:t>, </a:t>
            </a:r>
            <a:r>
              <a:rPr kumimoji="1" lang="zh-CN" altLang="en-US" dirty="0">
                <a:latin typeface="+mn-ea"/>
              </a:rPr>
              <a:t>问该批产品能否</a:t>
            </a:r>
            <a:r>
              <a:rPr kumimoji="1" lang="zh-CN" altLang="en-US" dirty="0" smtClean="0">
                <a:latin typeface="+mn-ea"/>
              </a:rPr>
              <a:t>出厂</a:t>
            </a:r>
            <a:r>
              <a:rPr kumimoji="1" lang="zh-CN" altLang="en-US" dirty="0">
                <a:latin typeface="+mn-ea"/>
              </a:rPr>
              <a:t>？若抽查结果发现</a:t>
            </a:r>
            <a:r>
              <a:rPr kumimoji="1" lang="en-US" altLang="zh-CN" dirty="0">
                <a:latin typeface="+mn-ea"/>
              </a:rPr>
              <a:t>1</a:t>
            </a:r>
            <a:r>
              <a:rPr kumimoji="1" lang="zh-CN" altLang="en-US" dirty="0">
                <a:latin typeface="+mn-ea"/>
              </a:rPr>
              <a:t>件次品</a:t>
            </a:r>
            <a:r>
              <a:rPr kumimoji="1" lang="en-US" altLang="zh-CN" dirty="0">
                <a:latin typeface="+mn-ea"/>
              </a:rPr>
              <a:t>, </a:t>
            </a:r>
            <a:r>
              <a:rPr kumimoji="1" lang="zh-CN" altLang="en-US" dirty="0">
                <a:latin typeface="+mn-ea"/>
              </a:rPr>
              <a:t>问能否出厂？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6</a:t>
            </a:fld>
            <a:endParaRPr lang="en-US" altLang="zh-CN"/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419249"/>
              </p:ext>
            </p:extLst>
          </p:nvPr>
        </p:nvGraphicFramePr>
        <p:xfrm>
          <a:off x="1842960" y="4182557"/>
          <a:ext cx="5243640" cy="561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2" name="Equation" r:id="rId3" imgW="2336800" imgH="241300" progId="Equation.DSMT4">
                  <p:embed/>
                </p:oleObj>
              </mc:Choice>
              <mc:Fallback>
                <p:oleObj name="Equation" r:id="rId3" imgW="2336800" imgH="241300" progId="Equation.DSMT4">
                  <p:embed/>
                  <p:pic>
                    <p:nvPicPr>
                      <p:cNvPr id="1208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960" y="4182557"/>
                        <a:ext cx="5243640" cy="561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5"/>
          <p:cNvGrpSpPr>
            <a:grpSpLocks/>
          </p:cNvGrpSpPr>
          <p:nvPr/>
        </p:nvGrpSpPr>
        <p:grpSpPr bwMode="auto">
          <a:xfrm>
            <a:off x="4986706" y="3505200"/>
            <a:ext cx="1219200" cy="685800"/>
            <a:chOff x="3840" y="1680"/>
            <a:chExt cx="768" cy="432"/>
          </a:xfrm>
        </p:grpSpPr>
        <p:graphicFrame>
          <p:nvGraphicFramePr>
            <p:cNvPr id="17" name="Object 6"/>
            <p:cNvGraphicFramePr>
              <a:graphicFrameLocks noChangeAspect="1"/>
            </p:cNvGraphicFramePr>
            <p:nvPr/>
          </p:nvGraphicFramePr>
          <p:xfrm>
            <a:off x="3840" y="1680"/>
            <a:ext cx="7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63" name="Equation" r:id="rId5" imgW="1307532" imgH="304668" progId="Equation.3">
                    <p:embed/>
                  </p:oleObj>
                </mc:Choice>
                <mc:Fallback>
                  <p:oleObj name="Equation" r:id="rId5" imgW="1307532" imgH="304668" progId="Equation.3">
                    <p:embed/>
                    <p:pic>
                      <p:nvPicPr>
                        <p:cNvPr id="513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680"/>
                          <a:ext cx="768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9933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7"/>
            <p:cNvSpPr>
              <a:spLocks noChangeShapeType="1"/>
            </p:cNvSpPr>
            <p:nvPr/>
          </p:nvSpPr>
          <p:spPr bwMode="auto">
            <a:xfrm flipV="1">
              <a:off x="4224" y="1872"/>
              <a:ext cx="0" cy="240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612648" y="3581400"/>
            <a:ext cx="2438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32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32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3200" b="1" dirty="0">
                <a:ea typeface="楷体_GB2312" pitchFamily="49" charset="-122"/>
              </a:rPr>
              <a:t>假设</a:t>
            </a:r>
          </a:p>
        </p:txBody>
      </p:sp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501026"/>
              </p:ext>
            </p:extLst>
          </p:nvPr>
        </p:nvGraphicFramePr>
        <p:xfrm>
          <a:off x="2454396" y="3590419"/>
          <a:ext cx="159702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4" name="Equation" r:id="rId7" imgW="609336" imgH="203112" progId="Equation.DSMT4">
                  <p:embed/>
                </p:oleObj>
              </mc:Choice>
              <mc:Fallback>
                <p:oleObj name="Equation" r:id="rId7" imgW="609336" imgH="203112" progId="Equation.DSMT4">
                  <p:embed/>
                  <p:pic>
                    <p:nvPicPr>
                      <p:cNvPr id="1208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396" y="3590419"/>
                        <a:ext cx="159702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10"/>
          <p:cNvGrpSpPr>
            <a:grpSpLocks/>
          </p:cNvGrpSpPr>
          <p:nvPr/>
        </p:nvGrpSpPr>
        <p:grpSpPr bwMode="auto">
          <a:xfrm>
            <a:off x="1098423" y="4840916"/>
            <a:ext cx="7181850" cy="1878013"/>
            <a:chOff x="188" y="2448"/>
            <a:chExt cx="4524" cy="1183"/>
          </a:xfrm>
        </p:grpSpPr>
        <p:graphicFrame>
          <p:nvGraphicFramePr>
            <p:cNvPr id="2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155989"/>
                </p:ext>
              </p:extLst>
            </p:nvPr>
          </p:nvGraphicFramePr>
          <p:xfrm>
            <a:off x="3882" y="3070"/>
            <a:ext cx="60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65" name="Equation" r:id="rId9" imgW="812447" imgH="266584" progId="Equation.3">
                    <p:embed/>
                  </p:oleObj>
                </mc:Choice>
                <mc:Fallback>
                  <p:oleObj name="Equation" r:id="rId9" imgW="812447" imgH="266584" progId="Equation.3">
                    <p:embed/>
                    <p:pic>
                      <p:nvPicPr>
                        <p:cNvPr id="513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2" y="3070"/>
                          <a:ext cx="60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188" y="2448"/>
              <a:ext cx="4524" cy="1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900" b="1" dirty="0" smtClean="0">
                  <a:ea typeface="楷体_GB2312" pitchFamily="49" charset="-122"/>
                </a:rPr>
                <a:t>这</a:t>
              </a:r>
              <a:r>
                <a:rPr kumimoji="1" lang="zh-CN" altLang="en-US" sz="2900" b="1" dirty="0">
                  <a:ea typeface="楷体_GB2312" pitchFamily="49" charset="-122"/>
                </a:rPr>
                <a:t>是 </a:t>
              </a:r>
              <a:r>
                <a:rPr kumimoji="1" lang="zh-CN" altLang="en-US" sz="2900" b="1" dirty="0">
                  <a:solidFill>
                    <a:srgbClr val="FF217B"/>
                  </a:solidFill>
                  <a:ea typeface="华文中宋" panose="02010600040101010101" pitchFamily="2" charset="-122"/>
                </a:rPr>
                <a:t>小概率事件</a:t>
              </a:r>
              <a:r>
                <a:rPr kumimoji="1" lang="zh-CN" altLang="en-US" sz="2900" b="1" dirty="0">
                  <a:ea typeface="华文中宋" panose="02010600040101010101" pitchFamily="2" charset="-122"/>
                </a:rPr>
                <a:t> </a:t>
              </a:r>
              <a:r>
                <a:rPr kumimoji="1" lang="en-US" altLang="zh-CN" sz="2900" b="1" dirty="0">
                  <a:ea typeface="楷体_GB2312" pitchFamily="49" charset="-122"/>
                </a:rPr>
                <a:t>,  </a:t>
              </a:r>
              <a:r>
                <a:rPr kumimoji="1" lang="zh-CN" altLang="en-US" sz="2900" b="1" dirty="0">
                  <a:ea typeface="楷体_GB2312" pitchFamily="49" charset="-122"/>
                </a:rPr>
                <a:t>一般在一次试验</a:t>
              </a:r>
              <a:r>
                <a:rPr kumimoji="1" lang="zh-CN" altLang="en-US" sz="2900" b="1" dirty="0" smtClean="0">
                  <a:ea typeface="楷体_GB2312" pitchFamily="49" charset="-122"/>
                </a:rPr>
                <a:t>中</a:t>
              </a:r>
            </a:p>
            <a:p>
              <a:pPr eaLnBrk="1" hangingPunct="1"/>
              <a:r>
                <a:rPr kumimoji="1" lang="zh-CN" altLang="en-US" sz="2900" b="1" dirty="0" smtClean="0">
                  <a:ea typeface="楷体_GB2312" pitchFamily="49" charset="-122"/>
                </a:rPr>
                <a:t>是不会发生的</a:t>
              </a:r>
              <a:r>
                <a:rPr kumimoji="1" lang="en-US" altLang="zh-CN" sz="2900" b="1" dirty="0" smtClean="0">
                  <a:ea typeface="楷体_GB2312" pitchFamily="49" charset="-122"/>
                </a:rPr>
                <a:t>,  </a:t>
              </a:r>
              <a:r>
                <a:rPr kumimoji="1" lang="zh-CN" altLang="en-US" sz="2900" b="1" dirty="0" smtClean="0">
                  <a:ea typeface="楷体_GB2312" pitchFamily="49" charset="-122"/>
                </a:rPr>
                <a:t>现一次试验竟然发生</a:t>
              </a:r>
              <a:r>
                <a:rPr kumimoji="1" lang="en-US" altLang="zh-CN" sz="2900" b="1" dirty="0" smtClean="0">
                  <a:ea typeface="楷体_GB2312" pitchFamily="49" charset="-122"/>
                </a:rPr>
                <a:t>, </a:t>
              </a:r>
              <a:r>
                <a:rPr kumimoji="1" lang="zh-CN" altLang="en-US" sz="2900" b="1" dirty="0" smtClean="0">
                  <a:ea typeface="楷体_GB2312" pitchFamily="49" charset="-122"/>
                </a:rPr>
                <a:t>故认</a:t>
              </a:r>
            </a:p>
            <a:p>
              <a:pPr eaLnBrk="1" hangingPunct="1"/>
              <a:r>
                <a:rPr kumimoji="1" lang="zh-CN" altLang="en-US" sz="2900" b="1" dirty="0" smtClean="0">
                  <a:ea typeface="楷体_GB2312" pitchFamily="49" charset="-122"/>
                </a:rPr>
                <a:t>为</a:t>
              </a:r>
              <a:r>
                <a:rPr kumimoji="1" lang="zh-CN" altLang="en-US" sz="2900" b="1" dirty="0">
                  <a:ea typeface="楷体_GB2312" pitchFamily="49" charset="-122"/>
                </a:rPr>
                <a:t>原假设不成立</a:t>
              </a:r>
              <a:r>
                <a:rPr kumimoji="1" lang="en-US" altLang="zh-CN" sz="2900" b="1" dirty="0">
                  <a:ea typeface="楷体_GB2312" pitchFamily="49" charset="-122"/>
                </a:rPr>
                <a:t>, </a:t>
              </a:r>
              <a:r>
                <a:rPr kumimoji="1" lang="zh-CN" altLang="en-US" sz="2900" b="1" dirty="0">
                  <a:ea typeface="楷体_GB2312" pitchFamily="49" charset="-122"/>
                </a:rPr>
                <a:t>即该批产品次品率           </a:t>
              </a:r>
              <a:r>
                <a:rPr kumimoji="1" lang="en-US" altLang="zh-CN" sz="2900" b="1" dirty="0">
                  <a:ea typeface="楷体_GB2312" pitchFamily="49" charset="-122"/>
                </a:rPr>
                <a:t>, </a:t>
              </a:r>
            </a:p>
            <a:p>
              <a:pPr eaLnBrk="1" hangingPunct="1"/>
              <a:r>
                <a:rPr kumimoji="1" lang="zh-CN" altLang="en-US" sz="2900" b="1" dirty="0">
                  <a:ea typeface="楷体_GB2312" pitchFamily="49" charset="-122"/>
                </a:rPr>
                <a:t>则该批产品不能出厂</a:t>
              </a:r>
              <a:r>
                <a:rPr kumimoji="1" lang="en-US" altLang="zh-CN" sz="2900" b="1" dirty="0">
                  <a:ea typeface="楷体_GB2312" pitchFamily="49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40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7</a:t>
            </a:fld>
            <a:endParaRPr lang="en-US" altLang="zh-CN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360660"/>
              </p:ext>
            </p:extLst>
          </p:nvPr>
        </p:nvGraphicFramePr>
        <p:xfrm>
          <a:off x="838200" y="1676400"/>
          <a:ext cx="5562600" cy="59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2" name="Microsoft 公式 3.0" r:id="rId3" imgW="3187700" imgH="317500" progId="Equation.3">
                  <p:embed/>
                </p:oleObj>
              </mc:Choice>
              <mc:Fallback>
                <p:oleObj name="Microsoft 公式 3.0" r:id="rId3" imgW="3187700" imgH="317500" progId="Equation.3">
                  <p:embed/>
                  <p:pic>
                    <p:nvPicPr>
                      <p:cNvPr id="1218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76400"/>
                        <a:ext cx="5562600" cy="59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295400" y="2438400"/>
            <a:ext cx="6439583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900" b="1" dirty="0" smtClean="0">
                <a:ea typeface="楷体_GB2312" pitchFamily="49" charset="-122"/>
              </a:rPr>
              <a:t>这不是</a:t>
            </a:r>
            <a:r>
              <a:rPr kumimoji="1" lang="zh-CN" altLang="en-US" sz="2900" b="1" dirty="0">
                <a:solidFill>
                  <a:srgbClr val="FF217B"/>
                </a:solidFill>
                <a:ea typeface="华文中宋" panose="02010600040101010101" pitchFamily="2" charset="-122"/>
              </a:rPr>
              <a:t>小概率事件</a:t>
            </a:r>
            <a:r>
              <a:rPr kumimoji="1" lang="en-US" altLang="zh-CN" sz="2900" b="1" dirty="0" smtClean="0">
                <a:ea typeface="华文中宋" panose="02010600040101010101" pitchFamily="2" charset="-122"/>
              </a:rPr>
              <a:t>,</a:t>
            </a:r>
            <a:r>
              <a:rPr kumimoji="1" lang="zh-CN" altLang="en-US" sz="2900" b="1" dirty="0">
                <a:ea typeface="楷体_GB2312" pitchFamily="49" charset="-122"/>
              </a:rPr>
              <a:t>没理由拒绝原假设</a:t>
            </a:r>
            <a:r>
              <a:rPr kumimoji="1" lang="en-US" altLang="zh-CN" sz="2900" b="1" dirty="0" smtClean="0">
                <a:ea typeface="楷体_GB2312" pitchFamily="49" charset="-122"/>
              </a:rPr>
              <a:t>,</a:t>
            </a:r>
            <a:endParaRPr kumimoji="1" lang="en-US" altLang="zh-CN" sz="2900" b="1" dirty="0">
              <a:ea typeface="楷体_GB2312" pitchFamily="49" charset="-122"/>
            </a:endParaRPr>
          </a:p>
          <a:p>
            <a:pPr eaLnBrk="1" hangingPunct="1"/>
            <a:r>
              <a:rPr kumimoji="1" lang="zh-CN" altLang="en-US" sz="2900" b="1" dirty="0">
                <a:ea typeface="楷体_GB2312" pitchFamily="49" charset="-122"/>
              </a:rPr>
              <a:t>从而接受原假设</a:t>
            </a:r>
            <a:r>
              <a:rPr kumimoji="1" lang="en-US" altLang="zh-CN" sz="2900" b="1" dirty="0">
                <a:ea typeface="楷体_GB2312" pitchFamily="49" charset="-122"/>
              </a:rPr>
              <a:t>, </a:t>
            </a:r>
            <a:r>
              <a:rPr kumimoji="1" lang="zh-CN" altLang="en-US" sz="2900" b="1" dirty="0">
                <a:ea typeface="楷体_GB2312" pitchFamily="49" charset="-122"/>
              </a:rPr>
              <a:t>即该批产品可以出厂</a:t>
            </a:r>
            <a:r>
              <a:rPr kumimoji="1" lang="en-US" altLang="zh-CN" sz="2900" b="1" dirty="0">
                <a:ea typeface="楷体_GB2312" pitchFamily="49" charset="-122"/>
              </a:rPr>
              <a:t>.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609165" y="4314825"/>
            <a:ext cx="5142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+mn-ea"/>
                <a:ea typeface="+mn-ea"/>
              </a:rPr>
              <a:t>若不用假设检验</a:t>
            </a:r>
            <a:r>
              <a:rPr kumimoji="1" lang="en-US" altLang="zh-CN" sz="2800" b="1" dirty="0">
                <a:latin typeface="+mn-ea"/>
                <a:ea typeface="+mn-ea"/>
              </a:rPr>
              <a:t>, </a:t>
            </a:r>
            <a:r>
              <a:rPr kumimoji="1" lang="zh-CN" altLang="en-US" sz="2800" b="1" dirty="0">
                <a:latin typeface="+mn-ea"/>
                <a:ea typeface="+mn-ea"/>
              </a:rPr>
              <a:t>按理不能出厂</a:t>
            </a:r>
            <a:r>
              <a:rPr kumimoji="1" lang="en-US" altLang="zh-CN" sz="28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42365" y="3767138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217B"/>
                </a:solidFill>
                <a:ea typeface="楷体_GB2312" pitchFamily="49" charset="-122"/>
              </a:rPr>
              <a:t>注</a:t>
            </a:r>
            <a:r>
              <a:rPr kumimoji="1" lang="en-US" altLang="zh-CN" sz="2800" b="1" dirty="0">
                <a:solidFill>
                  <a:srgbClr val="FF217B"/>
                </a:solidFill>
                <a:ea typeface="楷体_GB2312" pitchFamily="49" charset="-122"/>
              </a:rPr>
              <a:t>1</a:t>
            </a: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1609165" y="3733800"/>
            <a:ext cx="4500563" cy="523875"/>
            <a:chOff x="864" y="1660"/>
            <a:chExt cx="2835" cy="330"/>
          </a:xfrm>
        </p:grpSpPr>
        <p:graphicFrame>
          <p:nvGraphicFramePr>
            <p:cNvPr id="1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7062305"/>
                </p:ext>
              </p:extLst>
            </p:nvPr>
          </p:nvGraphicFramePr>
          <p:xfrm>
            <a:off x="1689" y="1674"/>
            <a:ext cx="201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63" name="Equation" r:id="rId5" imgW="1231366" imgH="177723" progId="Equation.DSMT4">
                    <p:embed/>
                  </p:oleObj>
                </mc:Choice>
                <mc:Fallback>
                  <p:oleObj name="Equation" r:id="rId5" imgW="1231366" imgH="177723" progId="Equation.DSMT4">
                    <p:embed/>
                    <p:pic>
                      <p:nvPicPr>
                        <p:cNvPr id="615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" y="1674"/>
                          <a:ext cx="201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864" y="1660"/>
              <a:ext cx="7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latin typeface="+mn-ea"/>
                  <a:ea typeface="+mn-ea"/>
                </a:rPr>
                <a:t>直接算</a:t>
              </a:r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42365" y="4953000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217B"/>
                </a:solidFill>
                <a:ea typeface="楷体_GB2312" pitchFamily="49" charset="-122"/>
              </a:rPr>
              <a:t>注</a:t>
            </a:r>
            <a:r>
              <a:rPr kumimoji="1" lang="en-US" altLang="zh-CN" sz="2800" b="1" dirty="0">
                <a:solidFill>
                  <a:srgbClr val="FF217B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609165" y="4957482"/>
            <a:ext cx="715688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本检验方法是 概率意义下的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反证法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故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拒绝原假设是有说服力的</a:t>
            </a:r>
            <a:r>
              <a:rPr kumimoji="1" lang="en-US" altLang="zh-CN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, 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而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接受原假设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是没有说服力的</a:t>
            </a:r>
            <a:r>
              <a:rPr kumimoji="1" lang="en-US" altLang="zh-CN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. 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因此应把</a:t>
            </a:r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希望</a:t>
            </a:r>
            <a:r>
              <a:rPr kumimoji="1"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否定的假设作为原假设</a:t>
            </a:r>
            <a:r>
              <a:rPr kumimoji="1" lang="en-US" altLang="zh-CN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093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/>
      <p:bldP spid="9" grpId="0"/>
      <p:bldP spid="13" grpId="0"/>
      <p:bldP spid="1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40000" lnSpcReduction="20000"/>
          </a:bodyPr>
          <a:lstStyle/>
          <a:p>
            <a:fld id="{4648E3E6-0983-44B1-B996-A6A3CCAE3882}" type="slidenum">
              <a:rPr lang="en-US" altLang="zh-CN" sz="2800" smtClean="0"/>
              <a:pPr/>
              <a:t>8</a:t>
            </a:fld>
            <a:endParaRPr lang="en-US" altLang="zh-CN" sz="2800"/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300956" y="2590800"/>
            <a:ext cx="6389688" cy="523875"/>
            <a:chOff x="384" y="864"/>
            <a:chExt cx="4025" cy="330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384" y="864"/>
              <a:ext cx="402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ea typeface="楷体_GB2312" pitchFamily="49" charset="-122"/>
                </a:rPr>
                <a:t>对总体                                         提出假设</a:t>
              </a:r>
            </a:p>
          </p:txBody>
        </p:sp>
        <p:graphicFrame>
          <p:nvGraphicFramePr>
            <p:cNvPr id="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2962137"/>
                </p:ext>
              </p:extLst>
            </p:nvPr>
          </p:nvGraphicFramePr>
          <p:xfrm>
            <a:off x="1158" y="864"/>
            <a:ext cx="225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16" name="Equation" r:id="rId4" imgW="2273300" imgH="228600" progId="Equation.DSMT4">
                    <p:embed/>
                  </p:oleObj>
                </mc:Choice>
                <mc:Fallback>
                  <p:oleObj name="Equation" r:id="rId4" imgW="2273300" imgH="228600" progId="Equation.DSMT4">
                    <p:embed/>
                    <p:pic>
                      <p:nvPicPr>
                        <p:cNvPr id="718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" y="864"/>
                          <a:ext cx="225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081455"/>
              </p:ext>
            </p:extLst>
          </p:nvPr>
        </p:nvGraphicFramePr>
        <p:xfrm>
          <a:off x="2624838" y="3269455"/>
          <a:ext cx="4114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7" name="Microsoft 公式 3.0" r:id="rId6" imgW="2895600" imgH="292100" progId="Equation.3">
                  <p:embed/>
                </p:oleObj>
              </mc:Choice>
              <mc:Fallback>
                <p:oleObj name="Microsoft 公式 3.0" r:id="rId6" imgW="2895600" imgH="292100" progId="Equation.3">
                  <p:embed/>
                  <p:pic>
                    <p:nvPicPr>
                      <p:cNvPr id="1228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838" y="3269455"/>
                        <a:ext cx="4114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224756" y="3893959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ea typeface="楷体_GB2312" pitchFamily="49" charset="-122"/>
              </a:rPr>
              <a:t>要求利用样本观察值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594605"/>
              </p:ext>
            </p:extLst>
          </p:nvPr>
        </p:nvGraphicFramePr>
        <p:xfrm>
          <a:off x="4387710" y="4218740"/>
          <a:ext cx="2889250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8" name="Microsoft 公式 3.0" r:id="rId8" imgW="1638300" imgH="596900" progId="Equation.3">
                  <p:embed/>
                </p:oleObj>
              </mc:Choice>
              <mc:Fallback>
                <p:oleObj name="Microsoft 公式 3.0" r:id="rId8" imgW="1638300" imgH="596900" progId="Equation.3">
                  <p:embed/>
                  <p:pic>
                    <p:nvPicPr>
                      <p:cNvPr id="1228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710" y="4218740"/>
                        <a:ext cx="2889250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1300956" y="5143457"/>
            <a:ext cx="6281738" cy="990601"/>
            <a:chOff x="336" y="2880"/>
            <a:chExt cx="3957" cy="624"/>
          </a:xfrm>
        </p:grpSpPr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36" y="2880"/>
              <a:ext cx="3957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ea typeface="楷体_GB2312" pitchFamily="49" charset="-122"/>
                </a:rPr>
                <a:t>对提供的信息作出接受      </a:t>
              </a:r>
              <a:r>
                <a:rPr kumimoji="1" lang="en-US" altLang="zh-CN" sz="2800" b="1" dirty="0">
                  <a:ea typeface="楷体_GB2312" pitchFamily="49" charset="-122"/>
                </a:rPr>
                <a:t>(</a:t>
              </a:r>
              <a:r>
                <a:rPr kumimoji="1" lang="zh-CN" altLang="en-US" sz="2800" b="1" dirty="0">
                  <a:ea typeface="楷体_GB2312" pitchFamily="49" charset="-122"/>
                </a:rPr>
                <a:t>可出厂</a:t>
              </a:r>
              <a:r>
                <a:rPr kumimoji="1" lang="en-US" altLang="zh-CN" sz="2800" b="1" dirty="0">
                  <a:ea typeface="楷体_GB2312" pitchFamily="49" charset="-122"/>
                </a:rPr>
                <a:t>) , </a:t>
              </a:r>
              <a:r>
                <a:rPr kumimoji="1" lang="zh-CN" altLang="en-US" sz="2800" b="1" dirty="0">
                  <a:ea typeface="楷体_GB2312" pitchFamily="49" charset="-122"/>
                </a:rPr>
                <a:t>还</a:t>
              </a:r>
            </a:p>
            <a:p>
              <a:pPr eaLnBrk="1" hangingPunct="1"/>
              <a:r>
                <a:rPr kumimoji="1" lang="zh-CN" altLang="en-US" sz="2800" b="1" dirty="0">
                  <a:ea typeface="楷体_GB2312" pitchFamily="49" charset="-122"/>
                </a:rPr>
                <a:t>是接受      </a:t>
              </a:r>
              <a:r>
                <a:rPr kumimoji="1" lang="en-US" altLang="zh-CN" sz="2800" b="1" dirty="0">
                  <a:ea typeface="楷体_GB2312" pitchFamily="49" charset="-122"/>
                </a:rPr>
                <a:t>(</a:t>
              </a:r>
              <a:r>
                <a:rPr kumimoji="1" lang="zh-CN" altLang="en-US" sz="2800" b="1" dirty="0">
                  <a:ea typeface="楷体_GB2312" pitchFamily="49" charset="-122"/>
                </a:rPr>
                <a:t>不准出厂</a:t>
              </a:r>
              <a:r>
                <a:rPr kumimoji="1" lang="en-US" altLang="zh-CN" sz="2800" b="1" dirty="0">
                  <a:ea typeface="楷体_GB2312" pitchFamily="49" charset="-122"/>
                </a:rPr>
                <a:t>) </a:t>
              </a:r>
              <a:r>
                <a:rPr kumimoji="1" lang="zh-CN" altLang="en-US" sz="2800" b="1" dirty="0">
                  <a:ea typeface="楷体_GB2312" pitchFamily="49" charset="-122"/>
                </a:rPr>
                <a:t>的判断</a:t>
              </a:r>
              <a:r>
                <a:rPr kumimoji="1" lang="en-US" altLang="zh-CN" sz="2800" b="1" dirty="0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3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4341925"/>
                </p:ext>
              </p:extLst>
            </p:nvPr>
          </p:nvGraphicFramePr>
          <p:xfrm>
            <a:off x="2667" y="2910"/>
            <a:ext cx="309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19" name="Microsoft 公式 3.0" r:id="rId10" imgW="304668" imgH="291973" progId="Equation.3">
                    <p:embed/>
                  </p:oleObj>
                </mc:Choice>
                <mc:Fallback>
                  <p:oleObj name="Microsoft 公式 3.0" r:id="rId10" imgW="304668" imgH="291973" progId="Equation.3">
                    <p:embed/>
                    <p:pic>
                      <p:nvPicPr>
                        <p:cNvPr id="718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" y="2910"/>
                          <a:ext cx="309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453708"/>
                </p:ext>
              </p:extLst>
            </p:nvPr>
          </p:nvGraphicFramePr>
          <p:xfrm>
            <a:off x="1104" y="3183"/>
            <a:ext cx="297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20" name="Equation" r:id="rId12" imgW="279279" imgH="291973" progId="Equation.3">
                    <p:embed/>
                  </p:oleObj>
                </mc:Choice>
                <mc:Fallback>
                  <p:oleObj name="Equation" r:id="rId12" imgW="279279" imgH="291973" progId="Equation.3">
                    <p:embed/>
                    <p:pic>
                      <p:nvPicPr>
                        <p:cNvPr id="718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183"/>
                          <a:ext cx="297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654032"/>
              </p:ext>
            </p:extLst>
          </p:nvPr>
        </p:nvGraphicFramePr>
        <p:xfrm>
          <a:off x="2520157" y="4489822"/>
          <a:ext cx="2133600" cy="521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1" name="Equation" r:id="rId14" imgW="1320227" imgH="241195" progId="Equation.DSMT4">
                  <p:embed/>
                </p:oleObj>
              </mc:Choice>
              <mc:Fallback>
                <p:oleObj name="Equation" r:id="rId14" imgW="1320227" imgH="241195" progId="Equation.DSMT4">
                  <p:embed/>
                  <p:pic>
                    <p:nvPicPr>
                      <p:cNvPr id="12289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157" y="4489822"/>
                        <a:ext cx="2133600" cy="521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228600" y="1752600"/>
            <a:ext cx="8610600" cy="4783845"/>
            <a:chOff x="240" y="1586"/>
            <a:chExt cx="5424" cy="2494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1188" y="1586"/>
              <a:ext cx="3852" cy="305"/>
            </a:xfrm>
            <a:prstGeom prst="rect">
              <a:avLst/>
            </a:prstGeom>
            <a:solidFill>
              <a:srgbClr val="99FF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 b="1" dirty="0">
                  <a:solidFill>
                    <a:srgbClr val="000066"/>
                  </a:solidFill>
                  <a:ea typeface="华文中宋" panose="02010600040101010101" pitchFamily="2" charset="-122"/>
                </a:rPr>
                <a:t>出厂检验问题的数学模型</a:t>
              </a: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240" y="1744"/>
              <a:ext cx="948" cy="0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H="1" flipV="1">
              <a:off x="5040" y="1744"/>
              <a:ext cx="624" cy="0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240" y="4080"/>
              <a:ext cx="5424" cy="0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240" y="1744"/>
              <a:ext cx="0" cy="2336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5664" y="1744"/>
              <a:ext cx="0" cy="2336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620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包装机包装产品，正常情况下，每包</a:t>
            </a:r>
            <a:r>
              <a:rPr lang="zh-CN" altLang="en-US" dirty="0" smtClean="0">
                <a:latin typeface="+mn-ea"/>
              </a:rPr>
              <a:t>重量</a:t>
            </a:r>
            <a:r>
              <a:rPr lang="zh-CN" altLang="en-US" dirty="0">
                <a:latin typeface="+mn-ea"/>
              </a:rPr>
              <a:t>服从正态分布</a:t>
            </a:r>
            <a:r>
              <a:rPr lang="en-US" altLang="zh-CN" dirty="0">
                <a:latin typeface="+mn-ea"/>
              </a:rPr>
              <a:t>N(500,4</a:t>
            </a:r>
            <a:r>
              <a:rPr lang="en-US" altLang="zh-CN" baseline="30000" dirty="0">
                <a:latin typeface="+mn-ea"/>
              </a:rPr>
              <a:t>2</a:t>
            </a:r>
            <a:r>
              <a:rPr lang="en-US" altLang="zh-CN" dirty="0">
                <a:latin typeface="+mn-ea"/>
              </a:rPr>
              <a:t>). </a:t>
            </a:r>
            <a:r>
              <a:rPr lang="zh-CN" altLang="en-US" dirty="0">
                <a:latin typeface="+mn-ea"/>
              </a:rPr>
              <a:t>某天开机后抽取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 smtClean="0">
                <a:latin typeface="+mn-ea"/>
              </a:rPr>
              <a:t>包</a:t>
            </a:r>
            <a:r>
              <a:rPr lang="zh-CN" altLang="en-US" dirty="0">
                <a:latin typeface="+mn-ea"/>
              </a:rPr>
              <a:t>检验，测得重量</a:t>
            </a:r>
            <a:r>
              <a:rPr lang="en-US" altLang="zh-CN" dirty="0">
                <a:latin typeface="+mn-ea"/>
              </a:rPr>
              <a:t>: 509, 507, 498, 502, 508</a:t>
            </a:r>
            <a:r>
              <a:rPr lang="en-US" altLang="zh-CN" dirty="0" smtClean="0">
                <a:latin typeface="+mn-ea"/>
              </a:rPr>
              <a:t>.</a:t>
            </a:r>
            <a:r>
              <a:rPr lang="zh-CN" altLang="en-US" dirty="0">
                <a:latin typeface="+mn-ea"/>
              </a:rPr>
              <a:t>问包装机产品重量的均值是否正常？</a:t>
            </a:r>
          </a:p>
          <a:p>
            <a:endParaRPr lang="en-US" altLang="zh-CN" sz="2800" dirty="0">
              <a:latin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5" name="矩形 22"/>
          <p:cNvSpPr>
            <a:spLocks noChangeArrowheads="1"/>
          </p:cNvSpPr>
          <p:nvPr/>
        </p:nvSpPr>
        <p:spPr bwMode="auto">
          <a:xfrm>
            <a:off x="1467971" y="5224555"/>
            <a:ext cx="5562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若                       就拒绝                      </a:t>
            </a: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515471" y="3450104"/>
            <a:ext cx="10102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32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32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3200" dirty="0"/>
          </a:p>
        </p:txBody>
      </p:sp>
      <p:graphicFrame>
        <p:nvGraphicFramePr>
          <p:cNvPr id="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461934"/>
              </p:ext>
            </p:extLst>
          </p:nvPr>
        </p:nvGraphicFramePr>
        <p:xfrm>
          <a:off x="1525684" y="3497075"/>
          <a:ext cx="45386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49" name="Equation" r:id="rId3" imgW="1701800" imgH="228600" progId="Equation.DSMT4">
                  <p:embed/>
                </p:oleObj>
              </mc:Choice>
              <mc:Fallback>
                <p:oleObj name="Equation" r:id="rId3" imgW="1701800" imgH="228600" progId="Equation.DSMT4">
                  <p:embed/>
                  <p:pic>
                    <p:nvPicPr>
                      <p:cNvPr id="820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684" y="3497075"/>
                        <a:ext cx="45386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80219"/>
              </p:ext>
            </p:extLst>
          </p:nvPr>
        </p:nvGraphicFramePr>
        <p:xfrm>
          <a:off x="4401671" y="4098597"/>
          <a:ext cx="4572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0" name="Equation" r:id="rId5" imgW="177646" imgH="190335" progId="Equation.DSMT4">
                  <p:embed/>
                </p:oleObj>
              </mc:Choice>
              <mc:Fallback>
                <p:oleObj name="Equation" r:id="rId5" imgW="177646" imgH="190335" progId="Equation.DSMT4">
                  <p:embed/>
                  <p:pic>
                    <p:nvPicPr>
                      <p:cNvPr id="820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1671" y="4098597"/>
                        <a:ext cx="4572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12"/>
          <p:cNvSpPr>
            <a:spLocks noChangeArrowheads="1"/>
          </p:cNvSpPr>
          <p:nvPr/>
        </p:nvSpPr>
        <p:spPr bwMode="auto">
          <a:xfrm>
            <a:off x="1429871" y="4051766"/>
            <a:ext cx="2971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latin typeface="Arial" panose="020B0604020202020204" pitchFamily="34" charset="0"/>
              </a:rPr>
              <a:t>反映     的大小：</a:t>
            </a:r>
            <a:endParaRPr lang="zh-CN" altLang="en-US" sz="3200" dirty="0"/>
          </a:p>
        </p:txBody>
      </p:sp>
      <p:graphicFrame>
        <p:nvGraphicFramePr>
          <p:cNvPr id="10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686115"/>
              </p:ext>
            </p:extLst>
          </p:nvPr>
        </p:nvGraphicFramePr>
        <p:xfrm>
          <a:off x="2442166" y="4212104"/>
          <a:ext cx="3810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1" name="Equation" r:id="rId7" imgW="152268" imgH="164957" progId="Equation.DSMT4">
                  <p:embed/>
                </p:oleObj>
              </mc:Choice>
              <mc:Fallback>
                <p:oleObj name="Equation" r:id="rId7" imgW="152268" imgH="164957" progId="Equation.DSMT4">
                  <p:embed/>
                  <p:pic>
                    <p:nvPicPr>
                      <p:cNvPr id="820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166" y="4212104"/>
                        <a:ext cx="3810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5"/>
          <p:cNvSpPr txBox="1">
            <a:spLocks noChangeArrowheads="1"/>
          </p:cNvSpPr>
          <p:nvPr/>
        </p:nvSpPr>
        <p:spPr bwMode="auto">
          <a:xfrm>
            <a:off x="1544171" y="4575267"/>
            <a:ext cx="609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     成立下，                 不应太大</a:t>
            </a:r>
          </a:p>
        </p:txBody>
      </p:sp>
      <p:graphicFrame>
        <p:nvGraphicFramePr>
          <p:cNvPr id="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024736"/>
              </p:ext>
            </p:extLst>
          </p:nvPr>
        </p:nvGraphicFramePr>
        <p:xfrm>
          <a:off x="1544171" y="4619717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2" name="Equation" r:id="rId9" imgW="215806" imgH="228501" progId="Equation.DSMT4">
                  <p:embed/>
                </p:oleObj>
              </mc:Choice>
              <mc:Fallback>
                <p:oleObj name="Equation" r:id="rId9" imgW="215806" imgH="228501" progId="Equation.DSMT4">
                  <p:embed/>
                  <p:pic>
                    <p:nvPicPr>
                      <p:cNvPr id="820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171" y="4619717"/>
                        <a:ext cx="53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101597"/>
              </p:ext>
            </p:extLst>
          </p:nvPr>
        </p:nvGraphicFramePr>
        <p:xfrm>
          <a:off x="3763496" y="4575267"/>
          <a:ext cx="16668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3" name="Equation" r:id="rId11" imgW="634725" imgH="228501" progId="Equation.DSMT4">
                  <p:embed/>
                </p:oleObj>
              </mc:Choice>
              <mc:Fallback>
                <p:oleObj name="Equation" r:id="rId11" imgW="634725" imgH="228501" progId="Equation.DSMT4">
                  <p:embed/>
                  <p:pic>
                    <p:nvPicPr>
                      <p:cNvPr id="820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496" y="4575267"/>
                        <a:ext cx="16668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543623"/>
              </p:ext>
            </p:extLst>
          </p:nvPr>
        </p:nvGraphicFramePr>
        <p:xfrm>
          <a:off x="2077571" y="5219792"/>
          <a:ext cx="2200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4" name="Equation" r:id="rId13" imgW="838200" imgH="228600" progId="Equation.DSMT4">
                  <p:embed/>
                </p:oleObj>
              </mc:Choice>
              <mc:Fallback>
                <p:oleObj name="Equation" r:id="rId13" imgW="838200" imgH="228600" progId="Equation.DSMT4">
                  <p:embed/>
                  <p:pic>
                    <p:nvPicPr>
                      <p:cNvPr id="820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571" y="5219792"/>
                        <a:ext cx="22002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9"/>
          <p:cNvSpPr>
            <a:spLocks noChangeArrowheads="1"/>
          </p:cNvSpPr>
          <p:nvPr/>
        </p:nvSpPr>
        <p:spPr bwMode="auto">
          <a:xfrm>
            <a:off x="4410636" y="5902683"/>
            <a:ext cx="20939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小概率</a:t>
            </a:r>
          </a:p>
        </p:txBody>
      </p:sp>
      <p:graphicFrame>
        <p:nvGraphicFramePr>
          <p:cNvPr id="1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396481"/>
              </p:ext>
            </p:extLst>
          </p:nvPr>
        </p:nvGraphicFramePr>
        <p:xfrm>
          <a:off x="5814015" y="6047534"/>
          <a:ext cx="3762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5" name="Equation" r:id="rId15" imgW="152334" imgH="139639" progId="Equation.DSMT4">
                  <p:embed/>
                </p:oleObj>
              </mc:Choice>
              <mc:Fallback>
                <p:oleObj name="Equation" r:id="rId15" imgW="152334" imgH="139639" progId="Equation.DSMT4">
                  <p:embed/>
                  <p:pic>
                    <p:nvPicPr>
                      <p:cNvPr id="821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4015" y="6047534"/>
                        <a:ext cx="37623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040334"/>
              </p:ext>
            </p:extLst>
          </p:nvPr>
        </p:nvGraphicFramePr>
        <p:xfrm>
          <a:off x="5656853" y="5267417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6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821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853" y="5267417"/>
                        <a:ext cx="53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469123"/>
              </p:ext>
            </p:extLst>
          </p:nvPr>
        </p:nvGraphicFramePr>
        <p:xfrm>
          <a:off x="1876986" y="5890083"/>
          <a:ext cx="25336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7" name="Equation" r:id="rId18" imgW="965200" imgH="228600" progId="Equation.DSMT4">
                  <p:embed/>
                </p:oleObj>
              </mc:Choice>
              <mc:Fallback>
                <p:oleObj name="Equation" r:id="rId18" imgW="965200" imgH="228600" progId="Equation.DSMT4">
                  <p:embed/>
                  <p:pic>
                    <p:nvPicPr>
                      <p:cNvPr id="821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986" y="5890083"/>
                        <a:ext cx="25336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294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10</a:t>
            </a:fld>
            <a:endParaRPr lang="en-US" altLang="zh-CN"/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860760"/>
              </p:ext>
            </p:extLst>
          </p:nvPr>
        </p:nvGraphicFramePr>
        <p:xfrm>
          <a:off x="1585913" y="1558610"/>
          <a:ext cx="3214687" cy="572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2" name="Equation" r:id="rId3" imgW="1282700" imgH="228600" progId="Equation.DSMT4">
                  <p:embed/>
                </p:oleObj>
              </mc:Choice>
              <mc:Fallback>
                <p:oleObj name="Equation" r:id="rId3" imgW="1282700" imgH="228600" progId="Equation.DSMT4">
                  <p:embed/>
                  <p:pic>
                    <p:nvPicPr>
                      <p:cNvPr id="921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1558610"/>
                        <a:ext cx="3214687" cy="572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685800" y="1552557"/>
            <a:ext cx="6019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根据                                确定</a:t>
            </a:r>
            <a:r>
              <a:rPr lang="en-US" altLang="zh-CN" sz="3200" dirty="0"/>
              <a:t>k</a:t>
            </a:r>
            <a:r>
              <a:rPr lang="zh-CN" altLang="en-US" sz="3200" dirty="0"/>
              <a:t>。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743719"/>
              </p:ext>
            </p:extLst>
          </p:nvPr>
        </p:nvGraphicFramePr>
        <p:xfrm>
          <a:off x="2819400" y="2158978"/>
          <a:ext cx="26670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3" name="Equation" r:id="rId5" imgW="1117600" imgH="431800" progId="Equation.DSMT4">
                  <p:embed/>
                </p:oleObj>
              </mc:Choice>
              <mc:Fallback>
                <p:oleObj name="Equation" r:id="rId5" imgW="1117600" imgH="431800" progId="Equation.DSMT4">
                  <p:embed/>
                  <p:pic>
                    <p:nvPicPr>
                      <p:cNvPr id="92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158978"/>
                        <a:ext cx="2667000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397654" y="2321161"/>
            <a:ext cx="1676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成立时</a:t>
            </a: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846924"/>
              </p:ext>
            </p:extLst>
          </p:nvPr>
        </p:nvGraphicFramePr>
        <p:xfrm>
          <a:off x="914400" y="2383328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4" name="Equation" r:id="rId7" imgW="215806" imgH="228501" progId="Equation.DSMT4">
                  <p:embed/>
                </p:oleObj>
              </mc:Choice>
              <mc:Fallback>
                <p:oleObj name="Equation" r:id="rId7" imgW="215806" imgH="228501" progId="Equation.DSMT4">
                  <p:embed/>
                  <p:pic>
                    <p:nvPicPr>
                      <p:cNvPr id="92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83328"/>
                        <a:ext cx="53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826154" y="3129181"/>
            <a:ext cx="4495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考虑                下，由</a:t>
            </a:r>
          </a:p>
        </p:txBody>
      </p:sp>
      <p:graphicFrame>
        <p:nvGraphicFramePr>
          <p:cNvPr id="2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807568"/>
              </p:ext>
            </p:extLst>
          </p:nvPr>
        </p:nvGraphicFramePr>
        <p:xfrm>
          <a:off x="1813718" y="3198328"/>
          <a:ext cx="13795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5" name="Equation" r:id="rId9" imgW="558558" imgH="177723" progId="Equation.DSMT4">
                  <p:embed/>
                </p:oleObj>
              </mc:Choice>
              <mc:Fallback>
                <p:oleObj name="Equation" r:id="rId9" imgW="558558" imgH="177723" progId="Equation.DSMT4">
                  <p:embed/>
                  <p:pic>
                    <p:nvPicPr>
                      <p:cNvPr id="922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718" y="3198328"/>
                        <a:ext cx="137953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993431"/>
              </p:ext>
            </p:extLst>
          </p:nvPr>
        </p:nvGraphicFramePr>
        <p:xfrm>
          <a:off x="4639745" y="2964346"/>
          <a:ext cx="4360863" cy="104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6" name="Equation" r:id="rId11" imgW="1803400" imgH="431800" progId="Equation.DSMT4">
                  <p:embed/>
                </p:oleObj>
              </mc:Choice>
              <mc:Fallback>
                <p:oleObj name="Equation" r:id="rId11" imgW="1803400" imgH="431800" progId="Equation.DSMT4">
                  <p:embed/>
                  <p:pic>
                    <p:nvPicPr>
                      <p:cNvPr id="922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9745" y="2964346"/>
                        <a:ext cx="4360863" cy="104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10"/>
          <p:cNvSpPr>
            <a:spLocks noChangeArrowheads="1"/>
          </p:cNvSpPr>
          <p:nvPr/>
        </p:nvSpPr>
        <p:spPr bwMode="auto">
          <a:xfrm>
            <a:off x="843800" y="3937653"/>
            <a:ext cx="5950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得</a:t>
            </a:r>
          </a:p>
        </p:txBody>
      </p:sp>
      <p:graphicFrame>
        <p:nvGraphicFramePr>
          <p:cNvPr id="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346178"/>
              </p:ext>
            </p:extLst>
          </p:nvPr>
        </p:nvGraphicFramePr>
        <p:xfrm>
          <a:off x="1506537" y="3762229"/>
          <a:ext cx="329406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7" name="Equation" r:id="rId13" imgW="1333500" imgH="419100" progId="Equation.DSMT4">
                  <p:embed/>
                </p:oleObj>
              </mc:Choice>
              <mc:Fallback>
                <p:oleObj name="Equation" r:id="rId13" imgW="1333500" imgH="419100" progId="Equation.DSMT4">
                  <p:embed/>
                  <p:pic>
                    <p:nvPicPr>
                      <p:cNvPr id="922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7" y="3762229"/>
                        <a:ext cx="329406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12"/>
          <p:cNvSpPr>
            <a:spLocks noChangeArrowheads="1"/>
          </p:cNvSpPr>
          <p:nvPr/>
        </p:nvSpPr>
        <p:spPr bwMode="auto">
          <a:xfrm>
            <a:off x="865748" y="4992770"/>
            <a:ext cx="7162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即                           时拒绝假设</a:t>
            </a:r>
          </a:p>
        </p:txBody>
      </p:sp>
      <p:graphicFrame>
        <p:nvGraphicFramePr>
          <p:cNvPr id="3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835688"/>
              </p:ext>
            </p:extLst>
          </p:nvPr>
        </p:nvGraphicFramePr>
        <p:xfrm>
          <a:off x="1397654" y="5000345"/>
          <a:ext cx="2628059" cy="550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8" name="Equation" r:id="rId15" imgW="1091726" imgH="228501" progId="Equation.DSMT4">
                  <p:embed/>
                </p:oleObj>
              </mc:Choice>
              <mc:Fallback>
                <p:oleObj name="Equation" r:id="rId15" imgW="1091726" imgH="228501" progId="Equation.DSMT4">
                  <p:embed/>
                  <p:pic>
                    <p:nvPicPr>
                      <p:cNvPr id="923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654" y="5000345"/>
                        <a:ext cx="2628059" cy="550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967037"/>
              </p:ext>
            </p:extLst>
          </p:nvPr>
        </p:nvGraphicFramePr>
        <p:xfrm>
          <a:off x="6159313" y="5045287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9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92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313" y="5045287"/>
                        <a:ext cx="53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174260"/>
              </p:ext>
            </p:extLst>
          </p:nvPr>
        </p:nvGraphicFramePr>
        <p:xfrm>
          <a:off x="916078" y="5597605"/>
          <a:ext cx="59674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90" name="Equation" r:id="rId18" imgW="2273300" imgH="203200" progId="Equation.DSMT4">
                  <p:embed/>
                </p:oleObj>
              </mc:Choice>
              <mc:Fallback>
                <p:oleObj name="Equation" r:id="rId18" imgW="2273300" imgH="203200" progId="Equation.DSMT4">
                  <p:embed/>
                  <p:pic>
                    <p:nvPicPr>
                      <p:cNvPr id="92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078" y="5597605"/>
                        <a:ext cx="59674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16"/>
          <p:cNvSpPr>
            <a:spLocks noChangeArrowheads="1"/>
          </p:cNvSpPr>
          <p:nvPr/>
        </p:nvSpPr>
        <p:spPr bwMode="auto">
          <a:xfrm>
            <a:off x="6843522" y="5546230"/>
            <a:ext cx="14157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不正常</a:t>
            </a:r>
          </a:p>
        </p:txBody>
      </p:sp>
    </p:spTree>
    <p:extLst>
      <p:ext uri="{BB962C8B-B14F-4D97-AF65-F5344CB8AC3E}">
        <p14:creationId xmlns:p14="http://schemas.microsoft.com/office/powerpoint/2010/main" val="180360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显著</a:t>
            </a:r>
            <a:r>
              <a:rPr lang="zh-CN" altLang="en-US" dirty="0" smtClean="0"/>
              <a:t>水平</a:t>
            </a:r>
            <a:r>
              <a:rPr lang="el-GR" altLang="zh-CN" dirty="0" smtClean="0">
                <a:latin typeface="+mn-ea"/>
                <a:ea typeface="+mn-ea"/>
              </a:rPr>
              <a:t>α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在假设检验中，我们需要对小概率的说法给出统一界定，通常给出一个上限</a:t>
            </a:r>
            <a:r>
              <a:rPr lang="el-GR" altLang="zh-CN" dirty="0" smtClean="0">
                <a:latin typeface="+mn-ea"/>
              </a:rPr>
              <a:t>α</a:t>
            </a:r>
            <a:r>
              <a:rPr lang="zh-CN" altLang="en-US" dirty="0" smtClean="0"/>
              <a:t>，当一个事件发生的概率小于</a:t>
            </a:r>
            <a:r>
              <a:rPr lang="el-GR" altLang="zh-CN" dirty="0" smtClean="0">
                <a:latin typeface="+mn-ea"/>
              </a:rPr>
              <a:t>α</a:t>
            </a:r>
            <a:r>
              <a:rPr lang="zh-CN" altLang="en-US" dirty="0" smtClean="0"/>
              <a:t>，我们认为这是小概率事件。</a:t>
            </a:r>
            <a:endParaRPr lang="en-US" altLang="zh-CN" dirty="0" smtClean="0"/>
          </a:p>
          <a:p>
            <a:pPr lvl="1"/>
            <a:r>
              <a:rPr lang="el-GR" altLang="zh-CN" dirty="0">
                <a:latin typeface="+mn-ea"/>
              </a:rPr>
              <a:t>α</a:t>
            </a:r>
            <a:r>
              <a:rPr lang="zh-CN" altLang="en-US" dirty="0" smtClean="0"/>
              <a:t>常见</a:t>
            </a:r>
            <a:r>
              <a:rPr lang="zh-CN" altLang="en-US" dirty="0"/>
              <a:t>取值 </a:t>
            </a:r>
            <a:r>
              <a:rPr lang="en-US" altLang="zh-CN" dirty="0">
                <a:latin typeface="+mn-ea"/>
              </a:rPr>
              <a:t>0.01, 0.05, </a:t>
            </a:r>
            <a:r>
              <a:rPr lang="en-US" altLang="zh-CN" dirty="0" smtClean="0">
                <a:latin typeface="+mn-ea"/>
              </a:rPr>
              <a:t>0.1</a:t>
            </a:r>
            <a:endParaRPr lang="zh-CN" altLang="en-US" dirty="0">
              <a:latin typeface="+mn-ea"/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zh-CN" altLang="en-US" dirty="0"/>
              <a:t>假定   </a:t>
            </a:r>
            <a:r>
              <a:rPr lang="zh-CN" altLang="en-US" dirty="0" smtClean="0"/>
              <a:t>成立</a:t>
            </a:r>
            <a:r>
              <a:rPr lang="zh-CN" altLang="en-US" dirty="0"/>
              <a:t>下，若根据样本提供的信息判断出某“异常”现象</a:t>
            </a:r>
            <a:r>
              <a:rPr lang="en-US" altLang="zh-CN" dirty="0"/>
              <a:t>(</a:t>
            </a:r>
            <a:r>
              <a:rPr lang="zh-CN" altLang="en-US" dirty="0"/>
              <a:t>发生</a:t>
            </a:r>
            <a:r>
              <a:rPr lang="zh-CN" altLang="en-US" dirty="0" smtClean="0"/>
              <a:t>概率     </a:t>
            </a:r>
            <a:r>
              <a:rPr lang="en-US" altLang="zh-CN" dirty="0" smtClean="0"/>
              <a:t>)</a:t>
            </a:r>
            <a:r>
              <a:rPr lang="zh-CN" altLang="en-US" dirty="0"/>
              <a:t>发生</a:t>
            </a:r>
            <a:r>
              <a:rPr lang="zh-CN" altLang="en-US" dirty="0" smtClean="0"/>
              <a:t>，</a:t>
            </a:r>
            <a:r>
              <a:rPr lang="zh-CN" altLang="en-US" dirty="0"/>
              <a:t>则</a:t>
            </a:r>
            <a:r>
              <a:rPr lang="zh-CN" altLang="en-US" dirty="0" smtClean="0"/>
              <a:t>认为   错误</a:t>
            </a:r>
            <a:r>
              <a:rPr lang="zh-CN" altLang="en-US" dirty="0"/>
              <a:t>显著。</a:t>
            </a:r>
            <a:r>
              <a:rPr lang="zh-CN" altLang="en-US" dirty="0" smtClean="0"/>
              <a:t>称</a:t>
            </a:r>
            <a:r>
              <a:rPr lang="el-GR" altLang="zh-CN" dirty="0">
                <a:latin typeface="+mn-ea"/>
              </a:rPr>
              <a:t>α</a:t>
            </a:r>
            <a:r>
              <a:rPr lang="zh-CN" altLang="en-US" dirty="0" smtClean="0"/>
              <a:t>为</a:t>
            </a:r>
            <a:r>
              <a:rPr lang="zh-CN" altLang="en-US" dirty="0"/>
              <a:t>显著水平。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11</a:t>
            </a:fld>
            <a:endParaRPr lang="en-US" altLang="zh-CN"/>
          </a:p>
        </p:txBody>
      </p:sp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486469"/>
              </p:ext>
            </p:extLst>
          </p:nvPr>
        </p:nvGraphicFramePr>
        <p:xfrm>
          <a:off x="2133600" y="4058444"/>
          <a:ext cx="484535" cy="513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52" name="Equation" r:id="rId3" imgW="215806" imgH="228501" progId="Equation.DSMT4">
                  <p:embed/>
                </p:oleObj>
              </mc:Choice>
              <mc:Fallback>
                <p:oleObj name="Equation" r:id="rId3" imgW="215806" imgH="228501" progId="Equation.DSMT4">
                  <p:embed/>
                  <p:pic>
                    <p:nvPicPr>
                      <p:cNvPr id="1025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058444"/>
                        <a:ext cx="484535" cy="513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674740"/>
              </p:ext>
            </p:extLst>
          </p:nvPr>
        </p:nvGraphicFramePr>
        <p:xfrm>
          <a:off x="5638800" y="4495800"/>
          <a:ext cx="78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53" name="Equation" r:id="rId5" imgW="393529" imgH="190417" progId="Equation.DSMT4">
                  <p:embed/>
                </p:oleObj>
              </mc:Choice>
              <mc:Fallback>
                <p:oleObj name="Equation" r:id="rId5" imgW="393529" imgH="190417" progId="Equation.DSMT4">
                  <p:embed/>
                  <p:pic>
                    <p:nvPicPr>
                      <p:cNvPr id="1025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495800"/>
                        <a:ext cx="787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106712"/>
              </p:ext>
            </p:extLst>
          </p:nvPr>
        </p:nvGraphicFramePr>
        <p:xfrm>
          <a:off x="1420465" y="4953000"/>
          <a:ext cx="484535" cy="513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54" name="Equation" r:id="rId7" imgW="215806" imgH="228501" progId="Equation.DSMT4">
                  <p:embed/>
                </p:oleObj>
              </mc:Choice>
              <mc:Fallback>
                <p:oleObj name="Equation" r:id="rId7" imgW="215806" imgH="228501" progId="Equation.DSMT4">
                  <p:embed/>
                  <p:pic>
                    <p:nvPicPr>
                      <p:cNvPr id="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465" y="4953000"/>
                        <a:ext cx="484535" cy="513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699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假设检验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3400" y="1716087"/>
            <a:ext cx="7924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  <a:r>
              <a:rPr lang="en-US" altLang="zh-CN" dirty="0" smtClean="0"/>
              <a:t>. </a:t>
            </a:r>
            <a:r>
              <a:rPr lang="zh-CN" altLang="en-US" dirty="0" smtClean="0"/>
              <a:t>根据</a:t>
            </a:r>
            <a:r>
              <a:rPr lang="zh-CN" altLang="en-US" dirty="0"/>
              <a:t>实际问题，提出原假设     和备   择假设       ；</a:t>
            </a: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961060"/>
              </p:ext>
            </p:extLst>
          </p:nvPr>
        </p:nvGraphicFramePr>
        <p:xfrm>
          <a:off x="6553200" y="1792287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78" name="Equation" r:id="rId3" imgW="215806" imgH="228501" progId="Equation.DSMT4">
                  <p:embed/>
                </p:oleObj>
              </mc:Choice>
              <mc:Fallback>
                <p:oleObj name="Equation" r:id="rId3" imgW="215806" imgH="228501" progId="Equation.DSMT4">
                  <p:embed/>
                  <p:pic>
                    <p:nvPicPr>
                      <p:cNvPr id="1126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792287"/>
                        <a:ext cx="53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223097"/>
              </p:ext>
            </p:extLst>
          </p:nvPr>
        </p:nvGraphicFramePr>
        <p:xfrm>
          <a:off x="2165350" y="2325687"/>
          <a:ext cx="4699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79" name="Equation" r:id="rId5" imgW="190500" imgH="228600" progId="Equation.DSMT4">
                  <p:embed/>
                </p:oleObj>
              </mc:Choice>
              <mc:Fallback>
                <p:oleObj name="Equation" r:id="rId5" imgW="190500" imgH="228600" progId="Equation.DSMT4">
                  <p:embed/>
                  <p:pic>
                    <p:nvPicPr>
                      <p:cNvPr id="1127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2325687"/>
                        <a:ext cx="4699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533400" y="2898775"/>
            <a:ext cx="7924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2</a:t>
            </a:r>
            <a:r>
              <a:rPr lang="en-US" altLang="zh-CN" dirty="0" smtClean="0"/>
              <a:t>. </a:t>
            </a:r>
            <a:r>
              <a:rPr lang="zh-CN" altLang="en-US" dirty="0" smtClean="0"/>
              <a:t>确定</a:t>
            </a:r>
            <a:r>
              <a:rPr lang="zh-CN" altLang="en-US" dirty="0"/>
              <a:t>检验统计量；</a:t>
            </a:r>
          </a:p>
        </p:txBody>
      </p:sp>
      <p:graphicFrame>
        <p:nvGraphicFramePr>
          <p:cNvPr id="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60060"/>
              </p:ext>
            </p:extLst>
          </p:nvPr>
        </p:nvGraphicFramePr>
        <p:xfrm>
          <a:off x="3810000" y="3773487"/>
          <a:ext cx="4159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0" name="Equation" r:id="rId7" imgW="152334" imgH="139639" progId="Equation.DSMT4">
                  <p:embed/>
                </p:oleObj>
              </mc:Choice>
              <mc:Fallback>
                <p:oleObj name="Equation" r:id="rId7" imgW="152334" imgH="139639" progId="Equation.DSMT4">
                  <p:embed/>
                  <p:pic>
                    <p:nvPicPr>
                      <p:cNvPr id="112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73487"/>
                        <a:ext cx="4159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33400" y="3621087"/>
            <a:ext cx="792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  <a:r>
              <a:rPr lang="en-US" altLang="zh-CN" dirty="0" smtClean="0"/>
              <a:t>. </a:t>
            </a:r>
            <a:r>
              <a:rPr lang="zh-CN" altLang="en-US" dirty="0" smtClean="0"/>
              <a:t>根据</a:t>
            </a:r>
            <a:r>
              <a:rPr lang="zh-CN" altLang="en-US" dirty="0"/>
              <a:t>显著水平    ，确定拒绝域；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33400" y="4346575"/>
            <a:ext cx="7924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4</a:t>
            </a:r>
            <a:r>
              <a:rPr lang="en-US" altLang="zh-CN" dirty="0" smtClean="0"/>
              <a:t>. </a:t>
            </a:r>
            <a:r>
              <a:rPr lang="zh-CN" altLang="en-US" dirty="0" smtClean="0"/>
              <a:t>由</a:t>
            </a:r>
            <a:r>
              <a:rPr lang="zh-CN" altLang="en-US" dirty="0"/>
              <a:t>样本计算统计量值；                      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533400" y="5221287"/>
            <a:ext cx="792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5</a:t>
            </a:r>
            <a:r>
              <a:rPr lang="en-US" altLang="zh-CN" dirty="0" smtClean="0"/>
              <a:t>. </a:t>
            </a:r>
            <a:r>
              <a:rPr lang="zh-CN" altLang="en-US" dirty="0" smtClean="0"/>
              <a:t>结论</a:t>
            </a:r>
            <a:r>
              <a:rPr lang="zh-CN" altLang="en-US" dirty="0"/>
              <a:t>：作出判断是否接受    。</a:t>
            </a:r>
          </a:p>
        </p:txBody>
      </p:sp>
      <p:graphicFrame>
        <p:nvGraphicFramePr>
          <p:cNvPr id="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568256"/>
              </p:ext>
            </p:extLst>
          </p:nvPr>
        </p:nvGraphicFramePr>
        <p:xfrm>
          <a:off x="6096000" y="5297487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1" name="Equation" r:id="rId9" imgW="215806" imgH="228501" progId="Equation.DSMT4">
                  <p:embed/>
                </p:oleObj>
              </mc:Choice>
              <mc:Fallback>
                <p:oleObj name="Equation" r:id="rId9" imgW="215806" imgH="228501" progId="Equation.DSMT4">
                  <p:embed/>
                  <p:pic>
                    <p:nvPicPr>
                      <p:cNvPr id="1127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297487"/>
                        <a:ext cx="53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887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两类错误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+mn-ea"/>
                  </a:rPr>
                  <a:t>第一类错误</a:t>
                </a:r>
                <a:r>
                  <a:rPr lang="zh-CN" altLang="en-US" dirty="0" smtClean="0">
                    <a:latin typeface="+mn-ea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:r>
                  <a:rPr lang="zh-CN" altLang="en-US" dirty="0"/>
                  <a:t>真时，我们仍有可能拒绝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</a:t>
                </a:r>
                <a:r>
                  <a:rPr lang="zh-CN" altLang="en-US" dirty="0"/>
                  <a:t>此时犯了“弃真”错误</a:t>
                </a:r>
                <a:endParaRPr lang="en-US" altLang="zh-CN" dirty="0" smtClean="0">
                  <a:latin typeface="+mn-ea"/>
                </a:endParaRPr>
              </a:p>
              <a:p>
                <a:endParaRPr lang="en-US" altLang="zh-CN" sz="1800" dirty="0">
                  <a:latin typeface="+mn-ea"/>
                </a:endParaRPr>
              </a:p>
              <a:p>
                <a:r>
                  <a:rPr lang="zh-CN" altLang="en-US" dirty="0" smtClean="0">
                    <a:latin typeface="+mn-ea"/>
                  </a:rPr>
                  <a:t>第二类错误：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 smtClean="0"/>
                  <a:t>不成</a:t>
                </a:r>
                <a:r>
                  <a:rPr lang="zh-CN" altLang="en-US" dirty="0"/>
                  <a:t>立时，我们仍有可能</a:t>
                </a:r>
                <a:r>
                  <a:rPr lang="zh-CN" altLang="en-US" dirty="0" smtClean="0"/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dirty="0" smtClean="0"/>
                  <a:t>，</a:t>
                </a:r>
                <a:r>
                  <a:rPr lang="zh-CN" altLang="en-US" dirty="0"/>
                  <a:t>此时犯了“存伪”错误</a:t>
                </a:r>
                <a:endParaRPr lang="zh-CN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449" t="-1357" r="-6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07242" y="426720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 smtClean="0">
                <a:solidFill>
                  <a:srgbClr val="FF217B"/>
                </a:solidFill>
                <a:ea typeface="楷体_GB2312" pitchFamily="49" charset="-122"/>
              </a:rPr>
              <a:t>注</a:t>
            </a:r>
            <a:endParaRPr kumimoji="1" lang="en-US" altLang="zh-CN" sz="2800" b="1" dirty="0">
              <a:solidFill>
                <a:srgbClr val="FF217B"/>
              </a:solidFill>
              <a:ea typeface="楷体_GB2312" pitchFamily="49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110906" y="4267200"/>
            <a:ext cx="7880694" cy="2154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第一类错误的概率就是显著水平</a:t>
            </a:r>
            <a:r>
              <a:rPr lang="el-GR" altLang="zh-CN" sz="2800" b="1" dirty="0" smtClean="0">
                <a:latin typeface="+mn-ea"/>
              </a:rPr>
              <a:t>α</a:t>
            </a:r>
            <a:r>
              <a:rPr lang="zh-CN" altLang="en-US" sz="2800" b="1" dirty="0" smtClean="0">
                <a:latin typeface="+mn-ea"/>
              </a:rPr>
              <a:t>；</a:t>
            </a:r>
            <a:endParaRPr lang="en-US" altLang="zh-CN" sz="2800" b="1" dirty="0" smtClean="0">
              <a:latin typeface="+mn-ea"/>
            </a:endParaRPr>
          </a:p>
          <a:p>
            <a:pPr eaLnBrk="1" hangingPunct="1"/>
            <a:r>
              <a:rPr kumimoji="1" lang="zh-CN" altLang="en-US" sz="2800" b="1" dirty="0" smtClean="0">
                <a:latin typeface="+mn-ea"/>
                <a:ea typeface="华文仿宋" panose="02010600040101010101" pitchFamily="2" charset="-122"/>
              </a:rPr>
              <a:t>第二类错误的概率用</a:t>
            </a:r>
            <a:r>
              <a:rPr kumimoji="1" lang="el-GR" altLang="zh-CN" sz="2800" b="1" dirty="0" smtClean="0">
                <a:latin typeface="+mn-ea"/>
                <a:ea typeface="华文仿宋" panose="02010600040101010101" pitchFamily="2" charset="-122"/>
              </a:rPr>
              <a:t>β</a:t>
            </a:r>
            <a:r>
              <a:rPr kumimoji="1" lang="zh-CN" altLang="en-US" sz="2800" b="1" dirty="0" smtClean="0">
                <a:latin typeface="+mn-ea"/>
                <a:ea typeface="华文仿宋" panose="02010600040101010101" pitchFamily="2" charset="-122"/>
              </a:rPr>
              <a:t>表示。</a:t>
            </a:r>
            <a:endParaRPr kumimoji="1" lang="en-US" altLang="zh-CN" sz="2800" b="1" dirty="0" smtClean="0">
              <a:latin typeface="+mn-ea"/>
              <a:ea typeface="华文仿宋" panose="02010600040101010101" pitchFamily="2" charset="-122"/>
            </a:endParaRPr>
          </a:p>
          <a:p>
            <a:pPr eaLnBrk="1" hangingPunct="1"/>
            <a:endParaRPr kumimoji="1" lang="en-US" altLang="zh-CN" sz="1100" b="1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1" hangingPunct="1"/>
            <a:endParaRPr kumimoji="1" lang="en-US" altLang="zh-CN" sz="1100" b="1" dirty="0" smtClean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eaLnBrk="1" hangingPunct="1"/>
            <a:r>
              <a:rPr lang="en-US" altLang="zh-CN" sz="2800" b="1" dirty="0" err="1" smtClean="0">
                <a:latin typeface="+mn-ea"/>
                <a:ea typeface="+mn-ea"/>
              </a:rPr>
              <a:t>Neyman</a:t>
            </a:r>
            <a:r>
              <a:rPr lang="en-US" altLang="zh-CN" sz="2800" b="1" dirty="0" smtClean="0">
                <a:latin typeface="+mn-ea"/>
                <a:ea typeface="+mn-ea"/>
              </a:rPr>
              <a:t>-Pearson</a:t>
            </a:r>
            <a:r>
              <a:rPr lang="zh-CN" altLang="en-US" sz="2800" b="1" dirty="0">
                <a:latin typeface="+mn-ea"/>
                <a:ea typeface="+mn-ea"/>
              </a:rPr>
              <a:t>原则：在控制第一类错误概率的前提下，尽量减小犯第二类错误的</a:t>
            </a:r>
            <a:r>
              <a:rPr lang="zh-CN" altLang="en-US" sz="2800" b="1" dirty="0" smtClean="0">
                <a:latin typeface="+mn-ea"/>
                <a:ea typeface="+mn-ea"/>
              </a:rPr>
              <a:t>概率。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991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</a:t>
            </a:r>
            <a:r>
              <a:rPr lang="zh-CN" altLang="en-US" dirty="0" smtClean="0"/>
              <a:t>总体均值的检验：单正态总体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14400" y="1598612"/>
            <a:ext cx="533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单</a:t>
            </a:r>
            <a:r>
              <a:rPr lang="zh-CN" altLang="en-US" sz="3200" dirty="0"/>
              <a:t>正态总体</a:t>
            </a:r>
          </a:p>
        </p:txBody>
      </p:sp>
      <p:graphicFrame>
        <p:nvGraphicFramePr>
          <p:cNvPr id="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79994"/>
              </p:ext>
            </p:extLst>
          </p:nvPr>
        </p:nvGraphicFramePr>
        <p:xfrm>
          <a:off x="3136900" y="1630530"/>
          <a:ext cx="2074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0"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1331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1630530"/>
                        <a:ext cx="20748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372298"/>
              </p:ext>
            </p:extLst>
          </p:nvPr>
        </p:nvGraphicFramePr>
        <p:xfrm>
          <a:off x="1828800" y="2330450"/>
          <a:ext cx="1981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1" name="Equation" r:id="rId5" imgW="927100" imgH="228600" progId="Equation.DSMT4">
                  <p:embed/>
                </p:oleObj>
              </mc:Choice>
              <mc:Fallback>
                <p:oleObj name="Equation" r:id="rId5" imgW="927100" imgH="228600" progId="Equation.DSMT4">
                  <p:embed/>
                  <p:pic>
                    <p:nvPicPr>
                      <p:cNvPr id="1331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30450"/>
                        <a:ext cx="19812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914400" y="2246312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样本                   </a:t>
            </a:r>
            <a:r>
              <a:rPr lang="zh-CN" altLang="en-US" sz="3200" dirty="0" smtClean="0"/>
              <a:t> 均值   </a:t>
            </a:r>
            <a:r>
              <a:rPr lang="zh-CN" altLang="en-US" sz="3200" dirty="0"/>
              <a:t>，样本方差                    </a:t>
            </a:r>
          </a:p>
        </p:txBody>
      </p:sp>
      <p:graphicFrame>
        <p:nvGraphicFramePr>
          <p:cNvPr id="1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542645"/>
              </p:ext>
            </p:extLst>
          </p:nvPr>
        </p:nvGraphicFramePr>
        <p:xfrm>
          <a:off x="4664075" y="2331242"/>
          <a:ext cx="3651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2" name="Equation" r:id="rId7" imgW="177646" imgH="190335" progId="Equation.DSMT4">
                  <p:embed/>
                </p:oleObj>
              </mc:Choice>
              <mc:Fallback>
                <p:oleObj name="Equation" r:id="rId7" imgW="177646" imgH="190335" progId="Equation.DSMT4">
                  <p:embed/>
                  <p:pic>
                    <p:nvPicPr>
                      <p:cNvPr id="133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331242"/>
                        <a:ext cx="3651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229188"/>
              </p:ext>
            </p:extLst>
          </p:nvPr>
        </p:nvGraphicFramePr>
        <p:xfrm>
          <a:off x="7010400" y="2298852"/>
          <a:ext cx="4572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3" name="Equation" r:id="rId9" imgW="190417" imgH="203112" progId="Equation.DSMT4">
                  <p:embed/>
                </p:oleObj>
              </mc:Choice>
              <mc:Fallback>
                <p:oleObj name="Equation" r:id="rId9" imgW="190417" imgH="203112" progId="Equation.DSMT4">
                  <p:embed/>
                  <p:pic>
                    <p:nvPicPr>
                      <p:cNvPr id="133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298852"/>
                        <a:ext cx="4572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891777" y="3059338"/>
            <a:ext cx="495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/>
              <a:t>1</a:t>
            </a:r>
            <a:r>
              <a:rPr lang="en-US" altLang="zh-CN" sz="3200" dirty="0"/>
              <a:t>.       </a:t>
            </a:r>
            <a:r>
              <a:rPr lang="zh-CN" altLang="en-US" sz="3200" dirty="0" smtClean="0"/>
              <a:t>已知</a:t>
            </a:r>
            <a:r>
              <a:rPr lang="en-US" altLang="zh-CN" sz="3200" dirty="0"/>
              <a:t> </a:t>
            </a:r>
            <a:r>
              <a:rPr lang="zh-CN" altLang="en-US" sz="3200" dirty="0" smtClean="0"/>
              <a:t>（</a:t>
            </a:r>
            <a:r>
              <a:rPr lang="en-US" altLang="zh-CN" sz="3200" b="1" dirty="0" smtClean="0">
                <a:solidFill>
                  <a:srgbClr val="7030A0"/>
                </a:solidFill>
              </a:rPr>
              <a:t>u</a:t>
            </a:r>
            <a:r>
              <a:rPr lang="zh-CN" altLang="en-US" sz="3200" b="1" dirty="0" smtClean="0">
                <a:solidFill>
                  <a:srgbClr val="7030A0"/>
                </a:solidFill>
              </a:rPr>
              <a:t>检验</a:t>
            </a:r>
            <a:r>
              <a:rPr lang="zh-CN" altLang="en-US" sz="3200" dirty="0" smtClean="0"/>
              <a:t>）</a:t>
            </a:r>
            <a:endParaRPr lang="zh-CN" altLang="en-US" sz="3200" dirty="0"/>
          </a:p>
        </p:txBody>
      </p:sp>
      <p:graphicFrame>
        <p:nvGraphicFramePr>
          <p:cNvPr id="1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471116"/>
              </p:ext>
            </p:extLst>
          </p:nvPr>
        </p:nvGraphicFramePr>
        <p:xfrm>
          <a:off x="1501377" y="3138714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4" name="Equation" r:id="rId11" imgW="203024" imgH="203024" progId="Equation.DSMT4">
                  <p:embed/>
                </p:oleObj>
              </mc:Choice>
              <mc:Fallback>
                <p:oleObj name="Equation" r:id="rId11" imgW="203024" imgH="203024" progId="Equation.DSMT4">
                  <p:embed/>
                  <p:pic>
                    <p:nvPicPr>
                      <p:cNvPr id="133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377" y="3138714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9"/>
          <p:cNvSpPr>
            <a:spLocks noChangeArrowheads="1"/>
          </p:cNvSpPr>
          <p:nvPr/>
        </p:nvSpPr>
        <p:spPr bwMode="auto">
          <a:xfrm>
            <a:off x="1410096" y="3708304"/>
            <a:ext cx="3535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以双边检验为例：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9"/>
              <p:cNvSpPr>
                <a:spLocks noChangeArrowheads="1"/>
              </p:cNvSpPr>
              <p:nvPr/>
            </p:nvSpPr>
            <p:spPr bwMode="auto">
              <a:xfrm>
                <a:off x="1455339" y="4304496"/>
                <a:ext cx="5638800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zh-CN" altLang="en-US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5339" y="4304496"/>
                <a:ext cx="5638800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9"/>
              <p:cNvSpPr>
                <a:spLocks noChangeArrowheads="1"/>
              </p:cNvSpPr>
              <p:nvPr/>
            </p:nvSpPr>
            <p:spPr bwMode="auto">
              <a:xfrm>
                <a:off x="1461222" y="4967602"/>
                <a:ext cx="2819400" cy="899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取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6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1222" y="4967602"/>
                <a:ext cx="2819400" cy="899798"/>
              </a:xfrm>
              <a:prstGeom prst="rect">
                <a:avLst/>
              </a:prstGeom>
              <a:blipFill>
                <a:blip r:embed="rId14"/>
                <a:stretch>
                  <a:fillRect l="-56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9"/>
              <p:cNvSpPr>
                <a:spLocks noChangeArrowheads="1"/>
              </p:cNvSpPr>
              <p:nvPr/>
            </p:nvSpPr>
            <p:spPr bwMode="auto">
              <a:xfrm>
                <a:off x="1410096" y="5867400"/>
                <a:ext cx="6263481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成立</m:t>
                    </m:r>
                  </m:oMath>
                </a14:m>
                <a:r>
                  <a:rPr lang="zh-CN" altLang="en-US" sz="3200" dirty="0" smtClean="0"/>
                  <a:t>的条件下，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7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0096" y="5867400"/>
                <a:ext cx="6263481" cy="584775"/>
              </a:xfrm>
              <a:prstGeom prst="rect">
                <a:avLst/>
              </a:prstGeom>
              <a:blipFill>
                <a:blip r:embed="rId15"/>
                <a:stretch>
                  <a:fillRect l="-2432" t="-17895" b="-294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71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正态总体均值的检验：单正态总体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1324502" y="1568656"/>
                <a:ext cx="3505200" cy="664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拒绝域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4502" y="1568656"/>
                <a:ext cx="3505200" cy="664156"/>
              </a:xfrm>
              <a:prstGeom prst="rect">
                <a:avLst/>
              </a:prstGeom>
              <a:blipFill>
                <a:blip r:embed="rId2"/>
                <a:stretch>
                  <a:fillRect l="-4348" t="-11927" b="-174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9"/>
              <p:cNvSpPr>
                <a:spLocks noChangeArrowheads="1"/>
              </p:cNvSpPr>
              <p:nvPr/>
            </p:nvSpPr>
            <p:spPr bwMode="auto">
              <a:xfrm>
                <a:off x="1324502" y="2293703"/>
                <a:ext cx="7620000" cy="6288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或</a:t>
                </a:r>
                <a:r>
                  <a:rPr lang="en-US" altLang="zh-CN" sz="3200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(−∞,−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∪[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,+∞)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4502" y="2293703"/>
                <a:ext cx="7620000" cy="628890"/>
              </a:xfrm>
              <a:prstGeom prst="rect">
                <a:avLst/>
              </a:prstGeom>
              <a:blipFill>
                <a:blip r:embed="rId3"/>
                <a:stretch>
                  <a:fillRect l="-2000" t="-16505" b="-242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>
                <a:spLocks noChangeArrowheads="1"/>
              </p:cNvSpPr>
              <p:nvPr/>
            </p:nvSpPr>
            <p:spPr bwMode="auto">
              <a:xfrm>
                <a:off x="1324502" y="3125348"/>
                <a:ext cx="7620000" cy="1089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计算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3200" dirty="0" smtClean="0"/>
                  <a:t>的观测值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lang="zh-CN" altLang="en-US" sz="3200" dirty="0" smtClean="0"/>
                  <a:t>，若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3200" dirty="0" smtClean="0"/>
                  <a:t> 拒绝域，则拒绝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 smtClean="0"/>
                  <a:t>,</a:t>
                </a:r>
                <a:r>
                  <a:rPr lang="zh-CN" altLang="en-US" sz="3200" dirty="0" smtClean="0"/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 smtClean="0"/>
                  <a:t>，否则接受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4502" y="3125348"/>
                <a:ext cx="7620000" cy="1089594"/>
              </a:xfrm>
              <a:prstGeom prst="rect">
                <a:avLst/>
              </a:prstGeom>
              <a:blipFill>
                <a:blip r:embed="rId4"/>
                <a:stretch>
                  <a:fillRect l="-2000" t="-8427" r="-2080" b="-179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9"/>
          <p:cNvSpPr>
            <a:spLocks noChangeArrowheads="1"/>
          </p:cNvSpPr>
          <p:nvPr/>
        </p:nvSpPr>
        <p:spPr bwMode="auto">
          <a:xfrm>
            <a:off x="1019701" y="4507477"/>
            <a:ext cx="56096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结论：双</a:t>
            </a:r>
            <a:r>
              <a:rPr lang="en-US" altLang="zh-CN" sz="3200" dirty="0" smtClean="0"/>
              <a:t>/</a:t>
            </a:r>
            <a:r>
              <a:rPr lang="zh-CN" altLang="en-US" sz="3200" dirty="0" smtClean="0"/>
              <a:t>单边检验的拒绝域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053030" y="5518883"/>
                <a:ext cx="15236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30" y="5518883"/>
                <a:ext cx="1523622" cy="369332"/>
              </a:xfrm>
              <a:prstGeom prst="rect">
                <a:avLst/>
              </a:prstGeom>
              <a:blipFill>
                <a:blip r:embed="rId5"/>
                <a:stretch>
                  <a:fillRect l="-1600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920851" y="5113997"/>
                <a:ext cx="1768497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851" y="5113997"/>
                <a:ext cx="1768497" cy="11791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490949" y="5027532"/>
                <a:ext cx="1553502" cy="1284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acc>
                              <m:accPr>
                                <m:chr m:val="̃"/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≤−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949" y="5027532"/>
                <a:ext cx="1553502" cy="12849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07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钢铁厂正常情况下铁水的含碳量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4.55, </m:t>
                        </m:r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0.108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  </a:t>
                </a:r>
                <a:r>
                  <a:rPr lang="zh-CN" altLang="en-US" dirty="0"/>
                  <a:t>现观测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炉钢水，测得含碳量</a:t>
                </a:r>
                <a:r>
                  <a:rPr lang="en-US" altLang="zh-CN" dirty="0"/>
                  <a:t>4.28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4.40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4.42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4.35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4.37</a:t>
                </a:r>
                <a:r>
                  <a:rPr lang="zh-CN" altLang="en-US" dirty="0"/>
                  <a:t>，问含碳量的均值有无显著变化</a:t>
                </a:r>
                <a:r>
                  <a:rPr lang="zh-CN" altLang="en-US" dirty="0" smtClean="0"/>
                  <a:t>？</a:t>
                </a:r>
                <a:r>
                  <a:rPr lang="zh-CN" altLang="en-US" sz="2800" dirty="0" smtClean="0"/>
                  <a:t>（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sz="2800" dirty="0"/>
                  <a:t>）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449" t="-1357" r="-1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688848" y="3581400"/>
                <a:ext cx="8001000" cy="30337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 smtClean="0">
                    <a:latin typeface="宋体" panose="02010600030101010101" pitchFamily="2" charset="-122"/>
                  </a:rPr>
                  <a:t>解：显著变化</a:t>
                </a:r>
                <a:r>
                  <a:rPr lang="en-US" altLang="zh-CN" sz="2800" dirty="0" smtClean="0">
                    <a:latin typeface="宋体" panose="02010600030101010101" pitchFamily="2" charset="-122"/>
                    <a:sym typeface="Wingdings" panose="05000000000000000000" pitchFamily="2" charset="2"/>
                  </a:rPr>
                  <a:t></a:t>
                </a:r>
                <a:r>
                  <a:rPr lang="zh-CN" altLang="en-US" sz="2800" dirty="0" smtClean="0">
                    <a:latin typeface="宋体" panose="02010600030101010101" pitchFamily="2" charset="-122"/>
                    <a:sym typeface="Wingdings" panose="05000000000000000000" pitchFamily="2" charset="2"/>
                  </a:rPr>
                  <a:t>双边检验</a:t>
                </a:r>
                <a:endParaRPr lang="en-US" altLang="zh-CN" sz="2800" dirty="0" smtClean="0">
                  <a:latin typeface="宋体" panose="02010600030101010101" pitchFamily="2" charset="-122"/>
                  <a:sym typeface="Wingdings" panose="05000000000000000000" pitchFamily="2" charset="2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μ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=4.55</m:t>
                    </m:r>
                  </m:oMath>
                </a14:m>
                <a:r>
                  <a:rPr lang="en-US" altLang="zh-CN" sz="2800" dirty="0" smtClean="0">
                    <a:latin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≠4.55</m:t>
                    </m:r>
                  </m:oMath>
                </a14:m>
                <a:endParaRPr lang="en-US" altLang="zh-CN" sz="28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宋体" panose="02010600030101010101" pitchFamily="2" charset="-122"/>
                  </a:rPr>
                  <a:t>成立时，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  <m: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−4.55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altLang="zh-CN" sz="28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宋体" panose="02010600030101010101" pitchFamily="2" charset="-122"/>
                  </a:rPr>
                  <a:t>拒绝域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acc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800" dirty="0" smtClean="0">
                    <a:latin typeface="宋体" panose="02010600030101010101" pitchFamily="2" charset="-122"/>
                  </a:rPr>
                  <a:t>1.96</a:t>
                </a: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=4.364; </m:t>
                    </m:r>
                    <m:acc>
                      <m:accPr>
                        <m:chr m:val="̃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=−3.851∈</m:t>
                    </m:r>
                  </m:oMath>
                </a14:m>
                <a:r>
                  <a:rPr lang="zh-CN" altLang="en-US" sz="2800" dirty="0" smtClean="0">
                    <a:latin typeface="宋体" panose="02010600030101010101" pitchFamily="2" charset="-122"/>
                  </a:rPr>
                  <a:t> 拒绝域</a:t>
                </a:r>
                <a:endParaRPr lang="en-US" altLang="zh-CN" sz="28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宋体" panose="02010600030101010101" pitchFamily="2" charset="-122"/>
                  </a:rPr>
                  <a:t>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800" b="0" i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 smtClean="0">
                    <a:latin typeface="宋体" panose="02010600030101010101" pitchFamily="2" charset="-122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宋体" panose="02010600030101010101" pitchFamily="2" charset="-122"/>
                  </a:rPr>
                  <a:t>，认为有显著变化</a:t>
                </a:r>
                <a:endParaRPr lang="zh-CN" altLang="en-US" sz="2800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848" y="3581400"/>
                <a:ext cx="8001000" cy="3033716"/>
              </a:xfrm>
              <a:prstGeom prst="rect">
                <a:avLst/>
              </a:prstGeom>
              <a:blipFill>
                <a:blip r:embed="rId3"/>
                <a:stretch>
                  <a:fillRect l="-1523" t="-2817" b="-44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28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某批元件合格标准的寿命不低于</a:t>
                </a:r>
                <a:r>
                  <a:rPr lang="en-US" altLang="zh-CN" dirty="0"/>
                  <a:t>1000</a:t>
                </a:r>
                <a:r>
                  <a:rPr lang="zh-CN" altLang="en-US" dirty="0"/>
                  <a:t>小时，已知元件寿命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，抽取</a:t>
                </a:r>
                <a:r>
                  <a:rPr lang="en-US" altLang="zh-CN" dirty="0"/>
                  <a:t>25</a:t>
                </a:r>
                <a:r>
                  <a:rPr lang="zh-CN" altLang="en-US" dirty="0"/>
                  <a:t>件，测得平均寿命</a:t>
                </a:r>
                <a:r>
                  <a:rPr lang="en-US" altLang="zh-CN" dirty="0"/>
                  <a:t>960</a:t>
                </a:r>
                <a:r>
                  <a:rPr lang="zh-CN" altLang="en-US" dirty="0"/>
                  <a:t>小时，设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dirty="0"/>
                  <a:t>，检验平均寿命是否合格。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5" name="矩形 9"/>
          <p:cNvSpPr>
            <a:spLocks noChangeArrowheads="1"/>
          </p:cNvSpPr>
          <p:nvPr/>
        </p:nvSpPr>
        <p:spPr bwMode="auto">
          <a:xfrm>
            <a:off x="379703" y="3555712"/>
            <a:ext cx="914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解：</a:t>
            </a:r>
            <a:r>
              <a:rPr lang="en-US" altLang="zh-CN" sz="3200" dirty="0" smtClean="0"/>
              <a:t> 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9"/>
              <p:cNvSpPr>
                <a:spLocks noChangeArrowheads="1"/>
              </p:cNvSpPr>
              <p:nvPr/>
            </p:nvSpPr>
            <p:spPr bwMode="auto">
              <a:xfrm>
                <a:off x="1220076" y="3555712"/>
                <a:ext cx="7620000" cy="2894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=1000, 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&lt;1000</m:t>
                    </m:r>
                  </m:oMath>
                </a14:m>
                <a:endParaRPr lang="en-US" altLang="zh-CN" sz="32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i="0">
                        <a:latin typeface="Cambria Math" panose="02040503050406030204" pitchFamily="18" charset="0"/>
                      </a:rPr>
                      <m:t>成立</m:t>
                    </m:r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−1000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zh-CN" sz="32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3200" dirty="0" smtClean="0">
                    <a:latin typeface="宋体" panose="02010600030101010101" pitchFamily="2" charset="-122"/>
                  </a:rPr>
                  <a:t>拒绝域：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≤−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=−1.645</m:t>
                    </m:r>
                  </m:oMath>
                </a14:m>
                <a:endParaRPr lang="en-US" altLang="zh-CN" sz="32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3200" dirty="0" smtClean="0">
                    <a:latin typeface="宋体" panose="02010600030101010101" pitchFamily="2" charset="-122"/>
                  </a:rPr>
                  <a:t>观测值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=−2.0∈ </m:t>
                    </m:r>
                    <m:r>
                      <a:rPr lang="zh-CN" altLang="en-US" sz="3200" i="0">
                        <a:latin typeface="Cambria Math" panose="02040503050406030204" pitchFamily="18" charset="0"/>
                      </a:rPr>
                      <m:t>拒绝域</m:t>
                    </m:r>
                  </m:oMath>
                </a14:m>
                <a:endParaRPr lang="en-US" altLang="zh-CN" sz="3200" dirty="0" smtClean="0">
                  <a:latin typeface="宋体" panose="02010600030101010101" pitchFamily="2" charset="-122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3200" dirty="0" smtClean="0">
                    <a:latin typeface="宋体" panose="02010600030101010101" pitchFamily="2" charset="-122"/>
                  </a:rPr>
                  <a:t>结论：拒绝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，接受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，认为不合格</a:t>
                </a:r>
                <a:endParaRPr lang="zh-CN" altLang="en-US" sz="3200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0076" y="3555712"/>
                <a:ext cx="7620000" cy="2894318"/>
              </a:xfrm>
              <a:prstGeom prst="rect">
                <a:avLst/>
              </a:prstGeom>
              <a:blipFill>
                <a:blip r:embed="rId3"/>
                <a:stretch>
                  <a:fillRect l="-1520" r="-1280" b="-56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44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正态总体均值的检验：单正态总体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5" name="TextBox 12"/>
          <p:cNvSpPr txBox="1">
            <a:spLocks noChangeArrowheads="1"/>
          </p:cNvSpPr>
          <p:nvPr/>
        </p:nvSpPr>
        <p:spPr bwMode="auto">
          <a:xfrm>
            <a:off x="914400" y="1600200"/>
            <a:ext cx="44037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/>
              <a:t>2.       </a:t>
            </a:r>
            <a:r>
              <a:rPr lang="zh-CN" altLang="en-US" sz="3200" dirty="0" smtClean="0"/>
              <a:t>未知</a:t>
            </a:r>
            <a:r>
              <a:rPr lang="en-US" altLang="zh-CN" sz="3200" dirty="0" smtClean="0"/>
              <a:t> </a:t>
            </a:r>
            <a:r>
              <a:rPr lang="zh-CN" altLang="en-US" sz="3200" dirty="0" smtClean="0"/>
              <a:t>（</a:t>
            </a:r>
            <a:r>
              <a:rPr lang="en-US" altLang="zh-CN" sz="3200" b="1" dirty="0" smtClean="0">
                <a:solidFill>
                  <a:srgbClr val="7030A0"/>
                </a:solidFill>
              </a:rPr>
              <a:t>t</a:t>
            </a:r>
            <a:r>
              <a:rPr lang="zh-CN" altLang="en-US" sz="3200" b="1" dirty="0" smtClean="0">
                <a:solidFill>
                  <a:srgbClr val="7030A0"/>
                </a:solidFill>
              </a:rPr>
              <a:t>检验</a:t>
            </a:r>
            <a:r>
              <a:rPr lang="zh-CN" altLang="en-US" sz="3200" dirty="0" smtClean="0"/>
              <a:t>）</a:t>
            </a:r>
            <a:endParaRPr lang="zh-CN" altLang="en-US" sz="3200" dirty="0"/>
          </a:p>
        </p:txBody>
      </p:sp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986556"/>
              </p:ext>
            </p:extLst>
          </p:nvPr>
        </p:nvGraphicFramePr>
        <p:xfrm>
          <a:off x="1600200" y="1676400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3" name="Equation" r:id="rId4" imgW="203024" imgH="203024" progId="Equation.DSMT4">
                  <p:embed/>
                </p:oleObj>
              </mc:Choice>
              <mc:Fallback>
                <p:oleObj name="Equation" r:id="rId4" imgW="203024" imgH="203024" progId="Equation.DSMT4">
                  <p:embed/>
                  <p:pic>
                    <p:nvPicPr>
                      <p:cNvPr id="133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37084" y="2547778"/>
            <a:ext cx="449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用样本</a:t>
            </a:r>
            <a:r>
              <a:rPr lang="en-US" altLang="zh-CN" sz="3200" b="1" dirty="0" smtClean="0"/>
              <a:t>(</a:t>
            </a:r>
            <a:r>
              <a:rPr lang="zh-CN" altLang="en-US" sz="3200" b="1" dirty="0" smtClean="0"/>
              <a:t>修正</a:t>
            </a:r>
            <a:r>
              <a:rPr lang="en-US" altLang="zh-CN" sz="3200" b="1" dirty="0" smtClean="0"/>
              <a:t>)</a:t>
            </a:r>
            <a:r>
              <a:rPr lang="zh-CN" altLang="en-US" sz="3200" b="1" dirty="0" smtClean="0"/>
              <a:t>方差代替</a:t>
            </a:r>
            <a:endParaRPr lang="zh-CN" altLang="en-US" sz="3200" b="1" dirty="0"/>
          </a:p>
        </p:txBody>
      </p:sp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739203"/>
              </p:ext>
            </p:extLst>
          </p:nvPr>
        </p:nvGraphicFramePr>
        <p:xfrm>
          <a:off x="5532851" y="2513153"/>
          <a:ext cx="600066" cy="6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4" name="Equation" r:id="rId6" imgW="203024" imgH="203024" progId="Equation.DSMT4">
                  <p:embed/>
                </p:oleObj>
              </mc:Choice>
              <mc:Fallback>
                <p:oleObj name="Equation" r:id="rId6" imgW="203024" imgH="203024" progId="Equation.DSMT4">
                  <p:embed/>
                  <p:pic>
                    <p:nvPicPr>
                      <p:cNvPr id="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851" y="2513153"/>
                        <a:ext cx="600066" cy="60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359713" y="3221165"/>
                <a:ext cx="4132542" cy="90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3200" b="1" dirty="0" smtClean="0">
                    <a:latin typeface="+mn-ea"/>
                  </a:rPr>
                  <a:t>取 </a:t>
                </a:r>
                <a:r>
                  <a:rPr lang="en-US" altLang="zh-CN" sz="3200" b="1" dirty="0" smtClean="0">
                    <a:latin typeface="+mn-ea"/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m:rPr>
                            <m:sty m:val="p"/>
                          </m:rPr>
                          <a:rPr lang="en-US" altLang="zh-CN" sz="3200" b="1" i="1" baseline="-250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rad>
                      </m:den>
                    </m:f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m:rPr>
                            <m:sty m:val="p"/>
                          </m:rPr>
                          <a:rPr lang="en-US" altLang="zh-CN" sz="3200" b="1" i="1" baseline="-250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3200" b="1" i="1" baseline="-25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baseline="-2500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</m:oMath>
                </a14:m>
                <a:endParaRPr lang="zh-CN" altLang="en-US" sz="32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713" y="3221165"/>
                <a:ext cx="4132542" cy="909736"/>
              </a:xfrm>
              <a:prstGeom prst="rect">
                <a:avLst/>
              </a:prstGeom>
              <a:blipFill rotWithShape="0">
                <a:blip r:embed="rId7"/>
                <a:stretch>
                  <a:fillRect l="-3687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359713" y="4168743"/>
                <a:ext cx="457067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b="1" i="0">
                        <a:latin typeface="Cambria Math" panose="02040503050406030204" pitchFamily="18" charset="0"/>
                      </a:rPr>
                      <m:t>成立</m:t>
                    </m:r>
                  </m:oMath>
                </a14:m>
                <a:r>
                  <a:rPr lang="zh-CN" altLang="en-US" sz="3200" b="1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zh-CN" altLang="en-US" sz="32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713" y="4168743"/>
                <a:ext cx="4570675" cy="584775"/>
              </a:xfrm>
              <a:prstGeom prst="rect">
                <a:avLst/>
              </a:prstGeom>
              <a:blipFill>
                <a:blip r:embed="rId8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08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正态总体均值的检验：单正态总体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19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1142636" y="3733800"/>
                <a:ext cx="7620000" cy="2312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拒绝域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   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≤−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   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   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2636" y="3733800"/>
                <a:ext cx="7620000" cy="2312108"/>
              </a:xfrm>
              <a:prstGeom prst="rect">
                <a:avLst/>
              </a:prstGeom>
              <a:blipFill>
                <a:blip r:embed="rId2"/>
                <a:stretch>
                  <a:fillRect l="-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9"/>
              <p:cNvSpPr>
                <a:spLocks noChangeArrowheads="1"/>
              </p:cNvSpPr>
              <p:nvPr/>
            </p:nvSpPr>
            <p:spPr bwMode="auto">
              <a:xfrm>
                <a:off x="457200" y="1752600"/>
                <a:ext cx="5638800" cy="1664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zh-CN" altLang="en-US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752600"/>
                <a:ext cx="5638800" cy="1664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7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latin typeface="+mn-ea"/>
                  </a:rPr>
                  <a:t>规定某种保健品中</a:t>
                </a:r>
                <a:r>
                  <a:rPr lang="en-US" altLang="zh-CN" sz="2800" dirty="0" err="1">
                    <a:latin typeface="+mn-ea"/>
                  </a:rPr>
                  <a:t>Vc</a:t>
                </a:r>
                <a:r>
                  <a:rPr lang="zh-CN" altLang="en-US" sz="2800" dirty="0">
                    <a:latin typeface="+mn-ea"/>
                  </a:rPr>
                  <a:t>的含量不得低于</a:t>
                </a:r>
                <a:r>
                  <a:rPr lang="en-US" altLang="zh-CN" sz="2800" dirty="0">
                    <a:latin typeface="+mn-ea"/>
                  </a:rPr>
                  <a:t>21mg. </a:t>
                </a:r>
                <a:r>
                  <a:rPr lang="zh-CN" altLang="en-US" sz="2800" dirty="0">
                    <a:latin typeface="+mn-ea"/>
                  </a:rPr>
                  <a:t>已知每份样品中</a:t>
                </a:r>
                <a:r>
                  <a:rPr lang="en-US" altLang="zh-CN" sz="2800" dirty="0" err="1">
                    <a:latin typeface="+mn-ea"/>
                  </a:rPr>
                  <a:t>Vc</a:t>
                </a:r>
                <a:r>
                  <a:rPr lang="zh-CN" altLang="en-US" sz="2800" dirty="0">
                    <a:latin typeface="+mn-ea"/>
                  </a:rPr>
                  <a:t>含量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8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8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8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800" dirty="0">
                    <a:latin typeface="+mn-ea"/>
                  </a:rPr>
                  <a:t>,</a:t>
                </a:r>
                <a:r>
                  <a:rPr lang="zh-CN" altLang="en-US" sz="2800" dirty="0">
                    <a:latin typeface="+mn-ea"/>
                  </a:rPr>
                  <a:t>现抽取</a:t>
                </a:r>
                <a:r>
                  <a:rPr lang="en-US" altLang="zh-CN" sz="2800" dirty="0">
                    <a:latin typeface="+mn-ea"/>
                  </a:rPr>
                  <a:t>17</a:t>
                </a:r>
                <a:r>
                  <a:rPr lang="zh-CN" altLang="en-US" sz="2800" dirty="0">
                    <a:latin typeface="+mn-ea"/>
                  </a:rPr>
                  <a:t>个样品，测得</a:t>
                </a:r>
                <a:r>
                  <a:rPr lang="en-US" altLang="zh-CN" sz="2800" dirty="0" err="1">
                    <a:latin typeface="+mn-ea"/>
                  </a:rPr>
                  <a:t>Vc</a:t>
                </a:r>
                <a:r>
                  <a:rPr lang="zh-CN" altLang="en-US" sz="2800" dirty="0">
                    <a:latin typeface="+mn-ea"/>
                  </a:rPr>
                  <a:t>含量均值为</a:t>
                </a:r>
                <a:r>
                  <a:rPr lang="en-US" altLang="zh-CN" sz="2800" dirty="0">
                    <a:latin typeface="+mn-ea"/>
                  </a:rPr>
                  <a:t>20mg</a:t>
                </a:r>
                <a:r>
                  <a:rPr lang="zh-CN" altLang="en-US" sz="2800" dirty="0">
                    <a:latin typeface="+mn-ea"/>
                  </a:rPr>
                  <a:t>，修正样本方差为</a:t>
                </a:r>
                <a:r>
                  <a:rPr lang="en-US" altLang="zh-CN" sz="2800" dirty="0">
                    <a:latin typeface="+mn-ea"/>
                  </a:rPr>
                  <a:t>15.88</a:t>
                </a:r>
                <a:r>
                  <a:rPr lang="zh-CN" altLang="en-US" sz="2800" dirty="0">
                    <a:latin typeface="+mn-ea"/>
                  </a:rPr>
                  <a:t>，以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检验这批保健品的</a:t>
                </a:r>
                <a:r>
                  <a:rPr lang="en-US" altLang="zh-CN" sz="2800" dirty="0" err="1">
                    <a:latin typeface="+mn-ea"/>
                  </a:rPr>
                  <a:t>Vc</a:t>
                </a:r>
                <a:r>
                  <a:rPr lang="zh-CN" altLang="en-US" sz="2800" dirty="0">
                    <a:latin typeface="+mn-ea"/>
                  </a:rPr>
                  <a:t>含量是否合格？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74" t="-1493" r="-5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1509056" y="3505200"/>
                <a:ext cx="6872944" cy="2987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μ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=21,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μ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&lt;21</m:t>
                    </m:r>
                  </m:oMath>
                </a14:m>
                <a:endParaRPr lang="en-US" altLang="zh-CN" sz="2800" b="0" i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σ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未知</a:t>
                </a:r>
                <a:r>
                  <a:rPr lang="en-US" altLang="zh-CN" sz="2800" dirty="0" smtClean="0">
                    <a:latin typeface="+mn-ea"/>
                    <a:ea typeface="+mn-ea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成立时，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n</m:t>
                            </m:r>
                          </m:e>
                        </m:rad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X</m:t>
                                </m:r>
                              </m:e>
                            </m:acc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−21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n</m:t>
                            </m:r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∼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n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</m:oMath>
                </a14:m>
                <a:endParaRPr lang="en-US" altLang="zh-CN" sz="2800" b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拒绝域：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T</m:t>
                        </m:r>
                      </m:e>
                    </m:acc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≤−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α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n</m:t>
                        </m:r>
                        <m: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−1</m:t>
                        </m:r>
                      </m:e>
                    </m:d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=−2.1199</m:t>
                    </m:r>
                  </m:oMath>
                </a14:m>
                <a:endParaRPr lang="en-US" altLang="zh-CN" sz="280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观察值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T</m:t>
                        </m:r>
                      </m:e>
                    </m:acc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=−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1.036∉</m:t>
                    </m:r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拒绝域</a:t>
                </a:r>
                <a:endParaRPr lang="en-US" altLang="zh-CN" sz="2800" dirty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，认为合格</a:t>
                </a:r>
                <a:r>
                  <a:rPr lang="en-US" altLang="zh-CN" sz="2800" dirty="0" smtClean="0">
                    <a:latin typeface="+mn-ea"/>
                    <a:ea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9056" y="3505200"/>
                <a:ext cx="6872944" cy="2987421"/>
              </a:xfrm>
              <a:prstGeom prst="rect">
                <a:avLst/>
              </a:prstGeom>
              <a:blipFill>
                <a:blip r:embed="rId3"/>
                <a:stretch>
                  <a:fillRect l="-1597" b="-51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9"/>
          <p:cNvSpPr>
            <a:spLocks noChangeArrowheads="1"/>
          </p:cNvSpPr>
          <p:nvPr/>
        </p:nvSpPr>
        <p:spPr bwMode="auto">
          <a:xfrm>
            <a:off x="629708" y="3505200"/>
            <a:ext cx="91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 smtClean="0"/>
              <a:t>解：</a:t>
            </a:r>
            <a:r>
              <a:rPr lang="en-US" altLang="zh-CN" sz="2800" dirty="0" smtClean="0"/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8592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9"/>
          <p:cNvSpPr>
            <a:spLocks noChangeArrowheads="1"/>
          </p:cNvSpPr>
          <p:nvPr/>
        </p:nvSpPr>
        <p:spPr bwMode="auto">
          <a:xfrm>
            <a:off x="914400" y="2794304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样本                    均值   </a:t>
            </a:r>
            <a:r>
              <a:rPr lang="zh-CN" altLang="en-US" sz="3200" dirty="0"/>
              <a:t>，样本方差                   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正态总体均值的检验</a:t>
            </a:r>
            <a:r>
              <a:rPr lang="zh-CN" altLang="en-US" dirty="0" smtClean="0"/>
              <a:t>：双正</a:t>
            </a:r>
            <a:r>
              <a:rPr lang="zh-CN" altLang="en-US" dirty="0"/>
              <a:t>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914400" y="1598612"/>
            <a:ext cx="78516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正</a:t>
            </a:r>
            <a:r>
              <a:rPr lang="zh-CN" altLang="en-US" sz="3200" dirty="0"/>
              <a:t>态</a:t>
            </a:r>
            <a:r>
              <a:rPr lang="zh-CN" altLang="en-US" sz="3200" dirty="0" smtClean="0"/>
              <a:t>总体                       与                      独立</a:t>
            </a:r>
            <a:endParaRPr lang="zh-CN" altLang="en-US" sz="3200" dirty="0"/>
          </a:p>
        </p:txBody>
      </p:sp>
      <p:graphicFrame>
        <p:nvGraphicFramePr>
          <p:cNvPr id="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030517"/>
              </p:ext>
            </p:extLst>
          </p:nvPr>
        </p:nvGraphicFramePr>
        <p:xfrm>
          <a:off x="2727325" y="1592263"/>
          <a:ext cx="21621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25" name="Equation" r:id="rId3" imgW="927000" imgH="241200" progId="Equation.DSMT4">
                  <p:embed/>
                </p:oleObj>
              </mc:Choice>
              <mc:Fallback>
                <p:oleObj name="Equation" r:id="rId3" imgW="927000" imgH="241200" progId="Equation.DSMT4">
                  <p:embed/>
                  <p:pic>
                    <p:nvPicPr>
                      <p:cNvPr id="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1592263"/>
                        <a:ext cx="21621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178708"/>
              </p:ext>
            </p:extLst>
          </p:nvPr>
        </p:nvGraphicFramePr>
        <p:xfrm>
          <a:off x="1828800" y="2330450"/>
          <a:ext cx="1981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26" name="Equation" r:id="rId5" imgW="927100" imgH="228600" progId="Equation.DSMT4">
                  <p:embed/>
                </p:oleObj>
              </mc:Choice>
              <mc:Fallback>
                <p:oleObj name="Equation" r:id="rId5" imgW="927100" imgH="228600" progId="Equation.DSMT4">
                  <p:embed/>
                  <p:pic>
                    <p:nvPicPr>
                      <p:cNvPr id="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30450"/>
                        <a:ext cx="19812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9"/>
          <p:cNvSpPr>
            <a:spLocks noChangeArrowheads="1"/>
          </p:cNvSpPr>
          <p:nvPr/>
        </p:nvSpPr>
        <p:spPr bwMode="auto">
          <a:xfrm>
            <a:off x="914400" y="2244873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样本    </a:t>
            </a:r>
            <a:r>
              <a:rPr lang="zh-CN" altLang="en-US" sz="3200" dirty="0" smtClean="0"/>
              <a:t>                均值   </a:t>
            </a:r>
            <a:r>
              <a:rPr lang="zh-CN" altLang="en-US" sz="3200" dirty="0"/>
              <a:t>，样本方差                    </a:t>
            </a:r>
          </a:p>
        </p:txBody>
      </p:sp>
      <p:graphicFrame>
        <p:nvGraphicFramePr>
          <p:cNvPr id="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172601"/>
              </p:ext>
            </p:extLst>
          </p:nvPr>
        </p:nvGraphicFramePr>
        <p:xfrm>
          <a:off x="4664075" y="2331242"/>
          <a:ext cx="3651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27" name="Equation" r:id="rId7" imgW="177646" imgH="190335" progId="Equation.DSMT4">
                  <p:embed/>
                </p:oleObj>
              </mc:Choice>
              <mc:Fallback>
                <p:oleObj name="Equation" r:id="rId7" imgW="177646" imgH="190335" progId="Equation.DSMT4">
                  <p:embed/>
                  <p:pic>
                    <p:nvPicPr>
                      <p:cNvPr id="1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331242"/>
                        <a:ext cx="3651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761243"/>
              </p:ext>
            </p:extLst>
          </p:nvPr>
        </p:nvGraphicFramePr>
        <p:xfrm>
          <a:off x="6980238" y="2254250"/>
          <a:ext cx="5175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28" name="Equation" r:id="rId9" imgW="215640" imgH="241200" progId="Equation.DSMT4">
                  <p:embed/>
                </p:oleObj>
              </mc:Choice>
              <mc:Fallback>
                <p:oleObj name="Equation" r:id="rId9" imgW="215640" imgH="241200" progId="Equation.DSMT4">
                  <p:embed/>
                  <p:pic>
                    <p:nvPicPr>
                      <p:cNvPr id="1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238" y="2254250"/>
                        <a:ext cx="5175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934872" y="3631642"/>
            <a:ext cx="495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/>
              <a:t>1</a:t>
            </a:r>
            <a:r>
              <a:rPr lang="en-US" altLang="zh-CN" sz="3200" dirty="0"/>
              <a:t>.       </a:t>
            </a:r>
            <a:r>
              <a:rPr lang="en-US" altLang="zh-CN" sz="3200" dirty="0" smtClean="0"/>
              <a:t>     </a:t>
            </a:r>
            <a:r>
              <a:rPr lang="zh-CN" altLang="en-US" sz="3200" dirty="0" smtClean="0"/>
              <a:t>已知</a:t>
            </a:r>
            <a:endParaRPr lang="zh-CN" altLang="en-US" sz="3200" dirty="0"/>
          </a:p>
        </p:txBody>
      </p:sp>
      <p:graphicFrame>
        <p:nvGraphicFramePr>
          <p:cNvPr id="1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739027"/>
              </p:ext>
            </p:extLst>
          </p:nvPr>
        </p:nvGraphicFramePr>
        <p:xfrm>
          <a:off x="1428750" y="3668713"/>
          <a:ext cx="10858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29" name="Equation" r:id="rId11" imgW="482400" imgH="241200" progId="Equation.DSMT4">
                  <p:embed/>
                </p:oleObj>
              </mc:Choice>
              <mc:Fallback>
                <p:oleObj name="Equation" r:id="rId11" imgW="482400" imgH="241200" progId="Equation.DSMT4">
                  <p:embed/>
                  <p:pic>
                    <p:nvPicPr>
                      <p:cNvPr id="1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668713"/>
                        <a:ext cx="10858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806246"/>
              </p:ext>
            </p:extLst>
          </p:nvPr>
        </p:nvGraphicFramePr>
        <p:xfrm>
          <a:off x="5413375" y="1609725"/>
          <a:ext cx="21621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30" name="Equation" r:id="rId13" imgW="927000" imgH="241200" progId="Equation.DSMT4">
                  <p:embed/>
                </p:oleObj>
              </mc:Choice>
              <mc:Fallback>
                <p:oleObj name="Equation" r:id="rId13" imgW="927000" imgH="241200" progId="Equation.DSMT4">
                  <p:embed/>
                  <p:pic>
                    <p:nvPicPr>
                      <p:cNvPr id="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1609725"/>
                        <a:ext cx="21621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727616"/>
              </p:ext>
            </p:extLst>
          </p:nvPr>
        </p:nvGraphicFramePr>
        <p:xfrm>
          <a:off x="1898650" y="2863850"/>
          <a:ext cx="16287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31" name="Equation" r:id="rId15" imgW="761760" imgH="228600" progId="Equation.DSMT4">
                  <p:embed/>
                </p:oleObj>
              </mc:Choice>
              <mc:Fallback>
                <p:oleObj name="Equation" r:id="rId15" imgW="761760" imgH="228600" progId="Equation.DSMT4">
                  <p:embed/>
                  <p:pic>
                    <p:nvPicPr>
                      <p:cNvPr id="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2863850"/>
                        <a:ext cx="16287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308573"/>
              </p:ext>
            </p:extLst>
          </p:nvPr>
        </p:nvGraphicFramePr>
        <p:xfrm>
          <a:off x="4676775" y="2881313"/>
          <a:ext cx="3397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32" name="Equation" r:id="rId17" imgW="164880" imgH="203040" progId="Equation.DSMT4">
                  <p:embed/>
                </p:oleObj>
              </mc:Choice>
              <mc:Fallback>
                <p:oleObj name="Equation" r:id="rId17" imgW="164880" imgH="203040" progId="Equation.DSMT4">
                  <p:embed/>
                  <p:pic>
                    <p:nvPicPr>
                      <p:cNvPr id="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5" y="2881313"/>
                        <a:ext cx="3397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104650"/>
              </p:ext>
            </p:extLst>
          </p:nvPr>
        </p:nvGraphicFramePr>
        <p:xfrm>
          <a:off x="6996112" y="2819400"/>
          <a:ext cx="5476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33" name="Equation" r:id="rId19" imgW="228600" imgH="241200" progId="Equation.DSMT4">
                  <p:embed/>
                </p:oleObj>
              </mc:Choice>
              <mc:Fallback>
                <p:oleObj name="Equation" r:id="rId19" imgW="228600" imgH="241200" progId="Equation.DSMT4">
                  <p:embed/>
                  <p:pic>
                    <p:nvPicPr>
                      <p:cNvPr id="1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6112" y="2819400"/>
                        <a:ext cx="54768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9"/>
              <p:cNvSpPr>
                <a:spLocks noChangeArrowheads="1"/>
              </p:cNvSpPr>
              <p:nvPr/>
            </p:nvSpPr>
            <p:spPr bwMode="auto">
              <a:xfrm>
                <a:off x="934872" y="4572000"/>
                <a:ext cx="5638800" cy="1467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8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800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800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2800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4872" y="4572000"/>
                <a:ext cx="5638800" cy="146796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58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正态总体均值的检验：双正态总体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914400" y="2800594"/>
                <a:ext cx="7620000" cy="2312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>
                    <a:latin typeface="宋体" panose="02010600030101010101" pitchFamily="2" charset="-122"/>
                  </a:rPr>
                  <a:t>拒绝域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3200" i="1" baseline="-250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≤−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3200" i="1" baseline="-250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3200" i="1" baseline="-250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800594"/>
                <a:ext cx="7620000" cy="2312108"/>
              </a:xfrm>
              <a:prstGeom prst="rect">
                <a:avLst/>
              </a:prstGeom>
              <a:blipFill>
                <a:blip r:embed="rId2"/>
                <a:stretch>
                  <a:fillRect l="-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7620000" cy="1089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36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/>
                <a:r>
                  <a:rPr lang="zh-CN" altLang="en-US" sz="3200" dirty="0" smtClean="0">
                    <a:latin typeface="宋体" panose="02010600030101010101" pitchFamily="2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+mn-ea"/>
                      </a:rPr>
                      <m:t>𝑈</m:t>
                    </m:r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的观测值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32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</m:e>
                    </m:acc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，若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32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+mn-ea"/>
                          </a:rPr>
                          <m:t>𝑈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+mn-ea"/>
                      </a:rPr>
                      <m:t>∈</m:t>
                    </m:r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 拒绝域，则拒绝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 smtClean="0">
                    <a:latin typeface="宋体" panose="02010600030101010101" pitchFamily="2" charset="-122"/>
                  </a:rPr>
                  <a:t>,</a:t>
                </a:r>
                <a:r>
                  <a:rPr lang="zh-CN" altLang="en-US" sz="3200" dirty="0" smtClean="0">
                    <a:latin typeface="宋体" panose="02010600030101010101" pitchFamily="2" charset="-122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 smtClean="0">
                    <a:latin typeface="宋体" panose="02010600030101010101" pitchFamily="2" charset="-122"/>
                  </a:rPr>
                  <a:t>，否则接受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3200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5410200"/>
                <a:ext cx="7620000" cy="1089594"/>
              </a:xfrm>
              <a:prstGeom prst="rect">
                <a:avLst/>
              </a:prstGeom>
              <a:blipFill>
                <a:blip r:embed="rId3"/>
                <a:stretch>
                  <a:fillRect l="-2000" t="-8427" b="-157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931460" y="1522193"/>
                <a:ext cx="2819400" cy="12409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/>
                  <a:t>取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CN" sz="3200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3200" b="0" i="1" baseline="30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CN" sz="3200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3200" i="1" baseline="30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1460" y="1522193"/>
                <a:ext cx="2819400" cy="1240917"/>
              </a:xfrm>
              <a:prstGeom prst="rect">
                <a:avLst/>
              </a:prstGeom>
              <a:blipFill>
                <a:blip r:embed="rId4"/>
                <a:stretch>
                  <a:fillRect l="-56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9"/>
              <p:cNvSpPr>
                <a:spLocks noChangeArrowheads="1"/>
              </p:cNvSpPr>
              <p:nvPr/>
            </p:nvSpPr>
            <p:spPr bwMode="auto">
              <a:xfrm>
                <a:off x="3808874" y="1938728"/>
                <a:ext cx="626348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 smtClean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成立</m:t>
                    </m:r>
                  </m:oMath>
                </a14:m>
                <a:r>
                  <a:rPr lang="zh-CN" altLang="en-US" sz="2800" dirty="0" smtClean="0"/>
                  <a:t>的条件下，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8874" y="1938728"/>
                <a:ext cx="6263481" cy="523220"/>
              </a:xfrm>
              <a:prstGeom prst="rect">
                <a:avLst/>
              </a:prstGeom>
              <a:blipFill>
                <a:blip r:embed="rId5"/>
                <a:stretch>
                  <a:fillRect l="-2045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51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正态总体均值的检验：双正态总体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5" name="TextBox 12"/>
          <p:cNvSpPr txBox="1">
            <a:spLocks noChangeArrowheads="1"/>
          </p:cNvSpPr>
          <p:nvPr/>
        </p:nvSpPr>
        <p:spPr bwMode="auto">
          <a:xfrm>
            <a:off x="838200" y="1600200"/>
            <a:ext cx="495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/>
              <a:t>2</a:t>
            </a:r>
            <a:r>
              <a:rPr lang="en-US" altLang="zh-CN" sz="3200" dirty="0" smtClean="0"/>
              <a:t>.            </a:t>
            </a:r>
            <a:r>
              <a:rPr lang="zh-CN" altLang="en-US" sz="3200" dirty="0" smtClean="0"/>
              <a:t>未知但相等</a:t>
            </a:r>
            <a:endParaRPr lang="zh-CN" altLang="en-US" sz="3200" dirty="0"/>
          </a:p>
        </p:txBody>
      </p:sp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728406"/>
              </p:ext>
            </p:extLst>
          </p:nvPr>
        </p:nvGraphicFramePr>
        <p:xfrm>
          <a:off x="1332078" y="1637271"/>
          <a:ext cx="10858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4" name="Equation" r:id="rId4" imgW="482400" imgH="241200" progId="Equation.DSMT4">
                  <p:embed/>
                </p:oleObj>
              </mc:Choice>
              <mc:Fallback>
                <p:oleObj name="Equation" r:id="rId4" imgW="482400" imgH="241200" progId="Equation.DSMT4">
                  <p:embed/>
                  <p:pic>
                    <p:nvPicPr>
                      <p:cNvPr id="1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078" y="1637271"/>
                        <a:ext cx="10858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078" y="2362200"/>
            <a:ext cx="3657143" cy="10380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95684" y="3475358"/>
            <a:ext cx="541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为自由度</a:t>
            </a:r>
            <a:r>
              <a:rPr lang="en-US" altLang="zh-CN" sz="3200" b="1" dirty="0" smtClean="0"/>
              <a:t>n+m-2</a:t>
            </a:r>
            <a:r>
              <a:rPr lang="zh-CN" altLang="en-US" sz="3200" b="1" dirty="0" smtClean="0"/>
              <a:t>的</a:t>
            </a:r>
            <a:r>
              <a:rPr lang="en-US" altLang="zh-CN" sz="3200" b="1" dirty="0" smtClean="0"/>
              <a:t>t</a:t>
            </a:r>
            <a:r>
              <a:rPr lang="zh-CN" altLang="en-US" sz="3200" b="1" dirty="0" smtClean="0"/>
              <a:t>分布</a:t>
            </a:r>
            <a:endParaRPr lang="zh-CN" altLang="en-US" sz="32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200" y="2416084"/>
            <a:ext cx="3523809" cy="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8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</a:t>
            </a:r>
            <a:r>
              <a:rPr lang="zh-CN" altLang="en-US" dirty="0" smtClean="0"/>
              <a:t>态总体方差的检验：单正态总体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914400" y="1598612"/>
            <a:ext cx="533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单</a:t>
            </a:r>
            <a:r>
              <a:rPr lang="zh-CN" altLang="en-US" sz="3200" dirty="0"/>
              <a:t>正态总体</a:t>
            </a:r>
          </a:p>
        </p:txBody>
      </p:sp>
      <p:graphicFrame>
        <p:nvGraphicFramePr>
          <p:cNvPr id="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5337"/>
              </p:ext>
            </p:extLst>
          </p:nvPr>
        </p:nvGraphicFramePr>
        <p:xfrm>
          <a:off x="3136900" y="1630530"/>
          <a:ext cx="2074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0" name="Equation" r:id="rId4" imgW="889000" imgH="228600" progId="Equation.DSMT4">
                  <p:embed/>
                </p:oleObj>
              </mc:Choice>
              <mc:Fallback>
                <p:oleObj name="Equation" r:id="rId4" imgW="889000" imgH="228600" progId="Equation.DSMT4">
                  <p:embed/>
                  <p:pic>
                    <p:nvPicPr>
                      <p:cNvPr id="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1630530"/>
                        <a:ext cx="20748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015361"/>
              </p:ext>
            </p:extLst>
          </p:nvPr>
        </p:nvGraphicFramePr>
        <p:xfrm>
          <a:off x="1828800" y="2330450"/>
          <a:ext cx="1981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1" name="Equation" r:id="rId6" imgW="927100" imgH="228600" progId="Equation.DSMT4">
                  <p:embed/>
                </p:oleObj>
              </mc:Choice>
              <mc:Fallback>
                <p:oleObj name="Equation" r:id="rId6" imgW="927100" imgH="228600" progId="Equation.DSMT4">
                  <p:embed/>
                  <p:pic>
                    <p:nvPicPr>
                      <p:cNvPr id="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30450"/>
                        <a:ext cx="19812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9"/>
          <p:cNvSpPr>
            <a:spLocks noChangeArrowheads="1"/>
          </p:cNvSpPr>
          <p:nvPr/>
        </p:nvSpPr>
        <p:spPr bwMode="auto">
          <a:xfrm>
            <a:off x="914400" y="2246312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样本                   </a:t>
            </a:r>
            <a:r>
              <a:rPr lang="zh-CN" altLang="en-US" sz="3200" dirty="0" smtClean="0"/>
              <a:t> 均值   </a:t>
            </a:r>
            <a:r>
              <a:rPr lang="zh-CN" altLang="en-US" sz="3200" dirty="0"/>
              <a:t>，样本方差                    </a:t>
            </a:r>
          </a:p>
        </p:txBody>
      </p:sp>
      <p:graphicFrame>
        <p:nvGraphicFramePr>
          <p:cNvPr id="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123614"/>
              </p:ext>
            </p:extLst>
          </p:nvPr>
        </p:nvGraphicFramePr>
        <p:xfrm>
          <a:off x="4664075" y="2331242"/>
          <a:ext cx="3651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2" name="Equation" r:id="rId8" imgW="177646" imgH="190335" progId="Equation.DSMT4">
                  <p:embed/>
                </p:oleObj>
              </mc:Choice>
              <mc:Fallback>
                <p:oleObj name="Equation" r:id="rId8" imgW="177646" imgH="190335" progId="Equation.DSMT4">
                  <p:embed/>
                  <p:pic>
                    <p:nvPicPr>
                      <p:cNvPr id="1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331242"/>
                        <a:ext cx="3651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726675"/>
              </p:ext>
            </p:extLst>
          </p:nvPr>
        </p:nvGraphicFramePr>
        <p:xfrm>
          <a:off x="7010400" y="2254250"/>
          <a:ext cx="457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3" name="Equation" r:id="rId10" imgW="190440" imgH="241200" progId="Equation.DSMT4">
                  <p:embed/>
                </p:oleObj>
              </mc:Choice>
              <mc:Fallback>
                <p:oleObj name="Equation" r:id="rId10" imgW="190440" imgH="241200" progId="Equation.DSMT4">
                  <p:embed/>
                  <p:pic>
                    <p:nvPicPr>
                      <p:cNvPr id="1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254250"/>
                        <a:ext cx="457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2"/>
              <p:cNvSpPr txBox="1">
                <a:spLocks noChangeArrowheads="1"/>
              </p:cNvSpPr>
              <p:nvPr/>
            </p:nvSpPr>
            <p:spPr bwMode="auto">
              <a:xfrm>
                <a:off x="914400" y="2990688"/>
                <a:ext cx="4953000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未</m:t>
                    </m:r>
                  </m:oMath>
                </a14:m>
                <a:r>
                  <a:rPr lang="zh-CN" altLang="en-US" sz="3200" dirty="0" smtClean="0"/>
                  <a:t>知</a:t>
                </a:r>
                <a:r>
                  <a:rPr lang="en-US" altLang="zh-CN" sz="3200" dirty="0"/>
                  <a:t> </a:t>
                </a:r>
                <a:r>
                  <a:rPr lang="zh-CN" altLang="en-US" sz="3200" dirty="0" smtClean="0"/>
                  <a:t>（</a:t>
                </a:r>
                <a:r>
                  <a:rPr lang="el-GR" altLang="zh-CN" sz="3200" b="1" dirty="0" smtClean="0">
                    <a:solidFill>
                      <a:srgbClr val="7030A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χ</a:t>
                </a:r>
                <a:r>
                  <a:rPr lang="en-US" altLang="zh-CN" sz="3200" b="1" baseline="30000" dirty="0" smtClean="0">
                    <a:solidFill>
                      <a:srgbClr val="7030A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2</a:t>
                </a:r>
                <a:r>
                  <a:rPr lang="zh-CN" altLang="en-US" sz="3200" b="1" dirty="0" smtClean="0">
                    <a:solidFill>
                      <a:srgbClr val="7030A0"/>
                    </a:solidFill>
                  </a:rPr>
                  <a:t>检验</a:t>
                </a:r>
                <a:r>
                  <a:rPr lang="zh-CN" altLang="en-US" sz="3200" dirty="0" smtClean="0"/>
                  <a:t>）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11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2990688"/>
                <a:ext cx="4953000" cy="584775"/>
              </a:xfrm>
              <a:prstGeom prst="rect">
                <a:avLst/>
              </a:prstGeom>
              <a:blipFill>
                <a:blip r:embed="rId12"/>
                <a:stretch>
                  <a:fillRect t="-19792" b="-343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9"/>
              <p:cNvSpPr>
                <a:spLocks noChangeArrowheads="1"/>
              </p:cNvSpPr>
              <p:nvPr/>
            </p:nvSpPr>
            <p:spPr bwMode="auto">
              <a:xfrm>
                <a:off x="224619" y="3581330"/>
                <a:ext cx="5638800" cy="1687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l-GR" altLang="zh-CN" sz="28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altLang="zh-CN" sz="2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l-GR" altLang="zh-C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altLang="zh-CN" sz="2800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altLang="zh-CN" sz="2800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altLang="zh-CN" sz="2800" i="1" baseline="30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19" y="3581330"/>
                <a:ext cx="5638800" cy="16878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914400" y="5305054"/>
            <a:ext cx="5149396" cy="1063048"/>
            <a:chOff x="914400" y="4798438"/>
            <a:chExt cx="5149396" cy="1063048"/>
          </a:xfrm>
        </p:grpSpPr>
        <p:sp>
          <p:nvSpPr>
            <p:cNvPr id="17" name="TextBox 12"/>
            <p:cNvSpPr txBox="1">
              <a:spLocks noChangeArrowheads="1"/>
            </p:cNvSpPr>
            <p:nvPr/>
          </p:nvSpPr>
          <p:spPr bwMode="auto">
            <a:xfrm>
              <a:off x="914400" y="4966570"/>
              <a:ext cx="49530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dirty="0" smtClean="0"/>
                <a:t>取统计量</a:t>
              </a:r>
              <a:r>
                <a:rPr lang="el-GR" altLang="zh-CN" sz="3200" b="1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χ</a:t>
              </a:r>
              <a:r>
                <a:rPr lang="en-US" altLang="zh-CN" sz="3200" b="1" baseline="30000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2 </a:t>
              </a:r>
              <a:r>
                <a:rPr lang="en-US" altLang="zh-CN" sz="3200" dirty="0" smtClean="0"/>
                <a:t>=</a:t>
              </a:r>
              <a:endParaRPr lang="zh-CN" altLang="en-US" sz="3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3266428" y="4798438"/>
                  <a:ext cx="2797368" cy="10630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bSup>
                              <m:sSubSup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zh-CN" altLang="en-US" sz="28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zh-CN" altLang="en-US" sz="28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zh-CN" altLang="en-US" sz="2800" i="0">
                            <a:latin typeface="Cambria Math" panose="02040503050406030204" pitchFamily="18" charset="0"/>
                          </a:rPr>
                          <m:t>~</m:t>
                        </m:r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800" i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6428" y="4798438"/>
                  <a:ext cx="2797368" cy="106304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4052976" y="6155890"/>
                <a:ext cx="34646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(</a:t>
                </a:r>
                <a:r>
                  <a:rPr lang="zh-CN" altLang="en-US" sz="2800" dirty="0" smtClean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成立</m:t>
                    </m:r>
                  </m:oMath>
                </a14:m>
                <a:r>
                  <a:rPr lang="zh-CN" altLang="en-US" sz="2800" dirty="0"/>
                  <a:t>的条件</a:t>
                </a:r>
                <a:r>
                  <a:rPr lang="zh-CN" altLang="en-US" sz="2800" dirty="0" smtClean="0"/>
                  <a:t>下</a:t>
                </a:r>
                <a:r>
                  <a:rPr lang="en-US" altLang="zh-CN" sz="2800" dirty="0" smtClean="0"/>
                  <a:t>)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976" y="6155890"/>
                <a:ext cx="3464666" cy="523220"/>
              </a:xfrm>
              <a:prstGeom prst="rect">
                <a:avLst/>
              </a:prstGeom>
              <a:blipFill>
                <a:blip r:embed="rId15"/>
                <a:stretch>
                  <a:fillRect l="-3697" t="-18605" r="-228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53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正态总体方差的检验：单正态总体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879348" y="1549604"/>
                <a:ext cx="7620000" cy="2540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dirty="0" smtClean="0">
                    <a:latin typeface="宋体" panose="02010600030101010101" pitchFamily="2" charset="-122"/>
                  </a:rPr>
                  <a:t>拒绝域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sub>
                                <m:f>
                                  <m:fPr>
                                    <m:ctrlP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d>
                              <m:dPr>
                                <m:ctrlP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或</m:t>
                            </m:r>
                            <m:acc>
                              <m:accPr>
                                <m:chr m:val="̃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28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d>
                              <m:d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l-GR" altLang="zh-CN" sz="2800" i="1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en-US" altLang="zh-CN" sz="2800" i="1" baseline="30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Sup>
                              <m:sSubSupPr>
                                <m:ctrl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l-GR" altLang="zh-CN" sz="2800" i="1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en-US" altLang="zh-CN" sz="2800" i="1" baseline="30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zh-CN" altLang="en-US" sz="2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l-GR" altLang="zh-CN" sz="2800" i="1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en-US" altLang="zh-CN" sz="2800" i="1" baseline="30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8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9348" y="1549604"/>
                <a:ext cx="7620000" cy="2540632"/>
              </a:xfrm>
              <a:prstGeom prst="rect">
                <a:avLst/>
              </a:prstGeom>
              <a:blipFill>
                <a:blip r:embed="rId2"/>
                <a:stretch>
                  <a:fillRect l="-16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95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正态总体方差的检验</a:t>
            </a:r>
            <a:r>
              <a:rPr lang="zh-CN" altLang="en-US" dirty="0" smtClean="0"/>
              <a:t>：</a:t>
            </a:r>
            <a:r>
              <a:rPr lang="zh-CN" altLang="en-US" dirty="0"/>
              <a:t>双</a:t>
            </a:r>
            <a:r>
              <a:rPr lang="zh-CN" altLang="en-US" dirty="0" smtClean="0"/>
              <a:t>正</a:t>
            </a:r>
            <a:r>
              <a:rPr lang="zh-CN" altLang="en-US" dirty="0"/>
              <a:t>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26</a:t>
            </a:fld>
            <a:endParaRPr lang="en-US" altLang="zh-CN"/>
          </a:p>
        </p:txBody>
      </p:sp>
      <p:sp>
        <p:nvSpPr>
          <p:cNvPr id="5" name="矩形 9"/>
          <p:cNvSpPr>
            <a:spLocks noChangeArrowheads="1"/>
          </p:cNvSpPr>
          <p:nvPr/>
        </p:nvSpPr>
        <p:spPr bwMode="auto">
          <a:xfrm>
            <a:off x="914400" y="2794304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样本                    均值   ，</a:t>
            </a:r>
            <a:r>
              <a:rPr lang="zh-CN" altLang="en-US" sz="3200" dirty="0" smtClean="0">
                <a:solidFill>
                  <a:srgbClr val="0070C0"/>
                </a:solidFill>
              </a:rPr>
              <a:t>修正</a:t>
            </a:r>
            <a:r>
              <a:rPr lang="zh-CN" altLang="en-US" sz="3200" dirty="0" smtClean="0"/>
              <a:t>样本方差                    </a:t>
            </a:r>
            <a:endParaRPr lang="zh-CN" altLang="en-US" sz="32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14400" y="1598612"/>
            <a:ext cx="78516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正</a:t>
            </a:r>
            <a:r>
              <a:rPr lang="zh-CN" altLang="en-US" sz="3200" dirty="0"/>
              <a:t>态</a:t>
            </a:r>
            <a:r>
              <a:rPr lang="zh-CN" altLang="en-US" sz="3200" dirty="0" smtClean="0"/>
              <a:t>总体                       与                      独立</a:t>
            </a:r>
            <a:endParaRPr lang="zh-CN" altLang="en-US" sz="3200" dirty="0"/>
          </a:p>
        </p:txBody>
      </p:sp>
      <p:graphicFrame>
        <p:nvGraphicFramePr>
          <p:cNvPr id="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622627"/>
              </p:ext>
            </p:extLst>
          </p:nvPr>
        </p:nvGraphicFramePr>
        <p:xfrm>
          <a:off x="2713038" y="1592263"/>
          <a:ext cx="219233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4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8" y="1592263"/>
                        <a:ext cx="219233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455436"/>
              </p:ext>
            </p:extLst>
          </p:nvPr>
        </p:nvGraphicFramePr>
        <p:xfrm>
          <a:off x="1828800" y="2330450"/>
          <a:ext cx="19812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5" name="Equation" r:id="rId5" imgW="927100" imgH="228600" progId="Equation.DSMT4">
                  <p:embed/>
                </p:oleObj>
              </mc:Choice>
              <mc:Fallback>
                <p:oleObj name="Equation" r:id="rId5" imgW="927100" imgH="228600" progId="Equation.DSMT4">
                  <p:embed/>
                  <p:pic>
                    <p:nvPicPr>
                      <p:cNvPr id="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30450"/>
                        <a:ext cx="19812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914400" y="2244873"/>
            <a:ext cx="762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/>
              <a:t>样本    </a:t>
            </a:r>
            <a:r>
              <a:rPr lang="zh-CN" altLang="en-US" sz="3200" dirty="0" smtClean="0"/>
              <a:t>                均值   ，</a:t>
            </a:r>
            <a:r>
              <a:rPr lang="zh-CN" altLang="en-US" sz="3200" dirty="0">
                <a:solidFill>
                  <a:srgbClr val="0070C0"/>
                </a:solidFill>
              </a:rPr>
              <a:t>修正</a:t>
            </a:r>
            <a:r>
              <a:rPr lang="zh-CN" altLang="en-US" sz="3200" dirty="0" smtClean="0"/>
              <a:t>样本方差                    </a:t>
            </a:r>
            <a:endParaRPr lang="zh-CN" altLang="en-US" sz="3200" dirty="0"/>
          </a:p>
        </p:txBody>
      </p:sp>
      <p:graphicFrame>
        <p:nvGraphicFramePr>
          <p:cNvPr id="1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835098"/>
              </p:ext>
            </p:extLst>
          </p:nvPr>
        </p:nvGraphicFramePr>
        <p:xfrm>
          <a:off x="4664075" y="2331242"/>
          <a:ext cx="3651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6" name="Equation" r:id="rId7" imgW="177646" imgH="190335" progId="Equation.DSMT4">
                  <p:embed/>
                </p:oleObj>
              </mc:Choice>
              <mc:Fallback>
                <p:oleObj name="Equation" r:id="rId7" imgW="177646" imgH="190335" progId="Equation.DSMT4">
                  <p:embed/>
                  <p:pic>
                    <p:nvPicPr>
                      <p:cNvPr id="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331242"/>
                        <a:ext cx="3651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221762"/>
              </p:ext>
            </p:extLst>
          </p:nvPr>
        </p:nvGraphicFramePr>
        <p:xfrm>
          <a:off x="7848600" y="2286000"/>
          <a:ext cx="5175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7" name="Equation" r:id="rId9" imgW="215640" imgH="241200" progId="Equation.DSMT4">
                  <p:embed/>
                </p:oleObj>
              </mc:Choice>
              <mc:Fallback>
                <p:oleObj name="Equation" r:id="rId9" imgW="215640" imgH="241200" progId="Equation.DSMT4">
                  <p:embed/>
                  <p:pic>
                    <p:nvPicPr>
                      <p:cNvPr id="1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286000"/>
                        <a:ext cx="5175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497052"/>
              </p:ext>
            </p:extLst>
          </p:nvPr>
        </p:nvGraphicFramePr>
        <p:xfrm>
          <a:off x="5368925" y="1609725"/>
          <a:ext cx="2251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8" name="Equation" r:id="rId11" imgW="965160" imgH="241200" progId="Equation.DSMT4">
                  <p:embed/>
                </p:oleObj>
              </mc:Choice>
              <mc:Fallback>
                <p:oleObj name="Equation" r:id="rId11" imgW="965160" imgH="241200" progId="Equation.DSMT4">
                  <p:embed/>
                  <p:pic>
                    <p:nvPicPr>
                      <p:cNvPr id="1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1609725"/>
                        <a:ext cx="22510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581513"/>
              </p:ext>
            </p:extLst>
          </p:nvPr>
        </p:nvGraphicFramePr>
        <p:xfrm>
          <a:off x="1898650" y="2863850"/>
          <a:ext cx="16287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9" name="Equation" r:id="rId13" imgW="761760" imgH="228600" progId="Equation.DSMT4">
                  <p:embed/>
                </p:oleObj>
              </mc:Choice>
              <mc:Fallback>
                <p:oleObj name="Equation" r:id="rId13" imgW="761760" imgH="228600" progId="Equation.DSMT4">
                  <p:embed/>
                  <p:pic>
                    <p:nvPicPr>
                      <p:cNvPr id="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2863850"/>
                        <a:ext cx="16287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46882"/>
              </p:ext>
            </p:extLst>
          </p:nvPr>
        </p:nvGraphicFramePr>
        <p:xfrm>
          <a:off x="4676775" y="2881313"/>
          <a:ext cx="3397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10" name="Equation" r:id="rId15" imgW="164880" imgH="203040" progId="Equation.DSMT4">
                  <p:embed/>
                </p:oleObj>
              </mc:Choice>
              <mc:Fallback>
                <p:oleObj name="Equation" r:id="rId15" imgW="164880" imgH="203040" progId="Equation.DSMT4">
                  <p:embed/>
                  <p:pic>
                    <p:nvPicPr>
                      <p:cNvPr id="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5" y="2881313"/>
                        <a:ext cx="3397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316148"/>
              </p:ext>
            </p:extLst>
          </p:nvPr>
        </p:nvGraphicFramePr>
        <p:xfrm>
          <a:off x="7834312" y="2819400"/>
          <a:ext cx="5476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11" name="Equation" r:id="rId17" imgW="228600" imgH="241200" progId="Equation.DSMT4">
                  <p:embed/>
                </p:oleObj>
              </mc:Choice>
              <mc:Fallback>
                <p:oleObj name="Equation" r:id="rId17" imgW="228600" imgH="241200" progId="Equation.DSMT4">
                  <p:embed/>
                  <p:pic>
                    <p:nvPicPr>
                      <p:cNvPr id="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4312" y="2819400"/>
                        <a:ext cx="54768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2"/>
              <p:cNvSpPr txBox="1">
                <a:spLocks noChangeArrowheads="1"/>
              </p:cNvSpPr>
              <p:nvPr/>
            </p:nvSpPr>
            <p:spPr bwMode="auto">
              <a:xfrm>
                <a:off x="914400" y="3695436"/>
                <a:ext cx="7095699" cy="5906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与</m:t>
                    </m:r>
                    <m:r>
                      <m:rPr>
                        <m:sty m:val="p"/>
                      </m:rPr>
                      <a:rPr lang="el-GR" altLang="zh-CN" sz="320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均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未</m:t>
                    </m:r>
                  </m:oMath>
                </a14:m>
                <a:r>
                  <a:rPr lang="zh-CN" altLang="en-US" sz="3200" dirty="0" smtClean="0"/>
                  <a:t>知，比较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altLang="zh-CN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sz="320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l-GR" altLang="zh-CN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3200" dirty="0" smtClean="0"/>
                  <a:t>（</a:t>
                </a:r>
                <a:r>
                  <a:rPr lang="en-US" altLang="zh-CN" sz="3200" b="1" dirty="0" smtClean="0">
                    <a:solidFill>
                      <a:srgbClr val="7030A0"/>
                    </a:solidFill>
                    <a:latin typeface="华文仿宋" panose="02010600040101010101" pitchFamily="2" charset="-122"/>
                    <a:ea typeface="华文仿宋" panose="02010600040101010101" pitchFamily="2" charset="-122"/>
                  </a:rPr>
                  <a:t>F</a:t>
                </a:r>
                <a:r>
                  <a:rPr lang="zh-CN" altLang="en-US" sz="3200" b="1" dirty="0" smtClean="0">
                    <a:solidFill>
                      <a:srgbClr val="7030A0"/>
                    </a:solidFill>
                  </a:rPr>
                  <a:t>检验</a:t>
                </a:r>
                <a:r>
                  <a:rPr lang="zh-CN" altLang="en-US" sz="3200" dirty="0" smtClean="0"/>
                  <a:t>）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16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3695436"/>
                <a:ext cx="7095699" cy="590611"/>
              </a:xfrm>
              <a:prstGeom prst="rect">
                <a:avLst/>
              </a:prstGeom>
              <a:blipFill>
                <a:blip r:embed="rId19"/>
                <a:stretch>
                  <a:fillRect t="-18557" b="-340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9"/>
              <p:cNvSpPr>
                <a:spLocks noChangeArrowheads="1"/>
              </p:cNvSpPr>
              <p:nvPr/>
            </p:nvSpPr>
            <p:spPr bwMode="auto">
              <a:xfrm>
                <a:off x="381000" y="4393928"/>
                <a:ext cx="5638800" cy="1687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Sup>
                        <m:sSubSupPr>
                          <m:ctrlPr>
                            <a:rPr lang="el-GR" altLang="zh-C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l-GR" altLang="zh-C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Sup>
                                <m:sSubSupPr>
                                  <m:ctrl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4393928"/>
                <a:ext cx="5638800" cy="168783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00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正态总体方差的检验：双正态总体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648092" y="2219145"/>
                <a:ext cx="34646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/>
                  <a:t>(</a:t>
                </a:r>
                <a:r>
                  <a:rPr lang="zh-CN" altLang="en-US" sz="2800" dirty="0" smtClean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成立</m:t>
                    </m:r>
                  </m:oMath>
                </a14:m>
                <a:r>
                  <a:rPr lang="zh-CN" altLang="en-US" sz="2800" dirty="0"/>
                  <a:t>的条件</a:t>
                </a:r>
                <a:r>
                  <a:rPr lang="zh-CN" altLang="en-US" sz="2800" dirty="0" smtClean="0"/>
                  <a:t>下</a:t>
                </a:r>
                <a:r>
                  <a:rPr lang="en-US" altLang="zh-CN" sz="2800" dirty="0" smtClean="0"/>
                  <a:t>)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92" y="2219145"/>
                <a:ext cx="3464666" cy="523220"/>
              </a:xfrm>
              <a:prstGeom prst="rect">
                <a:avLst/>
              </a:prstGeom>
              <a:blipFill>
                <a:blip r:embed="rId3"/>
                <a:stretch>
                  <a:fillRect l="-3515" t="-17442" r="-228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509516" y="1721617"/>
            <a:ext cx="495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 smtClean="0"/>
              <a:t>取统计量</a:t>
            </a:r>
            <a:r>
              <a:rPr lang="en-US" altLang="zh-CN" sz="32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F</a:t>
            </a:r>
            <a:r>
              <a:rPr lang="en-US" altLang="zh-CN" sz="3200" b="1" baseline="30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3200" dirty="0" smtClean="0"/>
              <a:t>=</a:t>
            </a:r>
            <a:endParaRPr lang="zh-CN" altLang="en-US" sz="3200" dirty="0"/>
          </a:p>
        </p:txBody>
      </p:sp>
      <p:graphicFrame>
        <p:nvGraphicFramePr>
          <p:cNvPr id="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508060"/>
              </p:ext>
            </p:extLst>
          </p:nvPr>
        </p:nvGraphicFramePr>
        <p:xfrm>
          <a:off x="2830653" y="1734652"/>
          <a:ext cx="12176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6" name="Equation" r:id="rId4" imgW="507960" imgH="241200" progId="Equation.DSMT4">
                  <p:embed/>
                </p:oleObj>
              </mc:Choice>
              <mc:Fallback>
                <p:oleObj name="Equation" r:id="rId4" imgW="507960" imgH="241200" progId="Equation.DSMT4">
                  <p:embed/>
                  <p:pic>
                    <p:nvPicPr>
                      <p:cNvPr id="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653" y="1734652"/>
                        <a:ext cx="121761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862127"/>
              </p:ext>
            </p:extLst>
          </p:nvPr>
        </p:nvGraphicFramePr>
        <p:xfrm>
          <a:off x="4048265" y="1752600"/>
          <a:ext cx="2629555" cy="556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7" name="Equation" r:id="rId6" imgW="1079280" imgH="228600" progId="Equation.DSMT4">
                  <p:embed/>
                </p:oleObj>
              </mc:Choice>
              <mc:Fallback>
                <p:oleObj name="Equation" r:id="rId6" imgW="1079280" imgH="228600" progId="Equation.DSMT4">
                  <p:embed/>
                  <p:pic>
                    <p:nvPicPr>
                      <p:cNvPr id="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265" y="1752600"/>
                        <a:ext cx="2629555" cy="556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ChangeArrowheads="1"/>
              </p:cNvSpPr>
              <p:nvPr/>
            </p:nvSpPr>
            <p:spPr bwMode="auto">
              <a:xfrm>
                <a:off x="612648" y="3306337"/>
                <a:ext cx="8238699" cy="24154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dirty="0" smtClean="0">
                    <a:latin typeface="宋体" panose="02010600030101010101" pitchFamily="2" charset="-122"/>
                  </a:rPr>
                  <a:t>拒绝域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d>
                              <m:dPr>
                                <m:ctrlP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d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或</m:t>
                            </m:r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US" altLang="zh-CN" sz="32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d>
                              <m:d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d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l-GR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CN" sz="3200" i="1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l-GR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zh-CN" sz="3200" i="1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=1)</m:t>
                            </m:r>
                          </m:e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d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d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32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648" y="3306337"/>
                <a:ext cx="8238699" cy="2415469"/>
              </a:xfrm>
              <a:prstGeom prst="rect">
                <a:avLst/>
              </a:prstGeom>
              <a:blipFill>
                <a:blip r:embed="rId8"/>
                <a:stretch>
                  <a:fillRect l="-19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6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某种钢丝，要求其拉断力的方差不超过</a:t>
            </a:r>
            <a:r>
              <a:rPr lang="en-US" altLang="zh-CN" dirty="0" smtClean="0"/>
              <a:t>16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。现抽检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个样品，测得拉断力分别为</a:t>
            </a:r>
            <a:r>
              <a:rPr lang="en-US" altLang="zh-CN" dirty="0" smtClean="0"/>
              <a:t>289, 286, 285, 285, 286, 285, 286, 298, 296</a:t>
            </a:r>
            <a:r>
              <a:rPr lang="zh-CN" altLang="en-US" dirty="0" smtClean="0"/>
              <a:t>。设拉断力            。问这批钢丝拉断力是否达标？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28</a:t>
            </a:fld>
            <a:endParaRPr lang="en-US" altLang="zh-CN"/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076035"/>
              </p:ext>
            </p:extLst>
          </p:nvPr>
        </p:nvGraphicFramePr>
        <p:xfrm>
          <a:off x="1447800" y="2971800"/>
          <a:ext cx="2074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1"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971800"/>
                        <a:ext cx="20748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9"/>
              <p:cNvSpPr>
                <a:spLocks noChangeArrowheads="1"/>
              </p:cNvSpPr>
              <p:nvPr/>
            </p:nvSpPr>
            <p:spPr bwMode="auto">
              <a:xfrm>
                <a:off x="1511330" y="3660780"/>
                <a:ext cx="7254718" cy="2816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2800" i="1" baseline="30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800" dirty="0"/>
                      <m:t>16</m:t>
                    </m:r>
                    <m:r>
                      <m:rPr>
                        <m:nor/>
                      </m:rPr>
                      <a:rPr lang="en-US" altLang="zh-CN" sz="2800" baseline="30000" dirty="0"/>
                      <m:t>2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2800" i="1" baseline="30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en-US" altLang="zh-CN" sz="2800" dirty="0"/>
                      <m:t>16</m:t>
                    </m:r>
                    <m:r>
                      <m:rPr>
                        <m:nor/>
                      </m:rPr>
                      <a:rPr lang="en-US" altLang="zh-CN" sz="2800" baseline="30000" dirty="0"/>
                      <m:t>2</m:t>
                    </m:r>
                  </m:oMath>
                </a14:m>
                <a:endParaRPr lang="en-US" altLang="zh-CN" sz="2800" b="0" i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成立时，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800" b="1" dirty="0">
                        <a:latin typeface="华文仿宋" panose="02010600040101010101" pitchFamily="2" charset="-122"/>
                        <a:ea typeface="华文仿宋" panose="02010600040101010101" pitchFamily="2" charset="-122"/>
                      </a:rPr>
                      <m:t>χ</m:t>
                    </m:r>
                    <m:r>
                      <m:rPr>
                        <m:nor/>
                      </m:rPr>
                      <a:rPr lang="en-US" altLang="zh-CN" sz="2800" b="1" baseline="30000" dirty="0">
                        <a:latin typeface="华文仿宋" panose="02010600040101010101" pitchFamily="2" charset="-122"/>
                        <a:ea typeface="华文仿宋" panose="02010600040101010101" pitchFamily="2" charset="-122"/>
                      </a:rPr>
                      <m:t>2 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sSubSup>
                          <m:sSub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l-GR" altLang="zh-CN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zh-CN" altLang="en-US" sz="280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en-US" altLang="zh-CN" sz="2800" dirty="0" smtClean="0">
                  <a:latin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拒绝域：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15.507</m:t>
                    </m:r>
                  </m:oMath>
                </a14:m>
                <a:endParaRPr lang="en-US" altLang="zh-CN" sz="2800" b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观察值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162.889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sz="2800" dirty="0"/>
                          <m:t>16</m:t>
                        </m:r>
                        <m:r>
                          <m:rPr>
                            <m:nor/>
                          </m:rPr>
                          <a:rPr lang="en-US" altLang="zh-CN" sz="2800" baseline="30000" dirty="0"/>
                          <m:t>2</m:t>
                        </m:r>
                      </m:den>
                    </m:f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=0.6366∉</m:t>
                    </m:r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拒绝域</a:t>
                </a:r>
                <a:endParaRPr lang="en-US" altLang="zh-CN" sz="280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，认为</a:t>
                </a:r>
                <a:r>
                  <a:rPr lang="zh-CN" altLang="en-US" sz="2800" dirty="0">
                    <a:latin typeface="+mn-ea"/>
                    <a:ea typeface="+mn-ea"/>
                  </a:rPr>
                  <a:t>拉断</a:t>
                </a:r>
                <a:r>
                  <a:rPr lang="zh-CN" altLang="en-US" sz="2800" dirty="0" smtClean="0">
                    <a:latin typeface="+mn-ea"/>
                    <a:ea typeface="+mn-ea"/>
                  </a:rPr>
                  <a:t>力合格</a:t>
                </a:r>
                <a:r>
                  <a:rPr lang="en-US" altLang="zh-CN" sz="2800" dirty="0" smtClean="0">
                    <a:latin typeface="+mn-ea"/>
                    <a:ea typeface="+mn-ea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1330" y="3660780"/>
                <a:ext cx="7254718" cy="2816220"/>
              </a:xfrm>
              <a:prstGeom prst="rect">
                <a:avLst/>
              </a:prstGeom>
              <a:blipFill>
                <a:blip r:embed="rId5"/>
                <a:stretch>
                  <a:fillRect l="-1513" b="-51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9"/>
          <p:cNvSpPr>
            <a:spLocks noChangeArrowheads="1"/>
          </p:cNvSpPr>
          <p:nvPr/>
        </p:nvSpPr>
        <p:spPr bwMode="auto">
          <a:xfrm>
            <a:off x="631982" y="3660780"/>
            <a:ext cx="91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 smtClean="0"/>
              <a:t>解：</a:t>
            </a:r>
            <a:r>
              <a:rPr lang="en-US" altLang="zh-CN" sz="2800" dirty="0" smtClean="0"/>
              <a:t> 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075823" y="3422745"/>
                <a:ext cx="196630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sz="2400" dirty="0"/>
                  <a:t>）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23" y="3422745"/>
                <a:ext cx="1966308" cy="461665"/>
              </a:xfrm>
              <a:prstGeom prst="rect">
                <a:avLst/>
              </a:prstGeom>
              <a:blipFill>
                <a:blip r:embed="rId6"/>
                <a:stretch>
                  <a:fillRect l="-4969" t="-9211" r="-3727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24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设某零件的直径            ，现取</a:t>
            </a:r>
            <a:r>
              <a:rPr lang="en-US" altLang="zh-CN" dirty="0" smtClean="0"/>
              <a:t>16</a:t>
            </a:r>
            <a:r>
              <a:rPr lang="zh-CN" altLang="en-US" dirty="0" smtClean="0"/>
              <a:t>个进行测量，问</a:t>
            </a:r>
            <a:r>
              <a:rPr lang="en-US" altLang="zh-CN" dirty="0" smtClean="0"/>
              <a:t>(1)</a:t>
            </a:r>
            <a:r>
              <a:rPr lang="zh-CN" altLang="en-US" dirty="0" smtClean="0"/>
              <a:t>能否接受直径均值为</a:t>
            </a:r>
            <a:r>
              <a:rPr lang="en-US" altLang="zh-CN" dirty="0" smtClean="0"/>
              <a:t>5</a:t>
            </a:r>
            <a:r>
              <a:rPr lang="zh-CN" altLang="en-US" dirty="0" smtClean="0"/>
              <a:t>的假设，</a:t>
            </a:r>
            <a:r>
              <a:rPr lang="en-US" altLang="zh-CN" dirty="0" smtClean="0"/>
              <a:t>(2)</a:t>
            </a:r>
            <a:r>
              <a:rPr lang="zh-CN" altLang="en-US" dirty="0" smtClean="0"/>
              <a:t>能否接受直径方差不超过</a:t>
            </a:r>
            <a:r>
              <a:rPr lang="en-US" altLang="zh-CN" dirty="0" smtClean="0"/>
              <a:t>0.095</a:t>
            </a:r>
            <a:r>
              <a:rPr lang="zh-CN" altLang="en-US" dirty="0" smtClean="0"/>
              <a:t>的假设。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(</a:t>
            </a:r>
            <a:r>
              <a:rPr lang="zh-CN" altLang="en-US" dirty="0" smtClean="0"/>
              <a:t>已知                   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29</a:t>
            </a:fld>
            <a:endParaRPr lang="en-US" altLang="zh-CN"/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883953"/>
              </p:ext>
            </p:extLst>
          </p:nvPr>
        </p:nvGraphicFramePr>
        <p:xfrm>
          <a:off x="3651917" y="1625221"/>
          <a:ext cx="2074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6"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917" y="1625221"/>
                        <a:ext cx="20748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177692" y="2514600"/>
                <a:ext cx="196630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sz="2400" dirty="0"/>
                  <a:t>）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692" y="2514600"/>
                <a:ext cx="1966308" cy="461665"/>
              </a:xfrm>
              <a:prstGeom prst="rect">
                <a:avLst/>
              </a:prstGeom>
              <a:blipFill>
                <a:blip r:embed="rId5"/>
                <a:stretch>
                  <a:fillRect l="-4644" t="-9333" r="-3715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234019"/>
              </p:ext>
            </p:extLst>
          </p:nvPr>
        </p:nvGraphicFramePr>
        <p:xfrm>
          <a:off x="2057400" y="2880720"/>
          <a:ext cx="3429000" cy="84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7" name="Equation" r:id="rId6" imgW="1777680" imgH="431640" progId="Equation.DSMT4">
                  <p:embed/>
                </p:oleObj>
              </mc:Choice>
              <mc:Fallback>
                <p:oleObj name="Equation" r:id="rId6" imgW="1777680" imgH="43164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880720"/>
                        <a:ext cx="3429000" cy="849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151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30</a:t>
            </a:fld>
            <a:endParaRPr lang="en-US" altLang="zh-CN"/>
          </a:p>
        </p:txBody>
      </p:sp>
      <p:sp>
        <p:nvSpPr>
          <p:cNvPr id="6" name="矩形 9"/>
          <p:cNvSpPr>
            <a:spLocks noChangeArrowheads="1"/>
          </p:cNvSpPr>
          <p:nvPr/>
        </p:nvSpPr>
        <p:spPr bwMode="auto">
          <a:xfrm>
            <a:off x="263092" y="1714500"/>
            <a:ext cx="13499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 smtClean="0"/>
              <a:t>解：</a:t>
            </a:r>
            <a:r>
              <a:rPr lang="en-US" altLang="zh-CN" sz="2800" dirty="0" smtClean="0"/>
              <a:t>(1) 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9"/>
              <p:cNvSpPr>
                <a:spLocks noChangeArrowheads="1"/>
              </p:cNvSpPr>
              <p:nvPr/>
            </p:nvSpPr>
            <p:spPr bwMode="auto">
              <a:xfrm>
                <a:off x="958557" y="2590800"/>
                <a:ext cx="7013448" cy="30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μ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=5,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μ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5</m:t>
                    </m:r>
                  </m:oMath>
                </a14:m>
                <a:endParaRPr lang="en-US" altLang="zh-CN" sz="2800" b="0" i="0" dirty="0" smtClean="0">
                  <a:latin typeface="Cambria Math" panose="02040503050406030204" pitchFamily="18" charset="0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成立时，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−5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∼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15</m:t>
                        </m:r>
                      </m:e>
                    </m:d>
                  </m:oMath>
                </a14:m>
                <a:endParaRPr lang="en-US" altLang="zh-CN" sz="2800" b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拒绝域：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=2.1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31</m:t>
                    </m:r>
                  </m:oMath>
                </a14:m>
                <a:endParaRPr lang="en-US" altLang="zh-CN" sz="2800" b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观察值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T</m:t>
                        </m:r>
                      </m:e>
                    </m:acc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78.4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/16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0.4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1∉</m:t>
                    </m:r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拒绝域</a:t>
                </a:r>
                <a:endParaRPr lang="en-US" altLang="zh-CN" sz="2800" dirty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，认为直径均值为</a:t>
                </a:r>
                <a:r>
                  <a:rPr lang="en-US" altLang="zh-CN" sz="2800" dirty="0" smtClean="0">
                    <a:latin typeface="+mn-ea"/>
                    <a:ea typeface="+mn-ea"/>
                  </a:rPr>
                  <a:t>5</a:t>
                </a:r>
              </a:p>
            </p:txBody>
          </p:sp>
        </mc:Choice>
        <mc:Fallback xmlns="">
          <p:sp>
            <p:nvSpPr>
              <p:cNvPr id="7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8557" y="2590800"/>
                <a:ext cx="7013448" cy="3014800"/>
              </a:xfrm>
              <a:prstGeom prst="rect">
                <a:avLst/>
              </a:prstGeom>
              <a:blipFill>
                <a:blip r:embed="rId2"/>
                <a:stretch>
                  <a:fillRect l="-1564" b="-46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619" y="229365"/>
            <a:ext cx="4952381" cy="2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3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648E3E6-0983-44B1-B996-A6A3CCAE3882}" type="slidenum">
              <a:rPr lang="en-US" altLang="zh-CN" smtClean="0"/>
              <a:pPr/>
              <a:t>31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/>
              <p:cNvSpPr>
                <a:spLocks noChangeArrowheads="1"/>
              </p:cNvSpPr>
              <p:nvPr/>
            </p:nvSpPr>
            <p:spPr bwMode="auto">
              <a:xfrm>
                <a:off x="1117497" y="2337416"/>
                <a:ext cx="7254718" cy="2816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2800" i="1" baseline="30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800" dirty="0"/>
                      <m:t>0.095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:</m:t>
                    </m:r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2800" i="1" baseline="30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en-US" altLang="zh-CN" sz="2800" dirty="0"/>
                      <m:t>0.095</m:t>
                    </m:r>
                  </m:oMath>
                </a14:m>
                <a:endParaRPr lang="en-US" altLang="zh-CN" sz="2800" b="0" i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成立时，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800" b="1" dirty="0">
                        <a:latin typeface="华文仿宋" panose="02010600040101010101" pitchFamily="2" charset="-122"/>
                        <a:ea typeface="华文仿宋" panose="02010600040101010101" pitchFamily="2" charset="-122"/>
                      </a:rPr>
                      <m:t>χ</m:t>
                    </m:r>
                    <m:r>
                      <m:rPr>
                        <m:nor/>
                      </m:rPr>
                      <a:rPr lang="en-US" altLang="zh-CN" sz="2800" b="1" baseline="30000" dirty="0">
                        <a:latin typeface="华文仿宋" panose="02010600040101010101" pitchFamily="2" charset="-122"/>
                        <a:ea typeface="华文仿宋" panose="02010600040101010101" pitchFamily="2" charset="-122"/>
                      </a:rPr>
                      <m:t>2 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sSubSup>
                          <m:sSub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nor/>
                          </m:rPr>
                          <a:rPr lang="en-US" altLang="zh-CN" sz="2800" dirty="0"/>
                          <m:t>0.095</m:t>
                        </m:r>
                      </m:den>
                    </m:f>
                    <m:r>
                      <a:rPr lang="zh-CN" altLang="en-US" sz="280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endParaRPr lang="en-US" altLang="zh-CN" sz="2800" dirty="0" smtClean="0">
                  <a:latin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拒绝域：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25</m:t>
                    </m:r>
                  </m:oMath>
                </a14:m>
                <a:endParaRPr lang="en-US" altLang="zh-CN" sz="2800" b="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观察值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16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+mn-ea"/>
                          </a:rPr>
                          <m:t>0.15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sz="2800" dirty="0"/>
                          <m:t>0.095</m:t>
                        </m:r>
                      </m:den>
                    </m:f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+mn-ea"/>
                      </a:rPr>
                      <m:t>=25.563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拒绝域</a:t>
                </a:r>
                <a:endParaRPr lang="en-US" altLang="zh-CN" sz="2800" dirty="0" smtClean="0">
                  <a:latin typeface="+mn-ea"/>
                  <a:ea typeface="+mn-ea"/>
                </a:endParaRPr>
              </a:p>
              <a:p>
                <a:pPr marL="742950" indent="-742950" eaLnBrk="1" hangingPunct="1">
                  <a:buAutoNum type="arabicPeriod"/>
                </a:pPr>
                <a:r>
                  <a:rPr lang="zh-CN" altLang="en-US" sz="2800" dirty="0" smtClean="0">
                    <a:latin typeface="+mn-ea"/>
                    <a:ea typeface="+mn-ea"/>
                  </a:rPr>
                  <a:t>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800" i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 smtClean="0">
                    <a:latin typeface="+mn-ea"/>
                    <a:ea typeface="+mn-ea"/>
                  </a:rPr>
                  <a:t>，认为方差超过</a:t>
                </a:r>
                <a:r>
                  <a:rPr lang="en-US" altLang="zh-CN" sz="2800" dirty="0" smtClean="0">
                    <a:latin typeface="+mn-ea"/>
                    <a:ea typeface="+mn-ea"/>
                  </a:rPr>
                  <a:t>0.095</a:t>
                </a:r>
              </a:p>
            </p:txBody>
          </p:sp>
        </mc:Choice>
        <mc:Fallback xmlns="">
          <p:sp>
            <p:nvSpPr>
              <p:cNvPr id="5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7497" y="2337416"/>
                <a:ext cx="7254718" cy="2816220"/>
              </a:xfrm>
              <a:prstGeom prst="rect">
                <a:avLst/>
              </a:prstGeom>
              <a:blipFill>
                <a:blip r:embed="rId2"/>
                <a:stretch>
                  <a:fillRect l="-1513" b="-41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9"/>
          <p:cNvSpPr>
            <a:spLocks noChangeArrowheads="1"/>
          </p:cNvSpPr>
          <p:nvPr/>
        </p:nvSpPr>
        <p:spPr bwMode="auto">
          <a:xfrm>
            <a:off x="914400" y="1676400"/>
            <a:ext cx="787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 smtClean="0"/>
              <a:t>(2)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6394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3361D7-4248-424E-85E9-C433E2107CDA}" type="slidenum">
              <a:rPr lang="en-US" altLang="zh-CN" sz="1400">
                <a:latin typeface="Arial" panose="020B0604020202020204" pitchFamily="34" charset="0"/>
              </a:rPr>
              <a:pPr eaLnBrk="1" hangingPunct="1"/>
              <a:t>32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79388" y="3933825"/>
            <a:ext cx="1214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  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1981200" y="2635250"/>
            <a:ext cx="137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</a:t>
            </a:r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981200" y="411480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>
                <a:ea typeface="楷体_GB2312" pitchFamily="49" charset="-122"/>
                <a:sym typeface="Math1" pitchFamily="2" charset="2"/>
              </a:rPr>
              <a:t>&lt;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981200" y="563880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>
                <a:ea typeface="楷体_GB2312" pitchFamily="49" charset="-122"/>
                <a:sym typeface="Math1" pitchFamily="2" charset="2"/>
              </a:rPr>
              <a:t>&gt;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7019925" y="2708275"/>
          <a:ext cx="1854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77" name="Equation" r:id="rId3" imgW="647810" imgH="228690" progId="Equation.DSMT4">
                  <p:embed/>
                </p:oleObj>
              </mc:Choice>
              <mc:Fallback>
                <p:oleObj name="Equation" r:id="rId3" imgW="647810" imgH="2286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708275"/>
                        <a:ext cx="1854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7092950" y="4221163"/>
          <a:ext cx="173990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78" name="Equation" r:id="rId5" imgW="552488" imgH="218970" progId="Equation.DSMT4">
                  <p:embed/>
                </p:oleObj>
              </mc:Choice>
              <mc:Fallback>
                <p:oleObj name="Equation" r:id="rId5" imgW="552488" imgH="21897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221163"/>
                        <a:ext cx="173990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7164388" y="5734050"/>
          <a:ext cx="17081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79" name="Equation" r:id="rId7" imgW="457166" imgH="218970" progId="Equation.DSMT4">
                  <p:embed/>
                </p:oleObj>
              </mc:Choice>
              <mc:Fallback>
                <p:oleObj name="Equation" r:id="rId7" imgW="457166" imgH="21897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734050"/>
                        <a:ext cx="170815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4427538" y="260350"/>
            <a:ext cx="3751262" cy="660400"/>
          </a:xfrm>
          <a:prstGeom prst="rect">
            <a:avLst/>
          </a:prstGeom>
          <a:noFill/>
          <a:ln w="19050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/>
              <a:t>u </a:t>
            </a:r>
            <a:r>
              <a:rPr kumimoji="1" lang="zh-CN" altLang="en-US" b="1"/>
              <a:t>检验法</a:t>
            </a:r>
            <a:r>
              <a:rPr kumimoji="1" lang="zh-CN" altLang="en-US" b="1">
                <a:ea typeface="楷体_GB2312" pitchFamily="49" charset="-122"/>
              </a:rPr>
              <a:t> </a:t>
            </a:r>
            <a:r>
              <a:rPr kumimoji="1" lang="en-US" altLang="zh-CN">
                <a:ea typeface="楷体_GB2312" pitchFamily="49" charset="-122"/>
              </a:rPr>
              <a:t>(</a:t>
            </a:r>
            <a:r>
              <a:rPr kumimoji="1" lang="en-US" altLang="zh-CN" sz="3200" b="1">
                <a:latin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kumimoji="1" lang="en-US" altLang="zh-CN" sz="3200" b="1" baseline="30000">
                <a:latin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kumimoji="1" lang="zh-CN" altLang="en-US" sz="3200" b="1">
                <a:latin typeface="宋体" panose="02010600030101010101" pitchFamily="2" charset="-122"/>
                <a:sym typeface="Symbol" panose="05050102010706020507" pitchFamily="18" charset="2"/>
              </a:rPr>
              <a:t>已知</a:t>
            </a:r>
            <a:r>
              <a:rPr kumimoji="1" lang="en-US" altLang="zh-CN" sz="3200" b="1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624527" y="3789362"/>
            <a:ext cx="7394061" cy="0"/>
            <a:chOff x="908" y="2256"/>
            <a:chExt cx="4852" cy="0"/>
          </a:xfrm>
        </p:grpSpPr>
        <p:sp>
          <p:nvSpPr>
            <p:cNvPr id="32800" name="Line 11"/>
            <p:cNvSpPr>
              <a:spLocks noChangeShapeType="1"/>
            </p:cNvSpPr>
            <p:nvPr/>
          </p:nvSpPr>
          <p:spPr bwMode="auto">
            <a:xfrm>
              <a:off x="908" y="2256"/>
              <a:ext cx="1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1" name="Line 12"/>
            <p:cNvSpPr>
              <a:spLocks noChangeShapeType="1"/>
            </p:cNvSpPr>
            <p:nvPr/>
          </p:nvSpPr>
          <p:spPr bwMode="auto">
            <a:xfrm>
              <a:off x="4320" y="2256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624013" y="5334000"/>
            <a:ext cx="7485063" cy="0"/>
            <a:chOff x="1045" y="3312"/>
            <a:chExt cx="4715" cy="0"/>
          </a:xfrm>
        </p:grpSpPr>
        <p:sp>
          <p:nvSpPr>
            <p:cNvPr id="32798" name="Line 14"/>
            <p:cNvSpPr>
              <a:spLocks noChangeShapeType="1"/>
            </p:cNvSpPr>
            <p:nvPr/>
          </p:nvSpPr>
          <p:spPr bwMode="auto">
            <a:xfrm>
              <a:off x="1045" y="3312"/>
              <a:ext cx="1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15"/>
            <p:cNvSpPr>
              <a:spLocks noChangeShapeType="1"/>
            </p:cNvSpPr>
            <p:nvPr/>
          </p:nvSpPr>
          <p:spPr bwMode="auto">
            <a:xfrm>
              <a:off x="4320" y="331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56" name="Line 16"/>
          <p:cNvSpPr>
            <a:spLocks noChangeShapeType="1"/>
          </p:cNvSpPr>
          <p:nvPr/>
        </p:nvSpPr>
        <p:spPr bwMode="auto">
          <a:xfrm>
            <a:off x="381000" y="67818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28600" y="1066800"/>
            <a:ext cx="8915400" cy="5715000"/>
            <a:chOff x="240" y="672"/>
            <a:chExt cx="5520" cy="3600"/>
          </a:xfrm>
        </p:grpSpPr>
        <p:sp>
          <p:nvSpPr>
            <p:cNvPr id="32789" name="Line 18"/>
            <p:cNvSpPr>
              <a:spLocks noChangeShapeType="1"/>
            </p:cNvSpPr>
            <p:nvPr/>
          </p:nvSpPr>
          <p:spPr bwMode="auto">
            <a:xfrm flipH="1">
              <a:off x="1104" y="672"/>
              <a:ext cx="0" cy="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19"/>
            <p:cNvSpPr>
              <a:spLocks noChangeShapeType="1"/>
            </p:cNvSpPr>
            <p:nvPr/>
          </p:nvSpPr>
          <p:spPr bwMode="auto">
            <a:xfrm flipH="1">
              <a:off x="2208" y="672"/>
              <a:ext cx="0" cy="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1" name="Line 20"/>
            <p:cNvSpPr>
              <a:spLocks noChangeShapeType="1"/>
            </p:cNvSpPr>
            <p:nvPr/>
          </p:nvSpPr>
          <p:spPr bwMode="auto">
            <a:xfrm>
              <a:off x="4320" y="672"/>
              <a:ext cx="0" cy="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2" name="Text Box 21"/>
            <p:cNvSpPr txBox="1">
              <a:spLocks noChangeArrowheads="1"/>
            </p:cNvSpPr>
            <p:nvPr/>
          </p:nvSpPr>
          <p:spPr bwMode="auto">
            <a:xfrm>
              <a:off x="288" y="720"/>
              <a:ext cx="869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/>
                <a:t>原假设</a:t>
              </a:r>
            </a:p>
            <a:p>
              <a:pPr eaLnBrk="1" hangingPunct="1"/>
              <a:r>
                <a:rPr kumimoji="1" lang="zh-CN" altLang="en-US" sz="3200">
                  <a:ea typeface="楷体_GB2312" pitchFamily="49" charset="-122"/>
                </a:rPr>
                <a:t>    </a:t>
              </a:r>
              <a:r>
                <a:rPr kumimoji="1" lang="en-US" altLang="zh-CN" sz="3200" i="1">
                  <a:ea typeface="楷体_GB2312" pitchFamily="49" charset="-122"/>
                </a:rPr>
                <a:t>H</a:t>
              </a:r>
              <a:r>
                <a:rPr kumimoji="1" lang="en-US" altLang="zh-CN" sz="3200" baseline="-25000">
                  <a:ea typeface="楷体_GB2312" pitchFamily="49" charset="-122"/>
                </a:rPr>
                <a:t>0</a:t>
              </a:r>
              <a:endParaRPr kumimoji="1" lang="en-US" altLang="zh-CN" sz="3200">
                <a:ea typeface="楷体_GB2312" pitchFamily="49" charset="-122"/>
              </a:endParaRPr>
            </a:p>
          </p:txBody>
        </p:sp>
        <p:sp>
          <p:nvSpPr>
            <p:cNvPr id="32793" name="Text Box 22"/>
            <p:cNvSpPr txBox="1">
              <a:spLocks noChangeArrowheads="1"/>
            </p:cNvSpPr>
            <p:nvPr/>
          </p:nvSpPr>
          <p:spPr bwMode="auto">
            <a:xfrm>
              <a:off x="1200" y="737"/>
              <a:ext cx="882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3200"/>
                <a:t>  </a:t>
              </a:r>
              <a:r>
                <a:rPr kumimoji="1" lang="zh-CN" altLang="en-US" sz="3200"/>
                <a:t>备择</a:t>
              </a:r>
            </a:p>
            <a:p>
              <a:pPr eaLnBrk="1" hangingPunct="1"/>
              <a:r>
                <a:rPr kumimoji="1" lang="zh-CN" altLang="en-US" sz="3200"/>
                <a:t>假设</a:t>
              </a:r>
              <a:r>
                <a:rPr kumimoji="1" lang="en-US" altLang="zh-CN" sz="3200" i="1">
                  <a:ea typeface="楷体_GB2312" pitchFamily="49" charset="-122"/>
                </a:rPr>
                <a:t>H</a:t>
              </a:r>
              <a:r>
                <a:rPr kumimoji="1" lang="en-US" altLang="zh-CN" sz="3200" baseline="-25000">
                  <a:ea typeface="楷体_GB2312" pitchFamily="49" charset="-122"/>
                </a:rPr>
                <a:t>1</a:t>
              </a:r>
              <a:endParaRPr kumimoji="1" lang="en-US" altLang="zh-CN" sz="3200">
                <a:ea typeface="楷体_GB2312" pitchFamily="49" charset="-122"/>
              </a:endParaRPr>
            </a:p>
          </p:txBody>
        </p:sp>
        <p:sp>
          <p:nvSpPr>
            <p:cNvPr id="32794" name="Text Box 23"/>
            <p:cNvSpPr txBox="1">
              <a:spLocks noChangeArrowheads="1"/>
            </p:cNvSpPr>
            <p:nvPr/>
          </p:nvSpPr>
          <p:spPr bwMode="auto">
            <a:xfrm>
              <a:off x="2384" y="687"/>
              <a:ext cx="1888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3200"/>
                <a:t>检验统计量及其</a:t>
              </a:r>
            </a:p>
            <a:p>
              <a:pPr algn="ctr" eaLnBrk="1" hangingPunct="1"/>
              <a:r>
                <a:rPr kumimoji="1" lang="en-US" altLang="zh-CN" sz="3200" i="1">
                  <a:ea typeface="楷体_GB2312" pitchFamily="49" charset="-122"/>
                </a:rPr>
                <a:t>H</a:t>
              </a:r>
              <a:r>
                <a:rPr kumimoji="1" lang="en-US" altLang="zh-CN" sz="3200" baseline="-25000">
                  <a:ea typeface="楷体_GB2312" pitchFamily="49" charset="-122"/>
                </a:rPr>
                <a:t>0</a:t>
              </a:r>
              <a:r>
                <a:rPr kumimoji="1" lang="zh-CN" altLang="zh-CN" sz="3200"/>
                <a:t>为真时的分布</a:t>
              </a:r>
              <a:endParaRPr kumimoji="1" lang="zh-CN" altLang="en-US" sz="3200"/>
            </a:p>
          </p:txBody>
        </p:sp>
        <p:sp>
          <p:nvSpPr>
            <p:cNvPr id="32795" name="Text Box 24"/>
            <p:cNvSpPr txBox="1">
              <a:spLocks noChangeArrowheads="1"/>
            </p:cNvSpPr>
            <p:nvPr/>
          </p:nvSpPr>
          <p:spPr bwMode="auto">
            <a:xfrm>
              <a:off x="4732" y="816"/>
              <a:ext cx="86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3200"/>
                <a:t>拒绝域</a:t>
              </a:r>
            </a:p>
          </p:txBody>
        </p:sp>
        <p:sp>
          <p:nvSpPr>
            <p:cNvPr id="32796" name="Line 25"/>
            <p:cNvSpPr>
              <a:spLocks noChangeShapeType="1"/>
            </p:cNvSpPr>
            <p:nvPr/>
          </p:nvSpPr>
          <p:spPr bwMode="auto">
            <a:xfrm>
              <a:off x="240" y="1440"/>
              <a:ext cx="5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26"/>
            <p:cNvSpPr>
              <a:spLocks noChangeShapeType="1"/>
            </p:cNvSpPr>
            <p:nvPr/>
          </p:nvSpPr>
          <p:spPr bwMode="auto">
            <a:xfrm>
              <a:off x="240" y="672"/>
              <a:ext cx="5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5868" name="Object 28"/>
          <p:cNvGraphicFramePr>
            <a:graphicFrameLocks noChangeAspect="1"/>
          </p:cNvGraphicFramePr>
          <p:nvPr/>
        </p:nvGraphicFramePr>
        <p:xfrm>
          <a:off x="3851275" y="3076575"/>
          <a:ext cx="224472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0" name="公式" r:id="rId9" imgW="752583" imgH="419040" progId="Equation.3">
                  <p:embed/>
                </p:oleObj>
              </mc:Choice>
              <mc:Fallback>
                <p:oleObj name="公式" r:id="rId9" imgW="752583" imgH="4190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076575"/>
                        <a:ext cx="224472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9" name="Object 29"/>
          <p:cNvGraphicFramePr>
            <a:graphicFrameLocks noChangeAspect="1"/>
          </p:cNvGraphicFramePr>
          <p:nvPr/>
        </p:nvGraphicFramePr>
        <p:xfrm>
          <a:off x="4038600" y="4562475"/>
          <a:ext cx="18288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81" name="公式" r:id="rId11" imgW="600014" imgH="190620" progId="Equation.3">
                  <p:embed/>
                </p:oleObj>
              </mc:Choice>
              <mc:Fallback>
                <p:oleObj name="公式" r:id="rId11" imgW="600014" imgH="19062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562475"/>
                        <a:ext cx="18288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0" name="Text Box 30"/>
          <p:cNvSpPr txBox="1">
            <a:spLocks noChangeArrowheads="1"/>
          </p:cNvSpPr>
          <p:nvPr/>
        </p:nvSpPr>
        <p:spPr bwMode="auto">
          <a:xfrm>
            <a:off x="106363" y="247651"/>
            <a:ext cx="4321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 dirty="0">
                <a:latin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kumimoji="1" lang="en-US" altLang="zh-CN" b="1" dirty="0"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zh-CN" altLang="en-US" b="1" dirty="0">
                <a:latin typeface="宋体" panose="02010600030101010101" pitchFamily="2" charset="-122"/>
                <a:sym typeface="Symbol" panose="05050102010706020507" pitchFamily="18" charset="2"/>
              </a:rPr>
              <a:t>）关于</a:t>
            </a:r>
            <a:r>
              <a:rPr kumimoji="1" lang="zh-CN" altLang="en-US" b="1" i="1" dirty="0">
                <a:latin typeface="宋体" panose="02010600030101010101" pitchFamily="2" charset="-122"/>
                <a:sym typeface="Symbol" panose="05050102010706020507" pitchFamily="18" charset="2"/>
              </a:rPr>
              <a:t> </a:t>
            </a:r>
            <a:r>
              <a:rPr kumimoji="1" lang="zh-CN" altLang="zh-CN" b="1" dirty="0">
                <a:latin typeface="宋体" panose="02010600030101010101" pitchFamily="2" charset="-122"/>
                <a:sym typeface="Symbol" panose="05050102010706020507" pitchFamily="18" charset="2"/>
              </a:rPr>
              <a:t>的检验</a:t>
            </a:r>
            <a:endParaRPr kumimoji="1" lang="zh-CN" altLang="en-US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F3FB50-7CA9-4B85-840B-91A5233F85D7}" type="slidenum">
              <a:rPr lang="en-US" altLang="zh-CN" sz="1400">
                <a:latin typeface="Arial" panose="020B0604020202020204" pitchFamily="34" charset="0"/>
              </a:rPr>
              <a:pPr eaLnBrk="1" hangingPunct="1"/>
              <a:t>33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392113" y="4005263"/>
            <a:ext cx="1371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  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133600" y="266700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</a:t>
            </a:r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7170738" y="2776538"/>
          <a:ext cx="17367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6" name="Equation" r:id="rId3" imgW="600014" imgH="228690" progId="Equation.DSMT4">
                  <p:embed/>
                </p:oleObj>
              </mc:Choice>
              <mc:Fallback>
                <p:oleObj name="Equation" r:id="rId3" imgW="600014" imgH="2286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2776538"/>
                        <a:ext cx="17367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133600" y="419100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>
                <a:ea typeface="楷体_GB2312" pitchFamily="49" charset="-122"/>
                <a:sym typeface="Math1" pitchFamily="2" charset="2"/>
              </a:rPr>
              <a:t>&lt;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2133600" y="556260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>
                <a:ea typeface="楷体_GB2312" pitchFamily="49" charset="-122"/>
                <a:sym typeface="Math1" pitchFamily="2" charset="2"/>
              </a:rPr>
              <a:t>&gt;</a:t>
            </a:r>
            <a:r>
              <a:rPr kumimoji="1" lang="en-US" altLang="zh-CN" sz="320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3200" i="1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32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>
              <a:ea typeface="楷体_GB2312" pitchFamily="49" charset="-122"/>
            </a:endParaRPr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7308850" y="5589588"/>
          <a:ext cx="1577975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7" name="Equation" r:id="rId5" imgW="381017" imgH="218970" progId="Equation.DSMT4">
                  <p:embed/>
                </p:oleObj>
              </mc:Choice>
              <mc:Fallback>
                <p:oleObj name="Equation" r:id="rId5" imgW="381017" imgH="21897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589588"/>
                        <a:ext cx="1577975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8"/>
          <p:cNvGraphicFramePr>
            <a:graphicFrameLocks noChangeAspect="1"/>
          </p:cNvGraphicFramePr>
          <p:nvPr/>
        </p:nvGraphicFramePr>
        <p:xfrm>
          <a:off x="7315200" y="4114800"/>
          <a:ext cx="16033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8" name="Equation" r:id="rId7" imgW="476339" imgH="218970" progId="Equation.DSMT4">
                  <p:embed/>
                </p:oleObj>
              </mc:Choice>
              <mc:Fallback>
                <p:oleObj name="Equation" r:id="rId7" imgW="476339" imgH="21897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114800"/>
                        <a:ext cx="16033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3941763" y="3200400"/>
          <a:ext cx="2225675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9" name="Equation" r:id="rId9" imgW="780936" imgH="723870" progId="Equation.DSMT4">
                  <p:embed/>
                </p:oleObj>
              </mc:Choice>
              <mc:Fallback>
                <p:oleObj name="Equation" r:id="rId9" imgW="780936" imgH="72387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3200400"/>
                        <a:ext cx="2225675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4643438" y="333375"/>
            <a:ext cx="3717925" cy="660400"/>
          </a:xfrm>
          <a:prstGeom prst="rect">
            <a:avLst/>
          </a:prstGeom>
          <a:noFill/>
          <a:ln w="19050" algn="ctr">
            <a:solidFill>
              <a:srgbClr val="CC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/>
              <a:t>t </a:t>
            </a:r>
            <a:r>
              <a:rPr kumimoji="1" lang="zh-CN" altLang="en-US" b="1"/>
              <a:t>检验法 </a:t>
            </a:r>
            <a:r>
              <a:rPr kumimoji="1" lang="en-US" altLang="zh-CN"/>
              <a:t>(</a:t>
            </a:r>
            <a:r>
              <a:rPr kumimoji="1" lang="en-US" altLang="zh-CN">
                <a:sym typeface="Symbol" panose="05050102010706020507" pitchFamily="18" charset="2"/>
              </a:rPr>
              <a:t></a:t>
            </a:r>
            <a:r>
              <a:rPr kumimoji="1" lang="en-US" altLang="zh-CN" baseline="30000">
                <a:sym typeface="Symbol" panose="05050102010706020507" pitchFamily="18" charset="2"/>
              </a:rPr>
              <a:t>2</a:t>
            </a:r>
            <a:r>
              <a:rPr kumimoji="1" lang="en-US" altLang="zh-CN">
                <a:sym typeface="Symbol" panose="05050102010706020507" pitchFamily="18" charset="2"/>
              </a:rPr>
              <a:t> </a:t>
            </a:r>
            <a:r>
              <a:rPr kumimoji="1" lang="zh-CN" altLang="en-US">
                <a:sym typeface="Symbol" panose="05050102010706020507" pitchFamily="18" charset="2"/>
              </a:rPr>
              <a:t>未知</a:t>
            </a:r>
            <a:r>
              <a:rPr kumimoji="1" lang="en-US" altLang="zh-CN"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844675" y="3733800"/>
            <a:ext cx="7223125" cy="0"/>
            <a:chOff x="1162" y="2352"/>
            <a:chExt cx="4550" cy="0"/>
          </a:xfrm>
        </p:grpSpPr>
        <p:sp>
          <p:nvSpPr>
            <p:cNvPr id="33824" name="Line 12"/>
            <p:cNvSpPr>
              <a:spLocks noChangeShapeType="1"/>
            </p:cNvSpPr>
            <p:nvPr/>
          </p:nvSpPr>
          <p:spPr bwMode="auto">
            <a:xfrm>
              <a:off x="1162" y="2352"/>
              <a:ext cx="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5" name="Line 13"/>
            <p:cNvSpPr>
              <a:spLocks noChangeShapeType="1"/>
            </p:cNvSpPr>
            <p:nvPr/>
          </p:nvSpPr>
          <p:spPr bwMode="auto">
            <a:xfrm>
              <a:off x="4416" y="235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828801" y="5257800"/>
            <a:ext cx="7231063" cy="0"/>
            <a:chOff x="1152" y="3312"/>
            <a:chExt cx="4555" cy="0"/>
          </a:xfrm>
        </p:grpSpPr>
        <p:sp>
          <p:nvSpPr>
            <p:cNvPr id="33822" name="Line 15"/>
            <p:cNvSpPr>
              <a:spLocks noChangeShapeType="1"/>
            </p:cNvSpPr>
            <p:nvPr/>
          </p:nvSpPr>
          <p:spPr bwMode="auto">
            <a:xfrm>
              <a:off x="1152" y="331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Line 16"/>
            <p:cNvSpPr>
              <a:spLocks noChangeShapeType="1"/>
            </p:cNvSpPr>
            <p:nvPr/>
          </p:nvSpPr>
          <p:spPr bwMode="auto">
            <a:xfrm>
              <a:off x="4416" y="3312"/>
              <a:ext cx="12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304800" y="6705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04800" y="1143000"/>
            <a:ext cx="8686800" cy="5562600"/>
            <a:chOff x="192" y="720"/>
            <a:chExt cx="5472" cy="3504"/>
          </a:xfrm>
        </p:grpSpPr>
        <p:grpSp>
          <p:nvGrpSpPr>
            <p:cNvPr id="33812" name="Group 19"/>
            <p:cNvGrpSpPr>
              <a:grpSpLocks/>
            </p:cNvGrpSpPr>
            <p:nvPr/>
          </p:nvGrpSpPr>
          <p:grpSpPr bwMode="auto">
            <a:xfrm>
              <a:off x="192" y="720"/>
              <a:ext cx="5472" cy="3504"/>
              <a:chOff x="192" y="720"/>
              <a:chExt cx="5472" cy="3504"/>
            </a:xfrm>
          </p:grpSpPr>
          <p:sp>
            <p:nvSpPr>
              <p:cNvPr id="33814" name="Line 20"/>
              <p:cNvSpPr>
                <a:spLocks noChangeShapeType="1"/>
              </p:cNvSpPr>
              <p:nvPr/>
            </p:nvSpPr>
            <p:spPr bwMode="auto">
              <a:xfrm>
                <a:off x="192" y="1488"/>
                <a:ext cx="54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5" name="Line 21"/>
              <p:cNvSpPr>
                <a:spLocks noChangeShapeType="1"/>
              </p:cNvSpPr>
              <p:nvPr/>
            </p:nvSpPr>
            <p:spPr bwMode="auto">
              <a:xfrm>
                <a:off x="1152" y="720"/>
                <a:ext cx="0" cy="35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6" name="Line 22"/>
              <p:cNvSpPr>
                <a:spLocks noChangeShapeType="1"/>
              </p:cNvSpPr>
              <p:nvPr/>
            </p:nvSpPr>
            <p:spPr bwMode="auto">
              <a:xfrm>
                <a:off x="2256" y="720"/>
                <a:ext cx="0" cy="35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7" name="Line 23"/>
              <p:cNvSpPr>
                <a:spLocks noChangeShapeType="1"/>
              </p:cNvSpPr>
              <p:nvPr/>
            </p:nvSpPr>
            <p:spPr bwMode="auto">
              <a:xfrm>
                <a:off x="4416" y="720"/>
                <a:ext cx="0" cy="35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8" name="Text Box 24"/>
              <p:cNvSpPr txBox="1">
                <a:spLocks noChangeArrowheads="1"/>
              </p:cNvSpPr>
              <p:nvPr/>
            </p:nvSpPr>
            <p:spPr bwMode="auto">
              <a:xfrm>
                <a:off x="278" y="762"/>
                <a:ext cx="88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/>
                  <a:t>原假设</a:t>
                </a:r>
              </a:p>
              <a:p>
                <a:pPr eaLnBrk="1" hangingPunct="1"/>
                <a:r>
                  <a:rPr kumimoji="1" lang="zh-CN" altLang="en-US" sz="3200" i="1">
                    <a:ea typeface="楷体_GB2312" pitchFamily="49" charset="-122"/>
                  </a:rPr>
                  <a:t>    </a:t>
                </a:r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0</a:t>
                </a:r>
                <a:endParaRPr kumimoji="1" lang="en-US" altLang="zh-CN" sz="3200">
                  <a:ea typeface="楷体_GB2312" pitchFamily="49" charset="-122"/>
                </a:endParaRPr>
              </a:p>
            </p:txBody>
          </p:sp>
          <p:sp>
            <p:nvSpPr>
              <p:cNvPr id="33819" name="Text Box 25"/>
              <p:cNvSpPr txBox="1">
                <a:spLocks noChangeArrowheads="1"/>
              </p:cNvSpPr>
              <p:nvPr/>
            </p:nvSpPr>
            <p:spPr bwMode="auto">
              <a:xfrm>
                <a:off x="1200" y="762"/>
                <a:ext cx="1140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/>
                  <a:t>备择假设</a:t>
                </a:r>
              </a:p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      </a:t>
                </a:r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1</a:t>
                </a:r>
                <a:endParaRPr kumimoji="1" lang="en-US" altLang="zh-CN" sz="3200">
                  <a:ea typeface="楷体_GB2312" pitchFamily="49" charset="-122"/>
                </a:endParaRPr>
              </a:p>
            </p:txBody>
          </p:sp>
          <p:sp>
            <p:nvSpPr>
              <p:cNvPr id="33820" name="Text Box 26"/>
              <p:cNvSpPr txBox="1">
                <a:spLocks noChangeArrowheads="1"/>
              </p:cNvSpPr>
              <p:nvPr/>
            </p:nvSpPr>
            <p:spPr bwMode="auto">
              <a:xfrm>
                <a:off x="2416" y="763"/>
                <a:ext cx="1921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3200"/>
                  <a:t>检验统计量及其</a:t>
                </a:r>
              </a:p>
              <a:p>
                <a:pPr algn="ctr" eaLnBrk="1" hangingPunct="1"/>
                <a:r>
                  <a:rPr kumimoji="1" lang="en-US" altLang="zh-CN" sz="3200" i="1"/>
                  <a:t>H</a:t>
                </a:r>
                <a:r>
                  <a:rPr kumimoji="1" lang="en-US" altLang="zh-CN" sz="3200" baseline="-25000"/>
                  <a:t>0</a:t>
                </a:r>
                <a:r>
                  <a:rPr kumimoji="1" lang="zh-CN" altLang="zh-CN" sz="3200"/>
                  <a:t>为真时的分布</a:t>
                </a:r>
                <a:endParaRPr kumimoji="1" lang="zh-CN" altLang="en-US" sz="3200"/>
              </a:p>
            </p:txBody>
          </p:sp>
          <p:sp>
            <p:nvSpPr>
              <p:cNvPr id="33821" name="Text Box 27"/>
              <p:cNvSpPr txBox="1">
                <a:spLocks noChangeArrowheads="1"/>
              </p:cNvSpPr>
              <p:nvPr/>
            </p:nvSpPr>
            <p:spPr bwMode="auto">
              <a:xfrm>
                <a:off x="4684" y="888"/>
                <a:ext cx="8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/>
                  <a:t>拒绝域</a:t>
                </a:r>
              </a:p>
            </p:txBody>
          </p:sp>
        </p:grpSp>
        <p:sp>
          <p:nvSpPr>
            <p:cNvPr id="33813" name="Line 28"/>
            <p:cNvSpPr>
              <a:spLocks noChangeShapeType="1"/>
            </p:cNvSpPr>
            <p:nvPr/>
          </p:nvSpPr>
          <p:spPr bwMode="auto">
            <a:xfrm>
              <a:off x="240" y="720"/>
              <a:ext cx="54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9" name="Rectangle 30"/>
          <p:cNvSpPr>
            <a:spLocks noChangeArrowheads="1"/>
          </p:cNvSpPr>
          <p:nvPr/>
        </p:nvSpPr>
        <p:spPr bwMode="auto">
          <a:xfrm>
            <a:off x="381000" y="342877"/>
            <a:ext cx="3863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 dirty="0">
                <a:sym typeface="Symbol" panose="05050102010706020507" pitchFamily="18" charset="2"/>
              </a:rPr>
              <a:t>（</a:t>
            </a:r>
            <a:r>
              <a:rPr kumimoji="1" lang="en-US" altLang="zh-CN" sz="3200" b="1" dirty="0">
                <a:sym typeface="Symbol" panose="05050102010706020507" pitchFamily="18" charset="2"/>
              </a:rPr>
              <a:t>2</a:t>
            </a:r>
            <a:r>
              <a:rPr kumimoji="1" lang="zh-CN" altLang="en-US" sz="3200" b="1" dirty="0">
                <a:sym typeface="Symbol" panose="05050102010706020507" pitchFamily="18" charset="2"/>
              </a:rPr>
              <a:t>）</a:t>
            </a:r>
            <a:r>
              <a:rPr kumimoji="1" lang="zh-CN" altLang="en-US" b="1" dirty="0">
                <a:sym typeface="Symbol" panose="05050102010706020507" pitchFamily="18" charset="2"/>
              </a:rPr>
              <a:t>关于</a:t>
            </a:r>
            <a:r>
              <a:rPr kumimoji="1" lang="zh-CN" altLang="en-US" b="1" i="1" dirty="0">
                <a:sym typeface="Symbol" panose="05050102010706020507" pitchFamily="18" charset="2"/>
              </a:rPr>
              <a:t> </a:t>
            </a:r>
            <a:r>
              <a:rPr kumimoji="1" lang="zh-CN" altLang="zh-CN" b="1" dirty="0">
                <a:sym typeface="Symbol" panose="05050102010706020507" pitchFamily="18" charset="2"/>
              </a:rPr>
              <a:t>的检验</a:t>
            </a:r>
            <a:endParaRPr kumimoji="1" lang="zh-CN" altLang="en-US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CEFC14-8286-421F-9886-A1036C4571E1}" type="slidenum">
              <a:rPr lang="en-US" altLang="zh-CN" sz="1400">
                <a:latin typeface="Arial" panose="020B0604020202020204" pitchFamily="34" charset="0"/>
              </a:rPr>
              <a:pPr eaLnBrk="1" hangingPunct="1"/>
              <a:t>34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828800" y="5348288"/>
            <a:ext cx="135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ea typeface="楷体_GB2312" pitchFamily="49" charset="-122"/>
                <a:sym typeface="Symbol" panose="05050102010706020507" pitchFamily="18" charset="2"/>
              </a:rPr>
              <a:t>&gt;</a:t>
            </a:r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endParaRPr kumimoji="1" lang="en-US" altLang="zh-CN" sz="2800">
              <a:ea typeface="楷体_GB2312" pitchFamily="49" charset="-122"/>
            </a:endParaRP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158868"/>
              </p:ext>
            </p:extLst>
          </p:nvPr>
        </p:nvGraphicFramePr>
        <p:xfrm>
          <a:off x="6681453" y="5230576"/>
          <a:ext cx="2258094" cy="663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4" name="Equation" r:id="rId3" imgW="933505" imgH="228690" progId="Equation.3">
                  <p:embed/>
                </p:oleObj>
              </mc:Choice>
              <mc:Fallback>
                <p:oleObj name="Equation" r:id="rId3" imgW="933505" imgH="2286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7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453" y="5230576"/>
                        <a:ext cx="2258094" cy="663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752600" y="3824288"/>
            <a:ext cx="135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ea typeface="楷体_GB2312" pitchFamily="49" charset="-122"/>
                <a:sym typeface="Symbol" panose="05050102010706020507" pitchFamily="18" charset="2"/>
              </a:rPr>
              <a:t>&lt;</a:t>
            </a:r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endParaRPr kumimoji="1" lang="en-US" altLang="zh-CN" sz="2800">
              <a:ea typeface="楷体_GB2312" pitchFamily="49" charset="-122"/>
            </a:endParaRP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6599238" y="3733800"/>
          <a:ext cx="239236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5" name="Equation" r:id="rId5" imgW="1009654" imgH="228690" progId="Equation.3">
                  <p:embed/>
                </p:oleObj>
              </mc:Choice>
              <mc:Fallback>
                <p:oleObj name="Equation" r:id="rId5" imgW="1009654" imgH="2286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7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3733800"/>
                        <a:ext cx="239236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79388" y="3644900"/>
            <a:ext cx="1352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endParaRPr kumimoji="1" lang="en-US" altLang="zh-CN" sz="2800">
              <a:ea typeface="楷体_GB2312" pitchFamily="49" charset="-122"/>
            </a:endParaRP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752600" y="2147888"/>
            <a:ext cx="135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>
                <a:ea typeface="楷体_GB2312" pitchFamily="49" charset="-122"/>
                <a:sym typeface="Symbol" panose="05050102010706020507" pitchFamily="18" charset="2"/>
              </a:rPr>
              <a:t></a:t>
            </a:r>
            <a:r>
              <a:rPr kumimoji="1" lang="en-US" altLang="zh-CN" sz="2800" i="1"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2800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aseline="30000">
                <a:ea typeface="楷体_GB2312" pitchFamily="49" charset="-122"/>
                <a:sym typeface="Symbol" panose="05050102010706020507" pitchFamily="18" charset="2"/>
              </a:rPr>
              <a:t>2</a:t>
            </a:r>
            <a:endParaRPr kumimoji="1" lang="en-US" altLang="zh-CN" sz="2800">
              <a:ea typeface="楷体_GB2312" pitchFamily="49" charset="-122"/>
            </a:endParaRP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6616700" y="1968500"/>
          <a:ext cx="22225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6" name="Equation" r:id="rId7" imgW="1143051" imgH="571590" progId="Equation.3">
                  <p:embed/>
                </p:oleObj>
              </mc:Choice>
              <mc:Fallback>
                <p:oleObj name="Equation" r:id="rId7" imgW="1143051" imgH="57159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7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1968500"/>
                        <a:ext cx="22225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670050" y="3352800"/>
            <a:ext cx="7473950" cy="0"/>
            <a:chOff x="1052" y="2256"/>
            <a:chExt cx="4708" cy="0"/>
          </a:xfrm>
        </p:grpSpPr>
        <p:sp>
          <p:nvSpPr>
            <p:cNvPr id="34852" name="Line 10"/>
            <p:cNvSpPr>
              <a:spLocks noChangeShapeType="1"/>
            </p:cNvSpPr>
            <p:nvPr/>
          </p:nvSpPr>
          <p:spPr bwMode="auto">
            <a:xfrm>
              <a:off x="1052" y="2256"/>
              <a:ext cx="9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3" name="Line 11"/>
            <p:cNvSpPr>
              <a:spLocks noChangeShapeType="1"/>
            </p:cNvSpPr>
            <p:nvPr/>
          </p:nvSpPr>
          <p:spPr bwMode="auto">
            <a:xfrm>
              <a:off x="4080" y="2256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670050" y="4876800"/>
            <a:ext cx="7473950" cy="0"/>
            <a:chOff x="1052" y="3216"/>
            <a:chExt cx="4708" cy="0"/>
          </a:xfrm>
        </p:grpSpPr>
        <p:sp>
          <p:nvSpPr>
            <p:cNvPr id="34850" name="Line 13"/>
            <p:cNvSpPr>
              <a:spLocks noChangeShapeType="1"/>
            </p:cNvSpPr>
            <p:nvPr/>
          </p:nvSpPr>
          <p:spPr bwMode="auto">
            <a:xfrm>
              <a:off x="1052" y="3216"/>
              <a:ext cx="9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Line 14"/>
            <p:cNvSpPr>
              <a:spLocks noChangeShapeType="1"/>
            </p:cNvSpPr>
            <p:nvPr/>
          </p:nvSpPr>
          <p:spPr bwMode="auto">
            <a:xfrm>
              <a:off x="4080" y="3216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03" name="Line 15"/>
          <p:cNvSpPr>
            <a:spLocks noChangeShapeType="1"/>
          </p:cNvSpPr>
          <p:nvPr/>
        </p:nvSpPr>
        <p:spPr bwMode="auto">
          <a:xfrm>
            <a:off x="152400" y="6324600"/>
            <a:ext cx="899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52400" y="838200"/>
            <a:ext cx="8991600" cy="5486400"/>
            <a:chOff x="96" y="672"/>
            <a:chExt cx="5664" cy="3456"/>
          </a:xfrm>
        </p:grpSpPr>
        <p:sp>
          <p:nvSpPr>
            <p:cNvPr id="34840" name="Line 17"/>
            <p:cNvSpPr>
              <a:spLocks noChangeShapeType="1"/>
            </p:cNvSpPr>
            <p:nvPr/>
          </p:nvSpPr>
          <p:spPr bwMode="auto">
            <a:xfrm>
              <a:off x="96" y="1344"/>
              <a:ext cx="56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841" name="Group 18"/>
            <p:cNvGrpSpPr>
              <a:grpSpLocks/>
            </p:cNvGrpSpPr>
            <p:nvPr/>
          </p:nvGrpSpPr>
          <p:grpSpPr bwMode="auto">
            <a:xfrm>
              <a:off x="96" y="672"/>
              <a:ext cx="5664" cy="3456"/>
              <a:chOff x="96" y="672"/>
              <a:chExt cx="5664" cy="3456"/>
            </a:xfrm>
          </p:grpSpPr>
          <p:sp>
            <p:nvSpPr>
              <p:cNvPr id="34842" name="Line 19"/>
              <p:cNvSpPr>
                <a:spLocks noChangeShapeType="1"/>
              </p:cNvSpPr>
              <p:nvPr/>
            </p:nvSpPr>
            <p:spPr bwMode="auto">
              <a:xfrm>
                <a:off x="1056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43" name="Line 20"/>
              <p:cNvSpPr>
                <a:spLocks noChangeShapeType="1"/>
              </p:cNvSpPr>
              <p:nvPr/>
            </p:nvSpPr>
            <p:spPr bwMode="auto">
              <a:xfrm>
                <a:off x="2016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44" name="Line 21"/>
              <p:cNvSpPr>
                <a:spLocks noChangeShapeType="1"/>
              </p:cNvSpPr>
              <p:nvPr/>
            </p:nvSpPr>
            <p:spPr bwMode="auto">
              <a:xfrm>
                <a:off x="4080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45" name="Text Box 22"/>
              <p:cNvSpPr txBox="1">
                <a:spLocks noChangeArrowheads="1"/>
              </p:cNvSpPr>
              <p:nvPr/>
            </p:nvSpPr>
            <p:spPr bwMode="auto">
              <a:xfrm>
                <a:off x="172" y="687"/>
                <a:ext cx="88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原假设</a:t>
                </a:r>
              </a:p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    </a:t>
                </a:r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0</a:t>
                </a:r>
                <a:endParaRPr kumimoji="1" lang="en-US" altLang="zh-CN" sz="3200">
                  <a:ea typeface="楷体_GB2312" pitchFamily="49" charset="-122"/>
                </a:endParaRPr>
              </a:p>
            </p:txBody>
          </p:sp>
          <p:sp>
            <p:nvSpPr>
              <p:cNvPr id="34846" name="Text Box 23"/>
              <p:cNvSpPr txBox="1">
                <a:spLocks noChangeArrowheads="1"/>
              </p:cNvSpPr>
              <p:nvPr/>
            </p:nvSpPr>
            <p:spPr bwMode="auto">
              <a:xfrm>
                <a:off x="1052" y="720"/>
                <a:ext cx="1012" cy="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800">
                    <a:ea typeface="楷体_GB2312" pitchFamily="49" charset="-122"/>
                  </a:rPr>
                  <a:t>备择假设</a:t>
                </a:r>
              </a:p>
              <a:p>
                <a:pPr eaLnBrk="1" hangingPunct="1"/>
                <a:r>
                  <a:rPr kumimoji="1" lang="zh-CN" altLang="en-US" sz="2800">
                    <a:ea typeface="楷体_GB2312" pitchFamily="49" charset="-122"/>
                  </a:rPr>
                  <a:t>     </a:t>
                </a:r>
                <a:r>
                  <a:rPr kumimoji="1" lang="en-US" altLang="zh-CN" sz="2800" i="1">
                    <a:ea typeface="楷体_GB2312" pitchFamily="49" charset="-122"/>
                  </a:rPr>
                  <a:t>H</a:t>
                </a:r>
                <a:r>
                  <a:rPr kumimoji="1" lang="en-US" altLang="zh-CN" sz="2800" baseline="-25000">
                    <a:ea typeface="楷体_GB2312" pitchFamily="49" charset="-122"/>
                  </a:rPr>
                  <a:t>1</a:t>
                </a:r>
                <a:endParaRPr kumimoji="1" lang="en-US" altLang="zh-CN" sz="2800">
                  <a:ea typeface="楷体_GB2312" pitchFamily="49" charset="-122"/>
                </a:endParaRPr>
              </a:p>
            </p:txBody>
          </p:sp>
          <p:sp>
            <p:nvSpPr>
              <p:cNvPr id="34847" name="Text Box 24"/>
              <p:cNvSpPr txBox="1">
                <a:spLocks noChangeArrowheads="1"/>
              </p:cNvSpPr>
              <p:nvPr/>
            </p:nvSpPr>
            <p:spPr bwMode="auto">
              <a:xfrm>
                <a:off x="2000" y="682"/>
                <a:ext cx="216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3200" dirty="0">
                    <a:ea typeface="楷体_GB2312" pitchFamily="49" charset="-122"/>
                  </a:rPr>
                  <a:t>检验统计量及其在</a:t>
                </a:r>
              </a:p>
              <a:p>
                <a:pPr algn="ctr" eaLnBrk="1" hangingPunct="1"/>
                <a:r>
                  <a:rPr kumimoji="1" lang="en-US" altLang="zh-CN" sz="3200" i="1" dirty="0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 dirty="0">
                    <a:ea typeface="楷体_GB2312" pitchFamily="49" charset="-122"/>
                  </a:rPr>
                  <a:t>0</a:t>
                </a:r>
                <a:r>
                  <a:rPr kumimoji="1" lang="zh-CN" altLang="zh-CN" sz="3200" dirty="0">
                    <a:ea typeface="楷体_GB2312" pitchFamily="49" charset="-122"/>
                  </a:rPr>
                  <a:t>为真时的分布</a:t>
                </a:r>
                <a:endParaRPr kumimoji="1" lang="zh-CN" altLang="en-US" sz="3200" dirty="0">
                  <a:ea typeface="楷体_GB2312" pitchFamily="49" charset="-122"/>
                </a:endParaRPr>
              </a:p>
            </p:txBody>
          </p:sp>
          <p:sp>
            <p:nvSpPr>
              <p:cNvPr id="34848" name="Text Box 25"/>
              <p:cNvSpPr txBox="1">
                <a:spLocks noChangeArrowheads="1"/>
              </p:cNvSpPr>
              <p:nvPr/>
            </p:nvSpPr>
            <p:spPr bwMode="auto">
              <a:xfrm>
                <a:off x="4540" y="777"/>
                <a:ext cx="8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拒绝域</a:t>
                </a:r>
              </a:p>
            </p:txBody>
          </p:sp>
          <p:sp>
            <p:nvSpPr>
              <p:cNvPr id="34849" name="Line 26"/>
              <p:cNvSpPr>
                <a:spLocks noChangeShapeType="1"/>
              </p:cNvSpPr>
              <p:nvPr/>
            </p:nvSpPr>
            <p:spPr bwMode="auto">
              <a:xfrm>
                <a:off x="96" y="672"/>
                <a:ext cx="56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3581400" y="2890838"/>
            <a:ext cx="2397125" cy="3052762"/>
            <a:chOff x="2269" y="1694"/>
            <a:chExt cx="1510" cy="1923"/>
          </a:xfrm>
        </p:grpSpPr>
        <p:graphicFrame>
          <p:nvGraphicFramePr>
            <p:cNvPr id="34838" name="Object 28"/>
            <p:cNvGraphicFramePr>
              <a:graphicFrameLocks noChangeAspect="1"/>
            </p:cNvGraphicFramePr>
            <p:nvPr/>
          </p:nvGraphicFramePr>
          <p:xfrm>
            <a:off x="2269" y="1694"/>
            <a:ext cx="1510" cy="1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87" name="Equation" r:id="rId9" imgW="971580" imgH="704970" progId="Equation.DSMT4">
                    <p:embed/>
                  </p:oleObj>
                </mc:Choice>
                <mc:Fallback>
                  <p:oleObj name="Equation" r:id="rId9" imgW="971580" imgH="70497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72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9" y="1694"/>
                          <a:ext cx="1510" cy="1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9" name="Text Box 29"/>
            <p:cNvSpPr txBox="1">
              <a:spLocks noChangeArrowheads="1"/>
            </p:cNvSpPr>
            <p:nvPr/>
          </p:nvSpPr>
          <p:spPr bwMode="auto">
            <a:xfrm>
              <a:off x="2463" y="3252"/>
              <a:ext cx="1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zh-CN" sz="3200"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4773613" y="115888"/>
            <a:ext cx="2146300" cy="660400"/>
            <a:chOff x="1536" y="768"/>
            <a:chExt cx="1352" cy="416"/>
          </a:xfrm>
        </p:grpSpPr>
        <p:sp>
          <p:nvSpPr>
            <p:cNvPr id="34836" name="Text Box 31"/>
            <p:cNvSpPr txBox="1">
              <a:spLocks noChangeArrowheads="1"/>
            </p:cNvSpPr>
            <p:nvPr/>
          </p:nvSpPr>
          <p:spPr bwMode="auto">
            <a:xfrm>
              <a:off x="1536" y="768"/>
              <a:ext cx="1352" cy="416"/>
            </a:xfrm>
            <a:prstGeom prst="rect">
              <a:avLst/>
            </a:prstGeom>
            <a:noFill/>
            <a:ln w="19050">
              <a:solidFill>
                <a:srgbClr val="CC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 dirty="0">
                  <a:ea typeface="楷体_GB2312" pitchFamily="49" charset="-122"/>
                </a:rPr>
                <a:t>     </a:t>
              </a:r>
              <a:r>
                <a:rPr kumimoji="1" lang="zh-CN" altLang="en-US" b="1" dirty="0">
                  <a:ea typeface="黑体" panose="02010609060101010101" pitchFamily="49" charset="-122"/>
                </a:rPr>
                <a:t>检验法</a:t>
              </a:r>
              <a:endParaRPr kumimoji="1" lang="zh-CN" altLang="en-US" b="1" dirty="0">
                <a:latin typeface="宋体" panose="02010600030101010101" pitchFamily="2" charset="-122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4837" name="Object 32"/>
            <p:cNvGraphicFramePr>
              <a:graphicFrameLocks noChangeAspect="1"/>
            </p:cNvGraphicFramePr>
            <p:nvPr/>
          </p:nvGraphicFramePr>
          <p:xfrm>
            <a:off x="1632" y="768"/>
            <a:ext cx="33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88" name="Equation" r:id="rId11" imgW="190373" imgH="218970" progId="Equation.3">
                    <p:embed/>
                  </p:oleObj>
                </mc:Choice>
                <mc:Fallback>
                  <p:oleObj name="Equation" r:id="rId11" imgW="190373" imgH="21897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768"/>
                          <a:ext cx="33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33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4" name="Rectangle 35"/>
          <p:cNvSpPr>
            <a:spLocks noChangeArrowheads="1"/>
          </p:cNvSpPr>
          <p:nvPr/>
        </p:nvSpPr>
        <p:spPr bwMode="auto">
          <a:xfrm>
            <a:off x="381000" y="115888"/>
            <a:ext cx="3965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 dirty="0">
                <a:sym typeface="Symbol" panose="05050102010706020507" pitchFamily="18" charset="2"/>
              </a:rPr>
              <a:t>（</a:t>
            </a:r>
            <a:r>
              <a:rPr kumimoji="1" lang="en-US" altLang="zh-CN" sz="3200" b="1" dirty="0">
                <a:sym typeface="Symbol" panose="05050102010706020507" pitchFamily="18" charset="2"/>
              </a:rPr>
              <a:t>3</a:t>
            </a:r>
            <a:r>
              <a:rPr kumimoji="1" lang="zh-CN" altLang="en-US" sz="3200" b="1" dirty="0">
                <a:sym typeface="Symbol" panose="05050102010706020507" pitchFamily="18" charset="2"/>
              </a:rPr>
              <a:t>）</a:t>
            </a:r>
            <a:r>
              <a:rPr kumimoji="1" lang="zh-CN" altLang="en-US" b="1" dirty="0">
                <a:sym typeface="Symbol" panose="05050102010706020507" pitchFamily="18" charset="2"/>
              </a:rPr>
              <a:t>关于</a:t>
            </a:r>
            <a:r>
              <a:rPr kumimoji="1" lang="zh-CN" altLang="en-US" sz="3200" i="1" dirty="0">
                <a:sym typeface="Symbol" panose="05050102010706020507" pitchFamily="18" charset="2"/>
              </a:rPr>
              <a:t> </a:t>
            </a:r>
            <a:r>
              <a:rPr kumimoji="1" lang="en-US" altLang="zh-CN" sz="3200" baseline="30000" dirty="0">
                <a:sym typeface="Symbol" panose="05050102010706020507" pitchFamily="18" charset="2"/>
              </a:rPr>
              <a:t>2</a:t>
            </a:r>
            <a:r>
              <a:rPr kumimoji="1" lang="zh-CN" altLang="zh-CN" b="1" dirty="0">
                <a:sym typeface="Symbol" panose="05050102010706020507" pitchFamily="18" charset="2"/>
              </a:rPr>
              <a:t>的检验</a:t>
            </a:r>
            <a:endParaRPr kumimoji="1" lang="zh-CN" altLang="en-US" b="1" dirty="0">
              <a:sym typeface="Symbol" panose="05050102010706020507" pitchFamily="18" charset="2"/>
            </a:endParaRPr>
          </a:p>
        </p:txBody>
      </p:sp>
      <p:graphicFrame>
        <p:nvGraphicFramePr>
          <p:cNvPr id="34835" name="Object 40"/>
          <p:cNvGraphicFramePr>
            <a:graphicFrameLocks noChangeAspect="1"/>
          </p:cNvGraphicFramePr>
          <p:nvPr/>
        </p:nvGraphicFramePr>
        <p:xfrm>
          <a:off x="3657600" y="5105400"/>
          <a:ext cx="21272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9" name="Equation" r:id="rId13" imgW="914400" imgH="457200" progId="Equation.DSMT4">
                  <p:embed/>
                </p:oleObj>
              </mc:Choice>
              <mc:Fallback>
                <p:oleObj name="Equation" r:id="rId13" imgW="914400" imgH="4572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05400"/>
                        <a:ext cx="212725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A488E4-A416-4C6E-BC8E-F6A7446C6155}" type="slidenum">
              <a:rPr lang="en-US" altLang="zh-CN" sz="1400">
                <a:latin typeface="Arial" panose="020B0604020202020204" pitchFamily="34" charset="0"/>
              </a:rPr>
              <a:pPr eaLnBrk="1" hangingPunct="1"/>
              <a:t>35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52400" y="838200"/>
            <a:ext cx="8991600" cy="5486400"/>
            <a:chOff x="96" y="672"/>
            <a:chExt cx="5664" cy="3456"/>
          </a:xfrm>
        </p:grpSpPr>
        <p:sp>
          <p:nvSpPr>
            <p:cNvPr id="35856" name="Line 17"/>
            <p:cNvSpPr>
              <a:spLocks noChangeShapeType="1"/>
            </p:cNvSpPr>
            <p:nvPr/>
          </p:nvSpPr>
          <p:spPr bwMode="auto">
            <a:xfrm>
              <a:off x="96" y="1344"/>
              <a:ext cx="56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5857" name="Group 18"/>
            <p:cNvGrpSpPr>
              <a:grpSpLocks/>
            </p:cNvGrpSpPr>
            <p:nvPr/>
          </p:nvGrpSpPr>
          <p:grpSpPr bwMode="auto">
            <a:xfrm>
              <a:off x="96" y="672"/>
              <a:ext cx="5664" cy="3456"/>
              <a:chOff x="96" y="672"/>
              <a:chExt cx="5664" cy="3456"/>
            </a:xfrm>
          </p:grpSpPr>
          <p:sp>
            <p:nvSpPr>
              <p:cNvPr id="35858" name="Line 19"/>
              <p:cNvSpPr>
                <a:spLocks noChangeShapeType="1"/>
              </p:cNvSpPr>
              <p:nvPr/>
            </p:nvSpPr>
            <p:spPr bwMode="auto">
              <a:xfrm>
                <a:off x="1056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59" name="Line 20"/>
              <p:cNvSpPr>
                <a:spLocks noChangeShapeType="1"/>
              </p:cNvSpPr>
              <p:nvPr/>
            </p:nvSpPr>
            <p:spPr bwMode="auto">
              <a:xfrm>
                <a:off x="2016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0" name="Line 21"/>
              <p:cNvSpPr>
                <a:spLocks noChangeShapeType="1"/>
              </p:cNvSpPr>
              <p:nvPr/>
            </p:nvSpPr>
            <p:spPr bwMode="auto">
              <a:xfrm>
                <a:off x="4080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1" name="Text Box 22"/>
              <p:cNvSpPr txBox="1">
                <a:spLocks noChangeArrowheads="1"/>
              </p:cNvSpPr>
              <p:nvPr/>
            </p:nvSpPr>
            <p:spPr bwMode="auto">
              <a:xfrm>
                <a:off x="172" y="687"/>
                <a:ext cx="88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原假设</a:t>
                </a:r>
              </a:p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    </a:t>
                </a:r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0</a:t>
                </a:r>
                <a:endParaRPr kumimoji="1" lang="en-US" altLang="zh-CN" sz="3200">
                  <a:ea typeface="楷体_GB2312" pitchFamily="49" charset="-122"/>
                </a:endParaRPr>
              </a:p>
            </p:txBody>
          </p:sp>
          <p:sp>
            <p:nvSpPr>
              <p:cNvPr id="35862" name="Text Box 23"/>
              <p:cNvSpPr txBox="1">
                <a:spLocks noChangeArrowheads="1"/>
              </p:cNvSpPr>
              <p:nvPr/>
            </p:nvSpPr>
            <p:spPr bwMode="auto">
              <a:xfrm>
                <a:off x="1052" y="720"/>
                <a:ext cx="1012" cy="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800">
                    <a:ea typeface="楷体_GB2312" pitchFamily="49" charset="-122"/>
                  </a:rPr>
                  <a:t>备择假设</a:t>
                </a:r>
              </a:p>
              <a:p>
                <a:pPr eaLnBrk="1" hangingPunct="1"/>
                <a:r>
                  <a:rPr kumimoji="1" lang="zh-CN" altLang="en-US" sz="2800">
                    <a:ea typeface="楷体_GB2312" pitchFamily="49" charset="-122"/>
                  </a:rPr>
                  <a:t>     </a:t>
                </a:r>
                <a:r>
                  <a:rPr kumimoji="1" lang="en-US" altLang="zh-CN" sz="2800" i="1">
                    <a:ea typeface="楷体_GB2312" pitchFamily="49" charset="-122"/>
                  </a:rPr>
                  <a:t>H</a:t>
                </a:r>
                <a:r>
                  <a:rPr kumimoji="1" lang="en-US" altLang="zh-CN" sz="2800" baseline="-25000">
                    <a:ea typeface="楷体_GB2312" pitchFamily="49" charset="-122"/>
                  </a:rPr>
                  <a:t>1</a:t>
                </a:r>
                <a:endParaRPr kumimoji="1" lang="en-US" altLang="zh-CN" sz="2800">
                  <a:ea typeface="楷体_GB2312" pitchFamily="49" charset="-122"/>
                </a:endParaRPr>
              </a:p>
            </p:txBody>
          </p:sp>
          <p:sp>
            <p:nvSpPr>
              <p:cNvPr id="35863" name="Text Box 24"/>
              <p:cNvSpPr txBox="1">
                <a:spLocks noChangeArrowheads="1"/>
              </p:cNvSpPr>
              <p:nvPr/>
            </p:nvSpPr>
            <p:spPr bwMode="auto">
              <a:xfrm>
                <a:off x="2000" y="682"/>
                <a:ext cx="216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3200">
                    <a:ea typeface="楷体_GB2312" pitchFamily="49" charset="-122"/>
                  </a:rPr>
                  <a:t>检验统计量及其在</a:t>
                </a:r>
              </a:p>
              <a:p>
                <a:pPr algn="ctr" eaLnBrk="1" hangingPunct="1"/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0</a:t>
                </a:r>
                <a:r>
                  <a:rPr kumimoji="1" lang="zh-CN" altLang="zh-CN" sz="3200">
                    <a:ea typeface="楷体_GB2312" pitchFamily="49" charset="-122"/>
                  </a:rPr>
                  <a:t>为真时的分布</a:t>
                </a:r>
                <a:endParaRPr kumimoji="1" lang="zh-CN" altLang="en-US" sz="3200">
                  <a:ea typeface="楷体_GB2312" pitchFamily="49" charset="-122"/>
                </a:endParaRPr>
              </a:p>
            </p:txBody>
          </p:sp>
          <p:sp>
            <p:nvSpPr>
              <p:cNvPr id="35864" name="Text Box 25"/>
              <p:cNvSpPr txBox="1">
                <a:spLocks noChangeArrowheads="1"/>
              </p:cNvSpPr>
              <p:nvPr/>
            </p:nvSpPr>
            <p:spPr bwMode="auto">
              <a:xfrm>
                <a:off x="4540" y="777"/>
                <a:ext cx="8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拒绝域</a:t>
                </a:r>
              </a:p>
            </p:txBody>
          </p:sp>
          <p:sp>
            <p:nvSpPr>
              <p:cNvPr id="35865" name="Line 26"/>
              <p:cNvSpPr>
                <a:spLocks noChangeShapeType="1"/>
              </p:cNvSpPr>
              <p:nvPr/>
            </p:nvSpPr>
            <p:spPr bwMode="auto">
              <a:xfrm>
                <a:off x="96" y="672"/>
                <a:ext cx="56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5" name="Line 15"/>
          <p:cNvSpPr>
            <a:spLocks noChangeShapeType="1"/>
          </p:cNvSpPr>
          <p:nvPr/>
        </p:nvSpPr>
        <p:spPr bwMode="auto">
          <a:xfrm>
            <a:off x="152400" y="6324600"/>
            <a:ext cx="899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45" name="Object 2"/>
          <p:cNvGraphicFramePr>
            <a:graphicFrameLocks noChangeAspect="1"/>
          </p:cNvGraphicFramePr>
          <p:nvPr/>
        </p:nvGraphicFramePr>
        <p:xfrm>
          <a:off x="228600" y="3657600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96" name="Equation" r:id="rId3" imgW="698500" imgH="228600" progId="Equation.DSMT4">
                  <p:embed/>
                </p:oleObj>
              </mc:Choice>
              <mc:Fallback>
                <p:oleObj name="Equation" r:id="rId3" imgW="6985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657600"/>
                        <a:ext cx="139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3"/>
          <p:cNvGraphicFramePr>
            <a:graphicFrameLocks noChangeAspect="1"/>
          </p:cNvGraphicFramePr>
          <p:nvPr/>
        </p:nvGraphicFramePr>
        <p:xfrm>
          <a:off x="1752600" y="2362200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97" name="Equation" r:id="rId5" imgW="698500" imgH="228600" progId="Equation.DSMT4">
                  <p:embed/>
                </p:oleObj>
              </mc:Choice>
              <mc:Fallback>
                <p:oleObj name="Equation" r:id="rId5" imgW="698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62200"/>
                        <a:ext cx="139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4"/>
          <p:cNvGraphicFramePr>
            <a:graphicFrameLocks noChangeAspect="1"/>
          </p:cNvGraphicFramePr>
          <p:nvPr/>
        </p:nvGraphicFramePr>
        <p:xfrm>
          <a:off x="1752600" y="3810000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98" name="Equation" r:id="rId7" imgW="698500" imgH="228600" progId="Equation.DSMT4">
                  <p:embed/>
                </p:oleObj>
              </mc:Choice>
              <mc:Fallback>
                <p:oleObj name="Equation" r:id="rId7" imgW="698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10000"/>
                        <a:ext cx="139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5"/>
          <p:cNvGraphicFramePr>
            <a:graphicFrameLocks noChangeAspect="1"/>
          </p:cNvGraphicFramePr>
          <p:nvPr/>
        </p:nvGraphicFramePr>
        <p:xfrm>
          <a:off x="1752600" y="5105400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99" name="Equation" r:id="rId9" imgW="698500" imgH="228600" progId="Equation.DSMT4">
                  <p:embed/>
                </p:oleObj>
              </mc:Choice>
              <mc:Fallback>
                <p:oleObj name="Equation" r:id="rId9" imgW="6985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105400"/>
                        <a:ext cx="139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/>
        </p:nvGraphicFramePr>
        <p:xfrm>
          <a:off x="3771900" y="2870200"/>
          <a:ext cx="2278063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0" name="Equation" r:id="rId11" imgW="914332" imgH="857250" progId="Equation.DSMT4">
                  <p:embed/>
                </p:oleObj>
              </mc:Choice>
              <mc:Fallback>
                <p:oleObj name="Equation" r:id="rId11" imgW="914332" imgH="85725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2870200"/>
                        <a:ext cx="2278063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7"/>
          <p:cNvGraphicFramePr>
            <a:graphicFrameLocks noChangeAspect="1"/>
          </p:cNvGraphicFramePr>
          <p:nvPr/>
        </p:nvGraphicFramePr>
        <p:xfrm>
          <a:off x="7094538" y="2560638"/>
          <a:ext cx="175736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1" name="Equation" r:id="rId13" imgW="558558" imgH="203112" progId="Equation.DSMT4">
                  <p:embed/>
                </p:oleObj>
              </mc:Choice>
              <mc:Fallback>
                <p:oleObj name="Equation" r:id="rId13" imgW="558558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4538" y="2560638"/>
                        <a:ext cx="175736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8"/>
          <p:cNvGraphicFramePr>
            <a:graphicFrameLocks noChangeAspect="1"/>
          </p:cNvGraphicFramePr>
          <p:nvPr/>
        </p:nvGraphicFramePr>
        <p:xfrm>
          <a:off x="7161213" y="3810000"/>
          <a:ext cx="1257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2" name="Equation" r:id="rId15" imgW="418918" imgH="203112" progId="Equation.DSMT4">
                  <p:embed/>
                </p:oleObj>
              </mc:Choice>
              <mc:Fallback>
                <p:oleObj name="Equation" r:id="rId15" imgW="418918" imgH="203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3810000"/>
                        <a:ext cx="1257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9"/>
          <p:cNvGraphicFramePr>
            <a:graphicFrameLocks noChangeAspect="1"/>
          </p:cNvGraphicFramePr>
          <p:nvPr/>
        </p:nvGraphicFramePr>
        <p:xfrm>
          <a:off x="7156450" y="4953000"/>
          <a:ext cx="1485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3" name="Equation" r:id="rId17" imgW="494870" imgH="203024" progId="Equation.DSMT4">
                  <p:embed/>
                </p:oleObj>
              </mc:Choice>
              <mc:Fallback>
                <p:oleObj name="Equation" r:id="rId17" imgW="494870" imgH="20302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450" y="4953000"/>
                        <a:ext cx="1485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Rectangle 35"/>
          <p:cNvSpPr>
            <a:spLocks noChangeArrowheads="1"/>
          </p:cNvSpPr>
          <p:nvPr/>
        </p:nvSpPr>
        <p:spPr bwMode="auto">
          <a:xfrm>
            <a:off x="381000" y="115888"/>
            <a:ext cx="6151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 dirty="0">
                <a:sym typeface="Symbol" panose="05050102010706020507" pitchFamily="18" charset="2"/>
              </a:rPr>
              <a:t>（</a:t>
            </a:r>
            <a:r>
              <a:rPr kumimoji="1" lang="en-US" altLang="zh-CN" sz="3200" b="1" dirty="0">
                <a:sym typeface="Symbol" panose="05050102010706020507" pitchFamily="18" charset="2"/>
              </a:rPr>
              <a:t>4</a:t>
            </a:r>
            <a:r>
              <a:rPr kumimoji="1" lang="zh-CN" altLang="en-US" sz="3200" b="1" dirty="0">
                <a:sym typeface="Symbol" panose="05050102010706020507" pitchFamily="18" charset="2"/>
              </a:rPr>
              <a:t>）</a:t>
            </a:r>
            <a:r>
              <a:rPr kumimoji="1" lang="zh-CN" altLang="en-US" b="1" dirty="0">
                <a:sym typeface="Symbol" panose="05050102010706020507" pitchFamily="18" charset="2"/>
              </a:rPr>
              <a:t>双正态总体</a:t>
            </a:r>
            <a:r>
              <a:rPr kumimoji="1" lang="zh-CN" altLang="en-US" sz="3200" i="1" dirty="0">
                <a:sym typeface="Symbol" panose="05050102010706020507" pitchFamily="18" charset="2"/>
              </a:rPr>
              <a:t>            </a:t>
            </a:r>
            <a:r>
              <a:rPr kumimoji="1" lang="zh-CN" altLang="zh-CN" b="1" dirty="0">
                <a:sym typeface="Symbol" panose="05050102010706020507" pitchFamily="18" charset="2"/>
              </a:rPr>
              <a:t>的检验</a:t>
            </a:r>
            <a:endParaRPr kumimoji="1" lang="zh-CN" altLang="en-US" b="1" dirty="0">
              <a:sym typeface="Symbol" panose="05050102010706020507" pitchFamily="18" charset="2"/>
            </a:endParaRPr>
          </a:p>
        </p:txBody>
      </p:sp>
      <p:graphicFrame>
        <p:nvGraphicFramePr>
          <p:cNvPr id="358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156354"/>
              </p:ext>
            </p:extLst>
          </p:nvPr>
        </p:nvGraphicFramePr>
        <p:xfrm>
          <a:off x="3801470" y="122712"/>
          <a:ext cx="1193800" cy="565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4" name="Equation" r:id="rId19" imgW="482391" imgH="228501" progId="Equation.DSMT4">
                  <p:embed/>
                </p:oleObj>
              </mc:Choice>
              <mc:Fallback>
                <p:oleObj name="Equation" r:id="rId19" imgW="482391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1470" y="122712"/>
                        <a:ext cx="1193800" cy="565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257759"/>
              </p:ext>
            </p:extLst>
          </p:nvPr>
        </p:nvGraphicFramePr>
        <p:xfrm>
          <a:off x="6483350" y="228600"/>
          <a:ext cx="1809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05" name="Equation" r:id="rId21" imgW="774364" imgH="228501" progId="Equation.DSMT4">
                  <p:embed/>
                </p:oleObj>
              </mc:Choice>
              <mc:Fallback>
                <p:oleObj name="Equation" r:id="rId21" imgW="774364" imgH="22850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228600"/>
                        <a:ext cx="18097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A5AC99-93C0-4B59-9E8A-8BD07544582A}" type="slidenum">
              <a:rPr lang="en-US" altLang="zh-CN" sz="1400">
                <a:latin typeface="Arial" panose="020B0604020202020204" pitchFamily="34" charset="0"/>
              </a:rPr>
              <a:pPr eaLnBrk="1" hangingPunct="1"/>
              <a:t>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52400" y="838200"/>
            <a:ext cx="8991600" cy="5486400"/>
            <a:chOff x="96" y="672"/>
            <a:chExt cx="5664" cy="3456"/>
          </a:xfrm>
        </p:grpSpPr>
        <p:sp>
          <p:nvSpPr>
            <p:cNvPr id="36880" name="Line 17"/>
            <p:cNvSpPr>
              <a:spLocks noChangeShapeType="1"/>
            </p:cNvSpPr>
            <p:nvPr/>
          </p:nvSpPr>
          <p:spPr bwMode="auto">
            <a:xfrm>
              <a:off x="96" y="1344"/>
              <a:ext cx="56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6881" name="Group 18"/>
            <p:cNvGrpSpPr>
              <a:grpSpLocks/>
            </p:cNvGrpSpPr>
            <p:nvPr/>
          </p:nvGrpSpPr>
          <p:grpSpPr bwMode="auto">
            <a:xfrm>
              <a:off x="96" y="672"/>
              <a:ext cx="5664" cy="3456"/>
              <a:chOff x="96" y="672"/>
              <a:chExt cx="5664" cy="3456"/>
            </a:xfrm>
          </p:grpSpPr>
          <p:sp>
            <p:nvSpPr>
              <p:cNvPr id="36882" name="Line 19"/>
              <p:cNvSpPr>
                <a:spLocks noChangeShapeType="1"/>
              </p:cNvSpPr>
              <p:nvPr/>
            </p:nvSpPr>
            <p:spPr bwMode="auto">
              <a:xfrm>
                <a:off x="1056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3" name="Line 20"/>
              <p:cNvSpPr>
                <a:spLocks noChangeShapeType="1"/>
              </p:cNvSpPr>
              <p:nvPr/>
            </p:nvSpPr>
            <p:spPr bwMode="auto">
              <a:xfrm>
                <a:off x="2016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4" name="Line 21"/>
              <p:cNvSpPr>
                <a:spLocks noChangeShapeType="1"/>
              </p:cNvSpPr>
              <p:nvPr/>
            </p:nvSpPr>
            <p:spPr bwMode="auto">
              <a:xfrm>
                <a:off x="4080" y="672"/>
                <a:ext cx="0" cy="34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5" name="Text Box 22"/>
              <p:cNvSpPr txBox="1">
                <a:spLocks noChangeArrowheads="1"/>
              </p:cNvSpPr>
              <p:nvPr/>
            </p:nvSpPr>
            <p:spPr bwMode="auto">
              <a:xfrm>
                <a:off x="172" y="687"/>
                <a:ext cx="88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原假设</a:t>
                </a:r>
              </a:p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    </a:t>
                </a:r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0</a:t>
                </a:r>
                <a:endParaRPr kumimoji="1" lang="en-US" altLang="zh-CN" sz="3200">
                  <a:ea typeface="楷体_GB2312" pitchFamily="49" charset="-122"/>
                </a:endParaRPr>
              </a:p>
            </p:txBody>
          </p:sp>
          <p:sp>
            <p:nvSpPr>
              <p:cNvPr id="36886" name="Text Box 23"/>
              <p:cNvSpPr txBox="1">
                <a:spLocks noChangeArrowheads="1"/>
              </p:cNvSpPr>
              <p:nvPr/>
            </p:nvSpPr>
            <p:spPr bwMode="auto">
              <a:xfrm>
                <a:off x="1052" y="720"/>
                <a:ext cx="1012" cy="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2800">
                    <a:ea typeface="楷体_GB2312" pitchFamily="49" charset="-122"/>
                  </a:rPr>
                  <a:t>备择假设</a:t>
                </a:r>
              </a:p>
              <a:p>
                <a:pPr eaLnBrk="1" hangingPunct="1"/>
                <a:r>
                  <a:rPr kumimoji="1" lang="zh-CN" altLang="en-US" sz="2800">
                    <a:ea typeface="楷体_GB2312" pitchFamily="49" charset="-122"/>
                  </a:rPr>
                  <a:t>     </a:t>
                </a:r>
                <a:r>
                  <a:rPr kumimoji="1" lang="en-US" altLang="zh-CN" sz="2800" i="1">
                    <a:ea typeface="楷体_GB2312" pitchFamily="49" charset="-122"/>
                  </a:rPr>
                  <a:t>H</a:t>
                </a:r>
                <a:r>
                  <a:rPr kumimoji="1" lang="en-US" altLang="zh-CN" sz="2800" baseline="-25000">
                    <a:ea typeface="楷体_GB2312" pitchFamily="49" charset="-122"/>
                  </a:rPr>
                  <a:t>1</a:t>
                </a:r>
                <a:endParaRPr kumimoji="1" lang="en-US" altLang="zh-CN" sz="2800">
                  <a:ea typeface="楷体_GB2312" pitchFamily="49" charset="-122"/>
                </a:endParaRPr>
              </a:p>
            </p:txBody>
          </p:sp>
          <p:sp>
            <p:nvSpPr>
              <p:cNvPr id="36887" name="Text Box 24"/>
              <p:cNvSpPr txBox="1">
                <a:spLocks noChangeArrowheads="1"/>
              </p:cNvSpPr>
              <p:nvPr/>
            </p:nvSpPr>
            <p:spPr bwMode="auto">
              <a:xfrm>
                <a:off x="2000" y="682"/>
                <a:ext cx="2164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zh-CN" altLang="en-US" sz="3200">
                    <a:ea typeface="楷体_GB2312" pitchFamily="49" charset="-122"/>
                  </a:rPr>
                  <a:t>检验统计量及其在</a:t>
                </a:r>
              </a:p>
              <a:p>
                <a:pPr algn="ctr" eaLnBrk="1" hangingPunct="1"/>
                <a:r>
                  <a:rPr kumimoji="1" lang="en-US" altLang="zh-CN" sz="3200" i="1">
                    <a:ea typeface="楷体_GB2312" pitchFamily="49" charset="-122"/>
                  </a:rPr>
                  <a:t>H</a:t>
                </a:r>
                <a:r>
                  <a:rPr kumimoji="1" lang="en-US" altLang="zh-CN" sz="3200" baseline="-25000">
                    <a:ea typeface="楷体_GB2312" pitchFamily="49" charset="-122"/>
                  </a:rPr>
                  <a:t>0</a:t>
                </a:r>
                <a:r>
                  <a:rPr kumimoji="1" lang="zh-CN" altLang="zh-CN" sz="3200">
                    <a:ea typeface="楷体_GB2312" pitchFamily="49" charset="-122"/>
                  </a:rPr>
                  <a:t>为真时的分布</a:t>
                </a:r>
                <a:endParaRPr kumimoji="1" lang="zh-CN" altLang="en-US" sz="3200">
                  <a:ea typeface="楷体_GB2312" pitchFamily="49" charset="-122"/>
                </a:endParaRPr>
              </a:p>
            </p:txBody>
          </p:sp>
          <p:sp>
            <p:nvSpPr>
              <p:cNvPr id="36888" name="Text Box 25"/>
              <p:cNvSpPr txBox="1">
                <a:spLocks noChangeArrowheads="1"/>
              </p:cNvSpPr>
              <p:nvPr/>
            </p:nvSpPr>
            <p:spPr bwMode="auto">
              <a:xfrm>
                <a:off x="4540" y="777"/>
                <a:ext cx="8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zh-CN" altLang="en-US" sz="3200">
                    <a:ea typeface="楷体_GB2312" pitchFamily="49" charset="-122"/>
                  </a:rPr>
                  <a:t>拒绝域</a:t>
                </a:r>
              </a:p>
            </p:txBody>
          </p:sp>
          <p:sp>
            <p:nvSpPr>
              <p:cNvPr id="36889" name="Line 26"/>
              <p:cNvSpPr>
                <a:spLocks noChangeShapeType="1"/>
              </p:cNvSpPr>
              <p:nvPr/>
            </p:nvSpPr>
            <p:spPr bwMode="auto">
              <a:xfrm>
                <a:off x="96" y="672"/>
                <a:ext cx="56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5" name="Line 15"/>
          <p:cNvSpPr>
            <a:spLocks noChangeShapeType="1"/>
          </p:cNvSpPr>
          <p:nvPr/>
        </p:nvSpPr>
        <p:spPr bwMode="auto">
          <a:xfrm>
            <a:off x="152400" y="6324600"/>
            <a:ext cx="899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2998" name="Object 6"/>
          <p:cNvGraphicFramePr>
            <a:graphicFrameLocks noChangeAspect="1"/>
          </p:cNvGraphicFramePr>
          <p:nvPr/>
        </p:nvGraphicFramePr>
        <p:xfrm>
          <a:off x="3554413" y="3155950"/>
          <a:ext cx="2714625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0" name="Equation" r:id="rId3" imgW="1095255" imgH="628560" progId="Equation.DSMT4">
                  <p:embed/>
                </p:oleObj>
              </mc:Choice>
              <mc:Fallback>
                <p:oleObj name="Equation" r:id="rId3" imgW="1095255" imgH="628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3155950"/>
                        <a:ext cx="2714625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8"/>
          <p:cNvGraphicFramePr>
            <a:graphicFrameLocks noChangeAspect="1"/>
          </p:cNvGraphicFramePr>
          <p:nvPr/>
        </p:nvGraphicFramePr>
        <p:xfrm>
          <a:off x="6553200" y="2133600"/>
          <a:ext cx="23653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1" name="Equation" r:id="rId5" imgW="1231366" imgH="317362" progId="Equation.DSMT4">
                  <p:embed/>
                </p:oleObj>
              </mc:Choice>
              <mc:Fallback>
                <p:oleObj name="Equation" r:id="rId5" imgW="1231366" imgH="31736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33600"/>
                        <a:ext cx="23653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35"/>
          <p:cNvSpPr>
            <a:spLocks noChangeArrowheads="1"/>
          </p:cNvSpPr>
          <p:nvPr/>
        </p:nvSpPr>
        <p:spPr bwMode="auto">
          <a:xfrm>
            <a:off x="381000" y="115888"/>
            <a:ext cx="6151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>
                <a:sym typeface="Symbol" panose="05050102010706020507" pitchFamily="18" charset="2"/>
              </a:rPr>
              <a:t>（</a:t>
            </a:r>
            <a:r>
              <a:rPr kumimoji="1" lang="en-US" altLang="zh-CN" sz="3200" b="1">
                <a:sym typeface="Symbol" panose="05050102010706020507" pitchFamily="18" charset="2"/>
              </a:rPr>
              <a:t>5</a:t>
            </a:r>
            <a:r>
              <a:rPr kumimoji="1" lang="zh-CN" altLang="en-US" sz="3200" b="1">
                <a:sym typeface="Symbol" panose="05050102010706020507" pitchFamily="18" charset="2"/>
              </a:rPr>
              <a:t>）</a:t>
            </a:r>
            <a:r>
              <a:rPr kumimoji="1" lang="zh-CN" altLang="en-US" b="1">
                <a:sym typeface="Symbol" panose="05050102010706020507" pitchFamily="18" charset="2"/>
              </a:rPr>
              <a:t>双正态总体</a:t>
            </a:r>
            <a:r>
              <a:rPr kumimoji="1" lang="zh-CN" altLang="en-US" sz="3200" i="1">
                <a:sym typeface="Symbol" panose="05050102010706020507" pitchFamily="18" charset="2"/>
              </a:rPr>
              <a:t>            </a:t>
            </a:r>
            <a:r>
              <a:rPr kumimoji="1" lang="zh-CN" altLang="zh-CN" b="1">
                <a:sym typeface="Symbol" panose="05050102010706020507" pitchFamily="18" charset="2"/>
              </a:rPr>
              <a:t>的检验</a:t>
            </a:r>
            <a:endParaRPr kumimoji="1" lang="zh-CN" altLang="en-US" b="1">
              <a:sym typeface="Symbol" panose="05050102010706020507" pitchFamily="18" charset="2"/>
            </a:endParaRPr>
          </a:p>
        </p:txBody>
      </p:sp>
      <p:graphicFrame>
        <p:nvGraphicFramePr>
          <p:cNvPr id="368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595456"/>
              </p:ext>
            </p:extLst>
          </p:nvPr>
        </p:nvGraphicFramePr>
        <p:xfrm>
          <a:off x="3841750" y="152400"/>
          <a:ext cx="1203148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2" name="Equation" r:id="rId7" imgW="482391" imgH="228501" progId="Equation.DSMT4">
                  <p:embed/>
                </p:oleObj>
              </mc:Choice>
              <mc:Fallback>
                <p:oleObj name="Equation" r:id="rId7" imgW="482391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0" y="152400"/>
                        <a:ext cx="1203148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11"/>
          <p:cNvGraphicFramePr>
            <a:graphicFrameLocks noChangeAspect="1"/>
          </p:cNvGraphicFramePr>
          <p:nvPr/>
        </p:nvGraphicFramePr>
        <p:xfrm>
          <a:off x="304800" y="3733800"/>
          <a:ext cx="1287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3" name="Equation" r:id="rId9" imgW="482391" imgH="228501" progId="Equation.DSMT4">
                  <p:embed/>
                </p:oleObj>
              </mc:Choice>
              <mc:Fallback>
                <p:oleObj name="Equation" r:id="rId9" imgW="482391" imgH="22850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733800"/>
                        <a:ext cx="12874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2"/>
          <p:cNvGraphicFramePr>
            <a:graphicFrameLocks noChangeAspect="1"/>
          </p:cNvGraphicFramePr>
          <p:nvPr/>
        </p:nvGraphicFramePr>
        <p:xfrm>
          <a:off x="1828800" y="2286000"/>
          <a:ext cx="1287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4" name="Equation" r:id="rId11" imgW="482391" imgH="228501" progId="Equation.DSMT4">
                  <p:embed/>
                </p:oleObj>
              </mc:Choice>
              <mc:Fallback>
                <p:oleObj name="Equation" r:id="rId11" imgW="482391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86000"/>
                        <a:ext cx="12874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3"/>
          <p:cNvGraphicFramePr>
            <a:graphicFrameLocks noChangeAspect="1"/>
          </p:cNvGraphicFramePr>
          <p:nvPr/>
        </p:nvGraphicFramePr>
        <p:xfrm>
          <a:off x="1828800" y="3810000"/>
          <a:ext cx="1287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5" name="Equation" r:id="rId13" imgW="482391" imgH="228501" progId="Equation.DSMT4">
                  <p:embed/>
                </p:oleObj>
              </mc:Choice>
              <mc:Fallback>
                <p:oleObj name="Equation" r:id="rId13" imgW="482391" imgH="22850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10000"/>
                        <a:ext cx="12874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4"/>
          <p:cNvGraphicFramePr>
            <a:graphicFrameLocks noChangeAspect="1"/>
          </p:cNvGraphicFramePr>
          <p:nvPr/>
        </p:nvGraphicFramePr>
        <p:xfrm>
          <a:off x="1828800" y="5029200"/>
          <a:ext cx="1287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6" name="Equation" r:id="rId15" imgW="482391" imgH="228501" progId="Equation.DSMT4">
                  <p:embed/>
                </p:oleObj>
              </mc:Choice>
              <mc:Fallback>
                <p:oleObj name="Equation" r:id="rId15" imgW="482391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029200"/>
                        <a:ext cx="12874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7" name="Object 16"/>
          <p:cNvGraphicFramePr>
            <a:graphicFrameLocks noChangeAspect="1"/>
          </p:cNvGraphicFramePr>
          <p:nvPr/>
        </p:nvGraphicFramePr>
        <p:xfrm>
          <a:off x="6680200" y="2895600"/>
          <a:ext cx="2463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7" name="Equation" r:id="rId17" imgW="1282144" imgH="317362" progId="Equation.DSMT4">
                  <p:embed/>
                </p:oleObj>
              </mc:Choice>
              <mc:Fallback>
                <p:oleObj name="Equation" r:id="rId17" imgW="1282144" imgH="31736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2895600"/>
                        <a:ext cx="2463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8" name="Object 17"/>
          <p:cNvGraphicFramePr>
            <a:graphicFrameLocks noChangeAspect="1"/>
          </p:cNvGraphicFramePr>
          <p:nvPr/>
        </p:nvGraphicFramePr>
        <p:xfrm>
          <a:off x="6553200" y="3843338"/>
          <a:ext cx="2514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8" name="Equation" r:id="rId19" imgW="1143000" imgH="203200" progId="Equation.DSMT4">
                  <p:embed/>
                </p:oleObj>
              </mc:Choice>
              <mc:Fallback>
                <p:oleObj name="Equation" r:id="rId19" imgW="1143000" imgH="203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843338"/>
                        <a:ext cx="2514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9" name="Object 18"/>
          <p:cNvGraphicFramePr>
            <a:graphicFrameLocks noChangeAspect="1"/>
          </p:cNvGraphicFramePr>
          <p:nvPr/>
        </p:nvGraphicFramePr>
        <p:xfrm>
          <a:off x="6477000" y="5105400"/>
          <a:ext cx="26812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9" name="Equation" r:id="rId21" imgW="1193800" imgH="203200" progId="Equation.DSMT4">
                  <p:embed/>
                </p:oleObj>
              </mc:Choice>
              <mc:Fallback>
                <p:oleObj name="Equation" r:id="rId21" imgW="1193800" imgH="203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105400"/>
                        <a:ext cx="26812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30"/>
          <p:cNvGrpSpPr>
            <a:grpSpLocks/>
          </p:cNvGrpSpPr>
          <p:nvPr/>
        </p:nvGrpSpPr>
        <p:grpSpPr bwMode="auto">
          <a:xfrm>
            <a:off x="6616700" y="115888"/>
            <a:ext cx="2146300" cy="660400"/>
            <a:chOff x="1536" y="768"/>
            <a:chExt cx="1352" cy="416"/>
          </a:xfrm>
        </p:grpSpPr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1536" y="768"/>
              <a:ext cx="1352" cy="416"/>
            </a:xfrm>
            <a:prstGeom prst="rect">
              <a:avLst/>
            </a:prstGeom>
            <a:noFill/>
            <a:ln w="19050">
              <a:solidFill>
                <a:srgbClr val="CC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 dirty="0">
                  <a:ea typeface="楷体_GB2312" pitchFamily="49" charset="-122"/>
                </a:rPr>
                <a:t>     </a:t>
              </a:r>
              <a:r>
                <a:rPr kumimoji="1" lang="zh-CN" altLang="en-US" b="1" dirty="0">
                  <a:ea typeface="黑体" panose="02010609060101010101" pitchFamily="49" charset="-122"/>
                </a:rPr>
                <a:t>检验法</a:t>
              </a:r>
              <a:endParaRPr kumimoji="1" lang="zh-CN" altLang="en-US" b="1" dirty="0">
                <a:latin typeface="宋体" panose="02010600030101010101" pitchFamily="2" charset="-122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0133834"/>
                </p:ext>
              </p:extLst>
            </p:nvPr>
          </p:nvGraphicFramePr>
          <p:xfrm>
            <a:off x="1654" y="815"/>
            <a:ext cx="293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80" name="Equation" r:id="rId23" imgW="164880" imgH="164880" progId="Equation.DSMT4">
                    <p:embed/>
                  </p:oleObj>
                </mc:Choice>
                <mc:Fallback>
                  <p:oleObj name="Equation" r:id="rId23" imgW="164880" imgH="164880" progId="Equation.DSMT4">
                    <p:embed/>
                    <p:pic>
                      <p:nvPicPr>
                        <p:cNvPr id="34837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lum brigh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815"/>
                          <a:ext cx="293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33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</Template>
  <TotalTime>3876</TotalTime>
  <Words>1369</Words>
  <Application>Microsoft Office PowerPoint</Application>
  <PresentationFormat>全屏显示(4:3)</PresentationFormat>
  <Paragraphs>286</Paragraphs>
  <Slides>36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Math1</vt:lpstr>
      <vt:lpstr>Tw Cen MT</vt:lpstr>
      <vt:lpstr>黑体</vt:lpstr>
      <vt:lpstr>华文仿宋</vt:lpstr>
      <vt:lpstr>华文中宋</vt:lpstr>
      <vt:lpstr>楷体_GB2312</vt:lpstr>
      <vt:lpstr>宋体</vt:lpstr>
      <vt:lpstr>Arial</vt:lpstr>
      <vt:lpstr>Cambria Math</vt:lpstr>
      <vt:lpstr>Symbol</vt:lpstr>
      <vt:lpstr>Times New Roman</vt:lpstr>
      <vt:lpstr>Wingdings</vt:lpstr>
      <vt:lpstr>Wingdings 2</vt:lpstr>
      <vt:lpstr>中性</vt:lpstr>
      <vt:lpstr>Equation</vt:lpstr>
      <vt:lpstr>Microsoft 公式 3.0</vt:lpstr>
      <vt:lpstr>公式</vt:lpstr>
      <vt:lpstr>假设检验</vt:lpstr>
      <vt:lpstr>PowerPoint 演示文稿</vt:lpstr>
      <vt:lpstr>提纲</vt:lpstr>
      <vt:lpstr>何为假设检验</vt:lpstr>
      <vt:lpstr>主要内容</vt:lpstr>
      <vt:lpstr>例</vt:lpstr>
      <vt:lpstr>例</vt:lpstr>
      <vt:lpstr>PowerPoint 演示文稿</vt:lpstr>
      <vt:lpstr>例</vt:lpstr>
      <vt:lpstr>例</vt:lpstr>
      <vt:lpstr>显著水平α</vt:lpstr>
      <vt:lpstr>假设检验步骤</vt:lpstr>
      <vt:lpstr>两类错误</vt:lpstr>
      <vt:lpstr>正态总体均值的检验：单正态总体</vt:lpstr>
      <vt:lpstr>正态总体均值的检验：单正态总体</vt:lpstr>
      <vt:lpstr>例</vt:lpstr>
      <vt:lpstr>例</vt:lpstr>
      <vt:lpstr>正态总体均值的检验：单正态总体</vt:lpstr>
      <vt:lpstr>正态总体均值的检验：单正态总体</vt:lpstr>
      <vt:lpstr>例</vt:lpstr>
      <vt:lpstr>正态总体均值的检验：双正态总体</vt:lpstr>
      <vt:lpstr>正态总体均值的检验：双正态总体</vt:lpstr>
      <vt:lpstr>正态总体均值的检验：双正态总体</vt:lpstr>
      <vt:lpstr>正态总体方差的检验：单正态总体</vt:lpstr>
      <vt:lpstr>正态总体方差的检验：单正态总体</vt:lpstr>
      <vt:lpstr>正态总体方差的检验：双正态总体</vt:lpstr>
      <vt:lpstr>正态总体方差的检验：双正态总体</vt:lpstr>
      <vt:lpstr>例</vt:lpstr>
      <vt:lpstr>例</vt:lpstr>
      <vt:lpstr>例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唐斌</dc:creator>
  <cp:lastModifiedBy>唐 斌</cp:lastModifiedBy>
  <cp:revision>270</cp:revision>
  <cp:lastPrinted>1601-01-01T00:00:00Z</cp:lastPrinted>
  <dcterms:created xsi:type="dcterms:W3CDTF">1601-01-01T00:00:00Z</dcterms:created>
  <dcterms:modified xsi:type="dcterms:W3CDTF">2018-12-19T05:11:21Z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