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27"/>
  </p:notesMasterIdLst>
  <p:sldIdLst>
    <p:sldId id="293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03" autoAdjust="0"/>
  </p:normalViewPr>
  <p:slideViewPr>
    <p:cSldViewPr>
      <p:cViewPr varScale="1">
        <p:scale>
          <a:sx n="67" d="100"/>
          <a:sy n="67" d="100"/>
        </p:scale>
        <p:origin x="1248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Relationship Id="rId4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2336E7-F42F-4A2E-9F47-4CAB93D18031}" type="datetimeFigureOut">
              <a:rPr lang="zh-CN" altLang="en-US" smtClean="0"/>
              <a:t>2018/4/25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9DC25-1DF3-4044-A1F0-C273483743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799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ED9701B-4197-4FE5-B5DA-5416DC1669A5}" type="datetime1">
              <a:rPr lang="zh-CN" altLang="en-US" smtClean="0"/>
              <a:t>2018/4/25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6247-266E-48C6-8B14-289F25875231}" type="datetime1">
              <a:rPr lang="zh-CN" altLang="en-US" smtClean="0"/>
              <a:t>2018/4/25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5BE9-30F8-4EBE-A9C2-AB249A42BA31}" type="datetime1">
              <a:rPr lang="zh-CN" altLang="en-US" smtClean="0"/>
              <a:t>2018/4/25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7E2C2CD-497C-4296-A0B9-87C9C1109BD9}" type="datetime1">
              <a:rPr lang="zh-CN" altLang="en-US" smtClean="0"/>
              <a:t>2018/4/25</a:t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5E19621-E3B2-4562-A73B-168B240E71B6}" type="datetime1">
              <a:rPr lang="zh-CN" altLang="en-US" smtClean="0"/>
              <a:t>2018/4/25</a:t>
            </a:fld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16C8-561B-4A8C-9EFE-F6FCC4B46780}" type="datetime1">
              <a:rPr lang="zh-CN" altLang="en-US" smtClean="0"/>
              <a:t>2018/4/25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84-2C90-4317-995F-7291EE975927}" type="datetime1">
              <a:rPr lang="zh-CN" altLang="en-US" smtClean="0"/>
              <a:t>2018/4/25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36A7-51C4-461E-A63E-A4F97ED44C5C}" type="datetime1">
              <a:rPr lang="zh-CN" altLang="en-US" smtClean="0"/>
              <a:t>2018/4/25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DD3C3FD1-F0F2-4061-8913-C3CEB2D6BA24}" type="datetime1">
              <a:rPr lang="zh-CN" altLang="en-US" smtClean="0"/>
              <a:t>2018/4/25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033A-B298-4829-B013-FB02CFC1E8B2}" type="datetime1">
              <a:rPr lang="zh-CN" altLang="en-US" smtClean="0"/>
              <a:t>2018/4/25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6322D89-321D-4885-89B2-A0E512222A49}" type="datetime1">
              <a:rPr lang="zh-CN" altLang="en-US" smtClean="0"/>
              <a:t>2018/4/25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 smtClean="0"/>
              <a:t>第二级</a:t>
            </a:r>
          </a:p>
          <a:p>
            <a:pPr lvl="2" eaLnBrk="1" latinLnBrk="0" hangingPunct="1"/>
            <a:r>
              <a:rPr kumimoji="0" lang="zh-CN" altLang="en-US" dirty="0" smtClean="0"/>
              <a:t>第三级</a:t>
            </a:r>
          </a:p>
          <a:p>
            <a:pPr lvl="3" eaLnBrk="1" latinLnBrk="0" hangingPunct="1"/>
            <a:r>
              <a:rPr kumimoji="0" lang="zh-CN" altLang="en-US" dirty="0" smtClean="0"/>
              <a:t>第四级</a:t>
            </a:r>
          </a:p>
          <a:p>
            <a:pPr lvl="4" eaLnBrk="1" latinLnBrk="0" hangingPunct="1"/>
            <a:r>
              <a:rPr kumimoji="0" lang="zh-CN" altLang="en-US" dirty="0" smtClean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97045A6-C381-463D-A4BA-F030581BD3A5}" type="datetime1">
              <a:rPr lang="zh-CN" altLang="en-US" smtClean="0"/>
              <a:t>2018/4/25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image" Target="../media/image59.png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image" Target="../media/image61.png"/><Relationship Id="rId5" Type="http://schemas.openxmlformats.org/officeDocument/2006/relationships/oleObject" Target="../embeddings/oleObject1.bin"/><Relationship Id="rId10" Type="http://schemas.openxmlformats.org/officeDocument/2006/relationships/oleObject" Target="../embeddings/oleObject14.bin"/><Relationship Id="rId4" Type="http://schemas.openxmlformats.org/officeDocument/2006/relationships/image" Target="../media/image60.png"/><Relationship Id="rId9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emf"/><Relationship Id="rId11" Type="http://schemas.openxmlformats.org/officeDocument/2006/relationships/image" Target="../media/image87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4.emf"/><Relationship Id="rId4" Type="http://schemas.openxmlformats.org/officeDocument/2006/relationships/image" Target="../media/image11.emf"/><Relationship Id="rId9" Type="http://schemas.openxmlformats.org/officeDocument/2006/relationships/oleObject" Target="../embeddings/oleObject6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6000" dirty="0" smtClean="0"/>
              <a:t>典型二维连续型随机变量分布、相关系数</a:t>
            </a:r>
            <a:endParaRPr lang="zh-CN" altLang="en-US" sz="6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40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二维均匀分布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</m:oMath>
                </a14:m>
                <a:r>
                  <a:rPr lang="zh-CN" altLang="en-US" dirty="0" smtClean="0"/>
                  <a:t>是平面上的有界区域，其面积为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dirty="0" smtClean="0"/>
                  <a:t>，如果二维随机变量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的密度函数为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𝑨</m:t>
                                  </m:r>
                                </m:den>
                              </m:f>
                              <m:r>
                                <a:rPr lang="en-US" altLang="zh-CN" b="1" i="1" smtClean="0">
                                  <a:latin typeface="Cambria Math"/>
                                </a:rPr>
                                <m:t>, 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∈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𝑫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, 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∉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𝑫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/>
                  <a:t>则</a:t>
                </a:r>
                <a:r>
                  <a:rPr lang="zh-CN" altLang="en-US" dirty="0" smtClean="0"/>
                  <a:t>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(</m:t>
                    </m:r>
                    <m:r>
                      <a:rPr lang="en-US" altLang="zh-CN" i="1">
                        <a:latin typeface="Cambria Math"/>
                      </a:rPr>
                      <m:t>𝑿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i="1">
                        <a:latin typeface="Cambria Math"/>
                      </a:rPr>
                      <m:t>𝒀</m:t>
                    </m:r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服从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/>
                      </a:rPr>
                      <m:t>𝑫</m:t>
                    </m:r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</a:rPr>
                  <a:t>上的二维均匀分布</a:t>
                </a:r>
                <a:r>
                  <a:rPr lang="zh-CN" altLang="en-US" dirty="0" smtClean="0"/>
                  <a:t>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357" r="-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324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二维均匀分布背景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在平面区域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𝑫</m:t>
                    </m:r>
                  </m:oMath>
                </a14:m>
                <a:r>
                  <a:rPr lang="zh-CN" altLang="en-US" dirty="0" smtClean="0"/>
                  <a:t>内随机投点，落点坐标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(</m:t>
                    </m:r>
                    <m:r>
                      <a:rPr lang="en-US" altLang="zh-CN" i="1">
                        <a:latin typeface="Cambria Math"/>
                      </a:rPr>
                      <m:t>𝑿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i="1">
                        <a:latin typeface="Cambria Math"/>
                      </a:rPr>
                      <m:t>𝒀</m:t>
                    </m:r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服从区域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𝑫</m:t>
                    </m:r>
                  </m:oMath>
                </a14:m>
                <a:r>
                  <a:rPr lang="zh-CN" altLang="en-US" dirty="0" smtClean="0"/>
                  <a:t>上的二维均匀分布。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甲乙在一小时内随机达到车站，到达时刻分别为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(</m:t>
                    </m:r>
                    <m:r>
                      <a:rPr lang="en-US" altLang="zh-CN" i="1">
                        <a:latin typeface="Cambria Math"/>
                      </a:rPr>
                      <m:t>𝑿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i="1">
                        <a:latin typeface="Cambria Math"/>
                      </a:rPr>
                      <m:t>𝒀</m:t>
                    </m:r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服从区域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𝑫</m:t>
                    </m:r>
                  </m:oMath>
                </a14:m>
                <a:r>
                  <a:rPr lang="zh-CN" altLang="en-US" dirty="0"/>
                  <a:t>上的二维</a:t>
                </a:r>
                <a:r>
                  <a:rPr lang="zh-CN" altLang="en-US" dirty="0" smtClean="0"/>
                  <a:t>均匀分布，其中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r>
                      <a:rPr lang="en-US" altLang="zh-CN" b="1" i="1" smtClean="0">
                        <a:latin typeface="Cambria Math"/>
                      </a:rPr>
                      <m:t>={(</m:t>
                    </m:r>
                    <m:r>
                      <a:rPr lang="en-US" altLang="zh-CN" b="1" i="1" smtClean="0">
                        <a:latin typeface="Cambria Math"/>
                      </a:rPr>
                      <m:t>𝒙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𝒚</m:t>
                    </m:r>
                    <m:r>
                      <a:rPr lang="en-US" altLang="zh-CN" b="1" i="1" smtClean="0">
                        <a:latin typeface="Cambria Math"/>
                      </a:rPr>
                      <m:t>)|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&lt;</m:t>
                    </m:r>
                    <m:r>
                      <a:rPr lang="en-US" altLang="zh-CN" b="1" i="1" smtClean="0">
                        <a:latin typeface="Cambria Math"/>
                      </a:rPr>
                      <m:t>𝒙</m:t>
                    </m:r>
                    <m:r>
                      <a:rPr lang="en-US" altLang="zh-CN" b="1" i="1" smtClean="0">
                        <a:latin typeface="Cambria Math"/>
                      </a:rPr>
                      <m:t>&lt;</m:t>
                    </m:r>
                    <m:r>
                      <a:rPr lang="en-US" altLang="zh-CN" b="1" i="1" smtClean="0">
                        <a:latin typeface="Cambria Math"/>
                      </a:rPr>
                      <m:t>𝟔𝟎</m:t>
                    </m:r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&lt;</m:t>
                    </m:r>
                    <m:r>
                      <a:rPr lang="en-US" altLang="zh-CN" b="1" i="1" smtClean="0">
                        <a:latin typeface="Cambria Math"/>
                      </a:rPr>
                      <m:t>𝒚</m:t>
                    </m:r>
                    <m:r>
                      <a:rPr lang="en-US" altLang="zh-CN" b="1" i="1" smtClean="0">
                        <a:latin typeface="Cambria Math"/>
                      </a:rPr>
                      <m:t>&lt;</m:t>
                    </m:r>
                    <m:r>
                      <a:rPr lang="en-US" altLang="zh-CN" b="1" i="1" smtClean="0">
                        <a:latin typeface="Cambria Math"/>
                      </a:rPr>
                      <m:t>𝟔𝟎</m:t>
                    </m:r>
                    <m:r>
                      <a:rPr lang="en-US" altLang="zh-CN" b="1" i="1" smtClean="0">
                        <a:latin typeface="Cambria Math"/>
                      </a:rPr>
                      <m:t>}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1357" r="-60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771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二维分布几何意义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2404864"/>
              </a:xfrm>
            </p:spPr>
            <p:txBody>
              <a:bodyPr/>
              <a:lstStyle/>
              <a:p>
                <a:r>
                  <a:rPr lang="zh-CN" altLang="en-US" dirty="0" smtClean="0"/>
                  <a:t>如果二维随机变量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服从区域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</m:oMath>
                </a14:m>
                <a:r>
                  <a:rPr lang="zh-CN" altLang="en-US" dirty="0" smtClean="0"/>
                  <a:t>上的均匀分布，则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随机</a:t>
                </a:r>
                <a:r>
                  <a:rPr lang="zh-CN" altLang="en-US" dirty="0" smtClean="0"/>
                  <a:t>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只落在区域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𝑫</m:t>
                    </m:r>
                  </m:oMath>
                </a14:m>
                <a:r>
                  <a:rPr lang="zh-CN" altLang="en-US" dirty="0" smtClean="0"/>
                  <a:t>内；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落</a:t>
                </a:r>
                <a:r>
                  <a:rPr lang="zh-CN" altLang="en-US" dirty="0" smtClean="0"/>
                  <a:t>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</m:oMath>
                </a14:m>
                <a:r>
                  <a:rPr lang="zh-CN" altLang="en-US" dirty="0" smtClean="0"/>
                  <a:t>内任一子区域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dirty="0" smtClean="0"/>
                  <a:t>内的概率与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dirty="0" smtClean="0"/>
                  <a:t>的面积成正比，而与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dirty="0" smtClean="0"/>
                  <a:t>的形状以及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dirty="0" smtClean="0"/>
                  <a:t>在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𝑫</m:t>
                    </m:r>
                  </m:oMath>
                </a14:m>
                <a:r>
                  <a:rPr lang="zh-CN" altLang="en-US" dirty="0" smtClean="0"/>
                  <a:t>内的位置无关。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2404864"/>
              </a:xfrm>
              <a:blipFill rotWithShape="0">
                <a:blip r:embed="rId3"/>
                <a:stretch>
                  <a:fillRect l="-449" t="-2538" r="-5310" b="-3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611188" y="4076700"/>
            <a:ext cx="2971800" cy="2286000"/>
            <a:chOff x="611188" y="4076700"/>
            <a:chExt cx="2971800" cy="2286000"/>
          </a:xfrm>
        </p:grpSpPr>
        <p:grpSp>
          <p:nvGrpSpPr>
            <p:cNvPr id="18" name="Group 31"/>
            <p:cNvGrpSpPr>
              <a:grpSpLocks/>
            </p:cNvGrpSpPr>
            <p:nvPr/>
          </p:nvGrpSpPr>
          <p:grpSpPr bwMode="auto">
            <a:xfrm>
              <a:off x="611188" y="4076700"/>
              <a:ext cx="2971800" cy="2286000"/>
              <a:chOff x="336" y="2592"/>
              <a:chExt cx="1872" cy="1440"/>
            </a:xfrm>
          </p:grpSpPr>
          <p:sp>
            <p:nvSpPr>
              <p:cNvPr id="20" name="Text Box 5"/>
              <p:cNvSpPr txBox="1">
                <a:spLocks noChangeArrowheads="1"/>
              </p:cNvSpPr>
              <p:nvPr/>
            </p:nvSpPr>
            <p:spPr bwMode="auto">
              <a:xfrm>
                <a:off x="624" y="2976"/>
                <a:ext cx="120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itchFamily="2" charset="2"/>
                  <a:buChar char="n"/>
                  <a:defRPr kumimoji="1" sz="32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n"/>
                  <a:defRPr kumimoji="1" sz="28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itchFamily="2" charset="2"/>
                  <a:buChar char="n"/>
                  <a:defRPr kumimoji="1" sz="24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SzPct val="60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ahoma" pitchFamily="34" charset="0"/>
                </a:endParaRPr>
              </a:p>
            </p:txBody>
          </p:sp>
          <p:sp>
            <p:nvSpPr>
              <p:cNvPr id="21" name="Oval 6"/>
              <p:cNvSpPr>
                <a:spLocks noChangeArrowheads="1"/>
              </p:cNvSpPr>
              <p:nvPr/>
            </p:nvSpPr>
            <p:spPr bwMode="auto">
              <a:xfrm>
                <a:off x="576" y="2736"/>
                <a:ext cx="1248" cy="816"/>
              </a:xfrm>
              <a:prstGeom prst="ellipse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itchFamily="2" charset="2"/>
                  <a:buChar char="n"/>
                  <a:defRPr kumimoji="1" sz="32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n"/>
                  <a:defRPr kumimoji="1" sz="28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itchFamily="2" charset="2"/>
                  <a:buChar char="n"/>
                  <a:defRPr kumimoji="1" sz="24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SzPct val="60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Line 7"/>
              <p:cNvSpPr>
                <a:spLocks noChangeShapeType="1"/>
              </p:cNvSpPr>
              <p:nvPr/>
            </p:nvSpPr>
            <p:spPr bwMode="auto">
              <a:xfrm>
                <a:off x="336" y="3648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3" name="Line 8"/>
              <p:cNvSpPr>
                <a:spLocks noChangeShapeType="1"/>
              </p:cNvSpPr>
              <p:nvPr/>
            </p:nvSpPr>
            <p:spPr bwMode="auto">
              <a:xfrm flipH="1" flipV="1">
                <a:off x="624" y="2688"/>
                <a:ext cx="0" cy="1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88" y="2976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A50021"/>
                      </a:buClr>
                      <a:buSzPct val="75000"/>
                      <a:buFont typeface="Wingdings" pitchFamily="2" charset="2"/>
                      <a:buChar char="n"/>
                      <a:defRPr kumimoji="1" sz="3200">
                        <a:solidFill>
                          <a:srgbClr val="000000"/>
                        </a:solidFill>
                        <a:latin typeface="Times New Roman" pitchFamily="18" charset="0"/>
                        <a:ea typeface="宋体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5000"/>
                      <a:buFont typeface="Wingdings" pitchFamily="2" charset="2"/>
                      <a:buChar char="n"/>
                      <a:defRPr kumimoji="1" sz="2800">
                        <a:solidFill>
                          <a:srgbClr val="000000"/>
                        </a:solidFill>
                        <a:latin typeface="Times New Roman" pitchFamily="18" charset="0"/>
                        <a:ea typeface="宋体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6699"/>
                      </a:buClr>
                      <a:buSzPct val="70000"/>
                      <a:buFont typeface="Wingdings" pitchFamily="2" charset="2"/>
                      <a:buChar char="n"/>
                      <a:defRPr kumimoji="1" sz="2400">
                        <a:solidFill>
                          <a:srgbClr val="000000"/>
                        </a:solidFill>
                        <a:latin typeface="Times New Roman" pitchFamily="18" charset="0"/>
                        <a:ea typeface="宋体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60000"/>
                      <a:buFont typeface="Wingdings" pitchFamily="2" charset="2"/>
                      <a:buChar char="n"/>
                      <a:defRPr kumimoji="1" sz="2000">
                        <a:solidFill>
                          <a:srgbClr val="000000"/>
                        </a:solidFill>
                        <a:latin typeface="Times New Roman" pitchFamily="18" charset="0"/>
                        <a:ea typeface="宋体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kumimoji="1" sz="2000">
                        <a:solidFill>
                          <a:srgbClr val="000000"/>
                        </a:solidFill>
                        <a:latin typeface="Times New Roman" pitchFamily="18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kumimoji="1" sz="2000">
                        <a:solidFill>
                          <a:srgbClr val="000000"/>
                        </a:solidFill>
                        <a:latin typeface="Times New Roman" pitchFamily="18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kumimoji="1" sz="2000">
                        <a:solidFill>
                          <a:srgbClr val="000000"/>
                        </a:solidFill>
                        <a:latin typeface="Times New Roman" pitchFamily="18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kumimoji="1" sz="2000">
                        <a:solidFill>
                          <a:srgbClr val="000000"/>
                        </a:solidFill>
                        <a:latin typeface="Times New Roman" pitchFamily="18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kumimoji="1" sz="2000">
                        <a:solidFill>
                          <a:srgbClr val="000000"/>
                        </a:solidFill>
                        <a:latin typeface="Times New Roman" pitchFamily="18" charset="0"/>
                        <a:ea typeface="宋体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𝐷</m:t>
                          </m:r>
                        </m:oMath>
                      </m:oMathPara>
                    </a14:m>
                    <a:endParaRPr lang="en-US" altLang="zh-CN" sz="2400" b="0" dirty="0">
                      <a:solidFill>
                        <a:schemeClr val="tx1"/>
                      </a:solidFill>
                      <a:latin typeface="Tahoma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4" name="Text Box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488" y="2976"/>
                    <a:ext cx="288" cy="288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Text Box 10"/>
              <p:cNvSpPr txBox="1">
                <a:spLocks noChangeArrowheads="1"/>
              </p:cNvSpPr>
              <p:nvPr/>
            </p:nvSpPr>
            <p:spPr bwMode="auto">
              <a:xfrm>
                <a:off x="432" y="2592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itchFamily="2" charset="2"/>
                  <a:buChar char="n"/>
                  <a:defRPr kumimoji="1" sz="32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n"/>
                  <a:defRPr kumimoji="1" sz="28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itchFamily="2" charset="2"/>
                  <a:buChar char="n"/>
                  <a:defRPr kumimoji="1" sz="24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SzPct val="60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0" i="1">
                    <a:solidFill>
                      <a:schemeClr val="tx1"/>
                    </a:solidFill>
                  </a:rPr>
                  <a:t>y</a:t>
                </a:r>
              </a:p>
            </p:txBody>
          </p:sp>
          <p:sp>
            <p:nvSpPr>
              <p:cNvPr id="26" name="Text Box 11"/>
              <p:cNvSpPr txBox="1">
                <a:spLocks noChangeArrowheads="1"/>
              </p:cNvSpPr>
              <p:nvPr/>
            </p:nvSpPr>
            <p:spPr bwMode="auto">
              <a:xfrm>
                <a:off x="1824" y="3504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itchFamily="2" charset="2"/>
                  <a:buChar char="n"/>
                  <a:defRPr kumimoji="1" sz="32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n"/>
                  <a:defRPr kumimoji="1" sz="28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itchFamily="2" charset="2"/>
                  <a:buChar char="n"/>
                  <a:defRPr kumimoji="1" sz="24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SzPct val="60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0" i="1">
                    <a:solidFill>
                      <a:schemeClr val="tx1"/>
                    </a:solidFill>
                  </a:rPr>
                  <a:t>x</a:t>
                </a:r>
              </a:p>
            </p:txBody>
          </p:sp>
          <p:sp>
            <p:nvSpPr>
              <p:cNvPr id="27" name="Oval 12"/>
              <p:cNvSpPr>
                <a:spLocks noChangeArrowheads="1"/>
              </p:cNvSpPr>
              <p:nvPr/>
            </p:nvSpPr>
            <p:spPr bwMode="auto">
              <a:xfrm>
                <a:off x="816" y="3024"/>
                <a:ext cx="384" cy="192"/>
              </a:xfrm>
              <a:prstGeom prst="ellipse">
                <a:avLst/>
              </a:prstGeom>
              <a:solidFill>
                <a:srgbClr val="3333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itchFamily="2" charset="2"/>
                  <a:buChar char="n"/>
                  <a:defRPr kumimoji="1" sz="32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n"/>
                  <a:defRPr kumimoji="1" sz="28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itchFamily="2" charset="2"/>
                  <a:buChar char="n"/>
                  <a:defRPr kumimoji="1" sz="24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SzPct val="60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Oval 13"/>
              <p:cNvSpPr>
                <a:spLocks noChangeArrowheads="1"/>
              </p:cNvSpPr>
              <p:nvPr/>
            </p:nvSpPr>
            <p:spPr bwMode="auto">
              <a:xfrm>
                <a:off x="1200" y="3264"/>
                <a:ext cx="336" cy="240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itchFamily="2" charset="2"/>
                  <a:buChar char="n"/>
                  <a:defRPr kumimoji="1" sz="32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n"/>
                  <a:defRPr kumimoji="1" sz="28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itchFamily="2" charset="2"/>
                  <a:buChar char="n"/>
                  <a:defRPr kumimoji="1" sz="24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SzPct val="60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9" name="Object 19"/>
                  <p:cNvGraphicFramePr>
                    <a:graphicFrameLocks noChangeAspect="1"/>
                  </p:cNvGraphicFramePr>
                  <p:nvPr/>
                </p:nvGraphicFramePr>
                <p:xfrm>
                  <a:off x="1296" y="3264"/>
                  <a:ext cx="240" cy="24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23564" name="Equation" r:id="rId5" imgW="209531" imgH="209414" progId="Equation.3">
                          <p:embed/>
                        </p:oleObj>
                      </mc:Choice>
                      <mc:Fallback>
                        <p:oleObj name="Equation" r:id="rId5" imgW="209531" imgH="209414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296" y="3264"/>
                                <a:ext cx="240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bg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29" name="Object 19"/>
                  <p:cNvGraphicFramePr>
                    <a:graphicFrameLocks noChangeAspect="1"/>
                  </p:cNvGraphicFramePr>
                  <p:nvPr/>
                </p:nvGraphicFramePr>
                <p:xfrm>
                  <a:off x="1296" y="3264"/>
                  <a:ext cx="240" cy="24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23562" name="Equation" r:id="rId7" imgW="209531" imgH="209414" progId="Equation.3">
                          <p:embed/>
                        </p:oleObj>
                      </mc:Choice>
                      <mc:Fallback>
                        <p:oleObj name="Equation" r:id="rId7" imgW="209531" imgH="209414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296" y="3264"/>
                                <a:ext cx="240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bg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30" name="Object 20"/>
                  <p:cNvGraphicFramePr>
                    <a:graphicFrameLocks noChangeAspect="1"/>
                  </p:cNvGraphicFramePr>
                  <p:nvPr/>
                </p:nvGraphicFramePr>
                <p:xfrm>
                  <a:off x="912" y="2976"/>
                  <a:ext cx="227" cy="24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23565" name="Equation" r:id="rId9" imgW="195133" imgH="209414" progId="Equation.3">
                          <p:embed/>
                        </p:oleObj>
                      </mc:Choice>
                      <mc:Fallback>
                        <p:oleObj name="Equation" r:id="rId9" imgW="195133" imgH="209414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912" y="2976"/>
                                <a:ext cx="227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bg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30" name="Object 20"/>
                  <p:cNvGraphicFramePr>
                    <a:graphicFrameLocks noChangeAspect="1"/>
                  </p:cNvGraphicFramePr>
                  <p:nvPr/>
                </p:nvGraphicFramePr>
                <p:xfrm>
                  <a:off x="912" y="2976"/>
                  <a:ext cx="227" cy="24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23563" name="Equation" r:id="rId10" imgW="195133" imgH="209414" progId="Equation.3">
                          <p:embed/>
                        </p:oleObj>
                      </mc:Choice>
                      <mc:Fallback>
                        <p:oleObj name="Equation" r:id="rId10" imgW="195133" imgH="209414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912" y="2976"/>
                                <a:ext cx="227" cy="2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bg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sp>
          <p:nvSpPr>
            <p:cNvPr id="19" name="Oval 34"/>
            <p:cNvSpPr>
              <a:spLocks noChangeArrowheads="1"/>
            </p:cNvSpPr>
            <p:nvPr/>
          </p:nvSpPr>
          <p:spPr bwMode="auto">
            <a:xfrm>
              <a:off x="1835150" y="4076700"/>
              <a:ext cx="719138" cy="576263"/>
            </a:xfrm>
            <a:prstGeom prst="ellipse">
              <a:avLst/>
            </a:prstGeom>
            <a:solidFill>
              <a:srgbClr val="609BD6">
                <a:alpha val="32156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G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3779912" y="4485435"/>
                <a:ext cx="4279185" cy="1098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3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3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>
                                  <a:latin typeface="Cambria Math"/>
                                </a:rPr>
                                <m:t>𝑿</m:t>
                              </m:r>
                              <m:r>
                                <a:rPr lang="en-US" altLang="zh-CN" sz="3200" b="1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CN" sz="3200" b="1" i="1">
                                  <a:latin typeface="Cambria Math"/>
                                </a:rPr>
                                <m:t>𝒀</m:t>
                              </m:r>
                            </m:e>
                          </m:d>
                          <m:r>
                            <a:rPr lang="en-US" altLang="zh-CN" sz="3200" b="1" i="1">
                              <a:latin typeface="Cambria Math"/>
                            </a:rPr>
                            <m:t>∈</m:t>
                          </m:r>
                          <m:r>
                            <a:rPr lang="en-US" altLang="zh-CN" sz="3200" b="1" i="1">
                              <a:latin typeface="Cambria Math"/>
                            </a:rPr>
                            <m:t>𝑮</m:t>
                          </m:r>
                        </m:e>
                      </m:d>
                      <m:r>
                        <a:rPr lang="en-US" altLang="zh-CN" sz="3200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>
                                  <a:latin typeface="Cambria Math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CN" sz="3200" b="1" i="1">
                                  <a:latin typeface="Cambria Math"/>
                                </a:rPr>
                                <m:t>𝑮</m:t>
                              </m:r>
                              <m:r>
                                <a:rPr lang="en-US" altLang="zh-CN" sz="3200" b="1" i="1">
                                  <a:latin typeface="Cambria Math"/>
                                </a:rPr>
                                <m:t>⋂</m:t>
                              </m:r>
                              <m:r>
                                <a:rPr lang="en-US" altLang="zh-CN" sz="3200" b="1" i="1">
                                  <a:latin typeface="Cambria Math"/>
                                </a:rPr>
                                <m:t>𝑫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>
                                  <a:latin typeface="Cambria Math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CN" sz="3200" b="1" i="1">
                                  <a:latin typeface="Cambria Math"/>
                                </a:rPr>
                                <m:t>𝑫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4485435"/>
                <a:ext cx="4279185" cy="109805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292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</a:t>
            </a:r>
            <a:r>
              <a:rPr lang="zh-CN" altLang="en-US" dirty="0" smtClean="0"/>
              <a:t>维正态分布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若二维随机变量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具有密度函数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 smtClean="0">
                              <a:latin typeface="Cambria Math"/>
                            </a:rPr>
                            <m:t>𝟐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𝝅</m:t>
                          </m:r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𝝆</m:t>
                                  </m:r>
                                </m:e>
                                <m:sup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altLang="zh-CN" sz="2400" b="1" i="1" smtClean="0">
                          <a:latin typeface="Cambria Math"/>
                        </a:rPr>
                        <m:t>𝒆𝒙𝒑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𝟐</m:t>
                              </m:r>
                              <m:d>
                                <m:d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𝟏</m:t>
                                  </m:r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1" i="1" smtClean="0">
                                          <a:latin typeface="Cambria Math"/>
                                        </a:rPr>
                                        <m:t>𝝆</m:t>
                                      </m:r>
                                    </m:e>
                                    <m:sup>
                                      <m:r>
                                        <a:rPr lang="en-US" altLang="zh-CN" sz="2400" b="1" i="1" smtClean="0">
                                          <a:latin typeface="Cambria Math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24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400" b="1" i="1" smtClean="0">
                                              <a:latin typeface="Cambria Math"/>
                                            </a:rPr>
                                            <m:t>𝒙</m:t>
                                          </m:r>
                                          <m:r>
                                            <a:rPr lang="en-US" altLang="zh-CN" sz="2400" b="1" i="1" smtClean="0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400" b="1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b="1" i="1" smtClean="0">
                                                  <a:latin typeface="Cambria Math"/>
                                                </a:rPr>
                                                <m:t>𝝁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1" i="1" smtClean="0">
                                                  <a:latin typeface="Cambria Math"/>
                                                </a:rPr>
                                                <m:t>𝟏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altLang="zh-CN" sz="2400" b="1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b="1" i="1" smtClean="0">
                                                  <a:latin typeface="Cambria Math"/>
                                                </a:rPr>
                                                <m:t>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1" i="1" smtClean="0">
                                                  <a:latin typeface="Cambria Math"/>
                                                </a:rPr>
                                                <m:t>𝟏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𝝆</m:t>
                              </m:r>
                              <m:d>
                                <m:d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1" i="1" smtClean="0">
                                          <a:latin typeface="Cambria Math"/>
                                        </a:rPr>
                                        <m:t>𝒙</m:t>
                                      </m:r>
                                      <m:r>
                                        <a:rPr lang="en-US" altLang="zh-CN" sz="2400" b="1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smtClean="0">
                                              <a:latin typeface="Cambria Math"/>
                                            </a:rPr>
                                            <m:t>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smtClean="0">
                                              <a:latin typeface="Cambria Math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24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smtClean="0">
                                              <a:latin typeface="Cambria Math"/>
                                            </a:rPr>
                                            <m:t>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smtClean="0">
                                              <a:latin typeface="Cambria Math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d>
                                <m:d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1" i="1" smtClean="0">
                                          <a:latin typeface="Cambria Math"/>
                                        </a:rPr>
                                        <m:t>𝒚</m:t>
                                      </m:r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</a:rPr>
                                            <m:t>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smtClean="0">
                                              <a:latin typeface="Cambria Math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</a:rPr>
                                            <m:t>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smtClean="0">
                                              <a:latin typeface="Cambria Math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400" b="1" i="1" smtClean="0">
                                              <a:latin typeface="Cambria Math"/>
                                            </a:rPr>
                                            <m:t>𝒚</m:t>
                                          </m:r>
                                          <m:r>
                                            <a:rPr lang="en-US" altLang="zh-CN" sz="2400" i="1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𝝁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1" i="1" smtClean="0">
                                                  <a:latin typeface="Cambria Math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1" i="1" smtClean="0">
                                                  <a:latin typeface="Cambria Math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𝝈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&gt;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𝝈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&gt;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𝝆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&lt;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dirty="0" smtClean="0"/>
                  <a:t>均为常数，则称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(</m:t>
                    </m:r>
                    <m:r>
                      <a:rPr lang="en-US" altLang="zh-CN" i="1">
                        <a:latin typeface="Cambria Math"/>
                      </a:rPr>
                      <m:t>𝑿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i="1">
                        <a:latin typeface="Cambria Math"/>
                      </a:rPr>
                      <m:t>𝒀</m:t>
                    </m:r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二维正态分布，记作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𝒀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∼</m:t>
                      </m:r>
                      <m:r>
                        <a:rPr lang="en-US" altLang="zh-CN" b="1" i="1" smtClean="0">
                          <a:latin typeface="Cambria Math"/>
                        </a:rPr>
                        <m:t>𝑵</m:t>
                      </m:r>
                      <m:r>
                        <a:rPr lang="en-US" altLang="zh-CN" b="1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/>
                        </a:rPr>
                        <m:t>, </m:t>
                      </m:r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/>
                        </a:rPr>
                        <m:t>,</m:t>
                      </m:r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/>
                        </a:rPr>
                        <m:t>,</m:t>
                      </m:r>
                      <m:r>
                        <a:rPr lang="en-US" altLang="zh-CN" b="1" i="1" smtClean="0">
                          <a:latin typeface="Cambria Math"/>
                        </a:rPr>
                        <m:t>𝝆</m:t>
                      </m:r>
                      <m:r>
                        <a:rPr lang="en-US" altLang="zh-CN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052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</a:t>
            </a:r>
            <a:r>
              <a:rPr lang="zh-CN" altLang="en-US" dirty="0" smtClean="0"/>
              <a:t>维正态分布密度图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05" t="11522" r="13939" b="26691"/>
          <a:stretch>
            <a:fillRect/>
          </a:stretch>
        </p:blipFill>
        <p:spPr bwMode="auto">
          <a:xfrm>
            <a:off x="1115616" y="1916832"/>
            <a:ext cx="7200800" cy="3896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223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二维正态分布剖面图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2" t="7539" r="13380" b="23512"/>
          <a:stretch>
            <a:fillRect/>
          </a:stretch>
        </p:blipFill>
        <p:spPr bwMode="auto">
          <a:xfrm>
            <a:off x="1187624" y="1772816"/>
            <a:ext cx="6623893" cy="3996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56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二维正态分布的边缘分布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348498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𝒀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𝝆</m:t>
                        </m:r>
                      </m:e>
                    </m:d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𝑿</m:t>
                      </m:r>
                      <m:r>
                        <a:rPr lang="en-US" altLang="zh-CN" b="1" i="1" smtClean="0">
                          <a:latin typeface="Cambria Math"/>
                        </a:rPr>
                        <m:t>∼</m:t>
                      </m:r>
                      <m:r>
                        <a:rPr lang="en-US" altLang="zh-CN" b="1" i="1" smtClean="0">
                          <a:latin typeface="Cambria Math"/>
                        </a:rPr>
                        <m:t>𝑵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bSup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, </m:t>
                      </m:r>
                      <m:r>
                        <a:rPr lang="en-US" altLang="zh-CN" b="1" i="1" smtClean="0">
                          <a:latin typeface="Cambria Math"/>
                        </a:rPr>
                        <m:t>𝒀</m:t>
                      </m:r>
                      <m:r>
                        <a:rPr lang="en-US" altLang="zh-CN" b="1" i="1" smtClean="0">
                          <a:latin typeface="Cambria Math"/>
                        </a:rPr>
                        <m:t>∼</m:t>
                      </m:r>
                      <m:r>
                        <a:rPr lang="en-US" altLang="zh-CN" b="1" i="1" smtClean="0">
                          <a:latin typeface="Cambria Math"/>
                        </a:rPr>
                        <m:t>𝑵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即：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𝝅</m:t>
                            </m:r>
                          </m:e>
                        </m:rad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𝒆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 i="1" smtClean="0">
                                        <a:latin typeface="Cambria Math"/>
                                      </a:rPr>
                                      <m:t>𝒙</m:t>
                                    </m:r>
                                    <m:r>
                                      <a:rPr lang="en-US" altLang="zh-CN" b="1" i="1" smtClean="0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latin typeface="Cambria Math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latin typeface="Cambria Math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  <m:sSubSup>
                              <m:sSub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𝝈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𝟐</m:t>
                                </m:r>
                              </m:sup>
                            </m:sSubSup>
                          </m:den>
                        </m:f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, −∞&lt;</m:t>
                    </m:r>
                    <m:r>
                      <a:rPr lang="en-US" altLang="zh-CN" b="1" i="1" smtClean="0">
                        <a:latin typeface="Cambria Math"/>
                      </a:rPr>
                      <m:t>𝒙</m:t>
                    </m:r>
                    <m:r>
                      <a:rPr lang="en-US" altLang="zh-CN" b="1" i="1" smtClean="0">
                        <a:latin typeface="Cambria Math"/>
                      </a:rPr>
                      <m:t>&lt;+∞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𝒀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𝝅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</a:rPr>
                            <m:t>𝒆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𝒚</m:t>
                                      </m:r>
                                      <m:r>
                                        <a:rPr lang="en-US" altLang="zh-CN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/>
                                            </a:rPr>
                                            <m:t>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smtClean="0">
                                              <a:latin typeface="Cambria Math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/>
                                </a:rPr>
                                <m:t>𝟐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  <m:r>
                        <a:rPr lang="en-US" altLang="zh-CN" i="1">
                          <a:latin typeface="Cambria Math"/>
                        </a:rPr>
                        <m:t>, −∞&lt;</m:t>
                      </m:r>
                      <m:r>
                        <a:rPr lang="en-US" altLang="zh-CN" b="1" i="1" smtClean="0">
                          <a:latin typeface="Cambria Math"/>
                        </a:rPr>
                        <m:t>𝒚</m:t>
                      </m:r>
                      <m:r>
                        <a:rPr lang="en-US" altLang="zh-CN" i="1">
                          <a:latin typeface="Cambria Math"/>
                        </a:rPr>
                        <m:t>&lt;+∞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3484984"/>
              </a:xfrm>
              <a:blipFill rotWithShape="0">
                <a:blip r:embed="rId2"/>
                <a:stretch>
                  <a:fillRect l="-1645" t="-17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619672" y="5138028"/>
            <a:ext cx="6264696" cy="52322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二</a:t>
            </a:r>
            <a:r>
              <a:rPr lang="zh-CN" altLang="en-US" sz="2800" b="1" dirty="0">
                <a:solidFill>
                  <a:srgbClr val="FF0000"/>
                </a:solidFill>
              </a:rPr>
              <a:t>维正态分布的边缘分布仍是正态分布</a:t>
            </a:r>
            <a:endParaRPr lang="zh-CN" altLang="en-US" sz="2800" b="1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11560" y="5805264"/>
            <a:ext cx="8153400" cy="57606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</a:pPr>
            <a:r>
              <a:rPr lang="zh-CN" altLang="en-US" dirty="0" smtClean="0"/>
              <a:t>证：根据边缘分布的定义，换元积分即可。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45496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二维正态随机变量的独立性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403648" y="1628800"/>
                <a:ext cx="6408712" cy="981935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 smtClean="0">
                    <a:solidFill>
                      <a:srgbClr val="7030A0"/>
                    </a:solidFill>
                  </a:rPr>
                  <a:t>定理：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𝑿</m:t>
                        </m:r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𝒀</m:t>
                        </m:r>
                      </m:e>
                    </m:d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∼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𝑵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sSubSup>
                      <m:sSubSup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𝝈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bSup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sSubSup>
                      <m:sSubSup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𝝈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b>
                      <m:sup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bSup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𝝆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sz="2800" b="1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𝑿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相互独立的充要条件为：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𝝆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。</a:t>
                </a:r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1628800"/>
                <a:ext cx="6408712" cy="981935"/>
              </a:xfrm>
              <a:prstGeom prst="rect">
                <a:avLst/>
              </a:prstGeom>
              <a:blipFill rotWithShape="0">
                <a:blip r:embed="rId2"/>
                <a:stretch>
                  <a:fillRect l="-1801" t="-6098" r="-1611" b="-15854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852936"/>
            <a:ext cx="7709694" cy="3433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828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二维正态随机变量的独立性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787519"/>
            <a:ext cx="6400016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244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二维正态随机变量的独立性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 dirty="0"/>
          </a:p>
        </p:txBody>
      </p:sp>
      <p:pic>
        <p:nvPicPr>
          <p:cNvPr id="24586" name="Picture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790" y="1700808"/>
            <a:ext cx="6806699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22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</a:t>
            </a:r>
            <a:r>
              <a:rPr lang="zh-CN" altLang="en-US" dirty="0" smtClean="0"/>
              <a:t>维正态随机变量之间的协方差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𝒀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bSup>
                      <m:sSub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𝝈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p>
                    </m:sSubSup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bSup>
                      <m:sSub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𝝈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p>
                    </m:sSubSup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𝝆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0" dirty="0">
                          <a:latin typeface="Cambria Math"/>
                        </a:rPr>
                        <m:t>cov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dirty="0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CN" b="1" i="1" dirty="0" smtClean="0">
                              <a:latin typeface="Cambria Math"/>
                            </a:rPr>
                            <m:t>𝒀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/>
                        </a:rPr>
                        <m:t>𝝆</m:t>
                      </m:r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/>
                            </a:rPr>
                            <m:t>𝝈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/>
                            </a:rPr>
                            <m:t>𝝈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i="1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证：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i="1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6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1475657" y="2636912"/>
            <a:ext cx="5184575" cy="3816423"/>
            <a:chOff x="1475657" y="2636912"/>
            <a:chExt cx="5472608" cy="4065201"/>
          </a:xfrm>
        </p:grpSpPr>
        <p:pic>
          <p:nvPicPr>
            <p:cNvPr id="2765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5657" y="2636912"/>
              <a:ext cx="5472608" cy="2862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51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5696" y="5445224"/>
              <a:ext cx="4075882" cy="1256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7357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二维正态随机变量之间的协方差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3917032"/>
              </a:xfrm>
            </p:spPr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𝑿</m:t>
                        </m:r>
                        <m:r>
                          <a:rPr lang="en-US" altLang="zh-CN" i="1">
                            <a:latin typeface="Cambria Math"/>
                          </a:rPr>
                          <m:t>,</m:t>
                        </m:r>
                        <m:r>
                          <a:rPr lang="en-US" altLang="zh-CN" i="1">
                            <a:latin typeface="Cambria Math"/>
                          </a:rPr>
                          <m:t>𝒀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∼</m:t>
                    </m:r>
                    <m:r>
                      <a:rPr lang="en-US" altLang="zh-CN" i="1">
                        <a:latin typeface="Cambria Math"/>
                      </a:rPr>
                      <m:t>𝑵</m:t>
                    </m:r>
                    <m:r>
                      <a:rPr lang="en-US" altLang="zh-CN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/>
                          </a:rPr>
                          <m:t>𝝈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𝟐</m:t>
                        </m:r>
                      </m:sup>
                    </m:sSubSup>
                    <m:r>
                      <a:rPr lang="en-US" altLang="zh-CN" i="1">
                        <a:latin typeface="Cambria Math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/>
                          </a:rPr>
                          <m:t>𝝈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𝟐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𝟐</m:t>
                        </m:r>
                      </m:sup>
                    </m:sSubSup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i="1">
                        <a:latin typeface="Cambria Math"/>
                      </a:rPr>
                      <m:t>𝝆</m:t>
                    </m:r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 smtClean="0"/>
                  <a:t>令</a:t>
                </a:r>
                <a:endParaRPr lang="en-US" altLang="zh-CN" b="1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 smtClean="0">
                              <a:latin typeface="Cambria Math"/>
                            </a:rPr>
                            <m:t>𝑿</m:t>
                          </m:r>
                        </m:e>
                        <m:sup>
                          <m:r>
                            <a:rPr lang="en-US" altLang="zh-CN" b="1" i="1" dirty="0" smtClean="0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dirty="0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dirty="0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 smtClean="0">
                                  <a:latin typeface="Cambria Math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 smtClean="0">
                                  <a:latin typeface="Cambria Math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altLang="zh-CN" b="1" i="1" dirty="0" smtClean="0">
                          <a:latin typeface="Cambria Math"/>
                        </a:rPr>
                        <m:t>,</m:t>
                      </m:r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 smtClean="0">
                              <a:latin typeface="Cambria Math"/>
                            </a:rPr>
                            <m:t>𝒀</m:t>
                          </m:r>
                        </m:e>
                        <m:sup>
                          <m:r>
                            <a:rPr lang="en-US" altLang="zh-CN" b="1" i="1" dirty="0" smtClean="0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dirty="0" smtClean="0">
                              <a:latin typeface="Cambria Math"/>
                            </a:rPr>
                            <m:t>𝒀</m:t>
                          </m:r>
                          <m:r>
                            <a:rPr lang="en-US" altLang="zh-CN" b="1" i="1" dirty="0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 smtClean="0">
                                  <a:latin typeface="Cambria Math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 smtClean="0">
                                  <a:latin typeface="Cambria Math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/>
                  <a:t>则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dirty="0">
                          <a:latin typeface="Cambria Math"/>
                        </a:rPr>
                        <m:t>cov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 smtClean="0">
                                  <a:latin typeface="Cambria Math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i="1" dirty="0">
                              <a:latin typeface="Cambria Math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/>
                                </a:rPr>
                                <m:t>𝒀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i="1" dirty="0">
                          <a:latin typeface="Cambria Math"/>
                        </a:rPr>
                        <m:t>=</m:t>
                      </m:r>
                      <m:r>
                        <a:rPr lang="en-US" altLang="zh-CN" i="1" dirty="0">
                          <a:latin typeface="Cambria Math"/>
                        </a:rPr>
                        <m:t>𝝆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 smtClean="0"/>
                  <a:t>证：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/>
                      </a:rPr>
                      <m:t>cov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𝑿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𝒀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b="1" i="1" dirty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/>
                          </a:rPr>
                          <m:t>cov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𝑿</m:t>
                            </m:r>
                            <m:r>
                              <a:rPr lang="en-US" altLang="zh-CN" i="1" dirty="0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𝒀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b="1" i="1" dirty="0" smtClean="0">
                        <a:latin typeface="Cambria Math"/>
                      </a:rPr>
                      <m:t>=</m:t>
                    </m:r>
                    <m:r>
                      <a:rPr lang="en-US" altLang="zh-CN" b="1" i="1" dirty="0" smtClean="0">
                        <a:latin typeface="Cambria Math"/>
                      </a:rPr>
                      <m:t>𝝆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3917032"/>
              </a:xfrm>
              <a:blipFill rotWithShape="0">
                <a:blip r:embed="rId2"/>
                <a:stretch>
                  <a:fillRect l="-1645" t="-18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915816" y="5589240"/>
                <a:ext cx="4176464" cy="523220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𝝆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被称为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的相关系数</a:t>
                </a:r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5589240"/>
                <a:ext cx="4176464" cy="523220"/>
              </a:xfrm>
              <a:prstGeom prst="rect">
                <a:avLst/>
              </a:prstGeom>
              <a:blipFill rotWithShape="0">
                <a:blip r:embed="rId3"/>
                <a:stretch>
                  <a:fillRect t="-10112" r="-727" b="-29213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253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标准化随机变量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 smtClean="0"/>
                  <a:t>已知随机变量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的期望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和方差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&gt;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</m:e>
                    </m:d>
                  </m:oMath>
                </a14:m>
                <a:r>
                  <a:rPr lang="zh-CN" altLang="en-US" dirty="0" smtClean="0"/>
                  <a:t>时，常考虑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中心化随机变量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</m:acc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/>
                        </a:rPr>
                        <m:t>𝑿</m:t>
                      </m:r>
                      <m:r>
                        <a:rPr lang="en-US" altLang="zh-CN" b="1" i="1" dirty="0" smtClean="0">
                          <a:latin typeface="Cambria Math"/>
                        </a:rPr>
                        <m:t>−</m:t>
                      </m:r>
                      <m:r>
                        <a:rPr lang="en-US" altLang="zh-CN" b="1" i="1" dirty="0" smtClean="0">
                          <a:latin typeface="Cambria Math"/>
                        </a:rPr>
                        <m:t>𝑬</m:t>
                      </m:r>
                      <m:r>
                        <a:rPr lang="en-US" altLang="zh-CN" b="1" i="1" dirty="0" smtClean="0">
                          <a:latin typeface="Cambria Math"/>
                        </a:rPr>
                        <m:t>(</m:t>
                      </m:r>
                      <m:r>
                        <a:rPr lang="en-US" altLang="zh-CN" b="1" i="1" dirty="0" smtClean="0">
                          <a:latin typeface="Cambria Math"/>
                        </a:rPr>
                        <m:t>𝑿</m:t>
                      </m:r>
                      <m:r>
                        <a:rPr lang="en-US" altLang="zh-CN" b="1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zh-CN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标准化随机变量</a:t>
                </a:r>
                <a:endParaRPr lang="en-US" altLang="zh-CN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𝑬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𝑿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𝑫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dirty="0" smtClean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𝑿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/>
                      </a:rPr>
                      <m:t>𝟎</m:t>
                    </m:r>
                  </m:oMath>
                </a14:m>
                <a:endParaRPr lang="en-US" altLang="zh-CN" b="1" dirty="0" smtClean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𝑿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zh-CN" altLang="en-US" dirty="0" smtClean="0"/>
                  <a:t>例：若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𝝁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 smtClean="0"/>
                  <a:t>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421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969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相关系数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 smtClean="0"/>
                  <a:t>对随机变量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，设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&gt;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en-US" altLang="zh-CN" dirty="0" smtClean="0"/>
                  <a:t>,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/>
                          </a:rPr>
                          <m:t>𝒀</m:t>
                        </m:r>
                      </m:e>
                    </m:d>
                    <m:r>
                      <a:rPr lang="en-US" altLang="zh-CN" b="1" i="1" dirty="0" smtClean="0">
                        <a:latin typeface="Cambria Math"/>
                      </a:rPr>
                      <m:t>&gt;</m:t>
                    </m:r>
                    <m:r>
                      <a:rPr lang="en-US" altLang="zh-CN" b="1" i="1" dirty="0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dirty="0" smtClean="0"/>
                  <a:t>均存在，则称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𝝆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𝑿𝒀</m:t>
                          </m:r>
                        </m:sub>
                      </m:sSub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0" smtClean="0">
                              <a:latin typeface="Cambria Math"/>
                            </a:rPr>
                            <m:t>𝐜𝐨𝐯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𝒀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𝑫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𝑫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𝒀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的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相关系数</a:t>
                </a:r>
                <a:r>
                  <a:rPr lang="zh-CN" altLang="en-US" dirty="0" smtClean="0"/>
                  <a:t>。在不引起混淆时，记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𝝆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𝑿𝒀</m:t>
                        </m:r>
                      </m:sub>
                    </m:sSub>
                  </m:oMath>
                </a14:m>
                <a:r>
                  <a:rPr lang="zh-CN" altLang="en-US" dirty="0" smtClean="0"/>
                  <a:t>为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𝝆</m:t>
                    </m:r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的标准化随机变量为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𝒀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 smtClean="0"/>
                  <a:t>，则有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dirty="0">
                          <a:latin typeface="Cambria Math"/>
                        </a:rPr>
                        <m:t>cov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 smtClean="0">
                                  <a:latin typeface="Cambria Math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b="1" i="1" dirty="0" smtClean="0">
                              <a:latin typeface="Cambria Math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 smtClean="0">
                                  <a:latin typeface="Cambria Math"/>
                                </a:rPr>
                                <m:t>𝒀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1" i="0" dirty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/>
                            </a:rPr>
                            <m:t>𝝆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/>
                            </a:rPr>
                            <m:t>𝑿𝒀</m:t>
                          </m:r>
                        </m:sub>
                      </m:sSub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421" t="-19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869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柯西</a:t>
            </a:r>
            <a:r>
              <a:rPr lang="en-US" altLang="zh-CN" dirty="0"/>
              <a:t>-</a:t>
            </a:r>
            <a:r>
              <a:rPr lang="zh-CN" altLang="en-US" dirty="0"/>
              <a:t>许瓦兹</a:t>
            </a:r>
            <a:r>
              <a:rPr lang="zh-CN" altLang="en-US" dirty="0" smtClean="0"/>
              <a:t>不等式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2564904"/>
                <a:ext cx="8153400" cy="35310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证：对任意实数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𝒕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𝒈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𝒕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𝒕𝑿</m:t>
                                </m:r>
                                <m:r>
                                  <a:rPr lang="en-US" altLang="zh-CN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/>
                                  </a:rPr>
                                  <m:t>𝒀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𝒕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𝑿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/>
                      </a:rPr>
                      <m:t>−</m:t>
                    </m:r>
                    <m:r>
                      <a:rPr lang="en-US" altLang="zh-CN" i="1">
                        <a:latin typeface="Cambria Math"/>
                      </a:rPr>
                      <m:t>𝟐</m:t>
                    </m:r>
                    <m:r>
                      <a:rPr lang="en-US" altLang="zh-CN" i="1">
                        <a:latin typeface="Cambria Math"/>
                      </a:rPr>
                      <m:t>𝒕𝑬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𝑿𝒀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i="1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𝒀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i="1" dirty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ea typeface="Cambria Math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Cambria Math"/>
                      </a:rPr>
                      <m:t>𝒈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𝒕</m:t>
                        </m:r>
                      </m:e>
                    </m:d>
                  </m:oMath>
                </a14:m>
                <a:r>
                  <a:rPr lang="zh-CN" altLang="en-US" dirty="0">
                    <a:latin typeface="Cambria Math"/>
                    <a:ea typeface="Cambria Math"/>
                  </a:rPr>
                  <a:t>恒大于</a:t>
                </a:r>
                <a:r>
                  <a:rPr lang="en-US" altLang="zh-CN" dirty="0">
                    <a:latin typeface="Cambria Math"/>
                    <a:ea typeface="Cambria Math"/>
                  </a:rPr>
                  <a:t>0</a:t>
                </a:r>
                <a:r>
                  <a:rPr lang="zh-CN" altLang="en-US" dirty="0">
                    <a:latin typeface="Cambria Math"/>
                    <a:ea typeface="Cambria Math"/>
                  </a:rPr>
                  <a:t>，故</a:t>
                </a:r>
                <a:endParaRPr lang="en-US" altLang="zh-CN" dirty="0">
                  <a:latin typeface="Cambria Math"/>
                  <a:ea typeface="Cambria Math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/>
                        <a:ea typeface="Cambria Math"/>
                      </a:rPr>
                      <m:t>𝚫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/>
                                <a:ea typeface="Cambria Math"/>
                              </a:rPr>
                              <m:t>𝑬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/>
                                    <a:ea typeface="Cambria Math"/>
                                  </a:rPr>
                                  <m:t>𝑿𝒀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𝟒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𝑬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Cambria Math"/>
                              </a:rPr>
                              <m:t>𝑿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/>
                        <a:ea typeface="Cambria Math"/>
                      </a:rPr>
                      <m:t>𝑬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Cambria Math"/>
                              </a:rPr>
                              <m:t>𝒀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r>
                  <a:rPr lang="en-US" altLang="zh-CN" dirty="0" smtClean="0"/>
                  <a:t>.</a:t>
                </a:r>
                <a:endParaRPr lang="en-US" altLang="zh-CN" dirty="0"/>
              </a:p>
              <a:p>
                <a:r>
                  <a:rPr lang="zh-CN" altLang="en-US" dirty="0" smtClean="0"/>
                  <a:t>注</a:t>
                </a:r>
                <a:r>
                  <a:rPr lang="zh-CN" altLang="en-US" dirty="0"/>
                  <a:t>：等号成立当且仅当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𝒕𝑿</m:t>
                                </m:r>
                                <m:r>
                                  <a:rPr lang="en-US" altLang="zh-CN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/>
                                  </a:rPr>
                                  <m:t>𝒀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</a:rPr>
                      <m:t>𝟎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</m:oMath>
                </a14:m>
                <a:r>
                  <a:rPr lang="zh-CN" altLang="en-US" dirty="0"/>
                  <a:t>即存在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𝒕</m:t>
                    </m:r>
                  </m:oMath>
                </a14:m>
                <a:r>
                  <a:rPr lang="zh-CN" altLang="en-US" dirty="0"/>
                  <a:t>，使得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𝒀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𝒕𝑿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</a:rPr>
                      <m:t>𝟏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2564904"/>
                <a:ext cx="8153400" cy="3531096"/>
              </a:xfrm>
              <a:blipFill rotWithShape="0">
                <a:blip r:embed="rId2"/>
                <a:stretch>
                  <a:fillRect l="-1645" t="-1727" r="-1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699792" y="1700808"/>
                <a:ext cx="4176464" cy="578685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𝑬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𝑿𝒀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CN" sz="2800" i="1">
                          <a:solidFill>
                            <a:srgbClr val="FF0000"/>
                          </a:solidFill>
                          <a:latin typeface="Cambria Math"/>
                        </a:rPr>
                        <m:t>≤</m:t>
                      </m:r>
                      <m:r>
                        <a:rPr lang="en-US" altLang="zh-CN" sz="2800" i="1">
                          <a:solidFill>
                            <a:srgbClr val="FF0000"/>
                          </a:solidFill>
                          <a:latin typeface="Cambria Math"/>
                        </a:rPr>
                        <m:t>𝑬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sz="2800" i="1">
                          <a:solidFill>
                            <a:srgbClr val="FF0000"/>
                          </a:solidFill>
                          <a:latin typeface="Cambria Math"/>
                        </a:rPr>
                        <m:t>𝑬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𝒀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1700808"/>
                <a:ext cx="4176464" cy="57868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971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相关系数性质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2420888"/>
                <a:ext cx="8153400" cy="3675112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证：由柯西</a:t>
                </a:r>
                <a:r>
                  <a:rPr lang="en-US" altLang="zh-CN" dirty="0" smtClean="0"/>
                  <a:t>-</a:t>
                </a:r>
                <a:r>
                  <a:rPr lang="zh-CN" altLang="en-US" dirty="0" smtClean="0"/>
                  <a:t>许瓦兹不等式知，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𝑿</m:t>
                                      </m:r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𝑬</m:t>
                                      </m:r>
                                      <m:d>
                                        <m:dPr>
                                          <m:ctrlPr>
                                            <a:rPr lang="en-US" altLang="zh-CN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 i="1" smtClean="0">
                                              <a:latin typeface="Cambria Math"/>
                                            </a:rPr>
                                            <m:t>𝑿</m:t>
                                          </m:r>
                                        </m:e>
                                      </m:d>
                                    </m:e>
                                  </m:d>
                                  <m:d>
                                    <m:d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𝒀</m:t>
                                      </m:r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𝑬</m:t>
                                      </m:r>
                                      <m:d>
                                        <m:dPr>
                                          <m:ctrlPr>
                                            <a:rPr lang="en-US" altLang="zh-CN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 i="1" smtClean="0">
                                              <a:latin typeface="Cambria Math"/>
                                            </a:rPr>
                                            <m:t>𝒀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/>
                        </a:rPr>
                        <m:t>≤</m:t>
                      </m:r>
                      <m:r>
                        <a:rPr lang="en-US" altLang="zh-CN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𝑿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𝑬</m:t>
                                  </m:r>
                                  <m:d>
                                    <m:d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𝒀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𝑬</m:t>
                                  </m:r>
                                  <m:d>
                                    <m:d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𝒀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b="1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𝐜𝐨𝐯</m:t>
                            </m:r>
                            <m:d>
                              <m:dPr>
                                <m:ctrlPr>
                                  <a:rPr lang="en-US" altLang="zh-CN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𝑿</m:t>
                                </m:r>
                                <m:r>
                                  <a:rPr lang="en-US" altLang="zh-CN" sz="32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altLang="zh-CN" sz="32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𝒀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3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sz="3200" i="1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r>
                      <a:rPr lang="en-US" altLang="zh-CN" sz="3200" i="1">
                        <a:solidFill>
                          <a:schemeClr val="tx1"/>
                        </a:solidFill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sz="3200" i="1">
                        <a:solidFill>
                          <a:schemeClr val="tx1"/>
                        </a:solidFill>
                        <a:latin typeface="Cambria Math"/>
                      </a:rPr>
                      <m:t>𝑫</m:t>
                    </m:r>
                    <m:r>
                      <a:rPr lang="en-US" altLang="zh-CN" sz="320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altLang="zh-CN" sz="3200" i="1">
                        <a:solidFill>
                          <a:schemeClr val="tx1"/>
                        </a:solidFill>
                        <a:latin typeface="Cambria Math"/>
                      </a:rPr>
                      <m:t>𝒀</m:t>
                    </m:r>
                    <m:r>
                      <a:rPr lang="en-US" altLang="zh-CN" sz="3200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altLang="zh-CN" sz="3200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altLang="zh-CN" b="1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2420888"/>
                <a:ext cx="8153400" cy="3675112"/>
              </a:xfrm>
              <a:blipFill rotWithShape="0">
                <a:blip r:embed="rId2"/>
                <a:stretch>
                  <a:fillRect l="-1645" t="-26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547664" y="1700808"/>
                <a:ext cx="6192688" cy="532966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𝝆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𝑿𝒀</m:t>
                            </m:r>
                          </m:sub>
                        </m:sSub>
                      </m:e>
                    </m:d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≤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altLang="zh-CN" sz="2800" b="1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 i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𝐜𝐨𝐯</m:t>
                            </m:r>
                            <m:d>
                              <m:dPr>
                                <m:ctrlPr>
                                  <a:rPr lang="en-US" altLang="zh-CN" sz="2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𝑿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𝒀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≤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𝑫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𝒀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1700808"/>
                <a:ext cx="6192688" cy="532966"/>
              </a:xfrm>
              <a:prstGeom prst="rect">
                <a:avLst/>
              </a:prstGeom>
              <a:blipFill rotWithShape="0">
                <a:blip r:embed="rId3"/>
                <a:stretch>
                  <a:fillRect t="-14444" b="-28889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66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相关系数性质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619672" y="1700808"/>
                <a:ext cx="6192688" cy="1384995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𝝆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𝑿𝒀</m:t>
                            </m:r>
                          </m:sub>
                        </m:sSub>
                      </m:e>
                    </m:d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</a:rPr>
                  <a:t>当且仅当存在常数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/>
                      </a:rPr>
                      <m:t>𝒂</m:t>
                    </m:r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/>
                      </a:rPr>
                      <m:t>𝒃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</a:rPr>
                  <a:t>，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使得</a:t>
                </a:r>
                <a:endParaRPr lang="en-US" altLang="zh-CN" sz="2800" b="1" dirty="0" smtClean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𝒀</m:t>
                        </m:r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𝒂𝑿</m:t>
                        </m:r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𝒃</m:t>
                        </m:r>
                      </m:e>
                    </m:d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altLang="zh-CN" sz="2800" b="1" dirty="0" smtClean="0">
                    <a:solidFill>
                      <a:srgbClr val="FF0000"/>
                    </a:solidFill>
                  </a:rPr>
                  <a:t>,</a:t>
                </a:r>
              </a:p>
              <a:p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有线性关系的概率为</a:t>
                </a:r>
                <a:r>
                  <a:rPr lang="en-US" altLang="zh-CN" sz="2800" b="1" dirty="0" smtClean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sz="2800" b="1" dirty="0">
                    <a:solidFill>
                      <a:srgbClr val="FF0000"/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1700808"/>
                <a:ext cx="6192688" cy="1384995"/>
              </a:xfrm>
              <a:prstGeom prst="rect">
                <a:avLst/>
              </a:prstGeom>
              <a:blipFill rotWithShape="0">
                <a:blip r:embed="rId2"/>
                <a:stretch>
                  <a:fillRect l="-1963" t="-3478" r="-1276" b="-10870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908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相关性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若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𝝆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𝑿𝒀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dirty="0" smtClean="0"/>
                  <a:t>，则称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</a:rPr>
                  <a:t>线性相关</a:t>
                </a:r>
                <a:endParaRPr lang="en-US" altLang="zh-CN" dirty="0" smtClean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𝝆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𝑿𝒀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en-US" altLang="zh-CN" dirty="0" smtClean="0"/>
                  <a:t>, </a:t>
                </a:r>
                <a:r>
                  <a:rPr lang="zh-CN" altLang="en-US" dirty="0" smtClean="0"/>
                  <a:t>正相关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𝝆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−</m:t>
                    </m:r>
                    <m:r>
                      <a:rPr lang="en-US" altLang="zh-CN" i="1">
                        <a:latin typeface="Cambria Math"/>
                      </a:rPr>
                      <m:t>𝟏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 smtClean="0"/>
                  <a:t>负相关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𝝆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𝑿𝒀</m:t>
                        </m:r>
                      </m:sub>
                    </m:sSub>
                  </m:oMath>
                </a14:m>
                <a:r>
                  <a:rPr lang="zh-CN" altLang="en-US" dirty="0" smtClean="0"/>
                  <a:t>表示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与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存在线性关系的强弱程度。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𝑿𝒀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/>
                  <a:t>越大，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线性关系越强，反之越弱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𝑿𝒀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dirty="0" smtClean="0"/>
                  <a:t>表示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不</a:t>
                </a:r>
                <a:r>
                  <a:rPr lang="zh-CN" altLang="en-US" dirty="0"/>
                  <a:t>存在</a:t>
                </a:r>
                <a:r>
                  <a:rPr lang="zh-CN" altLang="en-US" dirty="0" smtClean="0"/>
                  <a:t>线性关系，称为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不相关</a:t>
                </a:r>
                <a:r>
                  <a:rPr lang="zh-CN" altLang="en-US" dirty="0" smtClean="0"/>
                  <a:t>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1221" r="-5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464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不相关等价定义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 dirty="0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/>
          </p:nvPr>
        </p:nvGraphicFramePr>
        <p:xfrm>
          <a:off x="4537075" y="1988988"/>
          <a:ext cx="17145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" name="Equation" r:id="rId3" imgW="1228651" imgH="447660" progId="Equation.3">
                  <p:embed/>
                </p:oleObj>
              </mc:Choice>
              <mc:Fallback>
                <p:oleObj name="Equation" r:id="rId3" imgW="1228651" imgH="4476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6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7075" y="1988988"/>
                        <a:ext cx="17145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FF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513138" y="2193776"/>
            <a:ext cx="838200" cy="152400"/>
          </a:xfrm>
          <a:prstGeom prst="leftRightArrow">
            <a:avLst>
              <a:gd name="adj1" fmla="val 50000"/>
              <a:gd name="adj2" fmla="val 11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413000" y="1962001"/>
            <a:ext cx="935038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0" i="1">
                <a:solidFill>
                  <a:srgbClr val="070605"/>
                </a:solidFill>
              </a:rPr>
              <a:t> X</a:t>
            </a:r>
            <a:endParaRPr lang="zh-CN" altLang="en-US" sz="3600" b="0">
              <a:solidFill>
                <a:srgbClr val="070605"/>
              </a:solidFill>
            </a:endParaRPr>
          </a:p>
          <a:p>
            <a:pPr eaLnBrk="1" hangingPunct="1"/>
            <a:r>
              <a:rPr lang="en-US" altLang="zh-CN" sz="3600" b="0" i="1">
                <a:solidFill>
                  <a:srgbClr val="070605"/>
                </a:solidFill>
              </a:rPr>
              <a:t> Y</a:t>
            </a:r>
          </a:p>
          <a:p>
            <a:pPr eaLnBrk="1" hangingPunct="1"/>
            <a:r>
              <a:rPr lang="zh-CN" altLang="en-US" sz="3600" b="0">
                <a:solidFill>
                  <a:srgbClr val="070605"/>
                </a:solidFill>
              </a:rPr>
              <a:t>不</a:t>
            </a:r>
          </a:p>
          <a:p>
            <a:pPr eaLnBrk="1" hangingPunct="1"/>
            <a:r>
              <a:rPr lang="zh-CN" altLang="en-US" sz="3600" b="0">
                <a:solidFill>
                  <a:srgbClr val="070605"/>
                </a:solidFill>
              </a:rPr>
              <a:t>相</a:t>
            </a:r>
          </a:p>
          <a:p>
            <a:pPr eaLnBrk="1" hangingPunct="1"/>
            <a:r>
              <a:rPr lang="zh-CN" altLang="en-US" sz="3600" b="0">
                <a:solidFill>
                  <a:srgbClr val="070605"/>
                </a:solidFill>
              </a:rPr>
              <a:t>关</a:t>
            </a:r>
            <a:endParaRPr lang="zh-CN" altLang="en-US" sz="3600" b="0" i="1">
              <a:solidFill>
                <a:srgbClr val="070605"/>
              </a:solidFill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3513138" y="2955776"/>
            <a:ext cx="838200" cy="152400"/>
          </a:xfrm>
          <a:prstGeom prst="leftRightArrow">
            <a:avLst>
              <a:gd name="adj1" fmla="val 50000"/>
              <a:gd name="adj2" fmla="val 11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" name="Object 7"/>
          <p:cNvGraphicFramePr>
            <a:graphicFrameLocks noChangeAspect="1"/>
          </p:cNvGraphicFramePr>
          <p:nvPr>
            <p:extLst/>
          </p:nvPr>
        </p:nvGraphicFramePr>
        <p:xfrm>
          <a:off x="4572000" y="2730351"/>
          <a:ext cx="31242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9" name="Equation" r:id="rId5" imgW="2200231" imgH="409590" progId="Equation.3">
                  <p:embed/>
                </p:oleObj>
              </mc:Choice>
              <mc:Fallback>
                <p:oleObj name="Equation" r:id="rId5" imgW="2200231" imgH="4095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6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730351"/>
                        <a:ext cx="31242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99FF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3513138" y="3793976"/>
            <a:ext cx="914400" cy="150812"/>
          </a:xfrm>
          <a:prstGeom prst="leftRightArrow">
            <a:avLst>
              <a:gd name="adj1" fmla="val 50000"/>
              <a:gd name="adj2" fmla="val 12126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" name="Object 9"/>
          <p:cNvGraphicFramePr>
            <a:graphicFrameLocks noChangeAspect="1"/>
          </p:cNvGraphicFramePr>
          <p:nvPr>
            <p:extLst/>
          </p:nvPr>
        </p:nvGraphicFramePr>
        <p:xfrm>
          <a:off x="4572000" y="3546326"/>
          <a:ext cx="4357688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0" name="Equation" r:id="rId7" imgW="3295755" imgH="409590" progId="Equation.3">
                  <p:embed/>
                </p:oleObj>
              </mc:Choice>
              <mc:Fallback>
                <p:oleObj name="Equation" r:id="rId7" imgW="3295755" imgH="4095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6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546326"/>
                        <a:ext cx="4357688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99FF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3513138" y="4632176"/>
            <a:ext cx="914400" cy="152400"/>
          </a:xfrm>
          <a:prstGeom prst="leftRightArrow">
            <a:avLst>
              <a:gd name="adj1" fmla="val 50000"/>
              <a:gd name="adj2" fmla="val 12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3" name="Object 11"/>
          <p:cNvGraphicFramePr>
            <a:graphicFrameLocks noChangeAspect="1"/>
          </p:cNvGraphicFramePr>
          <p:nvPr>
            <p:extLst/>
          </p:nvPr>
        </p:nvGraphicFramePr>
        <p:xfrm>
          <a:off x="4572000" y="4479776"/>
          <a:ext cx="43576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1" name="Equation" r:id="rId9" imgW="4162292" imgH="409590" progId="Equation.3">
                  <p:embed/>
                </p:oleObj>
              </mc:Choice>
              <mc:Fallback>
                <p:oleObj name="Equation" r:id="rId9" imgW="4162292" imgH="4095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-6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479776"/>
                        <a:ext cx="43576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99FF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AutoShape 13"/>
          <p:cNvSpPr>
            <a:spLocks noChangeArrowheads="1"/>
          </p:cNvSpPr>
          <p:nvPr/>
        </p:nvSpPr>
        <p:spPr bwMode="auto">
          <a:xfrm>
            <a:off x="1331913" y="2970063"/>
            <a:ext cx="838200" cy="184150"/>
          </a:xfrm>
          <a:prstGeom prst="rightArrow">
            <a:avLst>
              <a:gd name="adj1" fmla="val 50000"/>
              <a:gd name="adj2" fmla="val 11379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5" name="Group 15"/>
          <p:cNvGrpSpPr>
            <a:grpSpLocks/>
          </p:cNvGrpSpPr>
          <p:nvPr/>
        </p:nvGrpSpPr>
        <p:grpSpPr bwMode="auto">
          <a:xfrm>
            <a:off x="1331913" y="3198663"/>
            <a:ext cx="838200" cy="303213"/>
            <a:chOff x="2256" y="2976"/>
            <a:chExt cx="624" cy="192"/>
          </a:xfrm>
        </p:grpSpPr>
        <p:sp>
          <p:nvSpPr>
            <p:cNvPr id="16" name="AutoShape 16"/>
            <p:cNvSpPr>
              <a:spLocks noChangeArrowheads="1"/>
            </p:cNvSpPr>
            <p:nvPr/>
          </p:nvSpPr>
          <p:spPr bwMode="auto">
            <a:xfrm>
              <a:off x="2256" y="3024"/>
              <a:ext cx="624" cy="96"/>
            </a:xfrm>
            <a:prstGeom prst="leftArrow">
              <a:avLst>
                <a:gd name="adj1" fmla="val 50000"/>
                <a:gd name="adj2" fmla="val 16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2448" y="2976"/>
              <a:ext cx="336" cy="192"/>
            </a:xfrm>
            <a:prstGeom prst="line">
              <a:avLst/>
            </a:prstGeom>
            <a:noFill/>
            <a:ln w="38100">
              <a:solidFill>
                <a:srgbClr val="07060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2339975" y="1817538"/>
            <a:ext cx="792163" cy="3168650"/>
          </a:xfrm>
          <a:prstGeom prst="rect">
            <a:avLst/>
          </a:prstGeom>
          <a:noFill/>
          <a:ln w="19050" algn="ctr">
            <a:solidFill>
              <a:srgbClr val="DE32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" name="Rectangle 24"/>
          <p:cNvSpPr>
            <a:spLocks noChangeArrowheads="1"/>
          </p:cNvSpPr>
          <p:nvPr/>
        </p:nvSpPr>
        <p:spPr bwMode="auto">
          <a:xfrm>
            <a:off x="466725" y="2265213"/>
            <a:ext cx="935038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0" i="1">
                <a:solidFill>
                  <a:srgbClr val="070605"/>
                </a:solidFill>
              </a:rPr>
              <a:t> X</a:t>
            </a:r>
            <a:endParaRPr lang="zh-CN" altLang="en-US" sz="3600" b="0">
              <a:solidFill>
                <a:srgbClr val="070605"/>
              </a:solidFill>
            </a:endParaRPr>
          </a:p>
          <a:p>
            <a:pPr eaLnBrk="1" hangingPunct="1"/>
            <a:r>
              <a:rPr lang="en-US" altLang="zh-CN" sz="3600" b="0" i="1">
                <a:solidFill>
                  <a:srgbClr val="070605"/>
                </a:solidFill>
              </a:rPr>
              <a:t> Y</a:t>
            </a:r>
          </a:p>
          <a:p>
            <a:pPr eaLnBrk="1" hangingPunct="1"/>
            <a:r>
              <a:rPr lang="zh-CN" altLang="en-US" sz="3600" b="0">
                <a:solidFill>
                  <a:srgbClr val="070605"/>
                </a:solidFill>
              </a:rPr>
              <a:t>独立</a:t>
            </a:r>
          </a:p>
        </p:txBody>
      </p:sp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395288" y="1817538"/>
            <a:ext cx="792162" cy="3168650"/>
          </a:xfrm>
          <a:prstGeom prst="rect">
            <a:avLst/>
          </a:prstGeom>
          <a:noFill/>
          <a:ln w="19050" algn="ctr">
            <a:solidFill>
              <a:srgbClr val="DE32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115368" y="5301208"/>
                <a:ext cx="655297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b="1" dirty="0" smtClean="0"/>
                  <a:t>注：若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(</m:t>
                    </m:r>
                    <m:r>
                      <a:rPr lang="en-US" altLang="zh-CN" sz="3200" b="1" i="1" smtClean="0">
                        <a:latin typeface="Cambria Math"/>
                      </a:rPr>
                      <m:t>𝑿</m:t>
                    </m:r>
                    <m:r>
                      <a:rPr lang="en-US" altLang="zh-CN" sz="3200" b="1" i="1" smtClean="0">
                        <a:latin typeface="Cambria Math"/>
                      </a:rPr>
                      <m:t>,</m:t>
                    </m:r>
                    <m:r>
                      <a:rPr lang="en-US" altLang="zh-CN" sz="3200" b="1" i="1" smtClean="0">
                        <a:latin typeface="Cambria Math"/>
                      </a:rPr>
                      <m:t>𝒀</m:t>
                    </m:r>
                    <m:r>
                      <a:rPr lang="en-US" altLang="zh-CN" sz="32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3200" b="1" dirty="0" smtClean="0"/>
                  <a:t>服从二维正态分布，则</a:t>
                </a:r>
                <a:endParaRPr lang="en-US" altLang="zh-CN" sz="3200" b="1" dirty="0" smtClean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𝑿</m:t>
                    </m:r>
                    <m:r>
                      <a:rPr lang="en-US" altLang="zh-CN" sz="3200" b="1" i="1" smtClean="0">
                        <a:latin typeface="Cambria Math"/>
                      </a:rPr>
                      <m:t>,</m:t>
                    </m:r>
                    <m:r>
                      <a:rPr lang="en-US" altLang="zh-CN" sz="3200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sz="3200" b="1" dirty="0" smtClean="0"/>
                  <a:t>相互独立</a:t>
                </a:r>
                <a14:m>
                  <m:oMath xmlns:m="http://schemas.openxmlformats.org/officeDocument/2006/math">
                    <m:r>
                      <a:rPr lang="zh-CN" altLang="en-US" sz="3200" b="1" i="1" smtClean="0">
                        <a:latin typeface="Cambria Math"/>
                      </a:rPr>
                      <m:t>⇔</m:t>
                    </m:r>
                  </m:oMath>
                </a14:m>
                <a:r>
                  <a:rPr lang="en-US" altLang="zh-CN" sz="32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/>
                      </a:rPr>
                      <m:t>𝑿</m:t>
                    </m:r>
                    <m:r>
                      <a:rPr lang="en-US" altLang="zh-CN" sz="3200" b="1" i="1">
                        <a:latin typeface="Cambria Math"/>
                      </a:rPr>
                      <m:t>,</m:t>
                    </m:r>
                    <m:r>
                      <a:rPr lang="en-US" altLang="zh-CN" sz="3200" b="1" i="1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sz="3200" b="1" dirty="0" smtClean="0"/>
                  <a:t>不相关</a:t>
                </a:r>
                <a:endParaRPr lang="zh-CN" altLang="en-US" sz="3200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368" y="5301208"/>
                <a:ext cx="6552976" cy="1077218"/>
              </a:xfrm>
              <a:prstGeom prst="rect">
                <a:avLst/>
              </a:prstGeom>
              <a:blipFill rotWithShape="0">
                <a:blip r:embed="rId11"/>
                <a:stretch>
                  <a:fillRect l="-2419" t="-6818" r="-1767"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603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utoUpdateAnimBg="0"/>
      <p:bldP spid="8" grpId="0" animBg="1"/>
      <p:bldP spid="10" grpId="0" animBg="1"/>
      <p:bldP spid="12" grpId="0" animBg="1"/>
      <p:bldP spid="14" grpId="0" animBg="1"/>
      <p:bldP spid="18" grpId="0" animBg="1"/>
      <p:bldP spid="19" grpId="0" autoUpdateAnimBg="0"/>
      <p:bldP spid="20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𝝆</m:t>
                    </m:r>
                  </m:oMath>
                </a14:m>
                <a:r>
                  <a:rPr lang="zh-CN" altLang="en-US" dirty="0" smtClean="0"/>
                  <a:t>表示存在线性关系的强弱程度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b="-19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964704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：作随机试验，得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𝒊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𝟐</m:t>
                    </m:r>
                    <m:r>
                      <a:rPr lang="en-US" altLang="zh-CN" b="1" i="1" smtClean="0">
                        <a:latin typeface="Cambria Math"/>
                      </a:rPr>
                      <m:t>,…</m:t>
                    </m:r>
                  </m:oMath>
                </a14:m>
                <a:r>
                  <a:rPr lang="zh-CN" altLang="en-US" dirty="0" smtClean="0"/>
                  <a:t>，并在坐标系中标出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964704"/>
              </a:xfrm>
              <a:blipFill rotWithShape="0">
                <a:blip r:embed="rId3"/>
                <a:stretch>
                  <a:fillRect t="-10759" b="-107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468" y="2564904"/>
            <a:ext cx="6424884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956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𝝆</m:t>
                    </m:r>
                  </m:oMath>
                </a14:m>
                <a:r>
                  <a:rPr lang="zh-CN" altLang="en-US" dirty="0" smtClean="0"/>
                  <a:t>表示存在线性关系的强弱程度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b="-19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22</a:t>
            </a:fld>
            <a:endParaRPr lang="zh-CN" alt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041" y="2564904"/>
            <a:ext cx="7186613" cy="321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434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𝜽</m:t>
                    </m:r>
                  </m:oMath>
                </a14:m>
                <a:r>
                  <a:rPr lang="zh-CN" altLang="en-US" dirty="0" smtClean="0"/>
                  <a:t>服从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[</m:t>
                    </m:r>
                    <m:r>
                      <a:rPr lang="en-US" altLang="zh-CN" b="1" i="1" dirty="0" smtClean="0">
                        <a:latin typeface="Cambria Math"/>
                      </a:rPr>
                      <m:t>𝟎</m:t>
                    </m:r>
                    <m:r>
                      <a:rPr lang="en-US" altLang="zh-CN" b="1" i="1" dirty="0" smtClean="0">
                        <a:latin typeface="Cambria Math"/>
                      </a:rPr>
                      <m:t>,</m:t>
                    </m:r>
                    <m:r>
                      <a:rPr lang="en-US" altLang="zh-CN" b="1" i="1" dirty="0" smtClean="0">
                        <a:latin typeface="Cambria Math"/>
                      </a:rPr>
                      <m:t>𝟐</m:t>
                    </m:r>
                    <m:r>
                      <a:rPr lang="en-US" altLang="zh-CN" b="1" i="1" dirty="0" smtClean="0">
                        <a:latin typeface="Cambria Math"/>
                      </a:rPr>
                      <m:t>𝝅</m:t>
                    </m:r>
                    <m:r>
                      <a:rPr lang="en-US" altLang="zh-CN" b="1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zh-CN" altLang="en-US" dirty="0" smtClean="0"/>
                  <a:t>上的均匀分布：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𝟐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𝝅</m:t>
                                  </m:r>
                                </m:den>
                              </m:f>
                              <m:r>
                                <a:rPr lang="en-US" altLang="zh-CN" b="1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≤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𝜽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≤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𝝅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,       </m:t>
                              </m:r>
                              <m:r>
                                <a:rPr lang="zh-CN" altLang="en-US" i="1">
                                  <a:latin typeface="Cambria Math"/>
                                </a:rPr>
                                <m:t>其它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𝜽</m:t>
                        </m:r>
                      </m:e>
                    </m:func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𝜽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𝒂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其中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𝒂</m:t>
                    </m:r>
                    <m:r>
                      <a:rPr lang="en-US" altLang="zh-CN" b="1" i="1" dirty="0" smtClean="0">
                        <a:latin typeface="Cambria Math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/>
                          </a:rPr>
                          <m:t>𝟎</m:t>
                        </m:r>
                        <m:r>
                          <a:rPr lang="en-US" altLang="zh-CN" b="1" i="1" dirty="0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dirty="0" smtClean="0">
                            <a:latin typeface="Cambria Math"/>
                          </a:rPr>
                          <m:t>𝟐</m:t>
                        </m:r>
                        <m:r>
                          <a:rPr lang="en-US" altLang="zh-CN" b="1" i="1" dirty="0" smtClean="0">
                            <a:latin typeface="Cambria Math"/>
                          </a:rPr>
                          <m:t>𝝅</m:t>
                        </m:r>
                      </m:e>
                    </m:d>
                  </m:oMath>
                </a14:m>
                <a:r>
                  <a:rPr lang="zh-CN" altLang="en-US" dirty="0" smtClean="0"/>
                  <a:t>为常数，试求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𝝆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𝑿𝒀</m:t>
                        </m:r>
                      </m:sub>
                    </m:sSub>
                  </m:oMath>
                </a14:m>
                <a:r>
                  <a:rPr lang="zh-CN" altLang="en-US" dirty="0" smtClean="0"/>
                  <a:t>，并讨论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与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的相关性和独立性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221" r="-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7211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解：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nary>
                      <m:nary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𝝅</m:t>
                        </m:r>
                      </m:sup>
                      <m:e>
                        <m:func>
                          <m:func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𝒙</m:t>
                            </m:r>
                          </m:e>
                        </m:func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𝝅</m:t>
                            </m:r>
                          </m:den>
                        </m:f>
                        <m:r>
                          <a:rPr lang="en-US" altLang="zh-CN" b="1" i="1" smtClean="0">
                            <a:latin typeface="Cambria Math"/>
                          </a:rPr>
                          <m:t>𝒅𝒙</m:t>
                        </m:r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𝑬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𝒀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𝝅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𝒂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)</m:t>
                              </m:r>
                            </m:e>
                          </m:func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𝝅</m:t>
                              </m:r>
                            </m:den>
                          </m:f>
                          <m:r>
                            <a:rPr lang="en-US" altLang="zh-CN" i="1">
                              <a:latin typeface="Cambria Math"/>
                            </a:rPr>
                            <m:t>𝒅𝒙</m:t>
                          </m:r>
                        </m:e>
                      </m:nary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𝝅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</a:rPr>
                            <m:t>si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en-US" altLang="zh-CN" b="0" i="0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1" i="1" smtClean="0">
                              <a:latin typeface="Cambria Math"/>
                            </a:rPr>
                            <m:t>𝒙</m:t>
                          </m:r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𝝅</m:t>
                              </m:r>
                            </m:den>
                          </m:f>
                          <m:r>
                            <a:rPr lang="en-US" altLang="zh-CN" b="1" i="1" smtClean="0">
                              <a:latin typeface="Cambria Math"/>
                            </a:rPr>
                            <m:t>𝒅𝒙</m:t>
                          </m:r>
                        </m:e>
                      </m:nary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  <m:r>
                        <a:rPr lang="en-US" altLang="zh-CN" b="1" i="1" smtClean="0">
                          <a:latin typeface="Cambria Math"/>
                        </a:rPr>
                        <m:t>/</m:t>
                      </m:r>
                      <m:r>
                        <a:rPr lang="en-US" altLang="zh-CN" b="1" i="1" smtClean="0"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𝑬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𝒀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𝝅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i="0">
                              <a:latin typeface="Cambria Math"/>
                            </a:rPr>
                            <m:t>si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i="0">
                                  <a:latin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en-US" altLang="zh-CN" i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𝒙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𝒂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)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𝝅</m:t>
                              </m:r>
                            </m:den>
                          </m:f>
                          <m:r>
                            <a:rPr lang="en-US" altLang="zh-CN" i="1">
                              <a:latin typeface="Cambria Math"/>
                            </a:rPr>
                            <m:t>𝒅𝒙</m:t>
                          </m:r>
                        </m:e>
                      </m:nary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  <m:r>
                        <a:rPr lang="en-US" altLang="zh-CN" b="1" i="1" smtClean="0">
                          <a:latin typeface="Cambria Math"/>
                        </a:rPr>
                        <m:t>/</m:t>
                      </m:r>
                      <m:r>
                        <a:rPr lang="en-US" altLang="zh-CN" b="1" i="1" smtClean="0"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𝑿𝒀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nary>
                      <m:nary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𝝅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sin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sin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𝒙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𝒂</m:t>
                            </m:r>
                          </m:e>
                        </m:d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𝝅</m:t>
                            </m:r>
                          </m:den>
                        </m:f>
                        <m:r>
                          <a:rPr lang="en-US" altLang="zh-CN" b="1" i="1" smtClean="0">
                            <a:latin typeface="Cambria Math"/>
                          </a:rPr>
                          <m:t>𝒅𝒙</m:t>
                        </m:r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</a:rPr>
                      <m:t>cos</m:t>
                    </m:r>
                    <m:r>
                      <a:rPr lang="en-US" altLang="zh-CN" b="1" i="1" smtClean="0">
                        <a:latin typeface="Cambria Math"/>
                      </a:rPr>
                      <m:t> </m:t>
                    </m:r>
                    <m:r>
                      <a:rPr lang="en-US" altLang="zh-CN" b="1" i="1" smtClean="0">
                        <a:latin typeface="Cambria Math"/>
                      </a:rPr>
                      <m:t>𝒂</m:t>
                    </m:r>
                  </m:oMath>
                </a14:m>
                <a:r>
                  <a:rPr lang="en-US" altLang="zh-CN" dirty="0" smtClean="0"/>
                  <a:t> 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657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 smtClean="0"/>
                  <a:t>因此，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𝒄𝒐𝒗</m:t>
                    </m:r>
                    <m:r>
                      <a:rPr lang="en-US" altLang="zh-CN" b="1" i="1" smtClean="0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𝒀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den>
                    </m:f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𝒂</m:t>
                        </m:r>
                      </m:e>
                    </m:func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𝒀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/>
                        </a:rPr>
                        <m:t>∴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𝝆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𝑿𝒀</m:t>
                          </m:r>
                        </m:sub>
                      </m:sSub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𝒄𝒐𝒗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𝒀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𝑫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𝑫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𝒀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𝒂</m:t>
                          </m:r>
                        </m:e>
                      </m:func>
                    </m:oMath>
                  </m:oMathPara>
                </a14:m>
                <a:endParaRPr lang="en-US" altLang="zh-CN" dirty="0" smtClean="0"/>
              </a:p>
              <a:p>
                <a:r>
                  <a:rPr lang="zh-CN" altLang="en-US" dirty="0" smtClean="0"/>
                  <a:t>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𝒂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𝟐</m:t>
                    </m:r>
                    <m:r>
                      <a:rPr lang="en-US" altLang="zh-CN" b="1" i="1" smtClean="0">
                        <a:latin typeface="Cambria Math"/>
                      </a:rPr>
                      <m:t>𝝅</m:t>
                    </m:r>
                  </m:oMath>
                </a14:m>
                <a:r>
                  <a:rPr lang="zh-CN" altLang="en-US" dirty="0" smtClean="0"/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𝝆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𝑿𝒀</m:t>
                        </m:r>
                      </m:sub>
                    </m:sSub>
                    <m:r>
                      <a:rPr lang="en-US" altLang="zh-CN" b="1" i="0" smtClean="0">
                        <a:latin typeface="Cambria Math"/>
                      </a:rPr>
                      <m:t>=</m:t>
                    </m:r>
                    <m:r>
                      <a:rPr lang="en-US" altLang="zh-CN" b="1" i="0" smtClean="0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dirty="0" smtClean="0"/>
                  <a:t>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正相关</a:t>
                </a:r>
                <a:endParaRPr lang="en-US" altLang="zh-CN" dirty="0" smtClean="0"/>
              </a:p>
              <a:p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𝒂</m:t>
                    </m:r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</a:rPr>
                      <m:t>𝝅</m:t>
                    </m:r>
                  </m:oMath>
                </a14:m>
                <a:r>
                  <a:rPr lang="zh-CN" altLang="en-US" dirty="0"/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𝝆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𝑿𝒀</m:t>
                        </m:r>
                      </m:sub>
                    </m:sSub>
                    <m:r>
                      <a:rPr lang="en-US" altLang="zh-CN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−</m:t>
                    </m:r>
                    <m:r>
                      <a:rPr lang="en-US" altLang="zh-CN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dirty="0"/>
                  <a:t>，即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𝑿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i="1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负相关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𝒂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𝝅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𝟑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𝝅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CN" altLang="en-US" dirty="0" smtClean="0"/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𝝆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𝑿𝒀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dirty="0" smtClean="0"/>
                  <a:t>，即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𝑿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i="1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不相关，但此时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与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并不相互独立，因为此时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𝒀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330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10831</TotalTime>
  <Words>434</Words>
  <Application>Microsoft Office PowerPoint</Application>
  <PresentationFormat>全屏显示(4:3)</PresentationFormat>
  <Paragraphs>139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Tw Cen MT</vt:lpstr>
      <vt:lpstr>华文仿宋</vt:lpstr>
      <vt:lpstr>宋体</vt:lpstr>
      <vt:lpstr>Calibri</vt:lpstr>
      <vt:lpstr>Cambria Math</vt:lpstr>
      <vt:lpstr>Tahoma</vt:lpstr>
      <vt:lpstr>Times New Roman</vt:lpstr>
      <vt:lpstr>Wingdings</vt:lpstr>
      <vt:lpstr>Wingdings 2</vt:lpstr>
      <vt:lpstr>中性</vt:lpstr>
      <vt:lpstr>Equation</vt:lpstr>
      <vt:lpstr>典型二维连续型随机变量分布、相关系数</vt:lpstr>
      <vt:lpstr>二维均匀分布</vt:lpstr>
      <vt:lpstr>二维均匀分布背景</vt:lpstr>
      <vt:lpstr>二维分布几何意义</vt:lpstr>
      <vt:lpstr>二维正态分布</vt:lpstr>
      <vt:lpstr>二维正态分布密度图</vt:lpstr>
      <vt:lpstr>二维正态分布剖面图</vt:lpstr>
      <vt:lpstr>二维正态分布的边缘分布</vt:lpstr>
      <vt:lpstr>二维正态随机变量的独立性</vt:lpstr>
      <vt:lpstr>二维正态随机变量的独立性</vt:lpstr>
      <vt:lpstr>二维正态随机变量的独立性</vt:lpstr>
      <vt:lpstr>二维正态随机变量之间的协方差</vt:lpstr>
      <vt:lpstr>二维正态随机变量之间的协方差</vt:lpstr>
      <vt:lpstr>标准化随机变量</vt:lpstr>
      <vt:lpstr>相关系数</vt:lpstr>
      <vt:lpstr>柯西-许瓦兹不等式</vt:lpstr>
      <vt:lpstr>相关系数性质</vt:lpstr>
      <vt:lpstr>相关系数性质</vt:lpstr>
      <vt:lpstr>相关性</vt:lpstr>
      <vt:lpstr>不相关等价定义</vt:lpstr>
      <vt:lpstr>ρ表示存在线性关系的强弱程度</vt:lpstr>
      <vt:lpstr>ρ表示存在线性关系的强弱程度</vt:lpstr>
      <vt:lpstr>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唐斌</dc:creator>
  <cp:lastModifiedBy>唐 斌</cp:lastModifiedBy>
  <cp:revision>569</cp:revision>
  <dcterms:created xsi:type="dcterms:W3CDTF">2016-02-22T01:45:17Z</dcterms:created>
  <dcterms:modified xsi:type="dcterms:W3CDTF">2018-04-25T04:35:59Z</dcterms:modified>
</cp:coreProperties>
</file>