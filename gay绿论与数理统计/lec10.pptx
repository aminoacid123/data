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6" r:id="rId1"/>
  </p:sldMasterIdLst>
  <p:notesMasterIdLst>
    <p:notesMasterId r:id="rId31"/>
  </p:notesMasterIdLst>
  <p:sldIdLst>
    <p:sldId id="256" r:id="rId2"/>
    <p:sldId id="288" r:id="rId3"/>
    <p:sldId id="289" r:id="rId4"/>
    <p:sldId id="290" r:id="rId5"/>
    <p:sldId id="291" r:id="rId6"/>
    <p:sldId id="292" r:id="rId7"/>
    <p:sldId id="293" r:id="rId8"/>
    <p:sldId id="294" r:id="rId9"/>
    <p:sldId id="295" r:id="rId10"/>
    <p:sldId id="298" r:id="rId11"/>
    <p:sldId id="296" r:id="rId12"/>
    <p:sldId id="300" r:id="rId13"/>
    <p:sldId id="316" r:id="rId14"/>
    <p:sldId id="301" r:id="rId15"/>
    <p:sldId id="302" r:id="rId16"/>
    <p:sldId id="317" r:id="rId17"/>
    <p:sldId id="303" r:id="rId18"/>
    <p:sldId id="304" r:id="rId19"/>
    <p:sldId id="305" r:id="rId20"/>
    <p:sldId id="306" r:id="rId21"/>
    <p:sldId id="307" r:id="rId22"/>
    <p:sldId id="308" r:id="rId23"/>
    <p:sldId id="309" r:id="rId24"/>
    <p:sldId id="310" r:id="rId25"/>
    <p:sldId id="311" r:id="rId26"/>
    <p:sldId id="312" r:id="rId27"/>
    <p:sldId id="313" r:id="rId28"/>
    <p:sldId id="314" r:id="rId29"/>
    <p:sldId id="315" r:id="rId3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564772EE-77BD-4858-9BB3-AFEEF6741B5A}">
          <p14:sldIdLst>
            <p14:sldId id="256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8"/>
            <p14:sldId id="296"/>
            <p14:sldId id="300"/>
          </p14:sldIdLst>
        </p14:section>
        <p14:section name="无标题节" id="{9803FE76-B069-452C-940B-13978E1DA324}">
          <p14:sldIdLst>
            <p14:sldId id="316"/>
            <p14:sldId id="301"/>
            <p14:sldId id="302"/>
            <p14:sldId id="317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403" autoAdjust="0"/>
  </p:normalViewPr>
  <p:slideViewPr>
    <p:cSldViewPr>
      <p:cViewPr varScale="1">
        <p:scale>
          <a:sx n="93" d="100"/>
          <a:sy n="93" d="100"/>
        </p:scale>
        <p:origin x="1594" y="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2336E7-F42F-4A2E-9F47-4CAB93D18031}" type="datetimeFigureOut">
              <a:rPr lang="zh-CN" altLang="en-US" smtClean="0"/>
              <a:t>2018/11/21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B9DC25-1DF3-4044-A1F0-C273483743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9799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不管</a:t>
            </a:r>
            <a:r>
              <a:rPr lang="en-US" altLang="zh-CN" dirty="0" smtClean="0"/>
              <a:t>X</a:t>
            </a:r>
            <a:r>
              <a:rPr lang="zh-CN" altLang="en-US" dirty="0" smtClean="0"/>
              <a:t>的分布是什么，</a:t>
            </a:r>
            <a:r>
              <a:rPr lang="en-US" altLang="zh-CN" dirty="0" err="1" smtClean="0"/>
              <a:t>Xbar</a:t>
            </a:r>
            <a:r>
              <a:rPr lang="zh-CN" altLang="en-US" dirty="0" smtClean="0"/>
              <a:t>都渐进正态分布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B9DC25-1DF3-4044-A1F0-C273483743D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1377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 smtClean="0"/>
              <a:t>事实上，正态分布正是基于此目的而诞生的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B9DC25-1DF3-4044-A1F0-C273483743DC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04049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 smtClean="0">
                <a:latin typeface="+mn-ea"/>
              </a:rPr>
              <a:t>x</a:t>
            </a:r>
            <a:r>
              <a:rPr lang="zh-CN" altLang="en-US" sz="1200" dirty="0" smtClean="0">
                <a:latin typeface="+mn-ea"/>
              </a:rPr>
              <a:t>与</a:t>
            </a:r>
            <a:r>
              <a:rPr lang="el-GR" altLang="zh-CN" sz="1200" dirty="0" smtClean="0">
                <a:latin typeface="+mn-ea"/>
              </a:rPr>
              <a:t>ε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B9DC25-1DF3-4044-A1F0-C273483743DC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21139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4ED9701B-4197-4FE5-B5DA-5416DC1669A5}" type="datetime1">
              <a:rPr lang="zh-CN" altLang="en-US" smtClean="0"/>
              <a:t>2018/11/21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36247-266E-48C6-8B14-289F25875231}" type="datetime1">
              <a:rPr lang="zh-CN" altLang="en-US" smtClean="0"/>
              <a:t>2018/11/21</a:t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7" name="矩形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65BE9-30F8-4EBE-A9C2-AB249A42BA31}" type="datetime1">
              <a:rPr lang="zh-CN" altLang="en-US" smtClean="0"/>
              <a:t>2018/11/21</a:t>
            </a:fld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B7E2C2CD-497C-4296-A0B9-87C9C1109BD9}" type="datetime1">
              <a:rPr lang="zh-CN" altLang="en-US" smtClean="0"/>
              <a:t>2018/11/21</a:t>
            </a:fld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F5E19621-E3B2-4562-A73B-168B240E71B6}" type="datetime1">
              <a:rPr lang="zh-CN" altLang="en-US" smtClean="0"/>
              <a:t>2018/11/21</a:t>
            </a:fld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A16C8-561B-4A8C-9EFE-F6FCC4B46780}" type="datetime1">
              <a:rPr lang="zh-CN" altLang="en-US" smtClean="0"/>
              <a:t>2018/11/21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4F784-2C90-4317-995F-7291EE975927}" type="datetime1">
              <a:rPr lang="zh-CN" altLang="en-US" smtClean="0"/>
              <a:t>2018/11/21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436A7-51C4-461E-A63E-A4F97ED44C5C}" type="datetime1">
              <a:rPr lang="zh-CN" altLang="en-US" smtClean="0"/>
              <a:t>2018/11/21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8" name="矩形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1" name="矩形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DD3C3FD1-F0F2-4061-8913-C3CEB2D6BA24}" type="datetime1">
              <a:rPr lang="zh-CN" altLang="en-US" smtClean="0"/>
              <a:t>2018/11/21</a:t>
            </a:fld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8033A-B298-4829-B013-FB02CFC1E8B2}" type="datetime1">
              <a:rPr lang="zh-CN" altLang="en-US" smtClean="0"/>
              <a:t>2018/11/21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16322D89-321D-4885-89B2-A0E512222A49}" type="datetime1">
              <a:rPr lang="zh-CN" altLang="en-US" smtClean="0"/>
              <a:t>2018/11/21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CN" altLang="en-US" dirty="0" smtClean="0"/>
              <a:t>单击此处编辑母版标题样式</a:t>
            </a:r>
            <a:endParaRPr kumimoji="0" 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dirty="0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dirty="0" smtClean="0"/>
              <a:t>第二级</a:t>
            </a:r>
          </a:p>
          <a:p>
            <a:pPr lvl="2" eaLnBrk="1" latinLnBrk="0" hangingPunct="1"/>
            <a:r>
              <a:rPr kumimoji="0" lang="zh-CN" altLang="en-US" dirty="0" smtClean="0"/>
              <a:t>第三级</a:t>
            </a:r>
          </a:p>
          <a:p>
            <a:pPr lvl="3" eaLnBrk="1" latinLnBrk="0" hangingPunct="1"/>
            <a:r>
              <a:rPr kumimoji="0" lang="zh-CN" altLang="en-US" dirty="0" smtClean="0"/>
              <a:t>第四级</a:t>
            </a:r>
          </a:p>
          <a:p>
            <a:pPr lvl="4" eaLnBrk="1" latinLnBrk="0" hangingPunct="1"/>
            <a:r>
              <a:rPr kumimoji="0" lang="zh-CN" altLang="en-US" dirty="0" smtClean="0"/>
              <a:t>第五级</a:t>
            </a:r>
            <a:endParaRPr kumimoji="0" lang="en-US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397045A6-C381-463D-A4BA-F030581BD3A5}" type="datetime1">
              <a:rPr lang="zh-CN" altLang="en-US" smtClean="0"/>
              <a:t>2018/11/21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latinLnBrk="0" hangingPunct="1">
        <a:spcBef>
          <a:spcPct val="0"/>
        </a:spcBef>
        <a:buNone/>
        <a:defRPr kumimoji="0" sz="4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6000" dirty="0" smtClean="0"/>
              <a:t>极限理论</a:t>
            </a:r>
            <a:endParaRPr lang="zh-CN" altLang="en-US" sz="60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3560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极限理论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 smtClean="0"/>
              <a:t>大数定律</a:t>
            </a:r>
            <a:r>
              <a:rPr lang="en-US" altLang="zh-CN" sz="3200" dirty="0"/>
              <a:t>(laws of large </a:t>
            </a:r>
            <a:r>
              <a:rPr lang="en-US" altLang="zh-CN" sz="3200" dirty="0" smtClean="0"/>
              <a:t>numbers)</a:t>
            </a:r>
          </a:p>
          <a:p>
            <a:pPr lvl="1"/>
            <a:r>
              <a:rPr lang="zh-CN" altLang="en-US" sz="2800"/>
              <a:t>随机</a:t>
            </a:r>
            <a:r>
              <a:rPr lang="zh-CN" altLang="en-US" sz="2800" smtClean="0"/>
              <a:t>变量</a:t>
            </a:r>
            <a:r>
              <a:rPr lang="zh-CN" altLang="en-US" sz="2800" dirty="0" smtClean="0"/>
              <a:t>序列的均值收敛问题</a:t>
            </a:r>
            <a:endParaRPr lang="en-US" altLang="zh-CN" sz="2800" dirty="0" smtClean="0"/>
          </a:p>
          <a:p>
            <a:pPr lvl="1"/>
            <a:endParaRPr lang="en-US" altLang="zh-CN" sz="2800" dirty="0" smtClean="0"/>
          </a:p>
          <a:p>
            <a:pPr lvl="1"/>
            <a:endParaRPr lang="en-US" altLang="zh-CN" sz="2800" dirty="0"/>
          </a:p>
          <a:p>
            <a:r>
              <a:rPr lang="zh-CN" altLang="en-US" sz="3200" dirty="0" smtClean="0"/>
              <a:t>中心极限定理</a:t>
            </a:r>
            <a:r>
              <a:rPr lang="en-US" altLang="zh-CN" sz="3200" dirty="0"/>
              <a:t>(central limit theorems</a:t>
            </a:r>
            <a:r>
              <a:rPr lang="en-US" altLang="zh-CN" sz="3200" dirty="0" smtClean="0"/>
              <a:t>)</a:t>
            </a:r>
          </a:p>
          <a:p>
            <a:pPr lvl="1"/>
            <a:r>
              <a:rPr lang="zh-CN" altLang="en-US" sz="2800" dirty="0" smtClean="0"/>
              <a:t>随机变量的和的正态分布</a:t>
            </a:r>
            <a:endParaRPr lang="zh-CN" altLang="en-US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70234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 altLang="en-US" sz="3200" dirty="0" smtClean="0"/>
                  <a:t>测量一个工件，由于测量具有误差，以各次的平均值作为测量结果，只要仪器准确且测量的次数足够多，总可以达到要求的精度。这反映了什么统计规律？</a:t>
                </a:r>
                <a:endParaRPr lang="en-US" altLang="zh-CN" sz="3200" dirty="0" smtClean="0"/>
              </a:p>
              <a:p>
                <a:endParaRPr lang="en-US" altLang="zh-CN" sz="3200" dirty="0"/>
              </a:p>
              <a:p>
                <a:r>
                  <a:rPr lang="zh-CN" altLang="en-US" sz="3200" dirty="0" smtClean="0"/>
                  <a:t>数学表达：如果工件的测量值真值为</a:t>
                </a:r>
                <a14:m>
                  <m:oMath xmlns:m="http://schemas.openxmlformats.org/officeDocument/2006/math">
                    <m:r>
                      <a:rPr lang="en-US" altLang="zh-CN" sz="3200" b="1" i="1" smtClean="0">
                        <a:latin typeface="Cambria Math"/>
                      </a:rPr>
                      <m:t>𝒂</m:t>
                    </m:r>
                  </m:oMath>
                </a14:m>
                <a:r>
                  <a:rPr lang="zh-CN" altLang="en-US" sz="3200" dirty="0" smtClean="0"/>
                  <a:t>，第</a:t>
                </a:r>
                <a14:m>
                  <m:oMath xmlns:m="http://schemas.openxmlformats.org/officeDocument/2006/math">
                    <m:r>
                      <a:rPr lang="en-US" altLang="zh-CN" sz="3200" b="1" i="1" smtClean="0">
                        <a:latin typeface="Cambria Math"/>
                      </a:rPr>
                      <m:t>𝒏</m:t>
                    </m:r>
                  </m:oMath>
                </a14:m>
                <a:r>
                  <a:rPr lang="zh-CN" altLang="en-US" sz="3200" dirty="0" smtClean="0"/>
                  <a:t>次测量值为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altLang="zh-CN" sz="3200" b="1" i="1" smtClean="0">
                            <a:latin typeface="Cambria Math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altLang="zh-CN" sz="3200" dirty="0" smtClean="0"/>
                  <a:t>,</a:t>
                </a:r>
                <a:r>
                  <a:rPr lang="zh-CN" altLang="en-US" sz="3200" dirty="0" smtClean="0"/>
                  <a:t>则</a:t>
                </a:r>
                <a14:m>
                  <m:oMath xmlns:m="http://schemas.openxmlformats.org/officeDocument/2006/math">
                    <m:r>
                      <a:rPr lang="en-US" altLang="zh-CN" sz="3200" b="1" i="1" dirty="0" smtClean="0">
                        <a:latin typeface="Cambria Math"/>
                      </a:rPr>
                      <m:t>{</m:t>
                    </m:r>
                    <m:sSub>
                      <m:sSubPr>
                        <m:ctrlPr>
                          <a:rPr lang="en-US" altLang="zh-CN" sz="32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dirty="0" smtClean="0"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altLang="zh-CN" sz="3200" b="1" i="1" dirty="0" smtClean="0">
                            <a:latin typeface="Cambria Math"/>
                          </a:rPr>
                          <m:t>𝒏</m:t>
                        </m:r>
                      </m:sub>
                    </m:sSub>
                    <m:r>
                      <a:rPr lang="en-US" altLang="zh-CN" sz="3200" b="1" i="1" dirty="0" smtClean="0">
                        <a:latin typeface="Cambria Math"/>
                      </a:rPr>
                      <m:t>}</m:t>
                    </m:r>
                  </m:oMath>
                </a14:m>
                <a:r>
                  <a:rPr lang="zh-CN" altLang="en-US" sz="3200" dirty="0" smtClean="0"/>
                  <a:t>就是一个独立同分布，均值为</a:t>
                </a:r>
                <a14:m>
                  <m:oMath xmlns:m="http://schemas.openxmlformats.org/officeDocument/2006/math">
                    <m:r>
                      <a:rPr lang="en-US" altLang="zh-CN" sz="3200" b="1" i="1" smtClean="0">
                        <a:latin typeface="Cambria Math"/>
                      </a:rPr>
                      <m:t>𝒂</m:t>
                    </m:r>
                  </m:oMath>
                </a14:m>
                <a:r>
                  <a:rPr lang="zh-CN" altLang="en-US" sz="3200" dirty="0" smtClean="0"/>
                  <a:t>的随机变量序列。</a:t>
                </a:r>
                <a:endParaRPr lang="en-US" altLang="zh-CN" sz="3200" dirty="0" smtClean="0"/>
              </a:p>
              <a:p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598" t="-1900" r="-11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94486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实例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sz="3200" dirty="0" smtClean="0"/>
                  <a:t>测量的经验就是：当</a:t>
                </a:r>
                <a14:m>
                  <m:oMath xmlns:m="http://schemas.openxmlformats.org/officeDocument/2006/math">
                    <m:r>
                      <a:rPr lang="en-US" altLang="zh-CN" sz="3200" b="1" i="1" smtClean="0">
                        <a:latin typeface="Cambria Math"/>
                      </a:rPr>
                      <m:t>𝒏</m:t>
                    </m:r>
                  </m:oMath>
                </a14:m>
                <a:r>
                  <a:rPr lang="zh-CN" altLang="en-US" sz="3200" dirty="0" smtClean="0"/>
                  <a:t>充分大时，</a:t>
                </a:r>
                <a14:m>
                  <m:oMath xmlns:m="http://schemas.openxmlformats.org/officeDocument/2006/math">
                    <m:r>
                      <a:rPr lang="en-US" altLang="zh-CN" sz="3200" b="1" i="1" smtClean="0">
                        <a:latin typeface="Cambria Math"/>
                      </a:rPr>
                      <m:t>𝒏</m:t>
                    </m:r>
                  </m:oMath>
                </a14:m>
                <a:r>
                  <a:rPr lang="zh-CN" altLang="en-US" sz="3200" dirty="0" smtClean="0"/>
                  <a:t>次测量的平均值</a:t>
                </a:r>
                <a:endParaRPr lang="en-US" altLang="zh-CN" sz="32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3200" b="1" i="1" smtClean="0">
                              <a:latin typeface="Cambria Math"/>
                            </a:rPr>
                            <m:t>𝑿</m:t>
                          </m:r>
                        </m:e>
                      </m:acc>
                      <m:r>
                        <a:rPr lang="en-US" altLang="zh-CN" sz="3200" b="1" i="1" dirty="0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200" b="1" i="1" dirty="0" smtClean="0"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3200" b="1" i="1" dirty="0" smtClean="0">
                              <a:latin typeface="Cambria Math"/>
                            </a:rPr>
                            <m:t>𝒏</m:t>
                          </m:r>
                        </m:den>
                      </m:f>
                      <m:d>
                        <m:dPr>
                          <m:ctrlPr>
                            <a:rPr lang="en-US" altLang="zh-CN" sz="32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32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dirty="0" smtClean="0">
                                  <a:latin typeface="Cambria Math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sz="3200" b="1" i="1" dirty="0" smtClean="0"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3200" b="1" i="1" dirty="0" smtClean="0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32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dirty="0" smtClean="0">
                                  <a:latin typeface="Cambria Math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sz="3200" b="1" i="1" dirty="0" smtClean="0"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sz="3200" b="1" i="1" dirty="0" smtClean="0">
                              <a:latin typeface="Cambria Math"/>
                            </a:rPr>
                            <m:t>+⋯+</m:t>
                          </m:r>
                          <m:sSub>
                            <m:sSubPr>
                              <m:ctrlPr>
                                <a:rPr lang="en-US" altLang="zh-CN" sz="32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 dirty="0" smtClean="0">
                                  <a:latin typeface="Cambria Math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sz="3200" b="1" i="1" dirty="0" smtClean="0">
                                  <a:latin typeface="Cambria Math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3200" dirty="0" smtClean="0"/>
              </a:p>
              <a:p>
                <a:pPr marL="320040" lvl="1" indent="0">
                  <a:buNone/>
                </a:pPr>
                <a:r>
                  <a:rPr lang="zh-CN" altLang="en-US" sz="3200" dirty="0" smtClean="0"/>
                  <a:t>应该和真值</a:t>
                </a:r>
                <a14:m>
                  <m:oMath xmlns:m="http://schemas.openxmlformats.org/officeDocument/2006/math">
                    <m:r>
                      <a:rPr lang="en-US" altLang="zh-CN" sz="3200" b="1" i="1" smtClean="0">
                        <a:latin typeface="Cambria Math"/>
                      </a:rPr>
                      <m:t>𝒂</m:t>
                    </m:r>
                  </m:oMath>
                </a14:m>
                <a:r>
                  <a:rPr lang="zh-CN" altLang="en-US" sz="3200" dirty="0" smtClean="0"/>
                  <a:t>很接近。</a:t>
                </a:r>
                <a:endParaRPr lang="en-US" altLang="zh-CN" sz="3200" dirty="0" smtClean="0"/>
              </a:p>
              <a:p>
                <a:pPr marL="0" indent="0">
                  <a:buNone/>
                </a:pPr>
                <a:endParaRPr lang="en-US" altLang="zh-CN" sz="3200" dirty="0" smtClean="0"/>
              </a:p>
              <a:p>
                <a:r>
                  <a:rPr lang="zh-CN" altLang="en-US" sz="3200" dirty="0" smtClean="0"/>
                  <a:t>大量测量值的算术平均值具有稳定性，这就是大数定律的反映。</a:t>
                </a:r>
                <a:endParaRPr lang="en-US" altLang="zh-CN" sz="3200" dirty="0" smtClean="0"/>
              </a:p>
              <a:p>
                <a:pPr marL="0" indent="0">
                  <a:buNone/>
                </a:pPr>
                <a:endParaRPr lang="en-US" altLang="zh-CN" sz="32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598" t="-17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56289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依概率收敛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4853136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sz="3200" dirty="0" smtClean="0"/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latin typeface="Cambria Math"/>
                          </a:rPr>
                          <m:t>𝒀</m:t>
                        </m:r>
                      </m:e>
                      <m:sub>
                        <m:r>
                          <a:rPr lang="en-US" altLang="zh-CN" sz="3200" b="1" i="1" smtClean="0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altLang="zh-CN" sz="3200" b="1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latin typeface="Cambria Math"/>
                          </a:rPr>
                          <m:t>𝒀</m:t>
                        </m:r>
                      </m:e>
                      <m:sub>
                        <m:r>
                          <a:rPr lang="en-US" altLang="zh-CN" sz="3200" b="1" i="1" smtClean="0"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altLang="zh-CN" sz="3200" b="1" i="1" smtClean="0">
                        <a:latin typeface="Cambria Math"/>
                      </a:rPr>
                      <m:t>,…, </m:t>
                    </m:r>
                    <m:sSub>
                      <m:sSub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latin typeface="Cambria Math"/>
                          </a:rPr>
                          <m:t>𝒀</m:t>
                        </m:r>
                      </m:e>
                      <m:sub>
                        <m:r>
                          <a:rPr lang="en-US" altLang="zh-CN" sz="3200" b="1" i="1" smtClean="0">
                            <a:latin typeface="Cambria Math"/>
                          </a:rPr>
                          <m:t>𝒏</m:t>
                        </m:r>
                      </m:sub>
                    </m:sSub>
                    <m:r>
                      <a:rPr lang="en-US" altLang="zh-CN" sz="3200" b="1" i="1" smtClean="0">
                        <a:latin typeface="Cambria Math"/>
                      </a:rPr>
                      <m:t>,…</m:t>
                    </m:r>
                  </m:oMath>
                </a14:m>
                <a:r>
                  <a:rPr lang="zh-CN" altLang="en-US" sz="3200" dirty="0" smtClean="0"/>
                  <a:t>是随机变量序列，</a:t>
                </a:r>
                <a14:m>
                  <m:oMath xmlns:m="http://schemas.openxmlformats.org/officeDocument/2006/math">
                    <m:r>
                      <a:rPr lang="en-US" altLang="zh-CN" sz="3200" b="1" i="1" smtClean="0">
                        <a:latin typeface="Cambria Math"/>
                      </a:rPr>
                      <m:t>𝒂</m:t>
                    </m:r>
                  </m:oMath>
                </a14:m>
                <a:r>
                  <a:rPr lang="zh-CN" altLang="en-US" sz="3200" dirty="0" smtClean="0"/>
                  <a:t>是一个常数；若对任意</a:t>
                </a:r>
                <a14:m>
                  <m:oMath xmlns:m="http://schemas.openxmlformats.org/officeDocument/2006/math">
                    <m:r>
                      <a:rPr lang="en-US" altLang="zh-CN" sz="3200" b="1" i="1" smtClean="0">
                        <a:latin typeface="Cambria Math"/>
                      </a:rPr>
                      <m:t>𝝐</m:t>
                    </m:r>
                    <m:r>
                      <a:rPr lang="en-US" altLang="zh-CN" sz="3200" b="1" i="1" smtClean="0">
                        <a:latin typeface="Cambria Math"/>
                      </a:rPr>
                      <m:t>&gt;</m:t>
                    </m:r>
                    <m:r>
                      <a:rPr lang="en-US" altLang="zh-CN" sz="3200" b="1" i="1" smtClean="0">
                        <a:latin typeface="Cambria Math"/>
                      </a:rPr>
                      <m:t>𝟎</m:t>
                    </m:r>
                  </m:oMath>
                </a14:m>
                <a:r>
                  <a:rPr lang="zh-CN" altLang="en-US" sz="3200" dirty="0" smtClean="0"/>
                  <a:t>，有</a:t>
                </a:r>
                <a:endParaRPr lang="en-US" altLang="zh-CN" sz="32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/>
                            </a:rPr>
                            <m:t>lim</m:t>
                          </m:r>
                        </m:e>
                        <m:lim>
                          <m:r>
                            <a:rPr lang="en-US" altLang="zh-CN" b="1" i="1" smtClean="0">
                              <a:latin typeface="Cambria Math"/>
                            </a:rPr>
                            <m:t>𝒏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→∞</m:t>
                          </m:r>
                        </m:lim>
                      </m:limLow>
                      <m:r>
                        <a:rPr lang="en-US" altLang="zh-CN" b="1" i="1" smtClean="0">
                          <a:latin typeface="Cambria Math"/>
                        </a:rPr>
                        <m:t>𝑷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𝒀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𝒏</m:t>
                                  </m:r>
                                </m:sub>
                              </m:sSub>
                              <m:r>
                                <a:rPr lang="en-US" altLang="zh-CN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𝒂</m:t>
                              </m:r>
                            </m:e>
                          </m:d>
                          <m:r>
                            <a:rPr lang="en-US" altLang="zh-CN" b="1" i="1" smtClean="0">
                              <a:latin typeface="Cambria Math"/>
                            </a:rPr>
                            <m:t>&lt;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𝝐</m:t>
                          </m:r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r>
                        <a:rPr lang="en-US" altLang="zh-CN" b="1" i="1" smtClean="0"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或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altLang="zh-CN" b="0">
                              <a:latin typeface="Cambria Math"/>
                            </a:rPr>
                            <m:t>lim</m:t>
                          </m:r>
                        </m:e>
                        <m:lim>
                          <m:r>
                            <a:rPr lang="en-US" altLang="zh-CN" i="1">
                              <a:latin typeface="Cambria Math"/>
                            </a:rPr>
                            <m:t>𝒏</m:t>
                          </m:r>
                          <m:r>
                            <a:rPr lang="en-US" altLang="zh-CN" i="1">
                              <a:latin typeface="Cambria Math"/>
                            </a:rPr>
                            <m:t>→∞</m:t>
                          </m:r>
                        </m:lim>
                      </m:limLow>
                      <m:r>
                        <a:rPr lang="en-US" altLang="zh-CN" i="1">
                          <a:latin typeface="Cambria Math"/>
                        </a:rPr>
                        <m:t>𝑷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𝒀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𝒏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/>
                                </a:rPr>
                                <m:t>𝒂</m:t>
                              </m:r>
                            </m:e>
                          </m:d>
                          <m:r>
                            <a:rPr lang="en-US" altLang="zh-CN" b="1" i="1" smtClean="0">
                              <a:latin typeface="Cambria Math"/>
                            </a:rPr>
                            <m:t>≥</m:t>
                          </m:r>
                          <m:r>
                            <a:rPr lang="en-US" altLang="zh-CN" i="1">
                              <a:latin typeface="Cambria Math"/>
                            </a:rPr>
                            <m:t>𝝐</m:t>
                          </m:r>
                        </m:e>
                      </m:d>
                      <m:r>
                        <a:rPr lang="en-US" altLang="zh-CN" i="1">
                          <a:latin typeface="Cambria Math"/>
                        </a:rPr>
                        <m:t>=</m:t>
                      </m:r>
                      <m:r>
                        <a:rPr lang="en-US" altLang="zh-CN" b="1" i="1" smtClean="0">
                          <a:latin typeface="Cambria Math"/>
                        </a:rPr>
                        <m:t>𝟎</m:t>
                      </m:r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sz="3200" dirty="0"/>
                  <a:t>则称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/>
                          </a:rPr>
                          <m:t>𝒀</m:t>
                        </m:r>
                      </m:e>
                      <m:sub>
                        <m:r>
                          <a:rPr lang="en-US" altLang="zh-CN" sz="3200" i="1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altLang="zh-CN" sz="3200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/>
                          </a:rPr>
                          <m:t>𝒀</m:t>
                        </m:r>
                      </m:e>
                      <m:sub>
                        <m:r>
                          <a:rPr lang="en-US" altLang="zh-CN" sz="3200" i="1"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altLang="zh-CN" sz="3200" i="1">
                        <a:latin typeface="Cambria Math"/>
                      </a:rPr>
                      <m:t>,…, </m:t>
                    </m:r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/>
                          </a:rPr>
                          <m:t>𝒀</m:t>
                        </m:r>
                      </m:e>
                      <m:sub>
                        <m:r>
                          <a:rPr lang="en-US" altLang="zh-CN" sz="3200" i="1">
                            <a:latin typeface="Cambria Math"/>
                          </a:rPr>
                          <m:t>𝒏</m:t>
                        </m:r>
                      </m:sub>
                    </m:sSub>
                    <m:r>
                      <a:rPr lang="en-US" altLang="zh-CN" sz="3200" i="1">
                        <a:latin typeface="Cambria Math"/>
                      </a:rPr>
                      <m:t>,…</m:t>
                    </m:r>
                  </m:oMath>
                </a14:m>
                <a:r>
                  <a:rPr lang="zh-CN" altLang="en-US" sz="3200" dirty="0" smtClean="0"/>
                  <a:t>依概率收敛于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/>
                      </a:rPr>
                      <m:t>𝒂</m:t>
                    </m:r>
                  </m:oMath>
                </a14:m>
                <a:r>
                  <a:rPr lang="zh-CN" altLang="en-US" sz="3200" dirty="0" smtClean="0"/>
                  <a:t>，记为</a:t>
                </a:r>
                <a:endParaRPr lang="en-US" altLang="zh-CN" sz="32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𝒀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/>
                            </a:rPr>
                            <m:t>𝒏</m:t>
                          </m:r>
                        </m:sub>
                      </m:sSub>
                      <m:groupChr>
                        <m:groupChrPr>
                          <m:chr m:val="→"/>
                          <m:vertJc m:val="bot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altLang="zh-CN" b="1" i="1" smtClean="0">
                              <a:latin typeface="Cambria Math"/>
                            </a:rPr>
                            <m:t>𝑷</m:t>
                          </m:r>
                        </m:e>
                      </m:groupChr>
                      <m:r>
                        <a:rPr lang="en-US" altLang="zh-CN" b="1" i="1" smtClean="0">
                          <a:latin typeface="Cambria Math"/>
                        </a:rPr>
                        <m:t>𝒂</m:t>
                      </m:r>
                    </m:oMath>
                  </m:oMathPara>
                </a14:m>
                <a:endParaRPr lang="en-US" altLang="zh-CN" dirty="0" smtClean="0"/>
              </a:p>
              <a:p>
                <a:r>
                  <a:rPr lang="zh-CN" altLang="en-US" sz="3200" dirty="0" smtClean="0"/>
                  <a:t>注意区别于数列的收敛性</a:t>
                </a:r>
                <a:endParaRPr lang="zh-CN" altLang="en-US" sz="32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4853136"/>
              </a:xfrm>
              <a:blipFill>
                <a:blip r:embed="rId2"/>
                <a:stretch>
                  <a:fillRect l="-1945" t="-16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04735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连续映射定理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4997152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sz="3200" dirty="0" smtClean="0"/>
                  <a:t>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altLang="zh-CN" sz="3200" b="1" i="1" smtClean="0">
                            <a:latin typeface="Cambria Math"/>
                          </a:rPr>
                          <m:t>𝒏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3200" i="1">
                            <a:latin typeface="Cambria Math"/>
                          </a:rPr>
                          <m:t>𝑷</m:t>
                        </m:r>
                      </m:e>
                    </m:groupChr>
                    <m:r>
                      <a:rPr lang="en-US" altLang="zh-CN" sz="3200" i="1">
                        <a:latin typeface="Cambria Math"/>
                      </a:rPr>
                      <m:t>𝒂</m:t>
                    </m:r>
                  </m:oMath>
                </a14:m>
                <a:r>
                  <a:rPr lang="zh-CN" altLang="en-US" sz="3200" dirty="0" smtClean="0"/>
                  <a:t>，函数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/>
                      </a:rPr>
                      <m:t>𝒈</m:t>
                    </m:r>
                    <m:d>
                      <m:d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>
                            <a:latin typeface="Cambria Math"/>
                          </a:rPr>
                          <m:t>⋅</m:t>
                        </m:r>
                      </m:e>
                    </m:d>
                  </m:oMath>
                </a14:m>
                <a:r>
                  <a:rPr lang="zh-CN" altLang="en-US" sz="3200" dirty="0" smtClean="0"/>
                  <a:t>在点</a:t>
                </a:r>
                <a14:m>
                  <m:oMath xmlns:m="http://schemas.openxmlformats.org/officeDocument/2006/math">
                    <m:r>
                      <a:rPr lang="en-US" altLang="zh-CN" sz="3200" b="1" i="1" smtClean="0">
                        <a:latin typeface="Cambria Math"/>
                      </a:rPr>
                      <m:t>𝒂</m:t>
                    </m:r>
                  </m:oMath>
                </a14:m>
                <a:r>
                  <a:rPr lang="zh-CN" altLang="en-US" sz="3200" dirty="0" smtClean="0"/>
                  <a:t>处连续，则</a:t>
                </a:r>
                <a:endParaRPr lang="en-US" altLang="zh-CN" sz="32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smtClean="0">
                          <a:latin typeface="Cambria Math"/>
                        </a:rPr>
                        <m:t>𝒈</m:t>
                      </m:r>
                      <m:r>
                        <a:rPr lang="en-US" altLang="zh-CN" sz="3200" b="1" i="1" smtClean="0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1" i="1" smtClean="0">
                              <a:latin typeface="Cambria Math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3200" b="1" i="1" smtClean="0">
                              <a:latin typeface="Cambria Math"/>
                            </a:rPr>
                            <m:t>𝒏</m:t>
                          </m:r>
                        </m:sub>
                      </m:sSub>
                      <m:r>
                        <a:rPr lang="en-US" altLang="zh-CN" sz="3200" b="1" i="1" smtClean="0">
                          <a:latin typeface="Cambria Math"/>
                        </a:rPr>
                        <m:t>)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US" altLang="zh-CN" sz="32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altLang="zh-CN" sz="3200" i="1">
                              <a:latin typeface="Cambria Math"/>
                            </a:rPr>
                            <m:t>𝑷</m:t>
                          </m:r>
                        </m:e>
                      </m:groupChr>
                      <m:r>
                        <a:rPr lang="en-US" altLang="zh-CN" sz="3200" b="1" i="1" smtClean="0">
                          <a:latin typeface="Cambria Math"/>
                        </a:rPr>
                        <m:t>𝒈</m:t>
                      </m:r>
                      <m:r>
                        <a:rPr lang="en-US" altLang="zh-CN" sz="3200" b="1" i="1" smtClean="0">
                          <a:latin typeface="Cambria Math"/>
                        </a:rPr>
                        <m:t>(</m:t>
                      </m:r>
                      <m:r>
                        <a:rPr lang="en-US" altLang="zh-CN" sz="3200" i="1">
                          <a:latin typeface="Cambria Math"/>
                        </a:rPr>
                        <m:t>𝒂</m:t>
                      </m:r>
                      <m:r>
                        <a:rPr lang="en-US" altLang="zh-CN" sz="3200" b="1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altLang="zh-CN" sz="3200" dirty="0"/>
              </a:p>
              <a:p>
                <a:endParaRPr lang="en-US" altLang="zh-CN" sz="2800" dirty="0" smtClean="0"/>
              </a:p>
              <a:p>
                <a:r>
                  <a:rPr lang="zh-CN" altLang="en-US" sz="3200" dirty="0"/>
                  <a:t>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altLang="zh-CN" sz="3200" i="1">
                            <a:latin typeface="Cambria Math"/>
                          </a:rPr>
                          <m:t>𝒏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3200" i="1">
                            <a:latin typeface="Cambria Math"/>
                          </a:rPr>
                          <m:t>𝑷</m:t>
                        </m:r>
                      </m:e>
                    </m:groupChr>
                    <m:r>
                      <a:rPr lang="en-US" altLang="zh-CN" sz="3200" i="1">
                        <a:latin typeface="Cambria Math"/>
                      </a:rPr>
                      <m:t>𝒂</m:t>
                    </m:r>
                  </m:oMath>
                </a14:m>
                <a:r>
                  <a:rPr lang="zh-CN" altLang="en-US" sz="3200" dirty="0" smtClean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latin typeface="Cambria Math"/>
                          </a:rPr>
                          <m:t>𝒀</m:t>
                        </m:r>
                      </m:e>
                      <m:sub>
                        <m:r>
                          <a:rPr lang="en-US" altLang="zh-CN" sz="3200" i="1">
                            <a:latin typeface="Cambria Math"/>
                          </a:rPr>
                          <m:t>𝒏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3200" i="1">
                            <a:latin typeface="Cambria Math"/>
                          </a:rPr>
                          <m:t>𝑷</m:t>
                        </m:r>
                      </m:e>
                    </m:groupChr>
                    <m:r>
                      <a:rPr lang="en-US" altLang="zh-CN" sz="3200" b="1" i="1" smtClean="0">
                        <a:latin typeface="Cambria Math"/>
                      </a:rPr>
                      <m:t>𝒃</m:t>
                    </m:r>
                  </m:oMath>
                </a14:m>
                <a:r>
                  <a:rPr lang="zh-CN" altLang="en-US" sz="3200" dirty="0" smtClean="0"/>
                  <a:t>，</a:t>
                </a:r>
                <a:r>
                  <a:rPr lang="zh-CN" altLang="en-US" sz="3200" dirty="0"/>
                  <a:t>函数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/>
                      </a:rPr>
                      <m:t>𝒈</m:t>
                    </m:r>
                    <m:d>
                      <m:d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i="1">
                            <a:latin typeface="Cambria Math"/>
                          </a:rPr>
                          <m:t>⋅</m:t>
                        </m:r>
                        <m:r>
                          <a:rPr lang="en-US" altLang="zh-CN" sz="3200" b="1" i="1" smtClean="0">
                            <a:latin typeface="Cambria Math"/>
                          </a:rPr>
                          <m:t>,⋅</m:t>
                        </m:r>
                      </m:e>
                    </m:d>
                  </m:oMath>
                </a14:m>
                <a:r>
                  <a:rPr lang="zh-CN" altLang="en-US" sz="3200" dirty="0"/>
                  <a:t>在点</a:t>
                </a:r>
                <a14:m>
                  <m:oMath xmlns:m="http://schemas.openxmlformats.org/officeDocument/2006/math">
                    <m:r>
                      <a:rPr lang="en-US" altLang="zh-CN" sz="3200" b="1" i="0" smtClean="0">
                        <a:latin typeface="Cambria Math"/>
                      </a:rPr>
                      <m:t>(</m:t>
                    </m:r>
                    <m:r>
                      <a:rPr lang="en-US" altLang="zh-CN" sz="3200" i="1">
                        <a:latin typeface="Cambria Math"/>
                      </a:rPr>
                      <m:t>𝒂</m:t>
                    </m:r>
                    <m:r>
                      <a:rPr lang="en-US" altLang="zh-CN" sz="3200" b="1" i="1" smtClean="0">
                        <a:latin typeface="Cambria Math"/>
                      </a:rPr>
                      <m:t>,</m:t>
                    </m:r>
                    <m:r>
                      <a:rPr lang="en-US" altLang="zh-CN" sz="3200" b="1" i="1" smtClean="0">
                        <a:latin typeface="Cambria Math"/>
                      </a:rPr>
                      <m:t>𝒃</m:t>
                    </m:r>
                    <m:r>
                      <a:rPr lang="en-US" altLang="zh-CN" sz="3200" b="1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sz="3200" dirty="0"/>
                  <a:t>处</a:t>
                </a:r>
                <a:r>
                  <a:rPr lang="zh-CN" altLang="en-US" sz="3200" dirty="0" smtClean="0"/>
                  <a:t>连续，则</a:t>
                </a:r>
                <a:endParaRPr lang="en-US" altLang="zh-CN" sz="32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smtClean="0">
                          <a:latin typeface="Cambria Math"/>
                        </a:rPr>
                        <m:t>𝒈</m:t>
                      </m:r>
                      <m:r>
                        <a:rPr lang="en-US" altLang="zh-CN" sz="3200" b="1" i="1" smtClean="0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1" i="1" smtClean="0">
                              <a:latin typeface="Cambria Math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3200" b="1" i="1" smtClean="0">
                              <a:latin typeface="Cambria Math"/>
                            </a:rPr>
                            <m:t>𝒏</m:t>
                          </m:r>
                        </m:sub>
                      </m:sSub>
                      <m:r>
                        <a:rPr lang="en-US" altLang="zh-CN" sz="3200" b="1" i="1" smtClean="0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1" i="1" smtClean="0">
                              <a:latin typeface="Cambria Math"/>
                            </a:rPr>
                            <m:t>𝒀</m:t>
                          </m:r>
                        </m:e>
                        <m:sub>
                          <m:r>
                            <a:rPr lang="en-US" altLang="zh-CN" sz="3200" b="1" i="1" smtClean="0">
                              <a:latin typeface="Cambria Math"/>
                            </a:rPr>
                            <m:t>𝒏</m:t>
                          </m:r>
                        </m:sub>
                      </m:sSub>
                      <m:r>
                        <a:rPr lang="en-US" altLang="zh-CN" sz="3200" b="1" i="1" smtClean="0">
                          <a:latin typeface="Cambria Math"/>
                        </a:rPr>
                        <m:t>)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US" altLang="zh-CN" sz="32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altLang="zh-CN" sz="3200" i="1">
                              <a:latin typeface="Cambria Math"/>
                            </a:rPr>
                            <m:t>𝑷</m:t>
                          </m:r>
                        </m:e>
                      </m:groupChr>
                      <m:r>
                        <a:rPr lang="en-US" altLang="zh-CN" sz="3200" i="1">
                          <a:latin typeface="Cambria Math"/>
                        </a:rPr>
                        <m:t>𝒈</m:t>
                      </m:r>
                      <m:r>
                        <a:rPr lang="en-US" altLang="zh-CN" sz="3200" i="1">
                          <a:latin typeface="Cambria Math"/>
                        </a:rPr>
                        <m:t>(</m:t>
                      </m:r>
                      <m:r>
                        <a:rPr lang="en-US" altLang="zh-CN" sz="3200" i="1">
                          <a:latin typeface="Cambria Math"/>
                        </a:rPr>
                        <m:t>𝒂</m:t>
                      </m:r>
                      <m:r>
                        <a:rPr lang="en-US" altLang="zh-CN" sz="3200" b="1" i="1" smtClean="0">
                          <a:latin typeface="Cambria Math"/>
                        </a:rPr>
                        <m:t>,</m:t>
                      </m:r>
                      <m:r>
                        <a:rPr lang="en-US" altLang="zh-CN" sz="3200" b="1" i="1" smtClean="0">
                          <a:latin typeface="Cambria Math"/>
                        </a:rPr>
                        <m:t>𝒃</m:t>
                      </m:r>
                      <m:r>
                        <a:rPr lang="en-US" altLang="zh-CN" sz="3200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altLang="zh-CN" sz="3200" dirty="0" smtClean="0"/>
              </a:p>
              <a:p>
                <a:pPr lvl="1"/>
                <a:r>
                  <a:rPr lang="zh-CN" altLang="en-US" sz="2800" dirty="0" smtClean="0"/>
                  <a:t>例：</a:t>
                </a:r>
                <a:r>
                  <a:rPr lang="en-US" altLang="zh-CN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altLang="zh-CN" sz="2800" i="1">
                            <a:latin typeface="Cambria Math"/>
                          </a:rPr>
                          <m:t>𝒏</m:t>
                        </m:r>
                      </m:sub>
                    </m:sSub>
                    <m:r>
                      <a:rPr lang="en-US" altLang="zh-CN" sz="2800" b="1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/>
                          </a:rPr>
                          <m:t>𝒀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/>
                          </a:rPr>
                          <m:t>𝒏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2800" i="1">
                            <a:latin typeface="Cambria Math"/>
                          </a:rPr>
                          <m:t>𝑷</m:t>
                        </m:r>
                      </m:e>
                    </m:groupChr>
                    <m:r>
                      <a:rPr lang="en-US" altLang="zh-CN" sz="2800" i="1">
                        <a:latin typeface="Cambria Math"/>
                      </a:rPr>
                      <m:t>𝒂</m:t>
                    </m:r>
                    <m:r>
                      <a:rPr lang="en-US" altLang="zh-CN" sz="2800" b="1" i="1" smtClean="0">
                        <a:latin typeface="Cambria Math"/>
                      </a:rPr>
                      <m:t>+</m:t>
                    </m:r>
                    <m:r>
                      <a:rPr lang="en-US" altLang="zh-CN" sz="2800" b="1" i="1" smtClean="0">
                        <a:latin typeface="Cambria Math"/>
                      </a:rPr>
                      <m:t>𝒃</m:t>
                    </m:r>
                  </m:oMath>
                </a14:m>
                <a:r>
                  <a:rPr lang="en-US" altLang="zh-CN" sz="2800" dirty="0" smtClean="0"/>
                  <a:t>,</a:t>
                </a:r>
                <a:r>
                  <a:rPr lang="en-US" altLang="zh-CN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altLang="zh-CN" sz="2800" i="1">
                            <a:latin typeface="Cambria Math"/>
                          </a:rPr>
                          <m:t>𝒏</m:t>
                        </m:r>
                      </m:sub>
                    </m:sSub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/>
                          </a:rPr>
                          <m:t>𝒀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/>
                          </a:rPr>
                          <m:t>𝒏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2800" i="1">
                            <a:latin typeface="Cambria Math"/>
                          </a:rPr>
                          <m:t>𝑷</m:t>
                        </m:r>
                      </m:e>
                    </m:groupChr>
                    <m:r>
                      <a:rPr lang="en-US" altLang="zh-CN" sz="2800" i="1">
                        <a:latin typeface="Cambria Math"/>
                      </a:rPr>
                      <m:t>𝒂</m:t>
                    </m:r>
                    <m:r>
                      <a:rPr lang="en-US" altLang="zh-CN" sz="2800" b="1" i="1" smtClean="0">
                        <a:latin typeface="Cambria Math"/>
                      </a:rPr>
                      <m:t>𝒃</m:t>
                    </m:r>
                  </m:oMath>
                </a14:m>
                <a:endParaRPr lang="en-US" altLang="zh-CN" sz="2800" dirty="0"/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4997152"/>
              </a:xfrm>
              <a:blipFill>
                <a:blip r:embed="rId2"/>
                <a:stretch>
                  <a:fillRect l="-598" r="-11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21241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大数定律：</a:t>
            </a:r>
            <a:r>
              <a:rPr lang="zh-CN" altLang="en-US" dirty="0" smtClean="0"/>
              <a:t>定义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7</a:t>
            </a:fld>
            <a:endParaRPr lang="zh-CN" altLang="en-US" dirty="0"/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1556792"/>
            <a:ext cx="6206171" cy="3855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26"/>
          <p:cNvSpPr txBox="1">
            <a:spLocks noChangeArrowheads="1"/>
          </p:cNvSpPr>
          <p:nvPr/>
        </p:nvSpPr>
        <p:spPr bwMode="auto">
          <a:xfrm>
            <a:off x="827584" y="5709507"/>
            <a:ext cx="7704856" cy="461665"/>
          </a:xfrm>
          <a:prstGeom prst="rect">
            <a:avLst/>
          </a:prstGeom>
          <a:noFill/>
          <a:ln w="12700">
            <a:solidFill>
              <a:srgbClr val="FF00FF"/>
            </a:solidFill>
            <a:miter lim="800000"/>
            <a:headEnd/>
            <a:tailEnd/>
          </a:ln>
          <a:effectLst>
            <a:prstShdw prst="shdw17" dist="17961" dir="2700000">
              <a:srgbClr val="9900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/>
              <a:t>随机变量的平均值依概率趋向于它们数学期望的平均值</a:t>
            </a:r>
            <a:r>
              <a:rPr lang="en-US" altLang="zh-CN" sz="24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86868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9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马尔可夫大数定律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8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539552" y="1556792"/>
                <a:ext cx="8064896" cy="1576457"/>
              </a:xfrm>
              <a:prstGeom prst="rect">
                <a:avLst/>
              </a:prstGeom>
              <a:noFill/>
              <a:ln w="19050">
                <a:solidFill>
                  <a:srgbClr val="7030A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zh-CN" altLang="en-US" sz="2800" b="1" dirty="0" smtClean="0">
                    <a:solidFill>
                      <a:srgbClr val="7030A0"/>
                    </a:solidFill>
                  </a:rPr>
                  <a:t>定理：</a:t>
                </a:r>
                <a:endParaRPr lang="en-US" altLang="zh-CN" sz="2800" b="1" dirty="0" smtClean="0">
                  <a:solidFill>
                    <a:srgbClr val="7030A0"/>
                  </a:solidFill>
                </a:endParaRPr>
              </a:p>
              <a:p>
                <a:r>
                  <a:rPr lang="zh-CN" altLang="en-US" sz="2800" b="1" dirty="0" smtClean="0">
                    <a:solidFill>
                      <a:srgbClr val="FF0000"/>
                    </a:solidFill>
                  </a:rPr>
                  <a:t>设随机序列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{</m:t>
                    </m:r>
                    <m:sSub>
                      <m:sSubPr>
                        <m:ctrlP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𝒏</m:t>
                        </m:r>
                      </m:sub>
                    </m:sSub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}</m:t>
                    </m:r>
                  </m:oMath>
                </a14:m>
                <a:r>
                  <a:rPr lang="zh-CN" altLang="en-US" sz="2800" b="1" dirty="0" smtClean="0">
                    <a:solidFill>
                      <a:srgbClr val="FF0000"/>
                    </a:solidFill>
                  </a:rPr>
                  <a:t>满足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𝟏</m:t>
                        </m:r>
                      </m:num>
                      <m:den>
                        <m:sSup>
                          <m:sSupPr>
                            <m:ctrlPr>
                              <a:rPr lang="en-US" altLang="zh-CN" sz="28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1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𝒏</m:t>
                            </m:r>
                          </m:e>
                          <m:sup>
                            <m:r>
                              <a:rPr lang="en-US" altLang="zh-CN" sz="2800" b="1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altLang="zh-CN" sz="2800" b="1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𝑫</m:t>
                    </m:r>
                    <m:d>
                      <m:dPr>
                        <m:ctrlPr>
                          <a:rPr lang="en-US" altLang="zh-CN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limLoc m:val="subSup"/>
                            <m:ctrlPr>
                              <a:rPr lang="en-US" altLang="zh-CN" sz="28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altLang="zh-CN" sz="2800" b="1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𝒌</m:t>
                            </m:r>
                            <m:r>
                              <a:rPr lang="en-US" altLang="zh-CN" sz="2800" b="1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=</m:t>
                            </m:r>
                            <m:r>
                              <a:rPr lang="en-US" altLang="zh-CN" sz="2800" b="1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  <m:sup>
                            <m:r>
                              <a:rPr lang="en-US" altLang="zh-CN" sz="2800" b="1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𝒏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sz="2800" b="1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 dirty="0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lang="en-US" altLang="zh-CN" sz="2800" b="1" i="1" dirty="0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𝒌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en-US" altLang="zh-CN" sz="2800" b="1" i="1" dirty="0" smtClean="0">
                        <a:solidFill>
                          <a:srgbClr val="FF0000"/>
                        </a:solidFill>
                        <a:latin typeface="Cambria Math"/>
                      </a:rPr>
                      <m:t>→</m:t>
                    </m:r>
                    <m:r>
                      <a:rPr lang="en-US" altLang="zh-CN" sz="2800" b="1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𝟎</m:t>
                    </m:r>
                    <m:r>
                      <a:rPr lang="en-US" altLang="zh-CN" sz="2800" b="1" i="1" dirty="0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d>
                      <m:dPr>
                        <m:ctrlPr>
                          <a:rPr lang="en-US" altLang="zh-CN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𝒏</m:t>
                        </m:r>
                        <m:r>
                          <a:rPr lang="en-US" altLang="zh-CN" sz="28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→∞</m:t>
                        </m:r>
                      </m:e>
                    </m:d>
                  </m:oMath>
                </a14:m>
                <a:r>
                  <a:rPr lang="zh-CN" altLang="en-US" sz="2800" b="1" dirty="0" smtClean="0">
                    <a:solidFill>
                      <a:srgbClr val="FF0000"/>
                    </a:solidFill>
                  </a:rPr>
                  <a:t>，</a:t>
                </a:r>
                <a:endParaRPr lang="en-US" altLang="zh-CN" sz="2800" b="1" dirty="0" smtClean="0">
                  <a:solidFill>
                    <a:srgbClr val="FF0000"/>
                  </a:solidFill>
                </a:endParaRPr>
              </a:p>
              <a:p>
                <a:r>
                  <a:rPr lang="zh-CN" altLang="en-US" sz="2800" b="1" dirty="0" smtClean="0">
                    <a:solidFill>
                      <a:srgbClr val="FF0000"/>
                    </a:solidFill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solidFill>
                          <a:srgbClr val="FF0000"/>
                        </a:solidFill>
                        <a:latin typeface="Cambria Math"/>
                      </a:rPr>
                      <m:t>{</m:t>
                    </m:r>
                    <m:sSub>
                      <m:sSubPr>
                        <m:ctrlPr>
                          <a:rPr lang="en-US" altLang="zh-C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altLang="zh-CN" sz="28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𝒏</m:t>
                        </m:r>
                      </m:sub>
                    </m:sSub>
                    <m:r>
                      <a:rPr lang="en-US" altLang="zh-CN" sz="2800" b="1" i="1">
                        <a:solidFill>
                          <a:srgbClr val="FF0000"/>
                        </a:solidFill>
                        <a:latin typeface="Cambria Math"/>
                      </a:rPr>
                      <m:t>}</m:t>
                    </m:r>
                  </m:oMath>
                </a14:m>
                <a:r>
                  <a:rPr lang="zh-CN" altLang="en-US" sz="2800" b="1" dirty="0" smtClean="0">
                    <a:solidFill>
                      <a:srgbClr val="FF0000"/>
                    </a:solidFill>
                  </a:rPr>
                  <a:t>服从大数定律</a:t>
                </a:r>
                <a:r>
                  <a:rPr lang="en-US" altLang="zh-CN" sz="2800" b="1" dirty="0" smtClean="0">
                    <a:solidFill>
                      <a:srgbClr val="FF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1556792"/>
                <a:ext cx="8064896" cy="1576457"/>
              </a:xfrm>
              <a:prstGeom prst="rect">
                <a:avLst/>
              </a:prstGeom>
              <a:blipFill rotWithShape="1">
                <a:blip r:embed="rId2"/>
                <a:stretch>
                  <a:fillRect l="-1509" t="-3053" r="-1283" b="-9160"/>
                </a:stretch>
              </a:blipFill>
              <a:ln w="190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3760" y="3284984"/>
            <a:ext cx="5916480" cy="3077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6660232" y="3470841"/>
            <a:ext cx="2232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/>
              <a:t>切比雪夫不等式</a:t>
            </a:r>
            <a:endParaRPr lang="zh-CN" altLang="en-US" sz="2000" b="1" dirty="0"/>
          </a:p>
        </p:txBody>
      </p:sp>
      <p:cxnSp>
        <p:nvCxnSpPr>
          <p:cNvPr id="8" name="直接箭头连接符 7"/>
          <p:cNvCxnSpPr/>
          <p:nvPr/>
        </p:nvCxnSpPr>
        <p:spPr>
          <a:xfrm flipH="1">
            <a:off x="7092280" y="3870951"/>
            <a:ext cx="437960" cy="2781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3104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7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切比雪夫大数定律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9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395536" y="1556792"/>
                <a:ext cx="8496944" cy="1815882"/>
              </a:xfrm>
              <a:prstGeom prst="rect">
                <a:avLst/>
              </a:prstGeom>
              <a:noFill/>
              <a:ln w="19050">
                <a:solidFill>
                  <a:srgbClr val="7030A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zh-CN" altLang="en-US" sz="2800" b="1" dirty="0" smtClean="0">
                    <a:solidFill>
                      <a:srgbClr val="7030A0"/>
                    </a:solidFill>
                  </a:rPr>
                  <a:t>定理：</a:t>
                </a:r>
                <a:endParaRPr lang="en-US" altLang="zh-CN" sz="2800" b="1" dirty="0" smtClean="0">
                  <a:solidFill>
                    <a:srgbClr val="7030A0"/>
                  </a:solidFill>
                </a:endParaRPr>
              </a:p>
              <a:p>
                <a:r>
                  <a:rPr lang="zh-CN" altLang="en-US" sz="2800" b="1" dirty="0" smtClean="0">
                    <a:solidFill>
                      <a:srgbClr val="FF0000"/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{</m:t>
                    </m:r>
                    <m:sSub>
                      <m:sSubPr>
                        <m:ctrlP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𝒏</m:t>
                        </m:r>
                      </m:sub>
                    </m:sSub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}</m:t>
                    </m:r>
                  </m:oMath>
                </a14:m>
                <a:r>
                  <a:rPr lang="zh-CN" altLang="en-US" sz="2800" b="1" dirty="0" smtClean="0">
                    <a:solidFill>
                      <a:srgbClr val="FF0000"/>
                    </a:solidFill>
                  </a:rPr>
                  <a:t>为两两互不相关的随机变量序列，且存在常数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𝑪</m:t>
                    </m:r>
                  </m:oMath>
                </a14:m>
                <a:r>
                  <a:rPr lang="en-US" altLang="zh-CN" sz="2800" b="1" dirty="0" smtClean="0">
                    <a:solidFill>
                      <a:srgbClr val="FF0000"/>
                    </a:solidFill>
                  </a:rPr>
                  <a:t>,</a:t>
                </a:r>
                <a:r>
                  <a:rPr lang="zh-CN" altLang="en-US" sz="2800" b="1" dirty="0" smtClean="0">
                    <a:solidFill>
                      <a:srgbClr val="FF0000"/>
                    </a:solidFill>
                  </a:rPr>
                  <a:t>使得对每个随机变量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en-US" altLang="zh-CN" sz="2800" b="1" dirty="0" smtClean="0">
                    <a:solidFill>
                      <a:srgbClr val="FF0000"/>
                    </a:solidFill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𝑫</m:t>
                    </m:r>
                    <m:r>
                      <a:rPr lang="en-US" altLang="zh-CN" sz="2800" b="1" i="1" dirty="0" smtClean="0">
                        <a:solidFill>
                          <a:srgbClr val="FF0000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altLang="zh-CN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altLang="zh-CN" sz="28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𝒌</m:t>
                        </m:r>
                      </m:sub>
                    </m:sSub>
                    <m:r>
                      <a:rPr lang="en-US" altLang="zh-CN" sz="2800" b="1" i="1" dirty="0" smtClean="0">
                        <a:solidFill>
                          <a:srgbClr val="FF0000"/>
                        </a:solidFill>
                        <a:latin typeface="Cambria Math"/>
                      </a:rPr>
                      <m:t>)≤</m:t>
                    </m:r>
                    <m:r>
                      <a:rPr lang="en-US" altLang="zh-CN" sz="2800" b="1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𝑪</m:t>
                    </m:r>
                  </m:oMath>
                </a14:m>
                <a:r>
                  <a:rPr lang="en-US" altLang="zh-CN" sz="2800" b="1" dirty="0" smtClean="0">
                    <a:solidFill>
                      <a:srgbClr val="FF0000"/>
                    </a:solidFill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𝒌</m:t>
                    </m:r>
                    <m:r>
                      <a:rPr lang="en-US" altLang="zh-CN" sz="2800" b="1" i="1" dirty="0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altLang="zh-CN" sz="2800" b="1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𝟏</m:t>
                    </m:r>
                    <m:r>
                      <a:rPr lang="en-US" altLang="zh-CN" sz="2800" b="1" i="1" dirty="0" smtClean="0">
                        <a:solidFill>
                          <a:srgbClr val="FF0000"/>
                        </a:solidFill>
                        <a:latin typeface="Cambria Math"/>
                      </a:rPr>
                      <m:t>,</m:t>
                    </m:r>
                    <m:r>
                      <a:rPr lang="en-US" altLang="zh-CN" sz="2800" b="1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𝟐</m:t>
                    </m:r>
                    <m:r>
                      <a:rPr lang="en-US" altLang="zh-CN" sz="2800" b="1" i="1" dirty="0" smtClean="0">
                        <a:solidFill>
                          <a:srgbClr val="FF0000"/>
                        </a:solidFill>
                        <a:latin typeface="Cambria Math"/>
                      </a:rPr>
                      <m:t>,…,</m:t>
                    </m:r>
                  </m:oMath>
                </a14:m>
                <a:endParaRPr lang="en-US" altLang="zh-CN" sz="2800" b="1" dirty="0" smtClean="0">
                  <a:solidFill>
                    <a:srgbClr val="FF0000"/>
                  </a:solidFill>
                </a:endParaRPr>
              </a:p>
              <a:p>
                <a:r>
                  <a:rPr lang="zh-CN" altLang="en-US" sz="2800" b="1" dirty="0" smtClean="0">
                    <a:solidFill>
                      <a:srgbClr val="FF0000"/>
                    </a:solidFill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solidFill>
                          <a:srgbClr val="FF0000"/>
                        </a:solidFill>
                        <a:latin typeface="Cambria Math"/>
                      </a:rPr>
                      <m:t>{</m:t>
                    </m:r>
                    <m:sSub>
                      <m:sSubPr>
                        <m:ctrlPr>
                          <a:rPr lang="en-US" altLang="zh-C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altLang="zh-CN" sz="28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𝒏</m:t>
                        </m:r>
                      </m:sub>
                    </m:sSub>
                    <m:r>
                      <a:rPr lang="en-US" altLang="zh-CN" sz="2800" b="1" i="1">
                        <a:solidFill>
                          <a:srgbClr val="FF0000"/>
                        </a:solidFill>
                        <a:latin typeface="Cambria Math"/>
                      </a:rPr>
                      <m:t>}</m:t>
                    </m:r>
                  </m:oMath>
                </a14:m>
                <a:r>
                  <a:rPr lang="zh-CN" altLang="en-US" sz="2800" b="1" dirty="0" smtClean="0">
                    <a:solidFill>
                      <a:srgbClr val="FF0000"/>
                    </a:solidFill>
                  </a:rPr>
                  <a:t>服从大数定律</a:t>
                </a:r>
                <a:r>
                  <a:rPr lang="en-US" altLang="zh-CN" sz="2800" b="1" dirty="0" smtClean="0">
                    <a:solidFill>
                      <a:srgbClr val="FF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556792"/>
                <a:ext cx="8496944" cy="1815882"/>
              </a:xfrm>
              <a:prstGeom prst="rect">
                <a:avLst/>
              </a:prstGeom>
              <a:blipFill rotWithShape="1">
                <a:blip r:embed="rId2"/>
                <a:stretch>
                  <a:fillRect l="-1432" t="-2658" b="-7973"/>
                </a:stretch>
              </a:blipFill>
              <a:ln w="190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3573016"/>
            <a:ext cx="7417320" cy="2880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82419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7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7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独立同分布大数定律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12648" y="4365104"/>
                <a:ext cx="8153400" cy="1730896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zh-CN" altLang="en-US" dirty="0" smtClean="0"/>
                  <a:t>注：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该定理是切比雪夫大数定律的特殊情形。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该定理条件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solidFill>
                          <a:srgbClr val="FF0000"/>
                        </a:solidFill>
                        <a:latin typeface="Cambria Math"/>
                      </a:rPr>
                      <m:t>𝑫</m:t>
                    </m:r>
                    <m:d>
                      <m:dPr>
                        <m:ctrlPr>
                          <a:rPr lang="en-US" altLang="zh-CN" sz="3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2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 dirty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sz="3200" i="1" dirty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𝒌</m:t>
                            </m:r>
                          </m:sub>
                        </m:sSub>
                      </m:e>
                    </m:d>
                    <m:r>
                      <a:rPr lang="en-US" altLang="zh-CN" sz="3200" i="1" dirty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altLang="zh-CN" sz="3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2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𝝈</m:t>
                        </m:r>
                      </m:e>
                      <m:sup>
                        <m:r>
                          <a:rPr lang="en-US" altLang="zh-CN" sz="32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zh-CN" altLang="en-US" dirty="0" smtClean="0"/>
                  <a:t>可以省去，即只需期望存在。（被称为辛钦大数定律）</a:t>
                </a:r>
                <a:endParaRPr lang="en-US" altLang="zh-CN" dirty="0" smtClean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12648" y="4365104"/>
                <a:ext cx="8153400" cy="1730896"/>
              </a:xfrm>
              <a:blipFill rotWithShape="0">
                <a:blip r:embed="rId2"/>
                <a:stretch>
                  <a:fillRect l="-1421" t="-7042" b="-45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10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395536" y="1556792"/>
                <a:ext cx="8496944" cy="2136034"/>
              </a:xfrm>
              <a:prstGeom prst="rect">
                <a:avLst/>
              </a:prstGeom>
              <a:noFill/>
              <a:ln w="19050">
                <a:solidFill>
                  <a:srgbClr val="7030A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zh-CN" altLang="en-US" sz="2800" b="1" dirty="0" smtClean="0">
                    <a:solidFill>
                      <a:srgbClr val="7030A0"/>
                    </a:solidFill>
                  </a:rPr>
                  <a:t>定理：</a:t>
                </a:r>
                <a:endParaRPr lang="en-US" altLang="zh-CN" sz="2800" b="1" dirty="0" smtClean="0">
                  <a:solidFill>
                    <a:srgbClr val="7030A0"/>
                  </a:solidFill>
                </a:endParaRPr>
              </a:p>
              <a:p>
                <a:r>
                  <a:rPr lang="zh-CN" altLang="en-US" sz="2800" b="1" dirty="0" smtClean="0">
                    <a:solidFill>
                      <a:srgbClr val="FF0000"/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{</m:t>
                    </m:r>
                    <m:sSub>
                      <m:sSubPr>
                        <m:ctrlP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𝒏</m:t>
                        </m:r>
                      </m:sub>
                    </m:sSub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}</m:t>
                    </m:r>
                  </m:oMath>
                </a14:m>
                <a:r>
                  <a:rPr lang="zh-CN" altLang="en-US" sz="2800" b="1" dirty="0" smtClean="0">
                    <a:solidFill>
                      <a:srgbClr val="FF0000"/>
                    </a:solidFill>
                  </a:rPr>
                  <a:t>为独立同分布的随机变量序列，其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𝑬</m:t>
                    </m:r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𝒌</m:t>
                        </m:r>
                      </m:sub>
                    </m:sSub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)=</m:t>
                    </m:r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𝝁</m:t>
                    </m:r>
                  </m:oMath>
                </a14:m>
                <a:r>
                  <a:rPr lang="en-US" altLang="zh-CN" sz="2800" b="1" dirty="0" smtClean="0">
                    <a:solidFill>
                      <a:srgbClr val="FF0000"/>
                    </a:solidFill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𝑫</m:t>
                    </m:r>
                    <m:d>
                      <m:dPr>
                        <m:ctrlPr>
                          <a:rPr lang="en-US" altLang="zh-CN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sz="2800" b="1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𝒌</m:t>
                            </m:r>
                          </m:sub>
                        </m:sSub>
                      </m:e>
                    </m:d>
                    <m:r>
                      <a:rPr lang="en-US" altLang="zh-CN" sz="2800" b="1" i="1" dirty="0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altLang="zh-CN" sz="28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𝝈</m:t>
                        </m:r>
                      </m:e>
                      <m:sup>
                        <m:r>
                          <a:rPr lang="en-US" altLang="zh-CN" sz="28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zh-CN" altLang="en-US" sz="2800" b="1" dirty="0" smtClean="0">
                    <a:solidFill>
                      <a:srgbClr val="FF0000"/>
                    </a:solidFill>
                  </a:rPr>
                  <a:t>均存在，则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solidFill>
                          <a:srgbClr val="FF0000"/>
                        </a:solidFill>
                        <a:latin typeface="Cambria Math"/>
                      </a:rPr>
                      <m:t>{</m:t>
                    </m:r>
                    <m:sSub>
                      <m:sSubPr>
                        <m:ctrlPr>
                          <a:rPr lang="en-US" altLang="zh-C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altLang="zh-CN" sz="28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𝒏</m:t>
                        </m:r>
                      </m:sub>
                    </m:sSub>
                    <m:r>
                      <a:rPr lang="en-US" altLang="zh-CN" sz="2800" b="1" i="1">
                        <a:solidFill>
                          <a:srgbClr val="FF0000"/>
                        </a:solidFill>
                        <a:latin typeface="Cambria Math"/>
                      </a:rPr>
                      <m:t>}</m:t>
                    </m:r>
                  </m:oMath>
                </a14:m>
                <a:r>
                  <a:rPr lang="zh-CN" altLang="en-US" sz="2800" b="1" dirty="0" smtClean="0">
                    <a:solidFill>
                      <a:srgbClr val="FF0000"/>
                    </a:solidFill>
                  </a:rPr>
                  <a:t>服从大数定律，亦即</a:t>
                </a:r>
                <a:endParaRPr lang="en-US" altLang="zh-CN" sz="2800" b="1" dirty="0" smtClean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𝒏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𝒌</m:t>
                          </m:r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=</m:t>
                          </m:r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sz="2400" b="1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𝒌</m:t>
                              </m:r>
                            </m:sub>
                          </m:sSub>
                        </m:e>
                      </m:nary>
                      <m:groupChr>
                        <m:groupChrPr>
                          <m:chr m:val="→"/>
                          <m:vertJc m:val="bot"/>
                          <m:ctrlPr>
                            <a:rPr lang="en-US" altLang="zh-C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altLang="zh-CN" sz="28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𝑷</m:t>
                          </m:r>
                        </m:e>
                      </m:groupChr>
                      <m:r>
                        <a:rPr lang="en-US" altLang="zh-CN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𝝁</m:t>
                      </m:r>
                    </m:oMath>
                  </m:oMathPara>
                </a14:m>
                <a:endParaRPr lang="en-US" altLang="zh-CN" sz="2800" b="1" dirty="0" smtClean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556792"/>
                <a:ext cx="8496944" cy="2136034"/>
              </a:xfrm>
              <a:prstGeom prst="rect">
                <a:avLst/>
              </a:prstGeom>
              <a:blipFill rotWithShape="0">
                <a:blip r:embed="rId3"/>
                <a:stretch>
                  <a:fillRect l="-1432" t="-2260"/>
                </a:stretch>
              </a:blipFill>
              <a:ln w="190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4488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伯努</a:t>
            </a:r>
            <a:r>
              <a:rPr lang="zh-CN" altLang="en-US" dirty="0" smtClean="0"/>
              <a:t>利大数定律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9296" y="3387177"/>
                <a:ext cx="8369424" cy="252028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zh-CN" altLang="en-US" sz="2400" dirty="0" smtClean="0"/>
                  <a:t>证：令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altLang="zh-CN" sz="2400" b="1" i="1" smtClean="0">
                            <a:latin typeface="Cambria Math"/>
                          </a:rPr>
                          <m:t>𝒌</m:t>
                        </m:r>
                      </m:sub>
                    </m:sSub>
                    <m:r>
                      <a:rPr lang="en-US" altLang="zh-CN" sz="2400" b="1" i="1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400" b="1" i="1" smtClean="0">
                                <a:latin typeface="Cambria Math"/>
                              </a:rPr>
                              <m:t>𝟏</m:t>
                            </m:r>
                            <m:r>
                              <a:rPr lang="en-US" altLang="zh-CN" sz="2400" b="1" i="1" smtClean="0">
                                <a:latin typeface="Cambria Math"/>
                              </a:rPr>
                              <m:t>,     </m:t>
                            </m:r>
                            <m:r>
                              <a:rPr lang="zh-CN" altLang="en-US" sz="2400" b="1" i="1" smtClean="0">
                                <a:latin typeface="Cambria Math"/>
                              </a:rPr>
                              <m:t>第</m:t>
                            </m:r>
                            <m:r>
                              <a:rPr lang="en-US" altLang="zh-CN" sz="2400" b="1" i="1" smtClean="0">
                                <a:latin typeface="Cambria Math"/>
                              </a:rPr>
                              <m:t>𝒌</m:t>
                            </m:r>
                            <m:r>
                              <a:rPr lang="zh-CN" altLang="en-US" sz="2400" b="1" i="1" smtClean="0">
                                <a:latin typeface="Cambria Math"/>
                              </a:rPr>
                              <m:t>次</m:t>
                            </m:r>
                            <m:r>
                              <a:rPr lang="zh-CN" altLang="en-US" sz="2400" i="1">
                                <a:latin typeface="Cambria Math"/>
                              </a:rPr>
                              <m:t>试验</m:t>
                            </m:r>
                            <m:r>
                              <a:rPr lang="zh-CN" altLang="en-US" sz="2400" b="1" i="1" smtClean="0">
                                <a:latin typeface="Cambria Math"/>
                              </a:rPr>
                              <m:t>中</m:t>
                            </m:r>
                            <m:r>
                              <a:rPr lang="en-US" altLang="zh-CN" sz="2400" b="1" i="1" smtClean="0">
                                <a:latin typeface="Cambria Math"/>
                              </a:rPr>
                              <m:t>𝑨</m:t>
                            </m:r>
                            <m:r>
                              <a:rPr lang="zh-CN" altLang="en-US" sz="2400" i="1">
                                <a:latin typeface="Cambria Math"/>
                              </a:rPr>
                              <m:t>发生</m:t>
                            </m:r>
                          </m:e>
                          <m:e>
                            <m:r>
                              <a:rPr lang="en-US" altLang="zh-CN" sz="2400" b="1" i="1" smtClean="0">
                                <a:latin typeface="Cambria Math"/>
                              </a:rPr>
                              <m:t>𝟎</m:t>
                            </m:r>
                            <m:r>
                              <a:rPr lang="en-US" altLang="zh-CN" sz="2400" b="1" i="1" smtClean="0">
                                <a:latin typeface="Cambria Math"/>
                              </a:rPr>
                              <m:t>, </m:t>
                            </m:r>
                            <m:r>
                              <a:rPr lang="zh-CN" altLang="en-US" sz="2400" i="1">
                                <a:latin typeface="Cambria Math"/>
                              </a:rPr>
                              <m:t>第</m:t>
                            </m:r>
                            <m:r>
                              <a:rPr lang="en-US" altLang="zh-CN" sz="2400" i="1">
                                <a:latin typeface="Cambria Math"/>
                              </a:rPr>
                              <m:t>𝒌</m:t>
                            </m:r>
                            <m:r>
                              <a:rPr lang="zh-CN" altLang="en-US" sz="2400" i="1">
                                <a:latin typeface="Cambria Math"/>
                              </a:rPr>
                              <m:t>次试验中</m:t>
                            </m:r>
                            <m:r>
                              <a:rPr lang="en-US" altLang="zh-CN" sz="2400" i="1">
                                <a:latin typeface="Cambria Math"/>
                              </a:rPr>
                              <m:t>𝑨</m:t>
                            </m:r>
                            <m:r>
                              <a:rPr lang="zh-CN" altLang="en-US" sz="2400" b="1" i="1" smtClean="0">
                                <a:latin typeface="Cambria Math"/>
                              </a:rPr>
                              <m:t>不</m:t>
                            </m:r>
                            <m:r>
                              <a:rPr lang="zh-CN" altLang="en-US" sz="2400" i="1">
                                <a:latin typeface="Cambria Math"/>
                              </a:rPr>
                              <m:t>发生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zh-CN" sz="2400" dirty="0" smtClean="0"/>
                  <a:t>,</a:t>
                </a:r>
              </a:p>
              <a:p>
                <a:pPr marL="0" indent="0">
                  <a:buNone/>
                </a:pPr>
                <a:r>
                  <a:rPr lang="zh-CN" altLang="en-US" sz="2400" dirty="0" smtClean="0"/>
                  <a:t>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dirty="0" smtClean="0"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altLang="zh-CN" sz="2400" b="1" i="1" dirty="0" smtClean="0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altLang="zh-CN" sz="2400" b="1" i="1" dirty="0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CN" sz="24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dirty="0" smtClean="0"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altLang="zh-CN" sz="2400" b="1" i="1" dirty="0" smtClean="0"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altLang="zh-CN" sz="2400" b="1" i="1" dirty="0" smtClean="0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altLang="zh-CN" sz="24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dirty="0" smtClean="0"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altLang="zh-CN" sz="2400" b="1" i="1" dirty="0" smtClean="0">
                            <a:latin typeface="Cambria Math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sz="2400" dirty="0" smtClean="0"/>
                  <a:t>独立同分布，且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latin typeface="Cambria Math"/>
                          </a:rPr>
                          <m:t>𝒏</m:t>
                        </m:r>
                      </m:e>
                      <m:sub>
                        <m:r>
                          <a:rPr lang="en-US" altLang="zh-CN" sz="2400" b="1" i="1" smtClean="0">
                            <a:latin typeface="Cambria Math"/>
                          </a:rPr>
                          <m:t>𝑨</m:t>
                        </m:r>
                      </m:sub>
                    </m:sSub>
                    <m:r>
                      <a:rPr lang="en-US" altLang="zh-CN" sz="2400" b="1" i="1" smtClean="0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b="1" i="1" smtClean="0">
                            <a:latin typeface="Cambria Math"/>
                          </a:rPr>
                          <m:t>𝒌</m:t>
                        </m:r>
                        <m:r>
                          <a:rPr lang="en-US" altLang="zh-CN" sz="2400" b="1" i="1" smtClean="0">
                            <a:latin typeface="Cambria Math"/>
                          </a:rPr>
                          <m:t>=</m:t>
                        </m:r>
                        <m:r>
                          <a:rPr lang="en-US" altLang="zh-CN" sz="2400" b="1" i="1" smtClean="0">
                            <a:latin typeface="Cambria Math"/>
                          </a:rPr>
                          <m:t>𝟏</m:t>
                        </m:r>
                      </m:sub>
                      <m:sup>
                        <m:r>
                          <a:rPr lang="en-US" altLang="zh-CN" sz="2400" b="1" i="1" smtClean="0">
                            <a:latin typeface="Cambria Math"/>
                          </a:rPr>
                          <m:t>𝒏</m:t>
                        </m:r>
                      </m:sup>
                      <m:e>
                        <m:sSub>
                          <m:sSubPr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smtClean="0">
                                <a:latin typeface="Cambria Math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latin typeface="Cambria Math"/>
                              </a:rPr>
                              <m:t>𝒌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zh-CN" sz="2400" dirty="0" smtClean="0"/>
                  <a:t>.</a:t>
                </a:r>
              </a:p>
              <a:p>
                <a:pPr marL="0" indent="0">
                  <a:buNone/>
                </a:pPr>
                <a:r>
                  <a:rPr lang="zh-CN" altLang="en-US" sz="2400" dirty="0" smtClean="0"/>
                  <a:t>由独立同分布大数定律知</a:t>
                </a:r>
                <a:endParaRPr lang="en-US" altLang="zh-CN" sz="24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1" i="1" smtClean="0"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400" b="1" i="1" smtClean="0">
                              <a:latin typeface="Cambria Math"/>
                            </a:rPr>
                            <m:t>𝒏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b="1" i="1" smtClean="0">
                              <a:latin typeface="Cambria Math"/>
                            </a:rPr>
                            <m:t>𝒌</m:t>
                          </m:r>
                          <m:r>
                            <a:rPr lang="en-US" altLang="zh-CN" sz="2400" b="1" i="1" smtClean="0">
                              <a:latin typeface="Cambria Math"/>
                            </a:rPr>
                            <m:t>=</m:t>
                          </m:r>
                          <m:r>
                            <a:rPr lang="en-US" altLang="zh-CN" sz="2400" b="1" i="1" smtClean="0"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400" b="1" i="1" smtClean="0">
                              <a:latin typeface="Cambria Math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 smtClean="0">
                                  <a:latin typeface="Cambria Math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sz="2400" b="1" i="1" smtClean="0">
                                  <a:latin typeface="Cambria Math"/>
                                </a:rPr>
                                <m:t>𝒌</m:t>
                              </m:r>
                            </m:sub>
                          </m:sSub>
                        </m:e>
                      </m:nary>
                      <m:r>
                        <a:rPr lang="en-US" altLang="zh-CN" sz="2400" b="1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 smtClean="0">
                                  <a:latin typeface="Cambria Math"/>
                                </a:rPr>
                                <m:t>𝒏</m:t>
                              </m:r>
                            </m:e>
                            <m:sub>
                              <m:r>
                                <a:rPr lang="en-US" altLang="zh-CN" sz="2400" b="1" i="1" smtClean="0">
                                  <a:latin typeface="Cambria Math"/>
                                </a:rPr>
                                <m:t>𝑨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400" b="1" i="1" smtClean="0">
                              <a:latin typeface="Cambria Math"/>
                            </a:rPr>
                            <m:t>𝒏</m:t>
                          </m:r>
                        </m:den>
                      </m:f>
                      <m:r>
                        <a:rPr lang="en-US" altLang="zh-CN" sz="2400" b="1" i="1" smtClean="0">
                          <a:latin typeface="Cambria Math"/>
                        </a:rPr>
                        <m:t>→</m:t>
                      </m:r>
                      <m:r>
                        <a:rPr lang="en-US" altLang="zh-CN" sz="2400" b="1" i="1" smtClean="0">
                          <a:latin typeface="Cambria Math"/>
                        </a:rPr>
                        <m:t>𝑬</m:t>
                      </m:r>
                      <m:d>
                        <m:d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 smtClean="0">
                                  <a:latin typeface="Cambria Math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sz="2400" b="1" i="1" smtClean="0">
                                  <a:latin typeface="Cambria Math"/>
                                </a:rPr>
                                <m:t>𝒌</m:t>
                              </m:r>
                            </m:sub>
                          </m:sSub>
                        </m:e>
                      </m:d>
                      <m:r>
                        <a:rPr lang="en-US" altLang="zh-CN" sz="2400" b="1" i="1" smtClean="0">
                          <a:latin typeface="Cambria Math"/>
                        </a:rPr>
                        <m:t>=</m:t>
                      </m:r>
                      <m:r>
                        <a:rPr lang="en-US" altLang="zh-CN" sz="2400" b="1" i="1" smtClean="0">
                          <a:latin typeface="Cambria Math"/>
                        </a:rPr>
                        <m:t>𝒑</m:t>
                      </m:r>
                    </m:oMath>
                  </m:oMathPara>
                </a14:m>
                <a:endParaRPr lang="en-US" altLang="zh-CN" sz="2400" dirty="0" smtClean="0"/>
              </a:p>
            </p:txBody>
          </p:sp>
        </mc:Choice>
        <mc:Fallback xmlns="">
          <p:sp>
            <p:nvSpPr>
              <p:cNvPr id="6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9296" y="3387177"/>
                <a:ext cx="8369424" cy="2520280"/>
              </a:xfrm>
              <a:blipFill>
                <a:blip r:embed="rId2"/>
                <a:stretch>
                  <a:fillRect l="-1092" b="-99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11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395536" y="1556792"/>
                <a:ext cx="8496944" cy="1624868"/>
              </a:xfrm>
              <a:prstGeom prst="rect">
                <a:avLst/>
              </a:prstGeom>
              <a:noFill/>
              <a:ln w="19050">
                <a:solidFill>
                  <a:srgbClr val="7030A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zh-CN" altLang="en-US" sz="2800" b="1" dirty="0" smtClean="0">
                    <a:solidFill>
                      <a:srgbClr val="7030A0"/>
                    </a:solidFill>
                  </a:rPr>
                  <a:t>定理：</a:t>
                </a:r>
                <a:r>
                  <a:rPr lang="zh-CN" altLang="en-US" sz="2800" b="1" dirty="0" smtClean="0">
                    <a:solidFill>
                      <a:srgbClr val="FF0000"/>
                    </a:solidFill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𝒏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𝑨</m:t>
                        </m:r>
                      </m:sub>
                    </m:sSub>
                  </m:oMath>
                </a14:m>
                <a:r>
                  <a:rPr lang="zh-CN" altLang="en-US" sz="2800" b="1" dirty="0" smtClean="0">
                    <a:solidFill>
                      <a:srgbClr val="FF0000"/>
                    </a:solidFill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zh-CN" altLang="en-US" sz="2800" b="1" dirty="0" smtClean="0">
                    <a:solidFill>
                      <a:srgbClr val="FF0000"/>
                    </a:solidFill>
                  </a:rPr>
                  <a:t>重伯努利试验中事件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𝑨</m:t>
                    </m:r>
                  </m:oMath>
                </a14:m>
                <a:r>
                  <a:rPr lang="zh-CN" altLang="en-US" sz="2800" b="1" dirty="0" smtClean="0">
                    <a:solidFill>
                      <a:srgbClr val="FF0000"/>
                    </a:solidFill>
                  </a:rPr>
                  <a:t>发生的次数，记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𝒑</m:t>
                    </m:r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𝑷</m:t>
                    </m:r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(</m:t>
                    </m:r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𝑨</m:t>
                    </m:r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sz="2800" b="1" dirty="0" smtClean="0">
                    <a:solidFill>
                      <a:srgbClr val="FF0000"/>
                    </a:solidFill>
                  </a:rPr>
                  <a:t>。则对任意的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𝝐</m:t>
                    </m:r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&gt;</m:t>
                    </m:r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𝟎</m:t>
                    </m:r>
                  </m:oMath>
                </a14:m>
                <a:r>
                  <a:rPr lang="zh-CN" altLang="en-US" sz="2800" b="1" dirty="0" smtClean="0">
                    <a:solidFill>
                      <a:srgbClr val="FF0000"/>
                    </a:solidFill>
                  </a:rPr>
                  <a:t>，有</a:t>
                </a:r>
                <a:endParaRPr lang="en-US" altLang="zh-CN" sz="2800" b="1" dirty="0" smtClean="0">
                  <a:solidFill>
                    <a:srgbClr val="FF0000"/>
                  </a:solidFill>
                </a:endParaRPr>
              </a:p>
              <a:p>
                <a:pPr algn="ctr"/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lim</m:t>
                        </m:r>
                      </m:e>
                      <m:lim>
                        <m: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𝒏</m:t>
                        </m:r>
                        <m: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→∞</m:t>
                        </m:r>
                      </m:lim>
                    </m:limLow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28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8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𝑨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altLang="zh-CN" sz="2800" b="1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𝒏</m:t>
                                </m:r>
                              </m:den>
                            </m:f>
                            <m:r>
                              <a:rPr lang="en-US" altLang="zh-CN" sz="28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−</m:t>
                            </m:r>
                            <m:r>
                              <a:rPr lang="en-US" altLang="zh-CN" sz="2800" b="1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𝒑</m:t>
                            </m:r>
                          </m:e>
                        </m:d>
                        <m: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≥</m:t>
                        </m:r>
                        <m: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𝝐</m:t>
                        </m:r>
                      </m:e>
                    </m:d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𝟎</m:t>
                    </m:r>
                  </m:oMath>
                </a14:m>
                <a:r>
                  <a:rPr lang="zh-CN" altLang="en-US" sz="2800" b="1" dirty="0" smtClean="0">
                    <a:solidFill>
                      <a:srgbClr val="FF0000"/>
                    </a:solidFill>
                  </a:rPr>
                  <a:t> 或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FF0000"/>
                            </a:solidFill>
                            <a:latin typeface="Cambria Math"/>
                          </a:rPr>
                          <m:t>lim</m:t>
                        </m:r>
                      </m:e>
                      <m:lim>
                        <m:r>
                          <a:rPr lang="en-US" altLang="zh-CN" sz="28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𝒏</m:t>
                        </m:r>
                        <m:r>
                          <a:rPr lang="en-US" altLang="zh-CN" sz="28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→∞</m:t>
                        </m:r>
                      </m:lim>
                    </m:limLow>
                    <m:r>
                      <a:rPr lang="en-US" altLang="zh-CN" sz="2800" b="1" i="1">
                        <a:solidFill>
                          <a:srgbClr val="FF0000"/>
                        </a:solidFill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8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zh-CN" sz="2800" b="1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zh-CN" sz="2800" b="1" i="1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𝑨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altLang="zh-CN" sz="2800" b="1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𝒏</m:t>
                                </m:r>
                              </m:den>
                            </m:f>
                            <m:r>
                              <a:rPr lang="en-US" altLang="zh-CN" sz="28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−</m:t>
                            </m:r>
                            <m:r>
                              <a:rPr lang="en-US" altLang="zh-CN" sz="28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𝒑</m:t>
                            </m:r>
                          </m:e>
                        </m:d>
                        <m: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&lt;</m:t>
                        </m:r>
                        <m:r>
                          <a:rPr lang="en-US" altLang="zh-CN" sz="28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𝝐</m:t>
                        </m:r>
                      </m:e>
                    </m:d>
                    <m:r>
                      <a:rPr lang="en-US" altLang="zh-CN" sz="2800" b="1" i="1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𝟏</m:t>
                    </m:r>
                  </m:oMath>
                </a14:m>
                <a:endParaRPr lang="en-US" altLang="zh-CN" sz="2800" b="1" dirty="0" smtClean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556792"/>
                <a:ext cx="8496944" cy="1624868"/>
              </a:xfrm>
              <a:prstGeom prst="rect">
                <a:avLst/>
              </a:prstGeom>
              <a:blipFill>
                <a:blip r:embed="rId3"/>
                <a:stretch>
                  <a:fillRect l="-1432" t="-3333" b="-1111"/>
                </a:stretch>
              </a:blipFill>
              <a:ln w="190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Box 26"/>
          <p:cNvSpPr txBox="1">
            <a:spLocks noChangeArrowheads="1"/>
          </p:cNvSpPr>
          <p:nvPr/>
        </p:nvSpPr>
        <p:spPr bwMode="auto">
          <a:xfrm>
            <a:off x="1043608" y="6237312"/>
            <a:ext cx="6527989" cy="461665"/>
          </a:xfrm>
          <a:prstGeom prst="rect">
            <a:avLst/>
          </a:prstGeom>
          <a:noFill/>
          <a:ln w="12700">
            <a:solidFill>
              <a:srgbClr val="FF00FF"/>
            </a:solidFill>
            <a:miter lim="800000"/>
            <a:headEnd/>
            <a:tailEnd/>
          </a:ln>
          <a:effectLst>
            <a:prstShdw prst="shdw17" dist="17961" dir="2700000">
              <a:srgbClr val="9900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latin typeface="Tahoma" panose="020B0604030504040204" pitchFamily="34" charset="0"/>
              </a:rPr>
              <a:t>该定理给出了频率的稳定性的严格的数学意义。</a:t>
            </a:r>
          </a:p>
        </p:txBody>
      </p:sp>
    </p:spTree>
    <p:extLst>
      <p:ext uri="{BB962C8B-B14F-4D97-AF65-F5344CB8AC3E}">
        <p14:creationId xmlns:p14="http://schemas.microsoft.com/office/powerpoint/2010/main" val="3085854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5" grpId="0" animBg="1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5069160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zh-CN" altLang="en-US" sz="3600" dirty="0" smtClean="0"/>
                  <a:t>设</a:t>
                </a:r>
                <a14:m>
                  <m:oMath xmlns:m="http://schemas.openxmlformats.org/officeDocument/2006/math">
                    <m:r>
                      <a:rPr lang="en-US" altLang="zh-CN" sz="3600" b="1" i="1" smtClean="0">
                        <a:latin typeface="Cambria Math"/>
                      </a:rPr>
                      <m:t>{</m:t>
                    </m:r>
                    <m:sSub>
                      <m:sSubPr>
                        <m:ctrlPr>
                          <a:rPr lang="en-US" altLang="zh-CN" sz="3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b="1" i="1" smtClean="0"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altLang="zh-CN" sz="3600" b="1" i="1" smtClean="0">
                            <a:latin typeface="Cambria Math"/>
                          </a:rPr>
                          <m:t>𝒌</m:t>
                        </m:r>
                      </m:sub>
                    </m:sSub>
                    <m:r>
                      <a:rPr lang="en-US" altLang="zh-CN" sz="3600" b="1" i="1" smtClean="0">
                        <a:latin typeface="Cambria Math"/>
                      </a:rPr>
                      <m:t>}</m:t>
                    </m:r>
                  </m:oMath>
                </a14:m>
                <a:r>
                  <a:rPr lang="zh-CN" altLang="en-US" sz="3600" dirty="0" smtClean="0"/>
                  <a:t>为相互独立的随机变量序列，且</a:t>
                </a:r>
                <a:endParaRPr lang="en-US" altLang="zh-CN" sz="36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1" i="1" smtClean="0">
                              <a:latin typeface="Cambria Math"/>
                            </a:rPr>
                            <m:t>𝑿</m:t>
                          </m:r>
                        </m:e>
                        <m:sub>
                          <m:r>
                            <a:rPr lang="en-US" altLang="zh-CN" sz="3600" b="1" i="1" smtClean="0">
                              <a:latin typeface="Cambria Math"/>
                            </a:rPr>
                            <m:t>𝒌</m:t>
                          </m:r>
                        </m:sub>
                      </m:sSub>
                      <m:r>
                        <a:rPr lang="en-US" altLang="zh-CN" sz="3600" b="1" i="1" smtClean="0">
                          <a:latin typeface="Cambria Math"/>
                        </a:rPr>
                        <m:t>∼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36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ad>
                                  <m:radPr>
                                    <m:ctrlPr>
                                      <a:rPr lang="en-US" altLang="zh-CN" sz="3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>
                                    <m:r>
                                      <m:rPr>
                                        <m:brk m:alnAt="7"/>
                                      </m:rPr>
                                      <a:rPr lang="en-US" altLang="zh-CN" sz="3600" b="1" i="1" smtClean="0">
                                        <a:latin typeface="Cambria Math"/>
                                      </a:rPr>
                                      <m:t>𝟑</m:t>
                                    </m:r>
                                  </m:deg>
                                  <m:e>
                                    <m:r>
                                      <a:rPr lang="en-US" altLang="zh-CN" sz="3600" b="1" i="1" smtClean="0">
                                        <a:latin typeface="Cambria Math"/>
                                      </a:rPr>
                                      <m:t>𝒌</m:t>
                                    </m:r>
                                  </m:e>
                                </m:rad>
                              </m:e>
                              <m:e>
                                <m:r>
                                  <a:rPr lang="en-US" altLang="zh-CN" sz="3600" b="1" i="1" smtClean="0">
                                    <a:latin typeface="Cambria Math"/>
                                  </a:rPr>
                                  <m:t>−</m:t>
                                </m:r>
                                <m:rad>
                                  <m:radPr>
                                    <m:ctrlPr>
                                      <a:rPr lang="en-US" altLang="zh-CN" sz="3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>
                                    <m:r>
                                      <m:rPr>
                                        <m:brk m:alnAt="7"/>
                                      </m:rPr>
                                      <a:rPr lang="en-US" altLang="zh-CN" sz="3600" b="1" i="1" smtClean="0">
                                        <a:latin typeface="Cambria Math"/>
                                      </a:rPr>
                                      <m:t>𝟑</m:t>
                                    </m:r>
                                  </m:deg>
                                  <m:e>
                                    <m:r>
                                      <a:rPr lang="en-US" altLang="zh-CN" sz="3600" b="1" i="1" smtClean="0">
                                        <a:latin typeface="Cambria Math"/>
                                      </a:rPr>
                                      <m:t>𝒌</m:t>
                                    </m:r>
                                  </m:e>
                                </m:rad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altLang="zh-CN" sz="3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3600" b="1" i="1" smtClean="0">
                                        <a:latin typeface="Cambria Math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altLang="zh-CN" sz="3600" b="1" i="1" smtClean="0">
                                        <a:latin typeface="Cambria Math"/>
                                      </a:rPr>
                                      <m:t>𝟐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altLang="zh-CN" sz="3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3600" b="1" i="1" smtClean="0">
                                        <a:latin typeface="Cambria Math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US" altLang="zh-CN" sz="3600" b="1" i="1" smtClean="0">
                                        <a:latin typeface="Cambria Math"/>
                                      </a:rPr>
                                      <m:t>𝟐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en-US" altLang="zh-CN" sz="3600" b="1" i="1" smtClean="0">
                          <a:latin typeface="Cambria Math"/>
                        </a:rPr>
                        <m:t>, </m:t>
                      </m:r>
                      <m:r>
                        <a:rPr lang="en-US" altLang="zh-CN" sz="3600" b="1" i="1" smtClean="0">
                          <a:latin typeface="Cambria Math"/>
                        </a:rPr>
                        <m:t>𝒌</m:t>
                      </m:r>
                      <m:r>
                        <a:rPr lang="en-US" altLang="zh-CN" sz="3600" b="1" i="1" smtClean="0">
                          <a:latin typeface="Cambria Math"/>
                        </a:rPr>
                        <m:t>=</m:t>
                      </m:r>
                      <m:r>
                        <a:rPr lang="en-US" altLang="zh-CN" sz="3600" b="1" i="1" smtClean="0">
                          <a:latin typeface="Cambria Math"/>
                        </a:rPr>
                        <m:t>𝟏</m:t>
                      </m:r>
                      <m:r>
                        <a:rPr lang="en-US" altLang="zh-CN" sz="3600" b="1" i="1" smtClean="0">
                          <a:latin typeface="Cambria Math"/>
                        </a:rPr>
                        <m:t>,</m:t>
                      </m:r>
                      <m:r>
                        <a:rPr lang="en-US" altLang="zh-CN" sz="3600" b="1" i="1" smtClean="0">
                          <a:latin typeface="Cambria Math"/>
                        </a:rPr>
                        <m:t>𝟐</m:t>
                      </m:r>
                      <m:r>
                        <a:rPr lang="en-US" altLang="zh-CN" sz="3600" b="1" i="1" smtClean="0">
                          <a:latin typeface="Cambria Math"/>
                        </a:rPr>
                        <m:t>,…</m:t>
                      </m:r>
                    </m:oMath>
                  </m:oMathPara>
                </a14:m>
                <a:endParaRPr lang="en-US" altLang="zh-CN" sz="3600" dirty="0" smtClean="0"/>
              </a:p>
              <a:p>
                <a:pPr marL="0" indent="0">
                  <a:buNone/>
                </a:pPr>
                <a:r>
                  <a:rPr lang="en-US" altLang="zh-CN" sz="3600" dirty="0"/>
                  <a:t> </a:t>
                </a:r>
                <a:r>
                  <a:rPr lang="en-US" altLang="zh-CN" sz="3600" dirty="0" smtClean="0"/>
                  <a:t>  </a:t>
                </a:r>
                <a:r>
                  <a:rPr lang="zh-CN" altLang="en-US" sz="3600" dirty="0" smtClean="0"/>
                  <a:t>求证：</a:t>
                </a:r>
                <a14:m>
                  <m:oMath xmlns:m="http://schemas.openxmlformats.org/officeDocument/2006/math">
                    <m:r>
                      <a:rPr lang="en-US" altLang="zh-CN" sz="3600" b="1" i="1" smtClean="0">
                        <a:latin typeface="Cambria Math"/>
                      </a:rPr>
                      <m:t>{</m:t>
                    </m:r>
                    <m:sSub>
                      <m:sSubPr>
                        <m:ctrlPr>
                          <a:rPr lang="en-US" altLang="zh-CN" sz="3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b="1" i="1" smtClean="0"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altLang="zh-CN" sz="3600" b="1" i="1" smtClean="0">
                            <a:latin typeface="Cambria Math"/>
                          </a:rPr>
                          <m:t>𝒌</m:t>
                        </m:r>
                      </m:sub>
                    </m:sSub>
                    <m:r>
                      <a:rPr lang="en-US" altLang="zh-CN" sz="3600" b="1" i="1" smtClean="0">
                        <a:latin typeface="Cambria Math"/>
                      </a:rPr>
                      <m:t>}</m:t>
                    </m:r>
                  </m:oMath>
                </a14:m>
                <a:r>
                  <a:rPr lang="zh-CN" altLang="en-US" sz="3600" dirty="0" smtClean="0"/>
                  <a:t>服从大数定律</a:t>
                </a:r>
                <a:r>
                  <a:rPr lang="en-US" altLang="zh-CN" sz="3600" dirty="0" smtClean="0"/>
                  <a:t>.</a:t>
                </a:r>
              </a:p>
              <a:p>
                <a:pPr marL="0" indent="0">
                  <a:buNone/>
                </a:pPr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sz="3100" dirty="0" smtClean="0"/>
                  <a:t>证：</a:t>
                </a:r>
                <a14:m>
                  <m:oMath xmlns:m="http://schemas.openxmlformats.org/officeDocument/2006/math">
                    <m:r>
                      <a:rPr lang="en-US" altLang="zh-CN" sz="3100" b="1" i="1" smtClean="0">
                        <a:latin typeface="Cambria Math"/>
                      </a:rPr>
                      <m:t>𝑬</m:t>
                    </m:r>
                    <m:d>
                      <m:dPr>
                        <m:ctrlPr>
                          <a:rPr lang="en-US" altLang="zh-CN" sz="31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1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100" b="1" i="1" smtClean="0">
                                <a:latin typeface="Cambria Math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sz="3100" b="1" i="1" smtClean="0">
                                <a:latin typeface="Cambria Math"/>
                              </a:rPr>
                              <m:t>𝒌</m:t>
                            </m:r>
                          </m:sub>
                        </m:sSub>
                      </m:e>
                    </m:d>
                    <m:r>
                      <a:rPr lang="en-US" altLang="zh-CN" sz="3100" b="1" i="1" smtClean="0">
                        <a:latin typeface="Cambria Math"/>
                      </a:rPr>
                      <m:t>=</m:t>
                    </m:r>
                    <m:r>
                      <a:rPr lang="en-US" altLang="zh-CN" sz="3100" b="1" i="1" smtClean="0">
                        <a:latin typeface="Cambria Math"/>
                      </a:rPr>
                      <m:t>𝟎</m:t>
                    </m:r>
                  </m:oMath>
                </a14:m>
                <a:r>
                  <a:rPr lang="zh-CN" altLang="en-US" sz="3100" dirty="0" smtClean="0"/>
                  <a:t>，故</a:t>
                </a:r>
                <a14:m>
                  <m:oMath xmlns:m="http://schemas.openxmlformats.org/officeDocument/2006/math">
                    <m:r>
                      <a:rPr lang="en-US" altLang="zh-CN" sz="3100" b="1" i="1" smtClean="0">
                        <a:latin typeface="Cambria Math"/>
                      </a:rPr>
                      <m:t>𝑫</m:t>
                    </m:r>
                    <m:d>
                      <m:dPr>
                        <m:ctrlPr>
                          <a:rPr lang="en-US" altLang="zh-CN" sz="31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1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100" b="1" i="1" smtClean="0">
                                <a:latin typeface="Cambria Math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sz="3100" b="1" i="1" smtClean="0">
                                <a:latin typeface="Cambria Math"/>
                              </a:rPr>
                              <m:t>𝒌</m:t>
                            </m:r>
                          </m:sub>
                        </m:sSub>
                      </m:e>
                    </m:d>
                    <m:r>
                      <a:rPr lang="en-US" altLang="zh-CN" sz="3100" b="1" i="1" smtClean="0">
                        <a:latin typeface="Cambria Math"/>
                      </a:rPr>
                      <m:t>=</m:t>
                    </m:r>
                    <m:r>
                      <a:rPr lang="en-US" altLang="zh-CN" sz="3100" b="1" i="1" smtClean="0">
                        <a:latin typeface="Cambria Math"/>
                      </a:rPr>
                      <m:t>𝑬</m:t>
                    </m:r>
                    <m:d>
                      <m:dPr>
                        <m:ctrlPr>
                          <a:rPr lang="en-US" altLang="zh-CN" sz="31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sz="3100" b="1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3100" b="1" i="1" smtClean="0">
                                <a:latin typeface="Cambria Math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sz="3100" b="1" i="1" smtClean="0">
                                <a:latin typeface="Cambria Math"/>
                              </a:rPr>
                              <m:t>𝒌</m:t>
                            </m:r>
                          </m:sub>
                          <m:sup>
                            <m:r>
                              <a:rPr lang="en-US" altLang="zh-CN" sz="3100" b="1" i="1" smtClean="0">
                                <a:latin typeface="Cambria Math"/>
                              </a:rPr>
                              <m:t>𝟐</m:t>
                            </m:r>
                          </m:sup>
                        </m:sSubSup>
                      </m:e>
                    </m:d>
                    <m:r>
                      <a:rPr lang="en-US" altLang="zh-CN" sz="3100" b="1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altLang="zh-CN" sz="31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100" b="1" i="1" smtClean="0">
                            <a:latin typeface="Cambria Math"/>
                          </a:rPr>
                          <m:t>𝒌</m:t>
                        </m:r>
                      </m:e>
                      <m:sup>
                        <m:f>
                          <m:fPr>
                            <m:ctrlPr>
                              <a:rPr lang="en-US" altLang="zh-CN" sz="3100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100" b="1" i="1" smtClean="0">
                                <a:latin typeface="Cambria Math"/>
                              </a:rPr>
                              <m:t>𝟐</m:t>
                            </m:r>
                          </m:num>
                          <m:den>
                            <m:r>
                              <a:rPr lang="en-US" altLang="zh-CN" sz="3100" b="1" i="1" smtClean="0">
                                <a:latin typeface="Cambria Math"/>
                              </a:rPr>
                              <m:t>𝟑</m:t>
                            </m:r>
                          </m:den>
                        </m:f>
                      </m:sup>
                    </m:sSup>
                  </m:oMath>
                </a14:m>
                <a:endParaRPr lang="en-US" altLang="zh-CN" sz="3100" dirty="0" smtClean="0"/>
              </a:p>
              <a:p>
                <a:pPr marL="0" indent="0">
                  <a:buNone/>
                </a:pPr>
                <a:r>
                  <a:rPr lang="zh-CN" altLang="en-US" sz="3100" dirty="0" smtClean="0"/>
                  <a:t>由独立性知</a:t>
                </a:r>
                <a:endParaRPr lang="en-US" altLang="zh-CN" sz="31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31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100" b="1" i="1" smtClean="0">
                              <a:latin typeface="Cambria Math"/>
                            </a:rPr>
                            <m:t>𝟏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31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100" b="1" i="1" smtClean="0">
                                  <a:latin typeface="Cambria Math"/>
                                </a:rPr>
                                <m:t>𝒏</m:t>
                              </m:r>
                            </m:e>
                            <m:sup>
                              <m:r>
                                <a:rPr lang="en-US" altLang="zh-CN" sz="3100" b="1" i="1" smtClean="0">
                                  <a:latin typeface="Cambria Math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en-US" altLang="zh-CN" sz="3100" b="1" i="1" smtClean="0">
                          <a:latin typeface="Cambria Math"/>
                        </a:rPr>
                        <m:t>𝑫</m:t>
                      </m:r>
                      <m:d>
                        <m:dPr>
                          <m:ctrlPr>
                            <a:rPr lang="en-US" altLang="zh-CN" sz="31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altLang="zh-CN" sz="3100" b="1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3100" b="1" i="1" smtClean="0">
                                  <a:latin typeface="Cambria Math"/>
                                </a:rPr>
                                <m:t>𝒌</m:t>
                              </m:r>
                              <m:r>
                                <a:rPr lang="en-US" altLang="zh-CN" sz="3100" b="1" i="1" smtClean="0"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altLang="zh-CN" sz="3100" b="1" i="1" smtClean="0">
                                  <a:latin typeface="Cambria Math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CN" sz="3100" b="1" i="1" smtClean="0">
                                  <a:latin typeface="Cambria Math"/>
                                </a:rPr>
                                <m:t>𝒏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31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100" b="1" i="1" smtClean="0">
                                      <a:latin typeface="Cambria Math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en-US" altLang="zh-CN" sz="3100" b="1" i="1" smtClean="0">
                                      <a:latin typeface="Cambria Math"/>
                                    </a:rPr>
                                    <m:t>𝒌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altLang="zh-CN" sz="3100" b="1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sz="31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100" b="1" i="1" smtClean="0">
                              <a:latin typeface="Cambria Math"/>
                            </a:rPr>
                            <m:t>𝟏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31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100" b="1" i="1" smtClean="0">
                                  <a:latin typeface="Cambria Math"/>
                                </a:rPr>
                                <m:t>𝒏</m:t>
                              </m:r>
                            </m:e>
                            <m:sup>
                              <m:r>
                                <a:rPr lang="en-US" altLang="zh-CN" sz="3100" b="1" i="1" smtClean="0">
                                  <a:latin typeface="Cambria Math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31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3100" b="1" i="1" smtClean="0">
                              <a:latin typeface="Cambria Math"/>
                            </a:rPr>
                            <m:t>𝒌</m:t>
                          </m:r>
                          <m:r>
                            <a:rPr lang="en-US" altLang="zh-CN" sz="3100" b="1" i="1" smtClean="0">
                              <a:latin typeface="Cambria Math"/>
                            </a:rPr>
                            <m:t>=</m:t>
                          </m:r>
                          <m:r>
                            <a:rPr lang="en-US" altLang="zh-CN" sz="3100" b="1" i="1" smtClean="0">
                              <a:latin typeface="Cambria Math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3100" b="1" i="1" smtClean="0">
                              <a:latin typeface="Cambria Math"/>
                            </a:rPr>
                            <m:t>𝒏</m:t>
                          </m:r>
                        </m:sup>
                        <m:e>
                          <m:r>
                            <a:rPr lang="en-US" altLang="zh-CN" sz="3100" b="1" i="1" smtClean="0">
                              <a:latin typeface="Cambria Math"/>
                            </a:rPr>
                            <m:t>𝑫</m:t>
                          </m:r>
                          <m:r>
                            <a:rPr lang="en-US" altLang="zh-CN" sz="3100" b="1" i="1" smtClean="0"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31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100" b="1" i="1" smtClean="0">
                                  <a:latin typeface="Cambria Math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sz="3100" b="1" i="1" smtClean="0">
                                  <a:latin typeface="Cambria Math"/>
                                </a:rPr>
                                <m:t>𝒌</m:t>
                              </m:r>
                            </m:sub>
                          </m:sSub>
                          <m:r>
                            <a:rPr lang="en-US" altLang="zh-CN" sz="3100" b="1" i="1" smtClean="0">
                              <a:latin typeface="Cambria Math"/>
                            </a:rPr>
                            <m:t>)</m:t>
                          </m:r>
                        </m:e>
                      </m:nary>
                      <m:r>
                        <a:rPr lang="en-US" altLang="zh-CN" sz="3100" b="1" i="1" smtClean="0">
                          <a:latin typeface="Cambria Math"/>
                        </a:rPr>
                        <m:t>≤</m:t>
                      </m:r>
                      <m:f>
                        <m:fPr>
                          <m:ctrlPr>
                            <a:rPr lang="en-US" altLang="zh-CN" sz="31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100" b="1" i="1" smtClean="0">
                              <a:latin typeface="Cambria Math"/>
                            </a:rPr>
                            <m:t>𝟏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31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100" b="1" i="1" smtClean="0">
                                  <a:latin typeface="Cambria Math"/>
                                </a:rPr>
                                <m:t>𝒏</m:t>
                              </m:r>
                            </m:e>
                            <m:sup>
                              <m:r>
                                <a:rPr lang="en-US" altLang="zh-CN" sz="3100" b="1" i="1" smtClean="0">
                                  <a:latin typeface="Cambria Math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en-US" altLang="zh-CN" sz="3100" b="1" i="1" smtClean="0">
                          <a:latin typeface="Cambria Math"/>
                        </a:rPr>
                        <m:t>⋅</m:t>
                      </m:r>
                      <m:r>
                        <a:rPr lang="en-US" altLang="zh-CN" sz="3100" b="1" i="1" smtClean="0">
                          <a:latin typeface="Cambria Math"/>
                        </a:rPr>
                        <m:t>𝒏</m:t>
                      </m:r>
                      <m:r>
                        <a:rPr lang="en-US" altLang="zh-CN" sz="3100" b="1" i="1" smtClean="0">
                          <a:latin typeface="Cambria Math"/>
                        </a:rPr>
                        <m:t>⋅</m:t>
                      </m:r>
                      <m:sSup>
                        <m:sSupPr>
                          <m:ctrlPr>
                            <a:rPr lang="en-US" altLang="zh-CN" sz="31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100" b="1" i="1" smtClean="0">
                              <a:latin typeface="Cambria Math"/>
                            </a:rPr>
                            <m:t>𝒏</m:t>
                          </m:r>
                        </m:e>
                        <m:sup>
                          <m:f>
                            <m:fPr>
                              <m:ctrlPr>
                                <a:rPr lang="en-US" altLang="zh-CN" sz="31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3100" b="1" i="1" smtClean="0">
                                  <a:latin typeface="Cambria Math"/>
                                </a:rPr>
                                <m:t>𝟐</m:t>
                              </m:r>
                            </m:num>
                            <m:den>
                              <m:r>
                                <a:rPr lang="en-US" altLang="zh-CN" sz="3100" b="1" i="1" smtClean="0">
                                  <a:latin typeface="Cambria Math"/>
                                </a:rPr>
                                <m:t>𝟑</m:t>
                              </m:r>
                            </m:den>
                          </m:f>
                        </m:sup>
                      </m:sSup>
                      <m:r>
                        <a:rPr lang="en-US" altLang="zh-CN" sz="3100" b="1" i="1" smtClean="0">
                          <a:latin typeface="Cambria Math"/>
                        </a:rPr>
                        <m:t>→</m:t>
                      </m:r>
                      <m:r>
                        <a:rPr lang="en-US" altLang="zh-CN" sz="3100" b="1" i="1" smtClean="0">
                          <a:latin typeface="Cambria Math"/>
                        </a:rPr>
                        <m:t>𝟎</m:t>
                      </m:r>
                    </m:oMath>
                  </m:oMathPara>
                </a14:m>
                <a:endParaRPr lang="en-US" altLang="zh-CN" sz="3100" dirty="0" smtClean="0"/>
              </a:p>
              <a:p>
                <a:pPr marL="0" indent="0">
                  <a:buNone/>
                </a:pPr>
                <a:r>
                  <a:rPr lang="zh-CN" altLang="en-US" sz="3100" dirty="0" smtClean="0"/>
                  <a:t>根据马尔可夫大数定律知，</a:t>
                </a:r>
                <a:r>
                  <a:rPr lang="en-US" altLang="zh-CN" sz="3100" dirty="0"/>
                  <a:t> </a:t>
                </a:r>
                <a14:m>
                  <m:oMath xmlns:m="http://schemas.openxmlformats.org/officeDocument/2006/math">
                    <m:r>
                      <a:rPr lang="en-US" altLang="zh-CN" sz="3100" i="1">
                        <a:latin typeface="Cambria Math"/>
                      </a:rPr>
                      <m:t>{</m:t>
                    </m:r>
                    <m:sSub>
                      <m:sSubPr>
                        <m:ctrlPr>
                          <a:rPr lang="en-US" altLang="zh-CN" sz="3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100" i="1"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altLang="zh-CN" sz="3100" i="1">
                            <a:latin typeface="Cambria Math"/>
                          </a:rPr>
                          <m:t>𝒌</m:t>
                        </m:r>
                      </m:sub>
                    </m:sSub>
                    <m:r>
                      <a:rPr lang="en-US" altLang="zh-CN" sz="3100" i="1">
                        <a:latin typeface="Cambria Math"/>
                      </a:rPr>
                      <m:t>}</m:t>
                    </m:r>
                  </m:oMath>
                </a14:m>
                <a:r>
                  <a:rPr lang="zh-CN" altLang="en-US" sz="3100" dirty="0"/>
                  <a:t>服从大数</a:t>
                </a:r>
                <a:r>
                  <a:rPr lang="zh-CN" altLang="en-US" sz="3100" dirty="0" smtClean="0"/>
                  <a:t>定律</a:t>
                </a:r>
                <a:r>
                  <a:rPr lang="en-US" altLang="zh-CN" sz="3100" dirty="0" smtClean="0"/>
                  <a:t>.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5069160"/>
              </a:xfrm>
              <a:blipFill>
                <a:blip r:embed="rId2"/>
                <a:stretch>
                  <a:fillRect l="-1197" t="-27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12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78956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sz="3200" dirty="0"/>
              <a:t>测量一个</a:t>
            </a:r>
            <a:r>
              <a:rPr lang="zh-CN" altLang="en-US" sz="3200" dirty="0" smtClean="0"/>
              <a:t>工件（存在测量误差），多次测量的其结果具有</a:t>
            </a:r>
            <a:r>
              <a:rPr lang="en-US" altLang="zh-CN" sz="3200" dirty="0" smtClean="0"/>
              <a:t>bell-shaped</a:t>
            </a:r>
            <a:r>
              <a:rPr lang="zh-CN" altLang="en-US" sz="3200" dirty="0" smtClean="0"/>
              <a:t>曲线</a:t>
            </a:r>
            <a:endParaRPr lang="en-US" altLang="zh-CN" sz="3200" dirty="0" smtClean="0"/>
          </a:p>
          <a:p>
            <a:endParaRPr lang="en-US" altLang="zh-CN" sz="3200" dirty="0" smtClean="0"/>
          </a:p>
          <a:p>
            <a:endParaRPr lang="en-US" altLang="zh-CN" sz="3200" dirty="0"/>
          </a:p>
          <a:p>
            <a:r>
              <a:rPr lang="zh-CN" altLang="en-US" sz="3200" dirty="0" smtClean="0"/>
              <a:t>中心极限定理实际上说明了每个随机（微小）因素造成的误差的总和服从正态分布</a:t>
            </a:r>
            <a:endParaRPr lang="en-US" altLang="zh-CN" sz="32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13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71631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中心极限定理：定义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设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dirty="0" smtClean="0"/>
                  <a:t>为独立随机变量序列，且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𝑫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 smtClean="0"/>
                  <a:t>存在，令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dirty="0" smtClean="0"/>
                  <a:t>为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  <m:e>
                        <m:sSub>
                          <m:sSubPr>
                            <m:ctrlP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en-US" dirty="0" smtClean="0"/>
                  <a:t>标准化的随机变量，即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  <m:d>
                                <m:d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b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  <m:t>𝒌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p>
                                <m:e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𝑫</m:t>
                                  </m:r>
                                  <m:d>
                                    <m:dPr>
                                      <m:ctrlP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1" i="1" smtClean="0">
                                              <a:latin typeface="Cambria Math" panose="02040503050406030204" pitchFamily="18" charset="0"/>
                                            </a:rPr>
                                            <m:t>𝑿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1" i="1" smtClean="0">
                                              <a:latin typeface="Cambria Math" panose="02040503050406030204" pitchFamily="18" charset="0"/>
                                            </a:rPr>
                                            <m:t>𝒌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rad>
                        </m:den>
                      </m:f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若对任意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zh-CN" altLang="en-US" dirty="0" smtClean="0"/>
                  <a:t>，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→∞</m:t>
                          </m:r>
                        </m:lim>
                      </m:limLow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𝒁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</m:rad>
                        </m:den>
                      </m:f>
                      <m:nary>
                        <m:nary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  <m:t>𝒕</m:t>
                                      </m:r>
                                    </m:e>
                                    <m:sup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sup>
                          </m:sSup>
                        </m:e>
                      </m:nary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𝒅𝒕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</a:rPr>
                        <m:t>𝚽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/>
                  <a:t>则称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dirty="0" smtClean="0"/>
                  <a:t>服从中心极限定理。</a:t>
                </a:r>
                <a:endParaRPr lang="en-US" altLang="zh-CN" dirty="0" smtClean="0"/>
              </a:p>
              <a:p>
                <a:pPr marL="0" indent="0">
                  <a:buNone/>
                </a:pPr>
                <a:endParaRPr lang="en-US" altLang="zh-CN" dirty="0" smtClean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1645" t="-13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14</a:t>
            </a:fld>
            <a:endParaRPr lang="zh-CN" altLang="en-US" dirty="0"/>
          </a:p>
        </p:txBody>
      </p:sp>
      <p:sp>
        <p:nvSpPr>
          <p:cNvPr id="5" name="Text Box 24"/>
          <p:cNvSpPr txBox="1">
            <a:spLocks noChangeArrowheads="1"/>
          </p:cNvSpPr>
          <p:nvPr/>
        </p:nvSpPr>
        <p:spPr bwMode="auto">
          <a:xfrm>
            <a:off x="1305592" y="5903476"/>
            <a:ext cx="6767512" cy="592137"/>
          </a:xfrm>
          <a:prstGeom prst="rect">
            <a:avLst/>
          </a:prstGeom>
          <a:noFill/>
          <a:ln w="12700">
            <a:solidFill>
              <a:srgbClr val="F6007B"/>
            </a:solidFill>
            <a:miter lim="800000"/>
            <a:headEnd/>
            <a:tailEnd/>
          </a:ln>
          <a:effectLst>
            <a:prstShdw prst="shdw17" dist="17961" dir="2700000">
              <a:srgbClr val="94004A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/>
              <a:t>  表示</a:t>
            </a:r>
            <a:r>
              <a:rPr lang="en-US" altLang="zh-CN" sz="3200" b="1"/>
              <a:t>Z</a:t>
            </a:r>
            <a:r>
              <a:rPr lang="en-US" altLang="zh-CN" sz="3200" b="1" i="1" baseline="-25000"/>
              <a:t>n</a:t>
            </a:r>
            <a:r>
              <a:rPr lang="zh-CN" altLang="en-US" sz="3200" b="1"/>
              <a:t>的极限分布为标准正态分布</a:t>
            </a:r>
          </a:p>
        </p:txBody>
      </p:sp>
    </p:spTree>
    <p:extLst>
      <p:ext uri="{BB962C8B-B14F-4D97-AF65-F5344CB8AC3E}">
        <p14:creationId xmlns:p14="http://schemas.microsoft.com/office/powerpoint/2010/main" val="1162677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独立同分布情形中心极限定理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67544" y="4688162"/>
                <a:ext cx="8369424" cy="2053206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zh-CN" altLang="en-US" sz="2800" dirty="0" smtClean="0"/>
                  <a:t>本质：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  <m:e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en-US" sz="2800" dirty="0" smtClean="0"/>
                  <a:t>的极限分布是正态分布。</a:t>
                </a:r>
                <a:endParaRPr lang="en-US" altLang="zh-CN" sz="2800" dirty="0" smtClean="0"/>
              </a:p>
              <a:p>
                <a:pPr marL="0" indent="0">
                  <a:buNone/>
                </a:pPr>
                <a:r>
                  <a:rPr lang="zh-CN" altLang="en-US" sz="2800" dirty="0" smtClean="0"/>
                  <a:t>从而，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subSup"/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b>
                                <m:r>
                                  <a:rPr lang="en-US" altLang="zh-CN" sz="2800" b="1" i="1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sub>
                            </m:sSub>
                          </m:e>
                        </m:nary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𝑬</m:t>
                        </m:r>
                        <m:d>
                          <m:d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zh-CN" sz="2800" b="1" i="1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  <m:r>
                                  <a:rPr lang="en-US" altLang="zh-CN" sz="2800" b="1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800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  <m:sup>
                                <m:r>
                                  <a:rPr lang="en-US" altLang="zh-CN" sz="2800" b="1" i="1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zh-CN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nary>
                              <m:naryPr>
                                <m:chr m:val="∑"/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zh-CN" sz="2800" b="1" i="1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  <m:r>
                                  <a:rPr lang="en-US" altLang="zh-CN" sz="2800" b="1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800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  <m:sup>
                                <m:r>
                                  <a:rPr lang="en-US" altLang="zh-CN" sz="2800" b="1" i="1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sup>
                              <m:e>
                                <m:r>
                                  <a:rPr lang="en-US" altLang="zh-CN" sz="2800" b="1" i="1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d>
                                  <m:dPr>
                                    <m:ctrlPr>
                                      <a:rPr lang="en-US" altLang="zh-CN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800" b="1" i="1">
                                            <a:latin typeface="Cambria Math" panose="02040503050406030204" pitchFamily="18" charset="0"/>
                                          </a:rPr>
                                          <m:t>𝑿</m:t>
                                        </m:r>
                                      </m:e>
                                      <m:sub>
                                        <m:r>
                                          <a:rPr lang="en-US" altLang="zh-CN" sz="2800" b="1" i="1">
                                            <a:latin typeface="Cambria Math" panose="02040503050406030204" pitchFamily="18" charset="0"/>
                                          </a:rPr>
                                          <m:t>𝒌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nary>
                          </m:e>
                        </m:rad>
                      </m:den>
                    </m:f>
                  </m:oMath>
                </a14:m>
                <a:r>
                  <a:rPr lang="zh-CN" altLang="en-US" sz="2800" dirty="0" smtClean="0"/>
                  <a:t>的极限分布是标准正态分布。</a:t>
                </a:r>
                <a:endParaRPr lang="en-US" altLang="zh-CN" sz="2800" dirty="0" smtClean="0"/>
              </a:p>
            </p:txBody>
          </p:sp>
        </mc:Choice>
        <mc:Fallback xmlns="">
          <p:sp>
            <p:nvSpPr>
              <p:cNvPr id="6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67544" y="4688162"/>
                <a:ext cx="8369424" cy="2053206"/>
              </a:xfrm>
              <a:blipFill rotWithShape="0">
                <a:blip r:embed="rId3"/>
                <a:stretch>
                  <a:fillRect l="-1529" t="-2671" r="-56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15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539552" y="1556792"/>
                <a:ext cx="8064896" cy="2793778"/>
              </a:xfrm>
              <a:prstGeom prst="rect">
                <a:avLst/>
              </a:prstGeom>
              <a:noFill/>
              <a:ln w="19050">
                <a:solidFill>
                  <a:srgbClr val="7030A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zh-CN" altLang="en-US" sz="2800" b="1" dirty="0" smtClean="0">
                    <a:solidFill>
                      <a:srgbClr val="7030A0"/>
                    </a:solidFill>
                  </a:rPr>
                  <a:t>定理</a:t>
                </a:r>
                <a:r>
                  <a:rPr lang="en-US" altLang="zh-CN" sz="2800" b="1" dirty="0" smtClean="0">
                    <a:solidFill>
                      <a:srgbClr val="7030A0"/>
                    </a:solidFill>
                  </a:rPr>
                  <a:t>(</a:t>
                </a:r>
                <a:r>
                  <a:rPr lang="zh-CN" altLang="en-US" sz="2800" b="1" dirty="0" smtClean="0">
                    <a:solidFill>
                      <a:srgbClr val="7030A0"/>
                    </a:solidFill>
                  </a:rPr>
                  <a:t>林德贝格</a:t>
                </a:r>
                <a:r>
                  <a:rPr lang="en-US" altLang="zh-CN" sz="2800" b="1" dirty="0" smtClean="0">
                    <a:solidFill>
                      <a:srgbClr val="7030A0"/>
                    </a:solidFill>
                  </a:rPr>
                  <a:t>-</a:t>
                </a:r>
                <a:r>
                  <a:rPr lang="zh-CN" altLang="en-US" sz="2800" b="1" dirty="0" smtClean="0">
                    <a:solidFill>
                      <a:srgbClr val="7030A0"/>
                    </a:solidFill>
                  </a:rPr>
                  <a:t>勒维中心极限定理</a:t>
                </a:r>
                <a:r>
                  <a:rPr lang="en-US" altLang="zh-CN" sz="2800" b="1" dirty="0" smtClean="0">
                    <a:solidFill>
                      <a:srgbClr val="7030A0"/>
                    </a:solidFill>
                  </a:rPr>
                  <a:t>)</a:t>
                </a:r>
                <a:r>
                  <a:rPr lang="zh-CN" altLang="en-US" sz="2800" b="1" dirty="0" smtClean="0">
                    <a:solidFill>
                      <a:srgbClr val="7030A0"/>
                    </a:solidFill>
                  </a:rPr>
                  <a:t>：</a:t>
                </a:r>
              </a:p>
              <a:p>
                <a:r>
                  <a:rPr lang="zh-CN" altLang="en-US" sz="2800" b="1" dirty="0" smtClean="0">
                    <a:solidFill>
                      <a:srgbClr val="FF0000"/>
                    </a:solidFill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lang="zh-CN" altLang="en-US" sz="2800" b="1" dirty="0" smtClean="0">
                    <a:solidFill>
                      <a:srgbClr val="FF0000"/>
                    </a:solidFill>
                  </a:rPr>
                  <a:t>独立同分布，且</a:t>
                </a:r>
                <a:endParaRPr lang="en-US" altLang="zh-CN" sz="2800" b="1" dirty="0" smtClean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ctrlPr>
                            <a:rPr lang="en-US" altLang="zh-C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e>
                      </m:d>
                      <m:r>
                        <a:rPr lang="en-US" altLang="zh-CN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𝝁</m:t>
                      </m:r>
                      <m:r>
                        <a:rPr lang="en-US" altLang="zh-CN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𝑫</m:t>
                      </m:r>
                      <m:d>
                        <m:dPr>
                          <m:ctrlPr>
                            <a:rPr lang="en-US" altLang="zh-C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e>
                      </m:d>
                      <m:r>
                        <a:rPr lang="en-US" altLang="zh-CN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𝝈</m:t>
                          </m:r>
                        </m:e>
                        <m:sup>
                          <m:r>
                            <a:rPr lang="en-US" altLang="zh-C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altLang="zh-CN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altLang="zh-CN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,…)</m:t>
                      </m:r>
                    </m:oMath>
                  </m:oMathPara>
                </a14:m>
                <a:endParaRPr lang="en-US" altLang="zh-CN" sz="2800" b="1" dirty="0" smtClean="0">
                  <a:solidFill>
                    <a:srgbClr val="FF0000"/>
                  </a:solidFill>
                </a:endParaRPr>
              </a:p>
              <a:p>
                <a:r>
                  <a:rPr lang="zh-CN" altLang="en-US" sz="2800" b="1" dirty="0" smtClean="0">
                    <a:solidFill>
                      <a:srgbClr val="FF0000"/>
                    </a:solidFill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solidFill>
                          <a:srgbClr val="FF0000"/>
                        </a:solidFill>
                        <a:latin typeface="Cambria Math"/>
                      </a:rPr>
                      <m:t>{</m:t>
                    </m:r>
                    <m:sSub>
                      <m:sSubPr>
                        <m:ctrlPr>
                          <a:rPr lang="en-US" altLang="zh-C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𝑿</m:t>
                        </m:r>
                      </m:e>
                      <m:sub>
                        <m:r>
                          <a:rPr lang="en-US" altLang="zh-CN" sz="28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𝒏</m:t>
                        </m:r>
                      </m:sub>
                    </m:sSub>
                    <m:r>
                      <a:rPr lang="en-US" altLang="zh-CN" sz="2800" b="1" i="1">
                        <a:solidFill>
                          <a:srgbClr val="FF0000"/>
                        </a:solidFill>
                        <a:latin typeface="Cambria Math"/>
                      </a:rPr>
                      <m:t>}</m:t>
                    </m:r>
                  </m:oMath>
                </a14:m>
                <a:r>
                  <a:rPr lang="zh-CN" altLang="en-US" sz="2800" b="1" dirty="0" smtClean="0">
                    <a:solidFill>
                      <a:srgbClr val="FF0000"/>
                    </a:solidFill>
                  </a:rPr>
                  <a:t>服从中心极限定理，即</a:t>
                </a:r>
                <a:endParaRPr lang="en-US" altLang="zh-CN" sz="2800" b="1" dirty="0" smtClean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altLang="zh-C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n-US" altLang="zh-C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→∞</m:t>
                          </m:r>
                        </m:lim>
                      </m:limLow>
                      <m:r>
                        <a:rPr lang="en-US" altLang="zh-CN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ctrlPr>
                                    <a:rPr lang="en-US" altLang="zh-CN" sz="2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sz="2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  <m:r>
                                    <a:rPr lang="en-US" altLang="zh-CN" sz="2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altLang="zh-CN" sz="2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en-US" altLang="zh-CN" sz="2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altLang="zh-CN" sz="2800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b>
                                      <m:r>
                                        <a:rPr lang="en-US" altLang="zh-CN" sz="2800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𝒌</m:t>
                                      </m:r>
                                    </m:sub>
                                  </m:sSub>
                                </m:e>
                              </m:nary>
                              <m:r>
                                <a:rPr lang="en-US" altLang="zh-CN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altLang="zh-CN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sz="2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</m:rad>
                              <m:r>
                                <a:rPr lang="en-US" altLang="zh-CN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𝝈</m:t>
                              </m:r>
                            </m:den>
                          </m:f>
                          <m:r>
                            <a:rPr lang="en-US" altLang="zh-C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𝚽</m:t>
                      </m:r>
                      <m:r>
                        <a:rPr lang="en-US" altLang="zh-CN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800" b="1" dirty="0" smtClean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1556792"/>
                <a:ext cx="8064896" cy="2793778"/>
              </a:xfrm>
              <a:prstGeom prst="rect">
                <a:avLst/>
              </a:prstGeom>
              <a:blipFill rotWithShape="0">
                <a:blip r:embed="rId4"/>
                <a:stretch>
                  <a:fillRect l="-1509" t="-3030"/>
                </a:stretch>
              </a:blipFill>
              <a:ln w="190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600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 altLang="en-US" sz="3200" dirty="0" smtClean="0"/>
                  <a:t>对于独立同分布的随机变量序列</a:t>
                </a:r>
                <a14:m>
                  <m:oMath xmlns:m="http://schemas.openxmlformats.org/officeDocument/2006/math">
                    <m:r>
                      <a:rPr lang="en-US" altLang="zh-CN" sz="320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zh-CN" sz="32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sz="3200" dirty="0" smtClean="0"/>
              </a:p>
              <a:p>
                <a:pPr lvl="1"/>
                <a:endParaRPr lang="en-US" altLang="zh-CN" dirty="0" smtClean="0">
                  <a:latin typeface="+mn-ea"/>
                </a:endParaRPr>
              </a:p>
              <a:p>
                <a:pPr lvl="1"/>
                <a:r>
                  <a:rPr lang="zh-CN" altLang="en-US" sz="2800" dirty="0" smtClean="0">
                    <a:latin typeface="+mn-ea"/>
                  </a:rPr>
                  <a:t>大数定律描述了其均值（或和）在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→∞</m:t>
                    </m:r>
                    <m:r>
                      <a:rPr lang="zh-CN" altLang="en-US" sz="2800" b="1" i="1" smtClean="0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sz="2800" dirty="0" smtClean="0">
                    <a:latin typeface="+mn-ea"/>
                  </a:rPr>
                  <a:t>趋势</a:t>
                </a:r>
                <a:endParaRPr lang="en-US" altLang="zh-CN" sz="2800" dirty="0" smtClean="0">
                  <a:latin typeface="+mn-ea"/>
                </a:endParaRPr>
              </a:p>
              <a:p>
                <a:pPr lvl="1"/>
                <a:endParaRPr lang="en-US" altLang="zh-CN" dirty="0" smtClean="0"/>
              </a:p>
              <a:p>
                <a:pPr lvl="1"/>
                <a:r>
                  <a:rPr lang="zh-CN" altLang="en-US" sz="2800" dirty="0" smtClean="0">
                    <a:latin typeface="+mn-ea"/>
                  </a:rPr>
                  <a:t>中心极限定理则能给出给定</a:t>
                </a:r>
                <a:r>
                  <a:rPr lang="en-US" altLang="zh-CN" sz="2800" b="0" dirty="0" smtClean="0">
                    <a:latin typeface="+mn-ea"/>
                  </a:rPr>
                  <a:t>n</a:t>
                </a:r>
                <a:r>
                  <a:rPr lang="zh-CN" altLang="en-US" sz="2800" dirty="0" smtClean="0">
                    <a:latin typeface="+mn-ea"/>
                  </a:rPr>
                  <a:t>与</a:t>
                </a:r>
                <a:r>
                  <a:rPr lang="en-US" altLang="zh-CN" sz="2800" dirty="0" smtClean="0">
                    <a:latin typeface="+mn-ea"/>
                  </a:rPr>
                  <a:t>x</a:t>
                </a:r>
                <a:r>
                  <a:rPr lang="zh-CN" altLang="en-US" sz="2800" dirty="0" smtClean="0">
                    <a:latin typeface="+mn-ea"/>
                  </a:rPr>
                  <a:t>时的具体概率近似</a:t>
                </a:r>
                <a:r>
                  <a:rPr lang="en-US" altLang="zh-CN" sz="2800" dirty="0">
                    <a:latin typeface="+mn-ea"/>
                  </a:rPr>
                  <a:t>(</a:t>
                </a:r>
                <a:r>
                  <a:rPr lang="zh-CN" altLang="en-US" sz="2800" dirty="0" smtClean="0">
                    <a:latin typeface="+mn-ea"/>
                  </a:rPr>
                  <a:t>也可以知道概率与</a:t>
                </a:r>
                <a:r>
                  <a:rPr lang="en-US" altLang="zh-CN" sz="2800" dirty="0" smtClean="0">
                    <a:latin typeface="+mn-ea"/>
                  </a:rPr>
                  <a:t>x</a:t>
                </a:r>
                <a:r>
                  <a:rPr lang="zh-CN" altLang="en-US" sz="2800" dirty="0" smtClean="0">
                    <a:latin typeface="+mn-ea"/>
                  </a:rPr>
                  <a:t>，求</a:t>
                </a:r>
                <a:r>
                  <a:rPr lang="en-US" altLang="zh-CN" sz="2800" dirty="0" smtClean="0">
                    <a:latin typeface="+mn-ea"/>
                  </a:rPr>
                  <a:t>n</a:t>
                </a:r>
                <a:r>
                  <a:rPr lang="zh-CN" altLang="en-US" sz="2800" dirty="0" smtClean="0">
                    <a:latin typeface="+mn-ea"/>
                  </a:rPr>
                  <a:t>；或者知道概率与</a:t>
                </a:r>
                <a:r>
                  <a:rPr lang="en-US" altLang="zh-CN" sz="2800" dirty="0" smtClean="0">
                    <a:latin typeface="+mn-ea"/>
                  </a:rPr>
                  <a:t>n</a:t>
                </a:r>
                <a:r>
                  <a:rPr lang="zh-CN" altLang="en-US" sz="2800" dirty="0" smtClean="0">
                    <a:latin typeface="+mn-ea"/>
                  </a:rPr>
                  <a:t>，求</a:t>
                </a:r>
                <a:r>
                  <a:rPr lang="en-US" altLang="zh-CN" sz="2800" dirty="0" smtClean="0">
                    <a:latin typeface="+mn-ea"/>
                  </a:rPr>
                  <a:t>x)</a:t>
                </a:r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598" t="-1628" r="-2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16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04226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1468760"/>
              </a:xfrm>
            </p:spPr>
            <p:txBody>
              <a:bodyPr/>
              <a:lstStyle/>
              <a:p>
                <a:r>
                  <a:rPr lang="zh-CN" altLang="en-US" dirty="0" smtClean="0"/>
                  <a:t>一接收器同时收到</a:t>
                </a:r>
                <a:r>
                  <a:rPr lang="en-US" altLang="zh-CN" dirty="0" smtClean="0"/>
                  <a:t>20</a:t>
                </a:r>
                <a:r>
                  <a:rPr lang="zh-CN" altLang="en-US" dirty="0" smtClean="0"/>
                  <a:t>个信号电压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𝟐𝟎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 smtClean="0"/>
                  <a:t>,</a:t>
                </a:r>
                <a:r>
                  <a:rPr lang="zh-CN" altLang="en-US" dirty="0" smtClean="0"/>
                  <a:t>设它们互相独立均服从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 smtClean="0"/>
                  <a:t>,</a:t>
                </a:r>
                <a:r>
                  <a:rPr lang="zh-CN" altLang="en-US" dirty="0" smtClean="0"/>
                  <a:t>求电压和大于</a:t>
                </a:r>
                <a:r>
                  <a:rPr lang="en-US" altLang="zh-CN" dirty="0" smtClean="0"/>
                  <a:t>105</a:t>
                </a:r>
                <a:r>
                  <a:rPr lang="zh-CN" altLang="en-US" dirty="0" smtClean="0"/>
                  <a:t>的概率</a:t>
                </a:r>
                <a:r>
                  <a:rPr lang="en-US" altLang="zh-CN" dirty="0" smtClean="0"/>
                  <a:t>.</a:t>
                </a:r>
              </a:p>
              <a:p>
                <a:pPr marL="0" indent="0">
                  <a:buNone/>
                </a:pPr>
                <a:endParaRPr lang="en-US" altLang="zh-CN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1468760"/>
              </a:xfrm>
              <a:blipFill rotWithShape="0">
                <a:blip r:embed="rId2"/>
                <a:stretch>
                  <a:fillRect l="-449" t="-6667" r="-1122" b="-91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17</a:t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3072890"/>
            <a:ext cx="7102904" cy="36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471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 smtClean="0"/>
              <a:t>某产品装箱，每箱重量是随机的。假设每箱平均重</a:t>
            </a:r>
            <a:r>
              <a:rPr lang="en-US" altLang="zh-CN" dirty="0" smtClean="0"/>
              <a:t>50kg,</a:t>
            </a:r>
            <a:r>
              <a:rPr lang="zh-CN" altLang="en-US" dirty="0" smtClean="0"/>
              <a:t>标准差是</a:t>
            </a:r>
            <a:r>
              <a:rPr lang="en-US" altLang="zh-CN" dirty="0" smtClean="0"/>
              <a:t>5kg. </a:t>
            </a:r>
            <a:r>
              <a:rPr lang="zh-CN" altLang="en-US" dirty="0" smtClean="0"/>
              <a:t>若用最大载重量为</a:t>
            </a:r>
            <a:r>
              <a:rPr lang="en-US" altLang="zh-CN" dirty="0" smtClean="0"/>
              <a:t>5t</a:t>
            </a:r>
            <a:r>
              <a:rPr lang="zh-CN" altLang="en-US" dirty="0" smtClean="0"/>
              <a:t>的汽车承运，问每车最多可装多少箱，才能以</a:t>
            </a:r>
            <a:r>
              <a:rPr lang="en-US" altLang="zh-CN" dirty="0" smtClean="0"/>
              <a:t>0.977</a:t>
            </a:r>
            <a:r>
              <a:rPr lang="zh-CN" altLang="en-US" dirty="0" smtClean="0"/>
              <a:t>以上的概率保证不超载？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18</a:t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3429000"/>
            <a:ext cx="6768752" cy="3277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062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19</a:t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628800"/>
            <a:ext cx="7581646" cy="4808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246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伯努</a:t>
            </a:r>
            <a:r>
              <a:rPr lang="zh-CN" altLang="en-US" dirty="0" smtClean="0"/>
              <a:t>利情形中心极限定理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12648" y="4221088"/>
                <a:ext cx="8153400" cy="2160240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zh-CN" altLang="en-US" dirty="0" smtClean="0"/>
                  <a:t>证明：由二项分布和</a:t>
                </a:r>
                <a:r>
                  <a:rPr lang="en-US" altLang="zh-CN" dirty="0" smtClean="0"/>
                  <a:t>0-1</a:t>
                </a:r>
                <a:r>
                  <a:rPr lang="zh-CN" altLang="en-US" dirty="0" smtClean="0"/>
                  <a:t>分布的关系，利用独立同分布的中心极限定理即可。</a:t>
                </a:r>
                <a:endParaRPr lang="en-US" altLang="zh-CN" dirty="0" smtClean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 smtClean="0"/>
                  <a:t>本质：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 smtClean="0"/>
                  <a:t>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dirty="0" smtClean="0"/>
                  <a:t>的极限分布是正态分布</a:t>
                </a:r>
                <a:r>
                  <a:rPr lang="en-US" altLang="zh-CN" dirty="0" smtClean="0"/>
                  <a:t>,</a:t>
                </a:r>
                <a:r>
                  <a:rPr lang="zh-CN" altLang="en-US" dirty="0" smtClean="0"/>
                  <a:t>从而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𝒏𝒑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𝒏𝒑𝒒</m:t>
                            </m:r>
                          </m:e>
                        </m:rad>
                      </m:den>
                    </m:f>
                  </m:oMath>
                </a14:m>
                <a:r>
                  <a:rPr lang="zh-CN" altLang="en-US" dirty="0" smtClean="0"/>
                  <a:t>的极限分布是标准正态分布。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12648" y="4221088"/>
                <a:ext cx="8153400" cy="2160240"/>
              </a:xfrm>
              <a:blipFill rotWithShape="0">
                <a:blip r:embed="rId2"/>
                <a:stretch>
                  <a:fillRect l="-1421" t="-70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20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539552" y="1556792"/>
                <a:ext cx="8064896" cy="2353145"/>
              </a:xfrm>
              <a:prstGeom prst="rect">
                <a:avLst/>
              </a:prstGeom>
              <a:noFill/>
              <a:ln w="19050">
                <a:solidFill>
                  <a:srgbClr val="7030A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zh-CN" altLang="en-US" sz="2800" b="1" dirty="0" smtClean="0">
                    <a:solidFill>
                      <a:srgbClr val="7030A0"/>
                    </a:solidFill>
                  </a:rPr>
                  <a:t>定理</a:t>
                </a:r>
                <a:r>
                  <a:rPr lang="en-US" altLang="zh-CN" sz="2800" b="1" dirty="0" smtClean="0">
                    <a:solidFill>
                      <a:srgbClr val="7030A0"/>
                    </a:solidFill>
                  </a:rPr>
                  <a:t>(</a:t>
                </a:r>
                <a:r>
                  <a:rPr lang="zh-CN" altLang="en-US" sz="2800" b="1" dirty="0" smtClean="0">
                    <a:solidFill>
                      <a:srgbClr val="7030A0"/>
                    </a:solidFill>
                  </a:rPr>
                  <a:t>德莫佛</a:t>
                </a:r>
                <a:r>
                  <a:rPr lang="en-US" altLang="zh-CN" sz="2800" b="1" dirty="0" smtClean="0">
                    <a:solidFill>
                      <a:srgbClr val="7030A0"/>
                    </a:solidFill>
                  </a:rPr>
                  <a:t>-</a:t>
                </a:r>
                <a:r>
                  <a:rPr lang="zh-CN" altLang="en-US" sz="2800" b="1" dirty="0" smtClean="0">
                    <a:solidFill>
                      <a:srgbClr val="7030A0"/>
                    </a:solidFill>
                  </a:rPr>
                  <a:t>拉普拉斯中心极限定理</a:t>
                </a:r>
                <a:r>
                  <a:rPr lang="en-US" altLang="zh-CN" sz="2800" b="1" dirty="0" smtClean="0">
                    <a:solidFill>
                      <a:srgbClr val="7030A0"/>
                    </a:solidFill>
                  </a:rPr>
                  <a:t>)</a:t>
                </a:r>
                <a:r>
                  <a:rPr lang="zh-CN" altLang="en-US" sz="2800" b="1" dirty="0" smtClean="0">
                    <a:solidFill>
                      <a:srgbClr val="7030A0"/>
                    </a:solidFill>
                  </a:rPr>
                  <a:t>：</a:t>
                </a:r>
              </a:p>
              <a:p>
                <a:r>
                  <a:rPr lang="zh-CN" altLang="en-US" sz="2800" b="1" dirty="0" smtClean="0">
                    <a:solidFill>
                      <a:srgbClr val="FF0000"/>
                    </a:solidFill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sz="2800" b="1" dirty="0" smtClean="0">
                    <a:solidFill>
                      <a:srgbClr val="FF0000"/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800" b="1" dirty="0" smtClean="0">
                    <a:solidFill>
                      <a:srgbClr val="FF0000"/>
                    </a:solidFill>
                  </a:rPr>
                  <a:t>重伯努利试验中事件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800" b="1" dirty="0" smtClean="0">
                    <a:solidFill>
                      <a:srgbClr val="FF0000"/>
                    </a:solidFill>
                  </a:rPr>
                  <a:t>发生的次数，记</a:t>
                </a:r>
                <a:endParaRPr lang="en-US" altLang="zh-CN" sz="2800" b="1" dirty="0" smtClean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d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zh-CN" altLang="en-US" sz="2800" b="1" dirty="0" smtClean="0">
                    <a:solidFill>
                      <a:srgbClr val="FF0000"/>
                    </a:solidFill>
                  </a:rPr>
                  <a:t>，则对任意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800" b="1" dirty="0" smtClean="0">
                    <a:solidFill>
                      <a:srgbClr val="FF0000"/>
                    </a:solidFill>
                  </a:rPr>
                  <a:t>，有</a:t>
                </a:r>
                <a:endParaRPr lang="en-US" altLang="zh-CN" sz="2800" b="1" i="1" dirty="0" smtClean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altLang="zh-C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n-US" altLang="zh-C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→∞</m:t>
                          </m:r>
                        </m:lim>
                      </m:limLow>
                      <m:r>
                        <a:rPr lang="en-US" altLang="zh-CN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2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  <m:r>
                                <a:rPr lang="en-US" altLang="zh-CN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𝒏𝒑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sz="2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8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𝒏𝒑𝒒</m:t>
                                  </m:r>
                                </m:e>
                              </m:rad>
                            </m:den>
                          </m:f>
                          <m:r>
                            <a:rPr lang="en-US" altLang="zh-C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𝚽</m:t>
                      </m:r>
                      <m:r>
                        <a:rPr lang="en-US" altLang="zh-CN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800" b="1" dirty="0" smtClean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1556792"/>
                <a:ext cx="8064896" cy="2353145"/>
              </a:xfrm>
              <a:prstGeom prst="rect">
                <a:avLst/>
              </a:prstGeom>
              <a:blipFill rotWithShape="0">
                <a:blip r:embed="rId3"/>
                <a:stretch>
                  <a:fillRect l="-1509" t="-3599"/>
                </a:stretch>
              </a:blipFill>
              <a:ln w="190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2529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推论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 smtClean="0"/>
                  <a:t>，则当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dirty="0" smtClean="0"/>
                  <a:t>充分大时，有</a:t>
                </a:r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𝒏𝒑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𝒏𝒑𝒒</m:t>
                                  </m:r>
                                </m:e>
                              </m:rad>
                            </m:den>
                          </m:f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f>
                            <m:f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𝒏𝒑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𝒏𝒑𝒒</m:t>
                                  </m:r>
                                </m:e>
                              </m:rad>
                            </m:den>
                          </m:f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f>
                            <m:f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𝒏𝒑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𝒏𝒑𝒒</m:t>
                                  </m:r>
                                </m:e>
                              </m:rad>
                            </m:den>
                          </m:f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𝚽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𝒏𝒑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𝒏𝒑𝒒</m:t>
                                  </m:r>
                                </m:e>
                              </m:rad>
                            </m:den>
                          </m:f>
                        </m:e>
                      </m:d>
                      <m:r>
                        <a:rPr lang="en-US" altLang="zh-CN" b="1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𝚽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𝒏𝒑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𝒏𝒑𝒒</m:t>
                                  </m:r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3"/>
                <a:stretch>
                  <a:fillRect l="-449" t="-12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21</a:t>
            </a:fld>
            <a:endParaRPr lang="zh-CN" altLang="en-US" dirty="0"/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0" y="5150080"/>
            <a:ext cx="9144000" cy="523220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  <a:extLst/>
        </p:spPr>
        <p:txBody>
          <a:bodyPr wrap="squar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b="1" dirty="0" smtClean="0"/>
              <a:t>说明：这个</a:t>
            </a:r>
            <a:r>
              <a:rPr lang="zh-CN" altLang="en-US" b="1" dirty="0"/>
              <a:t>公式给出了</a:t>
            </a:r>
            <a:r>
              <a:rPr lang="en-US" altLang="zh-CN" b="1" dirty="0"/>
              <a:t>n </a:t>
            </a:r>
            <a:r>
              <a:rPr lang="zh-CN" altLang="en-US" b="1" dirty="0"/>
              <a:t>较大时二项分布的</a:t>
            </a:r>
            <a:r>
              <a:rPr lang="zh-CN" altLang="en-US" b="1" dirty="0" smtClean="0"/>
              <a:t>概率计算方法</a:t>
            </a:r>
            <a:endParaRPr lang="en-US" altLang="zh-CN" b="1" dirty="0" smtClean="0"/>
          </a:p>
        </p:txBody>
      </p:sp>
    </p:spTree>
    <p:extLst>
      <p:ext uri="{BB962C8B-B14F-4D97-AF65-F5344CB8AC3E}">
        <p14:creationId xmlns:p14="http://schemas.microsoft.com/office/powerpoint/2010/main" val="830071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12648" y="1600200"/>
                <a:ext cx="8279832" cy="4637112"/>
              </a:xfrm>
            </p:spPr>
            <p:txBody>
              <a:bodyPr/>
              <a:lstStyle/>
              <a:p>
                <a:r>
                  <a:rPr lang="zh-CN" altLang="en-US" dirty="0" smtClean="0"/>
                  <a:t>车间有</a:t>
                </a:r>
                <a:r>
                  <a:rPr lang="en-US" altLang="zh-CN" dirty="0" smtClean="0"/>
                  <a:t>200</a:t>
                </a:r>
                <a:r>
                  <a:rPr lang="zh-CN" altLang="en-US" dirty="0" smtClean="0"/>
                  <a:t>台独立工作的车床，每台工作的概率为</a:t>
                </a:r>
                <a:r>
                  <a:rPr lang="en-US" altLang="zh-CN" dirty="0" smtClean="0"/>
                  <a:t>0.6</a:t>
                </a:r>
                <a:r>
                  <a:rPr lang="zh-CN" altLang="en-US" dirty="0" smtClean="0"/>
                  <a:t>，工作时每台耗电</a:t>
                </a:r>
                <a:r>
                  <a:rPr lang="en-US" altLang="zh-CN" dirty="0" smtClean="0"/>
                  <a:t>1kw,</a:t>
                </a:r>
                <a:r>
                  <a:rPr lang="zh-CN" altLang="en-US" dirty="0" smtClean="0"/>
                  <a:t>问至少供电多少</a:t>
                </a:r>
                <a:r>
                  <a:rPr lang="en-US" altLang="zh-CN" dirty="0" smtClean="0"/>
                  <a:t>kw</a:t>
                </a:r>
                <a:r>
                  <a:rPr lang="zh-CN" altLang="en-US" dirty="0" smtClean="0"/>
                  <a:t>才能以</a:t>
                </a:r>
                <a:r>
                  <a:rPr lang="en-US" altLang="zh-CN" dirty="0" smtClean="0"/>
                  <a:t>99.9%</a:t>
                </a:r>
                <a:r>
                  <a:rPr lang="zh-CN" altLang="en-US" dirty="0" smtClean="0"/>
                  <a:t>的概率保证正常生产。</a:t>
                </a:r>
                <a:endParaRPr lang="en-US" altLang="zh-CN" dirty="0" smtClean="0"/>
              </a:p>
              <a:p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解：记同时工作车床数为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dirty="0" smtClean="0"/>
                  <a:t>，则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  <m:r>
                      <a:rPr lang="en-US" altLang="zh-CN" b="1" i="1" smtClean="0">
                        <a:latin typeface="Cambria Math"/>
                      </a:rPr>
                      <m:t>∼</m:t>
                    </m:r>
                    <m:r>
                      <a:rPr lang="en-US" altLang="zh-CN" b="1" i="1" smtClean="0">
                        <a:latin typeface="Cambria Math"/>
                      </a:rPr>
                      <m:t>𝑩</m:t>
                    </m:r>
                    <m:r>
                      <a:rPr lang="en-US" altLang="zh-CN" b="1" i="1" smtClean="0">
                        <a:latin typeface="Cambria Math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</a:rPr>
                      <m:t>𝟐𝟎𝟎</m:t>
                    </m:r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r>
                      <a:rPr lang="en-US" altLang="zh-CN" b="1" i="1" smtClean="0">
                        <a:latin typeface="Cambria Math"/>
                      </a:rPr>
                      <m:t>𝟎</m:t>
                    </m:r>
                    <m:r>
                      <a:rPr lang="en-US" altLang="zh-CN" b="1" i="1" smtClean="0">
                        <a:latin typeface="Cambria Math"/>
                      </a:rPr>
                      <m:t>.</m:t>
                    </m:r>
                    <m:r>
                      <a:rPr lang="en-US" altLang="zh-CN" b="1" i="1" smtClean="0">
                        <a:latin typeface="Cambria Math"/>
                      </a:rPr>
                      <m:t>𝟔</m:t>
                    </m:r>
                    <m:r>
                      <a:rPr lang="en-US" altLang="zh-CN" b="1" i="1" smtClean="0">
                        <a:latin typeface="Cambria Math"/>
                      </a:rPr>
                      <m:t>)</m:t>
                    </m:r>
                  </m:oMath>
                </a14:m>
                <a:endParaRPr lang="en-US" altLang="zh-CN" b="1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</a:rPr>
                        <m:t>𝑬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𝑿</m:t>
                          </m:r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r>
                        <a:rPr lang="en-US" altLang="zh-CN" b="1" i="1" smtClean="0">
                          <a:latin typeface="Cambria Math"/>
                        </a:rPr>
                        <m:t>𝟏𝟐𝟎</m:t>
                      </m:r>
                      <m:r>
                        <a:rPr lang="en-US" altLang="zh-CN" b="1" i="1" smtClean="0">
                          <a:latin typeface="Cambria Math"/>
                        </a:rPr>
                        <m:t>,</m:t>
                      </m:r>
                      <m:r>
                        <a:rPr lang="en-US" altLang="zh-CN" b="1" i="1" smtClean="0">
                          <a:latin typeface="Cambria Math"/>
                        </a:rPr>
                        <m:t>𝑫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𝑿</m:t>
                          </m:r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r>
                        <a:rPr lang="en-US" altLang="zh-CN" b="1" i="1" smtClean="0">
                          <a:latin typeface="Cambria Math"/>
                        </a:rPr>
                        <m:t>𝟒𝟖</m:t>
                      </m:r>
                    </m:oMath>
                  </m:oMathPara>
                </a14:m>
                <a:endParaRPr lang="en-US" altLang="zh-CN" b="1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由拉普拉斯中心极限定理，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b="1" dirty="0" smtClean="0"/>
                  <a:t>近似服从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𝑵</m:t>
                    </m:r>
                    <m:r>
                      <a:rPr lang="en-US" altLang="zh-CN" b="1" i="1" smtClean="0">
                        <a:latin typeface="Cambria Math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</a:rPr>
                      <m:t>𝟏𝟐𝟎</m:t>
                    </m:r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r>
                      <a:rPr lang="en-US" altLang="zh-CN" b="1" i="1" smtClean="0">
                        <a:latin typeface="Cambria Math"/>
                      </a:rPr>
                      <m:t>𝟒𝟖</m:t>
                    </m:r>
                    <m:r>
                      <a:rPr lang="en-US" altLang="zh-CN" b="1" i="1" smtClean="0">
                        <a:latin typeface="Cambria Math"/>
                      </a:rPr>
                      <m:t>)</m:t>
                    </m:r>
                  </m:oMath>
                </a14:m>
                <a:endParaRPr lang="en-US" altLang="zh-CN" b="1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设至少要供电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𝒔</m:t>
                    </m:r>
                  </m:oMath>
                </a14:m>
                <a:r>
                  <a:rPr lang="en-US" altLang="zh-CN" b="1" dirty="0" smtClean="0"/>
                  <a:t> kw</a:t>
                </a:r>
                <a:r>
                  <a:rPr lang="zh-CN" altLang="en-US" b="1" dirty="0" smtClean="0"/>
                  <a:t>电，则需满足</a:t>
                </a:r>
                <a:endParaRPr lang="en-US" altLang="zh-CN" b="1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𝑿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≤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𝒔</m:t>
                          </m:r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≥</m:t>
                      </m:r>
                      <m:r>
                        <a:rPr lang="en-US" altLang="zh-CN" b="1" i="1" smtClean="0">
                          <a:latin typeface="Cambria Math"/>
                        </a:rPr>
                        <m:t>𝟎</m:t>
                      </m:r>
                      <m:r>
                        <a:rPr lang="en-US" altLang="zh-CN" b="1" i="1" smtClean="0">
                          <a:latin typeface="Cambria Math"/>
                        </a:rPr>
                        <m:t>.</m:t>
                      </m:r>
                      <m:r>
                        <a:rPr lang="en-US" altLang="zh-CN" b="1" i="1" smtClean="0">
                          <a:latin typeface="Cambria Math"/>
                        </a:rPr>
                        <m:t>𝟗𝟗𝟗</m:t>
                      </m:r>
                    </m:oMath>
                  </m:oMathPara>
                </a14:m>
                <a:endParaRPr lang="en-US" altLang="zh-CN" b="1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12648" y="1600200"/>
                <a:ext cx="8279832" cy="4637112"/>
              </a:xfrm>
              <a:blipFill rotWithShape="1">
                <a:blip r:embed="rId2"/>
                <a:stretch>
                  <a:fillRect l="-1620" t="-21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84056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23</a:t>
            </a:fld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9873" y="1700809"/>
            <a:ext cx="5952447" cy="4469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07623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用频率估计概率时误差的估计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604664"/>
          </a:xfrm>
        </p:spPr>
        <p:txBody>
          <a:bodyPr/>
          <a:lstStyle/>
          <a:p>
            <a:r>
              <a:rPr lang="zh-CN" altLang="en-US" dirty="0" smtClean="0"/>
              <a:t>由拉普拉斯中心极限定理知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24</a:t>
            </a:fld>
            <a:endParaRPr lang="zh-CN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2204864"/>
            <a:ext cx="6183288" cy="34694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19244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4781128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zh-CN" altLang="en-US" sz="3100" dirty="0" smtClean="0"/>
                  <a:t>今从良种率为</a:t>
                </a:r>
                <a:r>
                  <a:rPr lang="en-US" altLang="zh-CN" sz="3100" dirty="0" smtClean="0"/>
                  <a:t>1/6</a:t>
                </a:r>
                <a:r>
                  <a:rPr lang="zh-CN" altLang="en-US" sz="3100" dirty="0" smtClean="0"/>
                  <a:t>的种子种任取</a:t>
                </a:r>
                <a:r>
                  <a:rPr lang="en-US" altLang="zh-CN" sz="3100" dirty="0" smtClean="0"/>
                  <a:t>6000</a:t>
                </a:r>
                <a:r>
                  <a:rPr lang="zh-CN" altLang="en-US" sz="3100" dirty="0" smtClean="0"/>
                  <a:t>粒，问能以</a:t>
                </a:r>
                <a:r>
                  <a:rPr lang="en-US" altLang="zh-CN" sz="3100" dirty="0" smtClean="0"/>
                  <a:t>0.99</a:t>
                </a:r>
                <a:r>
                  <a:rPr lang="zh-CN" altLang="en-US" sz="3100" dirty="0" smtClean="0"/>
                  <a:t>的概率保证在这</a:t>
                </a:r>
                <a:r>
                  <a:rPr lang="en-US" altLang="zh-CN" sz="3100" dirty="0" smtClean="0"/>
                  <a:t>6000</a:t>
                </a:r>
                <a:r>
                  <a:rPr lang="zh-CN" altLang="en-US" sz="3100" dirty="0" smtClean="0"/>
                  <a:t>粒种子中良种所占的比例与</a:t>
                </a:r>
                <a:r>
                  <a:rPr lang="en-US" altLang="zh-CN" sz="3100" dirty="0" smtClean="0"/>
                  <a:t>1/6</a:t>
                </a:r>
                <a:r>
                  <a:rPr lang="zh-CN" altLang="en-US" sz="3100" dirty="0" smtClean="0"/>
                  <a:t>的差的绝对值不超过多少？相应的良种粒数在哪个范围内？</a:t>
                </a:r>
                <a:endParaRPr lang="en-US" altLang="zh-CN" sz="3100" dirty="0" smtClean="0"/>
              </a:p>
              <a:p>
                <a:pPr marL="0" indent="0">
                  <a:buNone/>
                </a:pPr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sz="3000" dirty="0" smtClean="0"/>
                  <a:t>解：设良种数为</a:t>
                </a:r>
                <a14:m>
                  <m:oMath xmlns:m="http://schemas.openxmlformats.org/officeDocument/2006/math">
                    <m:r>
                      <a:rPr lang="en-US" altLang="zh-CN" sz="3000" b="1" i="1" smtClean="0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sz="3000" dirty="0" smtClean="0"/>
                  <a:t>，则</a:t>
                </a:r>
                <a14:m>
                  <m:oMath xmlns:m="http://schemas.openxmlformats.org/officeDocument/2006/math">
                    <m:r>
                      <a:rPr lang="en-US" altLang="zh-CN" sz="3000" b="1" i="1" smtClean="0">
                        <a:latin typeface="Cambria Math"/>
                      </a:rPr>
                      <m:t>𝑿</m:t>
                    </m:r>
                    <m:r>
                      <a:rPr lang="en-US" altLang="zh-CN" sz="3000" b="1" i="1" smtClean="0">
                        <a:latin typeface="Cambria Math"/>
                      </a:rPr>
                      <m:t>∼</m:t>
                    </m:r>
                    <m:r>
                      <a:rPr lang="en-US" altLang="zh-CN" sz="3000" b="1" i="1" smtClean="0">
                        <a:latin typeface="Cambria Math"/>
                      </a:rPr>
                      <m:t>𝑩</m:t>
                    </m:r>
                    <m:d>
                      <m:dPr>
                        <m:ctrlPr>
                          <a:rPr lang="en-US" altLang="zh-CN" sz="3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b="1" i="1" smtClean="0">
                            <a:latin typeface="Cambria Math"/>
                          </a:rPr>
                          <m:t>𝟔𝟎𝟎𝟎</m:t>
                        </m:r>
                        <m:r>
                          <a:rPr lang="en-US" altLang="zh-CN" sz="3000" b="1" i="1" smtClean="0">
                            <a:latin typeface="Cambria Math"/>
                          </a:rPr>
                          <m:t>,</m:t>
                        </m:r>
                        <m:f>
                          <m:fPr>
                            <m:ctrlPr>
                              <a:rPr lang="en-US" altLang="zh-CN" sz="3000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b="1" i="1" smtClean="0">
                                <a:latin typeface="Cambria Math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CN" sz="3000" b="1" i="1" smtClean="0">
                                <a:latin typeface="Cambria Math"/>
                              </a:rPr>
                              <m:t>𝟔</m:t>
                            </m:r>
                          </m:den>
                        </m:f>
                      </m:e>
                    </m:d>
                  </m:oMath>
                </a14:m>
                <a:endParaRPr lang="en-US" altLang="zh-CN" sz="30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1" i="1" smtClean="0">
                          <a:latin typeface="Cambria Math"/>
                        </a:rPr>
                        <m:t>𝑬</m:t>
                      </m:r>
                      <m:d>
                        <m:dPr>
                          <m:ctrlPr>
                            <a:rPr lang="en-US" altLang="zh-CN" sz="3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000" b="1" i="1" smtClean="0">
                              <a:latin typeface="Cambria Math"/>
                            </a:rPr>
                            <m:t>𝑿</m:t>
                          </m:r>
                        </m:e>
                      </m:d>
                      <m:r>
                        <a:rPr lang="en-US" altLang="zh-CN" sz="3000" b="1" i="1" smtClean="0">
                          <a:latin typeface="Cambria Math"/>
                        </a:rPr>
                        <m:t>=</m:t>
                      </m:r>
                      <m:r>
                        <a:rPr lang="en-US" altLang="zh-CN" sz="3000" b="1" i="1" smtClean="0">
                          <a:latin typeface="Cambria Math"/>
                        </a:rPr>
                        <m:t>𝟏𝟎𝟎𝟎</m:t>
                      </m:r>
                      <m:r>
                        <a:rPr lang="en-US" altLang="zh-CN" sz="3000" b="1" i="1" smtClean="0">
                          <a:latin typeface="Cambria Math"/>
                        </a:rPr>
                        <m:t>,</m:t>
                      </m:r>
                      <m:r>
                        <a:rPr lang="en-US" altLang="zh-CN" sz="3000" b="1" i="1" smtClean="0">
                          <a:latin typeface="Cambria Math"/>
                        </a:rPr>
                        <m:t>𝑫</m:t>
                      </m:r>
                      <m:d>
                        <m:dPr>
                          <m:ctrlPr>
                            <a:rPr lang="en-US" altLang="zh-CN" sz="3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000" b="1" i="1" smtClean="0">
                              <a:latin typeface="Cambria Math"/>
                            </a:rPr>
                            <m:t>𝑿</m:t>
                          </m:r>
                        </m:e>
                      </m:d>
                      <m:r>
                        <a:rPr lang="en-US" altLang="zh-CN" sz="3000" b="1" i="1" smtClean="0">
                          <a:latin typeface="Cambria Math"/>
                        </a:rPr>
                        <m:t>=</m:t>
                      </m:r>
                      <m:r>
                        <a:rPr lang="en-US" altLang="zh-CN" sz="3000" b="1" i="1" smtClean="0">
                          <a:latin typeface="Cambria Math"/>
                        </a:rPr>
                        <m:t>𝟓𝟎𝟎𝟎</m:t>
                      </m:r>
                      <m:r>
                        <a:rPr lang="en-US" altLang="zh-CN" sz="3000" b="1" i="1" smtClean="0">
                          <a:latin typeface="Cambria Math"/>
                        </a:rPr>
                        <m:t>/</m:t>
                      </m:r>
                      <m:r>
                        <a:rPr lang="en-US" altLang="zh-CN" sz="3000" b="1" i="1" smtClean="0">
                          <a:latin typeface="Cambria Math"/>
                        </a:rPr>
                        <m:t>𝟔</m:t>
                      </m:r>
                    </m:oMath>
                  </m:oMathPara>
                </a14:m>
                <a:endParaRPr lang="en-US" altLang="zh-CN" sz="3000" dirty="0" smtClean="0"/>
              </a:p>
              <a:p>
                <a:pPr marL="0" indent="0">
                  <a:buNone/>
                </a:pPr>
                <a:r>
                  <a:rPr lang="zh-CN" altLang="en-US" sz="3000" dirty="0" smtClean="0"/>
                  <a:t>由中心极限定理知，</a:t>
                </a:r>
                <a14:m>
                  <m:oMath xmlns:m="http://schemas.openxmlformats.org/officeDocument/2006/math">
                    <m:r>
                      <a:rPr lang="en-US" altLang="zh-CN" sz="3000" b="1" i="1" smtClean="0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sz="3000" dirty="0" smtClean="0"/>
                  <a:t>近似服从</a:t>
                </a:r>
                <a14:m>
                  <m:oMath xmlns:m="http://schemas.openxmlformats.org/officeDocument/2006/math">
                    <m:r>
                      <a:rPr lang="en-US" altLang="zh-CN" sz="3000" b="1" i="1" smtClean="0">
                        <a:latin typeface="Cambria Math"/>
                      </a:rPr>
                      <m:t>𝑵</m:t>
                    </m:r>
                    <m:r>
                      <a:rPr lang="en-US" altLang="zh-CN" sz="3000" b="1" i="1" smtClean="0">
                        <a:latin typeface="Cambria Math"/>
                      </a:rPr>
                      <m:t>(</m:t>
                    </m:r>
                    <m:r>
                      <a:rPr lang="en-US" altLang="zh-CN" sz="3000" b="1" i="1" smtClean="0">
                        <a:latin typeface="Cambria Math"/>
                      </a:rPr>
                      <m:t>𝟏𝟎𝟎𝟎</m:t>
                    </m:r>
                    <m:r>
                      <a:rPr lang="en-US" altLang="zh-CN" sz="3000" b="1" i="1" smtClean="0">
                        <a:latin typeface="Cambria Math"/>
                      </a:rPr>
                      <m:t>,</m:t>
                    </m:r>
                    <m:f>
                      <m:fPr>
                        <m:ctrlPr>
                          <a:rPr lang="en-US" altLang="zh-CN" sz="30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b="1" i="1" smtClean="0">
                            <a:latin typeface="Cambria Math"/>
                          </a:rPr>
                          <m:t>𝟓𝟎𝟎𝟎</m:t>
                        </m:r>
                      </m:num>
                      <m:den>
                        <m:r>
                          <a:rPr lang="en-US" altLang="zh-CN" sz="3000" b="1" i="1" smtClean="0">
                            <a:latin typeface="Cambria Math"/>
                          </a:rPr>
                          <m:t>𝟔</m:t>
                        </m:r>
                      </m:den>
                    </m:f>
                    <m:r>
                      <a:rPr lang="en-US" altLang="zh-CN" sz="3000" b="1" i="1" smtClean="0">
                        <a:latin typeface="Cambria Math"/>
                      </a:rPr>
                      <m:t>)</m:t>
                    </m:r>
                  </m:oMath>
                </a14:m>
                <a:endParaRPr lang="en-US" altLang="zh-CN" sz="3000" dirty="0" smtClean="0"/>
              </a:p>
              <a:p>
                <a:pPr marL="0" indent="0">
                  <a:buNone/>
                </a:pPr>
                <a:r>
                  <a:rPr lang="zh-CN" altLang="en-US" sz="3000" dirty="0" smtClean="0"/>
                  <a:t>设不超过</a:t>
                </a:r>
                <a14:m>
                  <m:oMath xmlns:m="http://schemas.openxmlformats.org/officeDocument/2006/math">
                    <m:r>
                      <a:rPr lang="en-US" altLang="zh-CN" sz="3000" b="1" i="1" smtClean="0">
                        <a:latin typeface="Cambria Math"/>
                      </a:rPr>
                      <m:t>𝜶</m:t>
                    </m:r>
                    <m:r>
                      <a:rPr lang="en-US" altLang="zh-CN" sz="3000" b="1" i="1" smtClean="0">
                        <a:latin typeface="Cambria Math"/>
                      </a:rPr>
                      <m:t>,</m:t>
                    </m:r>
                  </m:oMath>
                </a14:m>
                <a:r>
                  <a:rPr lang="zh-CN" altLang="en-US" sz="3000" dirty="0" smtClean="0"/>
                  <a:t>则应有</a:t>
                </a:r>
                <a14:m>
                  <m:oMath xmlns:m="http://schemas.openxmlformats.org/officeDocument/2006/math">
                    <m:r>
                      <a:rPr lang="en-US" altLang="zh-CN" sz="3000" b="1" i="1" smtClean="0"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altLang="zh-CN" sz="3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3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3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000" b="1" i="1" smtClean="0">
                                    <a:latin typeface="Cambria Math"/>
                                  </a:rPr>
                                  <m:t>𝑿</m:t>
                                </m:r>
                              </m:num>
                              <m:den>
                                <m:r>
                                  <a:rPr lang="en-US" altLang="zh-CN" sz="3000" b="1" i="1" smtClean="0">
                                    <a:latin typeface="Cambria Math"/>
                                  </a:rPr>
                                  <m:t>𝟔𝟎𝟎𝟎</m:t>
                                </m:r>
                              </m:den>
                            </m:f>
                            <m:r>
                              <a:rPr lang="en-US" altLang="zh-CN" sz="3000" b="1" i="1" smtClean="0">
                                <a:latin typeface="Cambria Math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CN" sz="3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000" b="1" i="1" smtClean="0">
                                    <a:latin typeface="Cambria Math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n-US" altLang="zh-CN" sz="3000" b="1" i="1" smtClean="0">
                                    <a:latin typeface="Cambria Math"/>
                                  </a:rPr>
                                  <m:t>𝟔</m:t>
                                </m:r>
                              </m:den>
                            </m:f>
                          </m:e>
                        </m:d>
                        <m:r>
                          <a:rPr lang="en-US" altLang="zh-CN" sz="3000" b="1" i="1" smtClean="0">
                            <a:latin typeface="Cambria Math"/>
                          </a:rPr>
                          <m:t>≤</m:t>
                        </m:r>
                        <m:r>
                          <a:rPr lang="en-US" altLang="zh-CN" sz="3000" b="1" i="1" smtClean="0">
                            <a:latin typeface="Cambria Math"/>
                          </a:rPr>
                          <m:t>𝜶</m:t>
                        </m:r>
                      </m:e>
                    </m:d>
                    <m:r>
                      <a:rPr lang="en-US" altLang="zh-CN" sz="3000" b="1" i="1" smtClean="0">
                        <a:latin typeface="Cambria Math"/>
                      </a:rPr>
                      <m:t>=</m:t>
                    </m:r>
                    <m:r>
                      <a:rPr lang="en-US" altLang="zh-CN" sz="3000" b="1" i="1" smtClean="0">
                        <a:latin typeface="Cambria Math"/>
                      </a:rPr>
                      <m:t>𝟎</m:t>
                    </m:r>
                    <m:r>
                      <a:rPr lang="en-US" altLang="zh-CN" sz="3000" b="1" i="1" smtClean="0">
                        <a:latin typeface="Cambria Math"/>
                      </a:rPr>
                      <m:t>.</m:t>
                    </m:r>
                    <m:r>
                      <a:rPr lang="en-US" altLang="zh-CN" sz="3000" b="1" i="1" smtClean="0">
                        <a:latin typeface="Cambria Math"/>
                      </a:rPr>
                      <m:t>𝟗𝟗</m:t>
                    </m:r>
                  </m:oMath>
                </a14:m>
                <a:endParaRPr lang="zh-CN" altLang="en-US" sz="30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12648" y="1600200"/>
                <a:ext cx="8153400" cy="4781128"/>
              </a:xfrm>
              <a:blipFill>
                <a:blip r:embed="rId3"/>
                <a:stretch>
                  <a:fillRect l="-1571" t="-2934" r="-7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52726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26</a:t>
            </a:fld>
            <a:endParaRPr lang="zh-CN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1628800"/>
            <a:ext cx="5760640" cy="4768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97314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27</a:t>
            </a:fld>
            <a:endParaRPr lang="zh-CN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719470"/>
            <a:ext cx="8089142" cy="463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03921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zh-CN" altLang="en-US" dirty="0" smtClean="0"/>
                  <a:t>系统由</a:t>
                </a:r>
                <a:r>
                  <a:rPr lang="en-US" altLang="zh-CN" dirty="0" smtClean="0"/>
                  <a:t>100</a:t>
                </a:r>
                <a:r>
                  <a:rPr lang="zh-CN" altLang="en-US" dirty="0" smtClean="0"/>
                  <a:t>个相互独立的部件组成，每个部件的损坏率为</a:t>
                </a:r>
                <a:r>
                  <a:rPr lang="en-US" altLang="zh-CN" dirty="0" smtClean="0"/>
                  <a:t>0.1</a:t>
                </a:r>
                <a:r>
                  <a:rPr lang="zh-CN" altLang="en-US" dirty="0" smtClean="0"/>
                  <a:t>，至少有</a:t>
                </a:r>
                <a:r>
                  <a:rPr lang="en-US" altLang="zh-CN" dirty="0" smtClean="0"/>
                  <a:t>85</a:t>
                </a:r>
                <a:r>
                  <a:rPr lang="zh-CN" altLang="en-US" dirty="0" smtClean="0"/>
                  <a:t>个部件正常工作，系统才能运行，求系统能运行的概率。</a:t>
                </a:r>
                <a:endParaRPr lang="en-US" altLang="zh-CN" dirty="0" smtClean="0"/>
              </a:p>
              <a:p>
                <a:pPr marL="0" indent="0">
                  <a:buNone/>
                </a:pPr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解：设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dirty="0" smtClean="0"/>
                  <a:t>是损坏的部件数，</a:t>
                </a:r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则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  <m:r>
                      <a:rPr lang="en-US" altLang="zh-CN" b="1" i="1" smtClean="0">
                        <a:latin typeface="Cambria Math"/>
                      </a:rPr>
                      <m:t>∼</m:t>
                    </m:r>
                    <m:r>
                      <a:rPr lang="en-US" altLang="zh-CN" b="1" i="1" smtClean="0">
                        <a:latin typeface="Cambria Math"/>
                      </a:rPr>
                      <m:t>𝑩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𝟏𝟎𝟎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,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𝟎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.</m:t>
                        </m:r>
                        <m:r>
                          <a:rPr lang="en-US" altLang="zh-CN" b="1" i="1" smtClean="0">
                            <a:latin typeface="Cambria Math"/>
                          </a:rPr>
                          <m:t>𝟏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, </m:t>
                    </m:r>
                    <m:r>
                      <a:rPr lang="en-US" altLang="zh-CN" b="1" i="1" smtClean="0">
                        <a:latin typeface="Cambria Math"/>
                      </a:rPr>
                      <m:t>𝑬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𝟏𝟎</m:t>
                    </m:r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r>
                      <a:rPr lang="en-US" altLang="zh-CN" b="1" i="1" smtClean="0">
                        <a:latin typeface="Cambria Math"/>
                      </a:rPr>
                      <m:t>𝑫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/>
                          </a:rPr>
                          <m:t>𝑿</m:t>
                        </m:r>
                      </m:e>
                    </m:d>
                    <m:r>
                      <a:rPr lang="en-US" altLang="zh-CN" b="1" i="1" smtClean="0">
                        <a:latin typeface="Cambria Math"/>
                      </a:rPr>
                      <m:t>=</m:t>
                    </m:r>
                    <m:r>
                      <a:rPr lang="en-US" altLang="zh-CN" b="1" i="1" smtClean="0">
                        <a:latin typeface="Cambria Math"/>
                      </a:rPr>
                      <m:t>𝟗</m:t>
                    </m:r>
                  </m:oMath>
                </a14:m>
                <a:endParaRPr lang="en-US" altLang="zh-CN" dirty="0" smtClean="0"/>
              </a:p>
              <a:p>
                <a:pPr marL="0" indent="0">
                  <a:buNone/>
                </a:pPr>
                <a:r>
                  <a:rPr lang="zh-CN" altLang="en-US" dirty="0" smtClean="0"/>
                  <a:t>由拉普拉斯中心极限定理知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dirty="0" smtClean="0"/>
                  <a:t>近似服从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/>
                      </a:rPr>
                      <m:t>𝑵</m:t>
                    </m:r>
                    <m:r>
                      <a:rPr lang="en-US" altLang="zh-CN" b="1" i="1" smtClean="0">
                        <a:latin typeface="Cambria Math"/>
                      </a:rPr>
                      <m:t>(</m:t>
                    </m:r>
                    <m:r>
                      <a:rPr lang="en-US" altLang="zh-CN" b="1" i="1" smtClean="0">
                        <a:latin typeface="Cambria Math"/>
                      </a:rPr>
                      <m:t>𝟏𝟎</m:t>
                    </m:r>
                    <m:r>
                      <a:rPr lang="en-US" altLang="zh-CN" b="1" i="1" smtClean="0">
                        <a:latin typeface="Cambria Math"/>
                      </a:rPr>
                      <m:t>,</m:t>
                    </m:r>
                    <m:r>
                      <a:rPr lang="en-US" altLang="zh-CN" b="1" i="1" smtClean="0">
                        <a:latin typeface="Cambria Math"/>
                      </a:rPr>
                      <m:t>𝟗</m:t>
                    </m:r>
                    <m:r>
                      <a:rPr lang="en-US" altLang="zh-CN" b="1" i="1" smtClean="0">
                        <a:latin typeface="Cambria Math"/>
                      </a:rPr>
                      <m:t>)</m:t>
                    </m:r>
                  </m:oMath>
                </a14:m>
                <a:endParaRPr lang="en-US" altLang="zh-CN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/>
                            </a:rPr>
                            <m:t>𝑿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≤</m:t>
                          </m:r>
                          <m:r>
                            <a:rPr lang="en-US" altLang="zh-CN" b="1" i="1" smtClean="0">
                              <a:latin typeface="Cambria Math"/>
                            </a:rPr>
                            <m:t>𝟏𝟓</m:t>
                          </m:r>
                        </m:e>
                      </m:d>
                      <m:r>
                        <a:rPr lang="en-US" altLang="zh-CN" b="1" i="1" smtClean="0">
                          <a:latin typeface="Cambria Math"/>
                        </a:rPr>
                        <m:t>=</m:t>
                      </m:r>
                      <m:r>
                        <a:rPr lang="en-US" altLang="zh-CN" b="1" i="1" smtClean="0"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𝑿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𝟏𝟎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b="1" i="1" smtClean="0">
                                      <a:latin typeface="Cambria Math"/>
                                    </a:rPr>
                                    <m:t>𝟗</m:t>
                                  </m:r>
                                </m:e>
                              </m:rad>
                            </m:den>
                          </m:f>
                          <m:r>
                            <a:rPr lang="en-US" altLang="zh-CN" b="1" i="1" smtClean="0">
                              <a:latin typeface="Cambria Math"/>
                            </a:rPr>
                            <m:t>≤</m:t>
                          </m:r>
                          <m:f>
                            <m:f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𝟓</m:t>
                              </m:r>
                            </m:num>
                            <m:den>
                              <m:r>
                                <a:rPr lang="en-US" altLang="zh-CN" b="1" i="1" smtClean="0">
                                  <a:latin typeface="Cambria Math"/>
                                </a:rPr>
                                <m:t>𝟑</m:t>
                              </m:r>
                            </m:den>
                          </m:f>
                        </m:e>
                      </m:d>
                      <m:r>
                        <a:rPr lang="en-US" altLang="zh-CN" i="1">
                          <a:latin typeface="Cambria Math"/>
                          <a:ea typeface="Cambria Math"/>
                        </a:rPr>
                        <m:t>≈</m:t>
                      </m:r>
                      <m:r>
                        <a:rPr lang="en-US" altLang="zh-CN" b="1" i="0" smtClean="0">
                          <a:latin typeface="Cambria Math"/>
                          <a:ea typeface="Cambria Math"/>
                        </a:rPr>
                        <m:t>𝚽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n-US" altLang="zh-CN" b="1" i="0" smtClean="0">
                                  <a:latin typeface="Cambria Math"/>
                                  <a:ea typeface="Cambria Math"/>
                                </a:rPr>
                                <m:t>𝟓</m:t>
                              </m:r>
                            </m:num>
                            <m:den>
                              <m:r>
                                <a:rPr lang="en-US" altLang="zh-CN" b="1" i="0" smtClean="0">
                                  <a:latin typeface="Cambria Math"/>
                                  <a:ea typeface="Cambria Math"/>
                                </a:rPr>
                                <m:t>𝟑</m:t>
                              </m:r>
                            </m:den>
                          </m:f>
                        </m:e>
                      </m:d>
                      <m:r>
                        <a:rPr lang="en-US" altLang="zh-CN" b="1" i="0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altLang="zh-CN" b="1" i="0" smtClean="0">
                          <a:latin typeface="Cambria Math"/>
                          <a:ea typeface="Cambria Math"/>
                        </a:rPr>
                        <m:t>𝟎</m:t>
                      </m:r>
                      <m:r>
                        <a:rPr lang="en-US" altLang="zh-CN" b="1" i="0" smtClean="0">
                          <a:latin typeface="Cambria Math"/>
                          <a:ea typeface="Cambria Math"/>
                        </a:rPr>
                        <m:t>.</m:t>
                      </m:r>
                      <m:r>
                        <a:rPr lang="en-US" altLang="zh-CN" b="1" i="0" smtClean="0">
                          <a:latin typeface="Cambria Math"/>
                          <a:ea typeface="Cambria Math"/>
                        </a:rPr>
                        <m:t>𝟗𝟓𝟐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1645" t="-3121" r="-7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48636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C913308-F349-4B6D-A68A-DD1791B4A57B}" type="slidenum">
              <a:rPr lang="zh-CN" altLang="en-US" smtClean="0"/>
              <a:t>29</a:t>
            </a:fld>
            <a:endParaRPr lang="zh-CN" altLang="en-US" dirty="0"/>
          </a:p>
        </p:txBody>
      </p:sp>
      <p:sp>
        <p:nvSpPr>
          <p:cNvPr id="5" name="Text Box 9"/>
          <p:cNvSpPr txBox="1">
            <a:spLocks noChangeArrowheads="1"/>
          </p:cNvSpPr>
          <p:nvPr/>
        </p:nvSpPr>
        <p:spPr bwMode="auto">
          <a:xfrm>
            <a:off x="611188" y="1844675"/>
            <a:ext cx="7772400" cy="1930400"/>
          </a:xfrm>
          <a:prstGeom prst="rect">
            <a:avLst/>
          </a:prstGeom>
          <a:solidFill>
            <a:srgbClr val="92D050"/>
          </a:solidFill>
          <a:ln w="9525">
            <a:solidFill>
              <a:schemeClr val="hlink"/>
            </a:solidFill>
            <a:prstDash val="dash"/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4000" b="1" dirty="0">
                <a:solidFill>
                  <a:srgbClr val="FF3399"/>
                </a:solidFill>
              </a:rPr>
              <a:t>中心极限定理说明了正态分布的重要地位，它是统计学中处理大样本时的重要工具。</a:t>
            </a:r>
          </a:p>
        </p:txBody>
      </p:sp>
    </p:spTree>
    <p:extLst>
      <p:ext uri="{BB962C8B-B14F-4D97-AF65-F5344CB8AC3E}">
        <p14:creationId xmlns:p14="http://schemas.microsoft.com/office/powerpoint/2010/main" val="2580531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中性">
  <a:themeElements>
    <a:clrScheme name="中性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中性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中性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12081</TotalTime>
  <Words>656</Words>
  <Application>Microsoft Office PowerPoint</Application>
  <PresentationFormat>全屏显示(4:3)</PresentationFormat>
  <Paragraphs>173</Paragraphs>
  <Slides>29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9" baseType="lpstr">
      <vt:lpstr>Tw Cen MT</vt:lpstr>
      <vt:lpstr>华文仿宋</vt:lpstr>
      <vt:lpstr>宋体</vt:lpstr>
      <vt:lpstr>Calibri</vt:lpstr>
      <vt:lpstr>Cambria Math</vt:lpstr>
      <vt:lpstr>Tahoma</vt:lpstr>
      <vt:lpstr>Times New Roman</vt:lpstr>
      <vt:lpstr>Wingdings</vt:lpstr>
      <vt:lpstr>Wingdings 2</vt:lpstr>
      <vt:lpstr>中性</vt:lpstr>
      <vt:lpstr>极限理论</vt:lpstr>
      <vt:lpstr>极限理论</vt:lpstr>
      <vt:lpstr>实例</vt:lpstr>
      <vt:lpstr>实例</vt:lpstr>
      <vt:lpstr>依概率收敛</vt:lpstr>
      <vt:lpstr>连续映射定理</vt:lpstr>
      <vt:lpstr>大数定律：定义</vt:lpstr>
      <vt:lpstr>马尔可夫大数定律</vt:lpstr>
      <vt:lpstr>切比雪夫大数定律</vt:lpstr>
      <vt:lpstr>独立同分布大数定律</vt:lpstr>
      <vt:lpstr>伯努利大数定律</vt:lpstr>
      <vt:lpstr>例</vt:lpstr>
      <vt:lpstr>实例</vt:lpstr>
      <vt:lpstr>中心极限定理：定义</vt:lpstr>
      <vt:lpstr>独立同分布情形中心极限定理</vt:lpstr>
      <vt:lpstr>PowerPoint 演示文稿</vt:lpstr>
      <vt:lpstr>例</vt:lpstr>
      <vt:lpstr>例</vt:lpstr>
      <vt:lpstr>例</vt:lpstr>
      <vt:lpstr>伯努利情形中心极限定理</vt:lpstr>
      <vt:lpstr>推论</vt:lpstr>
      <vt:lpstr>例</vt:lpstr>
      <vt:lpstr>例</vt:lpstr>
      <vt:lpstr>用频率估计概率时误差的估计</vt:lpstr>
      <vt:lpstr>例</vt:lpstr>
      <vt:lpstr>例</vt:lpstr>
      <vt:lpstr>例</vt:lpstr>
      <vt:lpstr>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唐斌</dc:creator>
  <cp:lastModifiedBy>唐 斌</cp:lastModifiedBy>
  <cp:revision>684</cp:revision>
  <dcterms:created xsi:type="dcterms:W3CDTF">2016-02-22T01:45:17Z</dcterms:created>
  <dcterms:modified xsi:type="dcterms:W3CDTF">2018-11-21T04:37:01Z</dcterms:modified>
</cp:coreProperties>
</file>