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57"/>
  </p:notesMasterIdLst>
  <p:handoutMasterIdLst>
    <p:handoutMasterId r:id="rId58"/>
  </p:handoutMasterIdLst>
  <p:sldIdLst>
    <p:sldId id="482" r:id="rId2"/>
    <p:sldId id="485" r:id="rId3"/>
    <p:sldId id="486" r:id="rId4"/>
    <p:sldId id="487" r:id="rId5"/>
    <p:sldId id="488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489" r:id="rId18"/>
    <p:sldId id="501" r:id="rId19"/>
    <p:sldId id="503" r:id="rId20"/>
    <p:sldId id="504" r:id="rId21"/>
    <p:sldId id="505" r:id="rId22"/>
    <p:sldId id="506" r:id="rId23"/>
    <p:sldId id="507" r:id="rId24"/>
    <p:sldId id="508" r:id="rId25"/>
    <p:sldId id="509" r:id="rId26"/>
    <p:sldId id="510" r:id="rId27"/>
    <p:sldId id="511" r:id="rId28"/>
    <p:sldId id="512" r:id="rId29"/>
    <p:sldId id="516" r:id="rId30"/>
    <p:sldId id="517" r:id="rId31"/>
    <p:sldId id="518" r:id="rId32"/>
    <p:sldId id="519" r:id="rId33"/>
    <p:sldId id="520" r:id="rId34"/>
    <p:sldId id="522" r:id="rId35"/>
    <p:sldId id="523" r:id="rId36"/>
    <p:sldId id="525" r:id="rId37"/>
    <p:sldId id="526" r:id="rId38"/>
    <p:sldId id="527" r:id="rId39"/>
    <p:sldId id="528" r:id="rId40"/>
    <p:sldId id="529" r:id="rId41"/>
    <p:sldId id="530" r:id="rId42"/>
    <p:sldId id="531" r:id="rId43"/>
    <p:sldId id="532" r:id="rId44"/>
    <p:sldId id="533" r:id="rId45"/>
    <p:sldId id="534" r:id="rId46"/>
    <p:sldId id="535" r:id="rId47"/>
    <p:sldId id="536" r:id="rId48"/>
    <p:sldId id="537" r:id="rId49"/>
    <p:sldId id="538" r:id="rId50"/>
    <p:sldId id="539" r:id="rId51"/>
    <p:sldId id="540" r:id="rId52"/>
    <p:sldId id="541" r:id="rId53"/>
    <p:sldId id="545" r:id="rId54"/>
    <p:sldId id="546" r:id="rId55"/>
    <p:sldId id="547" r:id="rId56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9A69E43-C52A-4E4F-AE51-FBAC654F9584}">
          <p14:sldIdLst>
            <p14:sldId id="482"/>
            <p14:sldId id="485"/>
            <p14:sldId id="486"/>
            <p14:sldId id="487"/>
            <p14:sldId id="488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</p14:sldIdLst>
        </p14:section>
        <p14:section name="无标题节" id="{41C6E297-B332-4FBB-8BBA-24F4C73014DA}">
          <p14:sldIdLst>
            <p14:sldId id="489"/>
            <p14:sldId id="501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6"/>
            <p14:sldId id="517"/>
            <p14:sldId id="518"/>
            <p14:sldId id="519"/>
            <p14:sldId id="520"/>
            <p14:sldId id="522"/>
            <p14:sldId id="523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5"/>
            <p14:sldId id="546"/>
            <p14:sldId id="5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013E"/>
    <a:srgbClr val="FF5050"/>
    <a:srgbClr val="FF6600"/>
    <a:srgbClr val="FF0066"/>
    <a:srgbClr val="663300"/>
    <a:srgbClr val="CC3399"/>
    <a:srgbClr val="C3E684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4" autoAdjust="0"/>
    <p:restoredTop sz="94484" autoAdjust="0"/>
  </p:normalViewPr>
  <p:slideViewPr>
    <p:cSldViewPr>
      <p:cViewPr varScale="1">
        <p:scale>
          <a:sx n="94" d="100"/>
          <a:sy n="94" d="100"/>
        </p:scale>
        <p:origin x="90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image" Target="../media/image131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image" Target="../media/image13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image" Target="../media/image155.emf"/><Relationship Id="rId1" Type="http://schemas.openxmlformats.org/officeDocument/2006/relationships/image" Target="../media/image154.emf"/><Relationship Id="rId5" Type="http://schemas.openxmlformats.org/officeDocument/2006/relationships/image" Target="../media/image158.wmf"/><Relationship Id="rId4" Type="http://schemas.openxmlformats.org/officeDocument/2006/relationships/image" Target="../media/image157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63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3" Type="http://schemas.openxmlformats.org/officeDocument/2006/relationships/image" Target="../media/image169.emf"/><Relationship Id="rId7" Type="http://schemas.openxmlformats.org/officeDocument/2006/relationships/image" Target="../media/image173.emf"/><Relationship Id="rId2" Type="http://schemas.openxmlformats.org/officeDocument/2006/relationships/image" Target="../media/image168.emf"/><Relationship Id="rId1" Type="http://schemas.openxmlformats.org/officeDocument/2006/relationships/image" Target="../media/image167.emf"/><Relationship Id="rId6" Type="http://schemas.openxmlformats.org/officeDocument/2006/relationships/image" Target="../media/image172.emf"/><Relationship Id="rId5" Type="http://schemas.openxmlformats.org/officeDocument/2006/relationships/image" Target="../media/image171.emf"/><Relationship Id="rId4" Type="http://schemas.openxmlformats.org/officeDocument/2006/relationships/image" Target="../media/image170.emf"/><Relationship Id="rId9" Type="http://schemas.openxmlformats.org/officeDocument/2006/relationships/image" Target="../media/image175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3" Type="http://schemas.openxmlformats.org/officeDocument/2006/relationships/image" Target="../media/image178.emf"/><Relationship Id="rId7" Type="http://schemas.openxmlformats.org/officeDocument/2006/relationships/image" Target="../media/image182.e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9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emf"/><Relationship Id="rId2" Type="http://schemas.openxmlformats.org/officeDocument/2006/relationships/image" Target="../media/image185.emf"/><Relationship Id="rId1" Type="http://schemas.openxmlformats.org/officeDocument/2006/relationships/image" Target="../media/image184.emf"/><Relationship Id="rId4" Type="http://schemas.openxmlformats.org/officeDocument/2006/relationships/image" Target="../media/image187.e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emf"/><Relationship Id="rId3" Type="http://schemas.openxmlformats.org/officeDocument/2006/relationships/image" Target="../media/image190.emf"/><Relationship Id="rId7" Type="http://schemas.openxmlformats.org/officeDocument/2006/relationships/image" Target="../media/image194.e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5" Type="http://schemas.openxmlformats.org/officeDocument/2006/relationships/image" Target="../media/image192.emf"/><Relationship Id="rId4" Type="http://schemas.openxmlformats.org/officeDocument/2006/relationships/image" Target="../media/image191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7" Type="http://schemas.openxmlformats.org/officeDocument/2006/relationships/image" Target="../media/image204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emf"/><Relationship Id="rId2" Type="http://schemas.openxmlformats.org/officeDocument/2006/relationships/image" Target="../media/image206.emf"/><Relationship Id="rId1" Type="http://schemas.openxmlformats.org/officeDocument/2006/relationships/image" Target="../media/image205.emf"/><Relationship Id="rId5" Type="http://schemas.openxmlformats.org/officeDocument/2006/relationships/image" Target="../media/image209.wmf"/><Relationship Id="rId4" Type="http://schemas.openxmlformats.org/officeDocument/2006/relationships/image" Target="../media/image208.e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emf"/><Relationship Id="rId1" Type="http://schemas.openxmlformats.org/officeDocument/2006/relationships/image" Target="../media/image210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emf"/><Relationship Id="rId2" Type="http://schemas.openxmlformats.org/officeDocument/2006/relationships/image" Target="../media/image213.emf"/><Relationship Id="rId1" Type="http://schemas.openxmlformats.org/officeDocument/2006/relationships/image" Target="../media/image212.emf"/><Relationship Id="rId4" Type="http://schemas.openxmlformats.org/officeDocument/2006/relationships/image" Target="../media/image215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e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emf"/><Relationship Id="rId2" Type="http://schemas.openxmlformats.org/officeDocument/2006/relationships/image" Target="../media/image225.emf"/><Relationship Id="rId1" Type="http://schemas.openxmlformats.org/officeDocument/2006/relationships/image" Target="../media/image224.emf"/><Relationship Id="rId5" Type="http://schemas.openxmlformats.org/officeDocument/2006/relationships/image" Target="../media/image228.emf"/><Relationship Id="rId4" Type="http://schemas.openxmlformats.org/officeDocument/2006/relationships/image" Target="../media/image227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emf"/><Relationship Id="rId7" Type="http://schemas.openxmlformats.org/officeDocument/2006/relationships/image" Target="../media/image235.emf"/><Relationship Id="rId2" Type="http://schemas.openxmlformats.org/officeDocument/2006/relationships/image" Target="../media/image230.emf"/><Relationship Id="rId1" Type="http://schemas.openxmlformats.org/officeDocument/2006/relationships/image" Target="../media/image229.e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emf"/><Relationship Id="rId2" Type="http://schemas.openxmlformats.org/officeDocument/2006/relationships/image" Target="../media/image237.emf"/><Relationship Id="rId1" Type="http://schemas.openxmlformats.org/officeDocument/2006/relationships/image" Target="../media/image23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C53CFD1-F208-4F50-8B81-BF262905A1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8481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1024" units="cm"/>
        </inkml:traceFormat>
        <inkml:channelProperties>
          <inkml:channelProperty channel="X" name="resolution" value="40" units="1/cm"/>
          <inkml:channelProperty channel="Y" name="resolution" value="40" units="1/cm"/>
        </inkml:channelProperties>
      </inkml:inkSource>
      <inkml:timestamp xml:id="ts0" timeString="2017-11-01T06:45:47.202"/>
    </inkml:context>
    <inkml:brush xml:id="br0">
      <inkml:brushProperty name="width" value="0.09701" units="cm"/>
      <inkml:brushProperty name="height" value="0.09701" units="cm"/>
      <inkml:brushProperty name="color" value="#CC3399"/>
      <inkml:brushProperty name="fitToCurve" value="1"/>
    </inkml:brush>
  </inkml:definitions>
  <inkml:trace contextRef="#ctx0" brushRef="#br0">0 0,'0'0,"0"0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10-12-15T01:35:35.937"/>
    </inkml:context>
    <inkml:brush xml:id="br0">
      <inkml:brushProperty name="width" value="0.09701" units="cm"/>
      <inkml:brushProperty name="height" value="0.09701" units="cm"/>
      <inkml:brushProperty name="color" value="#FF0066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4538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3288"/>
            <a:ext cx="5335588" cy="446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FA2E17-9F93-4594-92E4-F81AAE60A5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00149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A2E17-9F93-4594-92E4-F81AAE60A54C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194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与</a:t>
            </a:r>
            <a:r>
              <a:rPr lang="en-US" altLang="zh-CN" dirty="0" smtClean="0"/>
              <a:t>MLE</a:t>
            </a:r>
            <a:r>
              <a:rPr lang="zh-CN" altLang="en-US" dirty="0" smtClean="0"/>
              <a:t>相比，可以在不知道分布的情况下使用</a:t>
            </a:r>
            <a:endParaRPr lang="en-US" altLang="zh-CN" dirty="0" smtClean="0"/>
          </a:p>
          <a:p>
            <a:r>
              <a:rPr lang="zh-CN" altLang="en-US" dirty="0" smtClean="0"/>
              <a:t>精读往往不高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A2E17-9F93-4594-92E4-F81AAE60A54C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508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以连续为例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A2E17-9F93-4594-92E4-F81AAE60A54C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7859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未知参数出现在</a:t>
            </a:r>
            <a:r>
              <a:rPr lang="en-US" altLang="zh-CN" dirty="0" smtClean="0"/>
              <a:t>range</a:t>
            </a:r>
            <a:r>
              <a:rPr lang="zh-CN" altLang="en-US" dirty="0" smtClean="0"/>
              <a:t>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A2E17-9F93-4594-92E4-F81AAE60A54C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8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单击以编辑母版副标题样式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3415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419142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9496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35317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918661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382724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92634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8916412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480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5770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292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04BC68C-0E8E-4068-AB15-A80592A859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69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7.bin"/><Relationship Id="rId3" Type="http://schemas.openxmlformats.org/officeDocument/2006/relationships/oleObject" Target="../embeddings/oleObject9.bin"/><Relationship Id="rId21" Type="http://schemas.openxmlformats.org/officeDocument/2006/relationships/image" Target="../media/image18.wmf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11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7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3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oleObject" Target="../embeddings/oleObject26.bin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5.wmf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1.bin"/><Relationship Id="rId14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43.wmf"/><Relationship Id="rId19" Type="http://schemas.openxmlformats.org/officeDocument/2006/relationships/image" Target="../media/image51.png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5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0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0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43.emf"/><Relationship Id="rId4" Type="http://schemas.openxmlformats.org/officeDocument/2006/relationships/image" Target="../media/image107.wmf"/><Relationship Id="rId9" Type="http://schemas.openxmlformats.org/officeDocument/2006/relationships/customXml" Target="../ink/ink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17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6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oleObject" Target="../embeddings/oleObject12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9.wmf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3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21.bin"/><Relationship Id="rId11" Type="http://schemas.openxmlformats.org/officeDocument/2006/relationships/oleObject" Target="../embeddings/oleObject124.bin"/><Relationship Id="rId5" Type="http://schemas.openxmlformats.org/officeDocument/2006/relationships/image" Target="../media/image118.wmf"/><Relationship Id="rId15" Type="http://schemas.openxmlformats.org/officeDocument/2006/relationships/oleObject" Target="../embeddings/oleObject126.bin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20.wmf"/><Relationship Id="rId14" Type="http://schemas.openxmlformats.org/officeDocument/2006/relationships/image" Target="../media/image12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2.bin"/><Relationship Id="rId18" Type="http://schemas.openxmlformats.org/officeDocument/2006/relationships/oleObject" Target="../embeddings/oleObject135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28.wmf"/><Relationship Id="rId17" Type="http://schemas.openxmlformats.org/officeDocument/2006/relationships/image" Target="../media/image13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4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image" Target="../media/image129.wmf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0.bin"/><Relationship Id="rId14" Type="http://schemas.openxmlformats.org/officeDocument/2006/relationships/oleObject" Target="../embeddings/oleObject13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1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33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7" Type="http://schemas.openxmlformats.org/officeDocument/2006/relationships/image" Target="../media/image1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3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48.bin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5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7.e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46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5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52.e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5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55.e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157.emf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6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68.bin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4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7" Type="http://schemas.openxmlformats.org/officeDocument/2006/relationships/image" Target="../media/image1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70.bin"/><Relationship Id="rId5" Type="http://schemas.openxmlformats.org/officeDocument/2006/relationships/image" Target="../media/image166.png"/><Relationship Id="rId4" Type="http://schemas.openxmlformats.org/officeDocument/2006/relationships/image" Target="../media/image16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4.e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1.e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3.emf"/><Relationship Id="rId20" Type="http://schemas.openxmlformats.org/officeDocument/2006/relationships/image" Target="../media/image175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68.e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70.e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67.e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72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80.emf"/><Relationship Id="rId18" Type="http://schemas.openxmlformats.org/officeDocument/2006/relationships/oleObject" Target="../embeddings/oleObject187.bin"/><Relationship Id="rId3" Type="http://schemas.openxmlformats.org/officeDocument/2006/relationships/oleObject" Target="../embeddings/oleObject180.bin"/><Relationship Id="rId21" Type="http://schemas.openxmlformats.org/officeDocument/2006/relationships/image" Target="../../clipboard/media/image51.emf"/><Relationship Id="rId7" Type="http://schemas.openxmlformats.org/officeDocument/2006/relationships/slide" Target="slide49.xml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8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6.bin"/><Relationship Id="rId20" Type="http://schemas.openxmlformats.org/officeDocument/2006/relationships/customXml" Target="../ink/ink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77.emf"/><Relationship Id="rId11" Type="http://schemas.openxmlformats.org/officeDocument/2006/relationships/image" Target="../media/image179.emf"/><Relationship Id="rId5" Type="http://schemas.openxmlformats.org/officeDocument/2006/relationships/oleObject" Target="../embeddings/oleObject181.bin"/><Relationship Id="rId15" Type="http://schemas.openxmlformats.org/officeDocument/2006/relationships/image" Target="../media/image181.emf"/><Relationship Id="rId10" Type="http://schemas.openxmlformats.org/officeDocument/2006/relationships/oleObject" Target="../embeddings/oleObject183.bin"/><Relationship Id="rId19" Type="http://schemas.openxmlformats.org/officeDocument/2006/relationships/image" Target="../media/image183.emf"/><Relationship Id="rId4" Type="http://schemas.openxmlformats.org/officeDocument/2006/relationships/image" Target="../media/image176.emf"/><Relationship Id="rId9" Type="http://schemas.openxmlformats.org/officeDocument/2006/relationships/image" Target="../media/image178.emf"/><Relationship Id="rId14" Type="http://schemas.openxmlformats.org/officeDocument/2006/relationships/oleObject" Target="../embeddings/oleObject18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85.emf"/><Relationship Id="rId5" Type="http://schemas.openxmlformats.org/officeDocument/2006/relationships/oleObject" Target="../embeddings/oleObject189.bin"/><Relationship Id="rId10" Type="http://schemas.openxmlformats.org/officeDocument/2006/relationships/image" Target="../media/image187.emf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191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192.emf"/><Relationship Id="rId18" Type="http://schemas.openxmlformats.org/officeDocument/2006/relationships/oleObject" Target="../embeddings/oleObject199.bin"/><Relationship Id="rId3" Type="http://schemas.openxmlformats.org/officeDocument/2006/relationships/image" Target="../media/image196.png"/><Relationship Id="rId7" Type="http://schemas.openxmlformats.org/officeDocument/2006/relationships/image" Target="../media/image189.wmf"/><Relationship Id="rId12" Type="http://schemas.openxmlformats.org/officeDocument/2006/relationships/oleObject" Target="../embeddings/oleObject196.bin"/><Relationship Id="rId17" Type="http://schemas.openxmlformats.org/officeDocument/2006/relationships/image" Target="../media/image194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8.bin"/><Relationship Id="rId20" Type="http://schemas.openxmlformats.org/officeDocument/2006/relationships/image" Target="../media/image197.png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191.emf"/><Relationship Id="rId5" Type="http://schemas.openxmlformats.org/officeDocument/2006/relationships/image" Target="../media/image188.wmf"/><Relationship Id="rId15" Type="http://schemas.openxmlformats.org/officeDocument/2006/relationships/image" Target="../media/image193.wmf"/><Relationship Id="rId10" Type="http://schemas.openxmlformats.org/officeDocument/2006/relationships/oleObject" Target="../embeddings/oleObject195.bin"/><Relationship Id="rId19" Type="http://schemas.openxmlformats.org/officeDocument/2006/relationships/image" Target="../media/image195.emf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190.emf"/><Relationship Id="rId14" Type="http://schemas.openxmlformats.org/officeDocument/2006/relationships/oleObject" Target="../embeddings/oleObject19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205.bin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2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4.e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10" Type="http://schemas.openxmlformats.org/officeDocument/2006/relationships/image" Target="../media/image201.e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3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emf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0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06.e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0" Type="http://schemas.openxmlformats.org/officeDocument/2006/relationships/image" Target="../media/image208.emf"/><Relationship Id="rId4" Type="http://schemas.openxmlformats.org/officeDocument/2006/relationships/image" Target="../media/image205.emf"/><Relationship Id="rId9" Type="http://schemas.openxmlformats.org/officeDocument/2006/relationships/oleObject" Target="../embeddings/oleObject210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11.emf"/><Relationship Id="rId5" Type="http://schemas.openxmlformats.org/officeDocument/2006/relationships/oleObject" Target="../embeddings/oleObject213.bin"/><Relationship Id="rId4" Type="http://schemas.openxmlformats.org/officeDocument/2006/relationships/image" Target="../media/image210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13.emf"/><Relationship Id="rId5" Type="http://schemas.openxmlformats.org/officeDocument/2006/relationships/oleObject" Target="../embeddings/oleObject215.bin"/><Relationship Id="rId10" Type="http://schemas.openxmlformats.org/officeDocument/2006/relationships/image" Target="../media/image215.wmf"/><Relationship Id="rId4" Type="http://schemas.openxmlformats.org/officeDocument/2006/relationships/image" Target="../media/image212.emf"/><Relationship Id="rId9" Type="http://schemas.openxmlformats.org/officeDocument/2006/relationships/oleObject" Target="../embeddings/oleObject217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oleObject" Target="../embeddings/oleObject223.bin"/><Relationship Id="rId18" Type="http://schemas.openxmlformats.org/officeDocument/2006/relationships/oleObject" Target="../embeddings/oleObject225.bin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20.wmf"/><Relationship Id="rId17" Type="http://schemas.openxmlformats.org/officeDocument/2006/relationships/slide" Target="slide49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2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10" Type="http://schemas.openxmlformats.org/officeDocument/2006/relationships/image" Target="../media/image219.wmf"/><Relationship Id="rId19" Type="http://schemas.openxmlformats.org/officeDocument/2006/relationships/image" Target="../media/image223.emf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21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e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25.e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0" Type="http://schemas.openxmlformats.org/officeDocument/2006/relationships/image" Target="../media/image227.emf"/><Relationship Id="rId4" Type="http://schemas.openxmlformats.org/officeDocument/2006/relationships/image" Target="../media/image224.emf"/><Relationship Id="rId9" Type="http://schemas.openxmlformats.org/officeDocument/2006/relationships/oleObject" Target="../embeddings/oleObject22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emf"/><Relationship Id="rId13" Type="http://schemas.openxmlformats.org/officeDocument/2006/relationships/oleObject" Target="../embeddings/oleObject236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5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30.e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232.emf"/><Relationship Id="rId4" Type="http://schemas.openxmlformats.org/officeDocument/2006/relationships/image" Target="../media/image229.e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34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37.e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3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参数估计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8288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矩估计</a:t>
            </a:r>
            <a:r>
              <a:rPr lang="en-US" altLang="zh-CN" sz="3200" dirty="0"/>
              <a:t>(The Method of Moments)</a:t>
            </a:r>
          </a:p>
          <a:p>
            <a:endParaRPr lang="en-US" altLang="zh-CN" sz="3200" dirty="0" smtClean="0"/>
          </a:p>
          <a:p>
            <a:r>
              <a:rPr lang="zh-CN" altLang="en-US" sz="3200" dirty="0" smtClean="0"/>
              <a:t>极大似然估计（</a:t>
            </a:r>
            <a:r>
              <a:rPr lang="en-US" altLang="zh-CN" sz="3200" dirty="0" smtClean="0"/>
              <a:t>The Method of Maximum Likelihood</a:t>
            </a:r>
            <a:r>
              <a:rPr lang="zh-CN" altLang="en-US" sz="3200" dirty="0" smtClean="0"/>
              <a:t>）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估计量的评选标准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35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点估计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5071" y="1665473"/>
            <a:ext cx="8060220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 smtClean="0"/>
              <a:t>参数的</a:t>
            </a:r>
            <a:r>
              <a:rPr lang="zh-CN" altLang="en-US" sz="3600" b="1" dirty="0">
                <a:solidFill>
                  <a:srgbClr val="CC3399"/>
                </a:solidFill>
              </a:rPr>
              <a:t>点估计</a:t>
            </a:r>
            <a:r>
              <a:rPr lang="zh-CN" altLang="en-US" sz="3600" b="1" dirty="0"/>
              <a:t>就是对总体分布中的未知</a:t>
            </a:r>
          </a:p>
          <a:p>
            <a:pPr eaLnBrk="1" hangingPunct="1"/>
            <a:endParaRPr lang="zh-CN" altLang="en-US" sz="1200" b="1" dirty="0"/>
          </a:p>
          <a:p>
            <a:pPr eaLnBrk="1" hangingPunct="1"/>
            <a:r>
              <a:rPr lang="zh-CN" altLang="en-US" sz="3600" b="1" dirty="0"/>
              <a:t>参数</a:t>
            </a:r>
            <a:r>
              <a:rPr lang="el-GR" altLang="zh-CN" sz="3800" b="1" dirty="0">
                <a:cs typeface="Times New Roman" panose="02020603050405020304" pitchFamily="18" charset="0"/>
              </a:rPr>
              <a:t>θ</a:t>
            </a:r>
            <a:r>
              <a:rPr lang="en-US" altLang="zh-CN" sz="3600" b="1" dirty="0">
                <a:cs typeface="Times New Roman" panose="02020603050405020304" pitchFamily="18" charset="0"/>
              </a:rPr>
              <a:t>, </a:t>
            </a:r>
            <a:r>
              <a:rPr lang="zh-CN" altLang="en-US" sz="3600" b="1" dirty="0"/>
              <a:t>以样本</a:t>
            </a:r>
            <a:r>
              <a:rPr lang="en-US" altLang="zh-CN" sz="3600" b="1" dirty="0"/>
              <a:t>X</a:t>
            </a:r>
            <a:r>
              <a:rPr lang="en-US" altLang="zh-CN" sz="3600" b="1" baseline="-25000" dirty="0"/>
              <a:t>1</a:t>
            </a:r>
            <a:r>
              <a:rPr lang="en-US" altLang="zh-CN" sz="3600" b="1" dirty="0"/>
              <a:t>, X</a:t>
            </a:r>
            <a:r>
              <a:rPr lang="en-US" altLang="zh-CN" sz="3600" b="1" baseline="-25000" dirty="0"/>
              <a:t>2</a:t>
            </a:r>
            <a:r>
              <a:rPr lang="en-US" altLang="zh-CN" sz="3600" b="1" dirty="0"/>
              <a:t>, ... </a:t>
            </a:r>
            <a:r>
              <a:rPr lang="en-US" altLang="zh-CN" sz="3600" b="1" dirty="0" err="1"/>
              <a:t>X</a:t>
            </a:r>
            <a:r>
              <a:rPr lang="en-US" altLang="zh-CN" sz="3600" b="1" baseline="-25000" dirty="0" err="1"/>
              <a:t>n</a:t>
            </a:r>
            <a:r>
              <a:rPr lang="zh-CN" altLang="en-US" sz="3600" b="1" dirty="0"/>
              <a:t>构造</a:t>
            </a:r>
            <a:r>
              <a:rPr lang="zh-CN" altLang="en-US" sz="3600" b="1" dirty="0" smtClean="0"/>
              <a:t>统计量</a:t>
            </a:r>
            <a:endParaRPr lang="zh-CN" altLang="en-US" sz="3600" b="1" dirty="0"/>
          </a:p>
          <a:p>
            <a:pPr eaLnBrk="1" hangingPunct="1"/>
            <a:endParaRPr lang="zh-CN" altLang="en-US" sz="1200" b="1" dirty="0"/>
          </a:p>
          <a:p>
            <a:pPr eaLnBrk="1" hangingPunct="1"/>
            <a:r>
              <a:rPr lang="zh-CN" altLang="en-US" sz="3600" b="1" dirty="0"/>
              <a:t>                           作为参数</a:t>
            </a:r>
            <a:r>
              <a:rPr lang="el-GR" altLang="zh-CN" sz="3600" b="1" dirty="0"/>
              <a:t>θ</a:t>
            </a:r>
            <a:r>
              <a:rPr lang="zh-CN" altLang="en-US" sz="3600" b="1" dirty="0"/>
              <a:t>的估计</a:t>
            </a:r>
            <a:r>
              <a:rPr lang="en-US" altLang="zh-CN" sz="3600" b="1" dirty="0"/>
              <a:t>,  </a:t>
            </a:r>
            <a:r>
              <a:rPr lang="zh-CN" altLang="en-US" sz="3600" b="1" dirty="0"/>
              <a:t>称</a:t>
            </a:r>
          </a:p>
          <a:p>
            <a:pPr eaLnBrk="1" hangingPunct="1"/>
            <a:endParaRPr lang="zh-CN" altLang="en-US" sz="1200" b="1" dirty="0"/>
          </a:p>
          <a:p>
            <a:pPr eaLnBrk="1" hangingPunct="1"/>
            <a:r>
              <a:rPr lang="zh-CN" altLang="en-US" sz="3600" b="1" dirty="0"/>
              <a:t>                           为参数</a:t>
            </a:r>
            <a:r>
              <a:rPr lang="el-GR" altLang="zh-CN" sz="3600" b="1" dirty="0"/>
              <a:t>θ</a:t>
            </a:r>
            <a:r>
              <a:rPr lang="zh-CN" altLang="en-US" sz="3600" b="1" dirty="0">
                <a:solidFill>
                  <a:srgbClr val="DF21C4"/>
                </a:solidFill>
              </a:rPr>
              <a:t>估计量</a:t>
            </a:r>
            <a:r>
              <a:rPr lang="zh-CN" altLang="en-US" sz="3600" b="1" dirty="0"/>
              <a:t>。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11188" y="3860800"/>
          <a:ext cx="29511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98" name="Equation" r:id="rId3" imgW="1104900" imgH="254000" progId="Equation.DSMT4">
                  <p:embed/>
                </p:oleObj>
              </mc:Choice>
              <mc:Fallback>
                <p:oleObj name="Equation" r:id="rId3" imgW="1104900" imgH="254000" progId="Equation.DSMT4">
                  <p:embed/>
                  <p:pic>
                    <p:nvPicPr>
                      <p:cNvPr id="1065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60800"/>
                        <a:ext cx="2951162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39750" y="4795838"/>
            <a:ext cx="83534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latin typeface="宋体" panose="02010600030101010101" pitchFamily="2" charset="-122"/>
              </a:rPr>
              <a:t>当测得样本值</a:t>
            </a:r>
            <a:r>
              <a:rPr lang="en-US" altLang="zh-CN" sz="3600" b="1">
                <a:latin typeface="宋体" panose="02010600030101010101" pitchFamily="2" charset="-122"/>
              </a:rPr>
              <a:t>(</a:t>
            </a:r>
            <a:r>
              <a:rPr lang="en-US" altLang="zh-CN" sz="3600" b="1" i="1"/>
              <a:t>x</a:t>
            </a:r>
            <a:r>
              <a:rPr lang="en-US" altLang="zh-CN" sz="3600" b="1" baseline="-25000"/>
              <a:t>1</a:t>
            </a:r>
            <a:r>
              <a:rPr lang="en-US" altLang="zh-CN" sz="3600" b="1"/>
              <a:t>, </a:t>
            </a:r>
            <a:r>
              <a:rPr lang="en-US" altLang="zh-CN" sz="3600" b="1" i="1"/>
              <a:t>x</a:t>
            </a:r>
            <a:r>
              <a:rPr lang="en-US" altLang="zh-CN" sz="3600" b="1" baseline="-25000"/>
              <a:t>2</a:t>
            </a:r>
            <a:r>
              <a:rPr lang="en-US" altLang="zh-CN" sz="3600" b="1"/>
              <a:t>,…, </a:t>
            </a:r>
            <a:r>
              <a:rPr lang="en-US" altLang="zh-CN" sz="3600" b="1" i="1"/>
              <a:t>x</a:t>
            </a:r>
            <a:r>
              <a:rPr lang="en-US" altLang="zh-CN" sz="3600" b="1" i="1" baseline="-25000"/>
              <a:t>n</a:t>
            </a:r>
            <a:r>
              <a:rPr lang="en-US" altLang="zh-CN" sz="3600" b="1">
                <a:latin typeface="宋体" panose="02010600030101010101" pitchFamily="2" charset="-122"/>
              </a:rPr>
              <a:t>)</a:t>
            </a:r>
            <a:r>
              <a:rPr lang="zh-CN" altLang="en-US" sz="3600" b="1">
                <a:latin typeface="宋体" panose="02010600030101010101" pitchFamily="2" charset="-122"/>
              </a:rPr>
              <a:t>时</a:t>
            </a:r>
            <a:r>
              <a:rPr lang="en-US" altLang="zh-CN" sz="3600" b="1">
                <a:latin typeface="宋体" panose="02010600030101010101" pitchFamily="2" charset="-122"/>
              </a:rPr>
              <a:t>, </a:t>
            </a:r>
            <a:r>
              <a:rPr lang="zh-CN" altLang="en-US" sz="3600" b="1">
                <a:latin typeface="宋体" panose="02010600030101010101" pitchFamily="2" charset="-122"/>
              </a:rPr>
              <a:t>代入 ，</a:t>
            </a:r>
          </a:p>
          <a:p>
            <a:pPr eaLnBrk="1" hangingPunct="1"/>
            <a:endParaRPr lang="zh-CN" altLang="en-US" sz="1200" b="1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600" b="1">
                <a:latin typeface="宋体" panose="02010600030101010101" pitchFamily="2" charset="-122"/>
              </a:rPr>
              <a:t>即可得到</a:t>
            </a:r>
            <a:r>
              <a:rPr lang="zh-CN" altLang="en-US" sz="3600" b="1"/>
              <a:t>参数</a:t>
            </a:r>
            <a:r>
              <a:rPr lang="el-GR" altLang="zh-CN" sz="3600" b="1"/>
              <a:t>θ</a:t>
            </a:r>
            <a:r>
              <a:rPr lang="zh-CN" altLang="en-US" sz="3600" b="1">
                <a:solidFill>
                  <a:srgbClr val="DF21C4"/>
                </a:solidFill>
              </a:rPr>
              <a:t>估计值</a:t>
            </a:r>
            <a:r>
              <a:rPr lang="zh-CN" altLang="en-US" sz="3600" b="1">
                <a:latin typeface="宋体" panose="02010600030101010101" pitchFamily="2" charset="-122"/>
              </a:rPr>
              <a:t>：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7812088" y="4724400"/>
          <a:ext cx="342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199" name="Equation" r:id="rId5" imgW="114151" imgH="215619" progId="Equation.DSMT4">
                  <p:embed/>
                </p:oleObj>
              </mc:Choice>
              <mc:Fallback>
                <p:oleObj name="Equation" r:id="rId5" imgW="114151" imgH="215619" progId="Equation.DSMT4">
                  <p:embed/>
                  <p:pic>
                    <p:nvPicPr>
                      <p:cNvPr id="1065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4724400"/>
                        <a:ext cx="342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518150" y="5545138"/>
          <a:ext cx="264636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0" name="Equation" r:id="rId7" imgW="990170" imgH="253890" progId="Equation.DSMT4">
                  <p:embed/>
                </p:oleObj>
              </mc:Choice>
              <mc:Fallback>
                <p:oleObj name="Equation" r:id="rId7" imgW="990170" imgH="253890" progId="Equation.DSMT4">
                  <p:embed/>
                  <p:pic>
                    <p:nvPicPr>
                      <p:cNvPr id="1065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5545138"/>
                        <a:ext cx="264636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955047"/>
              </p:ext>
            </p:extLst>
          </p:nvPr>
        </p:nvGraphicFramePr>
        <p:xfrm>
          <a:off x="611560" y="3109590"/>
          <a:ext cx="29511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01" name="Equation" r:id="rId9" imgW="1104900" imgH="254000" progId="Equation.DSMT4">
                  <p:embed/>
                </p:oleObj>
              </mc:Choice>
              <mc:Fallback>
                <p:oleObj name="Equation" r:id="rId9" imgW="1104900" imgH="254000" progId="Equation.DSMT4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109590"/>
                        <a:ext cx="2951162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955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区间估计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395536" y="1643361"/>
                <a:ext cx="8496944" cy="402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600" b="1" dirty="0" smtClean="0"/>
                  <a:t>参数的</a:t>
                </a:r>
                <a:r>
                  <a:rPr lang="zh-CN" altLang="en-US" sz="3600" b="1" dirty="0">
                    <a:solidFill>
                      <a:srgbClr val="CC3399"/>
                    </a:solidFill>
                  </a:rPr>
                  <a:t>区间估计</a:t>
                </a:r>
                <a:r>
                  <a:rPr lang="zh-CN" altLang="en-US" sz="3600" b="1" dirty="0"/>
                  <a:t>是对总体分布中的未知</a:t>
                </a:r>
              </a:p>
              <a:p>
                <a:pPr eaLnBrk="1" hangingPunct="1"/>
                <a:endParaRPr lang="zh-CN" altLang="en-US" sz="1200" b="1" dirty="0"/>
              </a:p>
              <a:p>
                <a:pPr eaLnBrk="1" hangingPunct="1"/>
                <a:r>
                  <a:rPr lang="zh-CN" altLang="en-US" sz="3600" b="1" dirty="0"/>
                  <a:t>参数</a:t>
                </a:r>
                <a:r>
                  <a:rPr lang="el-GR" altLang="zh-CN" sz="3800" b="1" dirty="0">
                    <a:cs typeface="Times New Roman" panose="02020603050405020304" pitchFamily="18" charset="0"/>
                  </a:rPr>
                  <a:t>θ</a:t>
                </a:r>
                <a:r>
                  <a:rPr lang="en-US" altLang="zh-CN" sz="3600" b="1" dirty="0">
                    <a:cs typeface="Times New Roman" panose="02020603050405020304" pitchFamily="18" charset="0"/>
                  </a:rPr>
                  <a:t>, </a:t>
                </a:r>
                <a:r>
                  <a:rPr lang="zh-CN" altLang="en-US" sz="3600" b="1" dirty="0"/>
                  <a:t>以样本</a:t>
                </a:r>
                <a:r>
                  <a:rPr lang="en-US" altLang="zh-CN" sz="3600" b="1" dirty="0"/>
                  <a:t>X</a:t>
                </a:r>
                <a:r>
                  <a:rPr lang="en-US" altLang="zh-CN" sz="3600" b="1" baseline="-25000" dirty="0"/>
                  <a:t>1</a:t>
                </a:r>
                <a:r>
                  <a:rPr lang="en-US" altLang="zh-CN" sz="3600" b="1" dirty="0"/>
                  <a:t>, X</a:t>
                </a:r>
                <a:r>
                  <a:rPr lang="en-US" altLang="zh-CN" sz="3600" b="1" baseline="-25000" dirty="0"/>
                  <a:t>2</a:t>
                </a:r>
                <a:r>
                  <a:rPr lang="en-US" altLang="zh-CN" sz="3600" b="1" dirty="0"/>
                  <a:t>, ... </a:t>
                </a:r>
                <a:r>
                  <a:rPr lang="en-US" altLang="zh-CN" sz="3600" b="1" dirty="0" err="1"/>
                  <a:t>X</a:t>
                </a:r>
                <a:r>
                  <a:rPr lang="en-US" altLang="zh-CN" sz="3600" b="1" baseline="-25000" dirty="0" err="1"/>
                  <a:t>n</a:t>
                </a:r>
                <a:r>
                  <a:rPr lang="zh-CN" altLang="en-US" sz="3600" b="1" dirty="0"/>
                  <a:t>构造</a:t>
                </a:r>
                <a:r>
                  <a:rPr lang="en-US" altLang="zh-CN" sz="3600" b="1" dirty="0"/>
                  <a:t>2</a:t>
                </a:r>
                <a:r>
                  <a:rPr lang="zh-CN" altLang="en-US" sz="3600" b="1" dirty="0"/>
                  <a:t>个统计</a:t>
                </a:r>
              </a:p>
              <a:p>
                <a:pPr eaLnBrk="1" hangingPunct="1"/>
                <a:endParaRPr lang="zh-CN" altLang="en-US" sz="1200" b="1" dirty="0"/>
              </a:p>
              <a:p>
                <a:pPr eaLnBrk="1" hangingPunct="1"/>
                <a:r>
                  <a:rPr lang="zh-CN" altLang="en-US" sz="3600" b="1" dirty="0"/>
                  <a:t> 量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36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600" b="1" dirty="0" smtClean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36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3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600" b="1" dirty="0" smtClean="0"/>
                  <a:t>，                           </a:t>
                </a:r>
                <a:endParaRPr lang="zh-CN" altLang="en-US" sz="3600" b="1" dirty="0"/>
              </a:p>
              <a:p>
                <a:pPr eaLnBrk="1" hangingPunct="1"/>
                <a:endParaRPr lang="zh-CN" altLang="en-US" sz="1200" b="1" dirty="0"/>
              </a:p>
              <a:p>
                <a:pPr eaLnBrk="1" hangingPunct="1"/>
                <a:r>
                  <a:rPr lang="zh-CN" altLang="en-US" sz="3600" b="1" dirty="0"/>
                  <a:t> 以区间              作为参数</a:t>
                </a:r>
                <a:r>
                  <a:rPr lang="el-GR" altLang="zh-CN" sz="3600" b="1" dirty="0"/>
                  <a:t>θ</a:t>
                </a:r>
                <a:r>
                  <a:rPr lang="zh-CN" altLang="en-US" sz="3600" b="1" dirty="0"/>
                  <a:t>的估计</a:t>
                </a:r>
                <a:r>
                  <a:rPr lang="zh-CN" altLang="en-US" sz="3600" b="1" dirty="0" smtClean="0"/>
                  <a:t>。</a:t>
                </a:r>
                <a:endParaRPr lang="en-US" altLang="zh-CN" sz="3600" b="1" dirty="0" smtClean="0"/>
              </a:p>
              <a:p>
                <a:pPr eaLnBrk="1" hangingPunct="1"/>
                <a:r>
                  <a:rPr lang="zh-CN" altLang="en-US" sz="3600" b="1" dirty="0" smtClean="0"/>
                  <a:t> </a:t>
                </a:r>
                <a:endParaRPr lang="en-US" altLang="zh-CN" sz="3600" b="1" dirty="0" smtClean="0"/>
              </a:p>
              <a:p>
                <a:pPr eaLnBrk="1" hangingPunct="1"/>
                <a:r>
                  <a:rPr lang="zh-CN" altLang="en-US" sz="3600" b="1" dirty="0" smtClean="0"/>
                  <a:t>对给定</a:t>
                </a:r>
                <a:r>
                  <a:rPr lang="zh-CN" altLang="en-US" sz="3600" b="1" dirty="0"/>
                  <a:t>的概率</a:t>
                </a:r>
                <a:r>
                  <a:rPr lang="en-US" altLang="zh-CN" sz="3300" b="1" dirty="0"/>
                  <a:t>1</a:t>
                </a:r>
                <a:r>
                  <a:rPr lang="en-US" altLang="zh-CN" sz="3600" b="1" dirty="0"/>
                  <a:t>- </a:t>
                </a:r>
                <a:r>
                  <a:rPr lang="el-GR" altLang="zh-CN" sz="3600" b="1" dirty="0"/>
                  <a:t>α</a:t>
                </a:r>
                <a:r>
                  <a:rPr lang="zh-CN" altLang="en-US" sz="3600" b="1" dirty="0"/>
                  <a:t>，满足：  </a:t>
                </a:r>
              </a:p>
            </p:txBody>
          </p:sp>
        </mc:Choice>
        <mc:Fallback xmlns=""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1643361"/>
                <a:ext cx="8496944" cy="4024500"/>
              </a:xfrm>
              <a:prstGeom prst="rect">
                <a:avLst/>
              </a:prstGeom>
              <a:blipFill>
                <a:blip r:embed="rId3"/>
                <a:stretch>
                  <a:fillRect l="-2224" t="-3030" r="-7604" b="-48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591576"/>
              </p:ext>
            </p:extLst>
          </p:nvPr>
        </p:nvGraphicFramePr>
        <p:xfrm>
          <a:off x="2123728" y="3875708"/>
          <a:ext cx="1296987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1" name="Equation" r:id="rId4" imgW="520474" imgH="253890" progId="Equation.DSMT4">
                  <p:embed/>
                </p:oleObj>
              </mc:Choice>
              <mc:Fallback>
                <p:oleObj name="Equation" r:id="rId4" imgW="520474" imgH="253890" progId="Equation.DSMT4">
                  <p:embed/>
                  <p:pic>
                    <p:nvPicPr>
                      <p:cNvPr id="1075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875708"/>
                        <a:ext cx="1296987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5536" y="5668365"/>
                <a:ext cx="8641789" cy="644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668365"/>
                <a:ext cx="8641789" cy="644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88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矩估计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625641" y="1700808"/>
            <a:ext cx="7508875" cy="1412875"/>
          </a:xfrm>
          <a:prstGeom prst="rect">
            <a:avLst/>
          </a:prstGeom>
          <a:noFill/>
          <a:ln w="9525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/>
              <a:t>原则：以样本矩作为总体矩的估计，</a:t>
            </a:r>
          </a:p>
          <a:p>
            <a:pPr eaLnBrk="1" hangingPunct="1"/>
            <a:endParaRPr lang="zh-CN" altLang="en-US" sz="1400" b="1" dirty="0"/>
          </a:p>
          <a:p>
            <a:pPr eaLnBrk="1" hangingPunct="1"/>
            <a:r>
              <a:rPr lang="zh-CN" altLang="en-US" sz="3600" b="1" dirty="0"/>
              <a:t>从而得到参数的估计量。</a:t>
            </a:r>
          </a:p>
        </p:txBody>
      </p:sp>
    </p:spTree>
    <p:extLst>
      <p:ext uri="{BB962C8B-B14F-4D97-AF65-F5344CB8AC3E}">
        <p14:creationId xmlns:p14="http://schemas.microsoft.com/office/powerpoint/2010/main" val="318186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9"/>
              <p:cNvSpPr txBox="1">
                <a:spLocks noChangeArrowheads="1"/>
              </p:cNvSpPr>
              <p:nvPr/>
            </p:nvSpPr>
            <p:spPr bwMode="auto">
              <a:xfrm>
                <a:off x="844833" y="1772816"/>
                <a:ext cx="7416824" cy="2727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 smtClean="0"/>
                  <a:t>对随机变量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b="1" dirty="0" smtClean="0"/>
                  <a:t>和非负整数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b="1" dirty="0" smtClean="0"/>
                  <a:t>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 dirty="0" smtClean="0"/>
                  <a:t>存在，则称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b="1" dirty="0" smtClean="0"/>
                  <a:t>的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b="1" dirty="0" smtClean="0"/>
                  <a:t>阶原点矩，简称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b="1" dirty="0" smtClean="0"/>
                  <a:t>阶矩；若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 dirty="0" smtClean="0"/>
                  <a:t>存在，则称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b="1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latin typeface="Cambria Math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1" i="1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b="1" dirty="0"/>
                  <a:t>的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b="1" dirty="0" smtClean="0"/>
                  <a:t>阶中心矩</a:t>
                </a:r>
                <a:r>
                  <a:rPr lang="en-US" altLang="zh-CN" b="1" dirty="0" smtClean="0"/>
                  <a:t>.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5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833" y="1772816"/>
                <a:ext cx="7416824" cy="2727798"/>
              </a:xfrm>
              <a:prstGeom prst="rect">
                <a:avLst/>
              </a:prstGeom>
              <a:blipFill>
                <a:blip r:embed="rId2"/>
                <a:stretch>
                  <a:fillRect l="-2138" t="-2908" b="-20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403648" y="4941168"/>
            <a:ext cx="6336704" cy="584775"/>
          </a:xfrm>
          <a:prstGeom prst="rect">
            <a:avLst/>
          </a:prstGeom>
          <a:noFill/>
          <a:ln w="9525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 smtClean="0"/>
              <a:t>期望是一阶矩，方差是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阶中心距。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8831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矩估计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7"/>
              <p:cNvSpPr txBox="1">
                <a:spLocks noChangeArrowheads="1"/>
              </p:cNvSpPr>
              <p:nvPr/>
            </p:nvSpPr>
            <p:spPr bwMode="auto">
              <a:xfrm>
                <a:off x="614984" y="5381324"/>
                <a:ext cx="8094716" cy="803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 dirty="0" smtClean="0"/>
                  <a:t>m</a:t>
                </a:r>
                <a:r>
                  <a:rPr lang="zh-CN" altLang="en-US" b="1" dirty="0"/>
                  <a:t>阶样本矩</a:t>
                </a:r>
                <a:r>
                  <a:rPr lang="zh-CN" altLang="en-US" b="1" dirty="0" smtClean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 smtClean="0"/>
                  <a:t> 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984" y="5381324"/>
                <a:ext cx="8094716" cy="803618"/>
              </a:xfrm>
              <a:prstGeom prst="rect">
                <a:avLst/>
              </a:prstGeom>
              <a:blipFill>
                <a:blip r:embed="rId2"/>
                <a:stretch>
                  <a:fillRect l="-1958" b="-98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902322" y="1608008"/>
            <a:ext cx="77812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设总体</a:t>
            </a:r>
            <a:r>
              <a:rPr lang="en-US" altLang="zh-CN" b="1" dirty="0"/>
              <a:t>X</a:t>
            </a:r>
            <a:r>
              <a:rPr lang="zh-CN" altLang="en-US" b="1" dirty="0"/>
              <a:t>的分布类型已知，</a:t>
            </a:r>
            <a:r>
              <a:rPr lang="en-US" altLang="zh-CN" b="1" dirty="0"/>
              <a:t>X</a:t>
            </a:r>
            <a:r>
              <a:rPr lang="zh-CN" altLang="en-US" b="1" dirty="0"/>
              <a:t>的分布函数为</a:t>
            </a: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614984" y="3695570"/>
            <a:ext cx="6813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 dirty="0"/>
              <a:t>设</a:t>
            </a:r>
            <a:r>
              <a:rPr kumimoji="0" lang="en-US" altLang="zh-CN" b="1" i="1" dirty="0"/>
              <a:t>X</a:t>
            </a:r>
            <a:r>
              <a:rPr kumimoji="0" lang="en-US" altLang="zh-CN" b="1" i="1" baseline="-25000" dirty="0"/>
              <a:t>1</a:t>
            </a:r>
            <a:r>
              <a:rPr kumimoji="0" lang="en-US" altLang="zh-CN" b="1" dirty="0"/>
              <a:t>,</a:t>
            </a:r>
            <a:r>
              <a:rPr kumimoji="0" lang="en-US" altLang="zh-CN" b="1" dirty="0">
                <a:latin typeface="Arial" panose="020B0604020202020204" pitchFamily="34" charset="0"/>
              </a:rPr>
              <a:t> </a:t>
            </a:r>
            <a:r>
              <a:rPr kumimoji="0" lang="en-US" altLang="zh-CN" b="1" i="1" dirty="0"/>
              <a:t>X</a:t>
            </a:r>
            <a:r>
              <a:rPr kumimoji="0" lang="en-US" altLang="zh-CN" b="1" i="1" baseline="-25000" dirty="0"/>
              <a:t>2</a:t>
            </a:r>
            <a:r>
              <a:rPr kumimoji="0" lang="en-US" altLang="zh-CN" b="1" dirty="0"/>
              <a:t>, ... , </a:t>
            </a:r>
            <a:r>
              <a:rPr kumimoji="0" lang="en-US" altLang="zh-CN" b="1" i="1" dirty="0" err="1"/>
              <a:t>X</a:t>
            </a:r>
            <a:r>
              <a:rPr kumimoji="0" lang="en-US" altLang="zh-CN" b="1" i="1" baseline="-25000" dirty="0" err="1"/>
              <a:t>n</a:t>
            </a:r>
            <a:r>
              <a:rPr kumimoji="0" lang="zh-CN" altLang="en-US" b="1" dirty="0"/>
              <a:t>为来自总体</a:t>
            </a:r>
            <a:r>
              <a:rPr kumimoji="0" lang="en-US" altLang="zh-CN" b="1" dirty="0"/>
              <a:t>X</a:t>
            </a:r>
            <a:r>
              <a:rPr kumimoji="0" lang="zh-CN" altLang="en-US" b="1" dirty="0"/>
              <a:t>的样本，</a:t>
            </a:r>
            <a:endParaRPr kumimoji="0" lang="zh-CN" altLang="en-US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910930" y="2241260"/>
                <a:ext cx="47655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30" y="2241260"/>
                <a:ext cx="476556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2"/>
              <p:cNvSpPr txBox="1">
                <a:spLocks noChangeArrowheads="1"/>
              </p:cNvSpPr>
              <p:nvPr/>
            </p:nvSpPr>
            <p:spPr bwMode="auto">
              <a:xfrm>
                <a:off x="767384" y="3039556"/>
                <a:ext cx="5783378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b="1" dirty="0" smtClean="0"/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kumimoji="0" lang="zh-CN" altLang="en-US" b="1" dirty="0" smtClean="0"/>
                  <a:t>为未知参数</a:t>
                </a:r>
                <a:r>
                  <a:rPr kumimoji="0" lang="en-US" altLang="zh-CN" b="1" dirty="0" smtClean="0"/>
                  <a:t>.</a:t>
                </a:r>
                <a:endParaRPr kumimoji="0" lang="zh-CN" altLang="en-US" b="1" dirty="0"/>
              </a:p>
            </p:txBody>
          </p:sp>
        </mc:Choice>
        <mc:Fallback xmlns="">
          <p:sp>
            <p:nvSpPr>
              <p:cNvPr id="9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84" y="3039556"/>
                <a:ext cx="5783378" cy="584775"/>
              </a:xfrm>
              <a:prstGeom prst="rect">
                <a:avLst/>
              </a:prstGeom>
              <a:blipFill>
                <a:blip r:embed="rId4"/>
                <a:stretch>
                  <a:fillRect l="-2740" t="-17708" r="-1897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2"/>
              <p:cNvSpPr txBox="1">
                <a:spLocks noChangeArrowheads="1"/>
              </p:cNvSpPr>
              <p:nvPr/>
            </p:nvSpPr>
            <p:spPr bwMode="auto">
              <a:xfrm>
                <a:off x="398762" y="4407708"/>
                <a:ext cx="840236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b="1" dirty="0" smtClean="0"/>
                  <a:t>若</a:t>
                </a:r>
                <a14:m>
                  <m:oMath xmlns:m="http://schemas.openxmlformats.org/officeDocument/2006/math"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sSup>
                      <m:sSup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b="1" dirty="0" smtClean="0"/>
                  <a:t>存在 </a:t>
                </a:r>
                <a:r>
                  <a:rPr kumimoji="0" lang="en-US" altLang="zh-CN" b="1" dirty="0" smtClean="0"/>
                  <a:t>(</a:t>
                </a:r>
                <a14:m>
                  <m:oMath xmlns:m="http://schemas.openxmlformats.org/officeDocument/2006/math"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0"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zh-CN" altLang="en-US" b="1" i="1" dirty="0"/>
              </a:p>
            </p:txBody>
          </p:sp>
        </mc:Choice>
        <mc:Fallback xmlns="">
          <p:sp>
            <p:nvSpPr>
              <p:cNvPr id="10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762" y="4407708"/>
                <a:ext cx="8402365" cy="584775"/>
              </a:xfrm>
              <a:prstGeom prst="rect">
                <a:avLst/>
              </a:prstGeom>
              <a:blipFill>
                <a:blip r:embed="rId5"/>
                <a:stretch>
                  <a:fillRect l="-1813" t="-17708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40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矩估计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8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987535"/>
              </p:ext>
            </p:extLst>
          </p:nvPr>
        </p:nvGraphicFramePr>
        <p:xfrm>
          <a:off x="750058" y="3079547"/>
          <a:ext cx="7488237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28" name="Equation" r:id="rId3" imgW="2565400" imgH="457200" progId="Equation.DSMT4">
                  <p:embed/>
                </p:oleObj>
              </mc:Choice>
              <mc:Fallback>
                <p:oleObj name="Equation" r:id="rId3" imgW="2565400" imgH="457200" progId="Equation.DSMT4">
                  <p:embed/>
                  <p:pic>
                    <p:nvPicPr>
                      <p:cNvPr id="1085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58" y="3079547"/>
                        <a:ext cx="7488237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327374"/>
              </p:ext>
            </p:extLst>
          </p:nvPr>
        </p:nvGraphicFramePr>
        <p:xfrm>
          <a:off x="872998" y="4291480"/>
          <a:ext cx="763270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29" name="Equation" r:id="rId5" imgW="2794000" imgH="508000" progId="Equation.DSMT4">
                  <p:embed/>
                </p:oleObj>
              </mc:Choice>
              <mc:Fallback>
                <p:oleObj name="Equation" r:id="rId5" imgW="2794000" imgH="508000" progId="Equation.DSMT4">
                  <p:embed/>
                  <p:pic>
                    <p:nvPicPr>
                      <p:cNvPr id="1085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998" y="4291480"/>
                        <a:ext cx="7632700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750058" y="5679669"/>
            <a:ext cx="7696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    </a:t>
            </a:r>
            <a:r>
              <a:rPr lang="zh-CN" altLang="en-US" dirty="0"/>
              <a:t>这种估计量称为</a:t>
            </a:r>
            <a:r>
              <a:rPr lang="zh-CN" altLang="en-US" u="sng" dirty="0">
                <a:solidFill>
                  <a:srgbClr val="FF0066"/>
                </a:solidFill>
              </a:rPr>
              <a:t>矩估计量</a:t>
            </a:r>
            <a:r>
              <a:rPr lang="zh-CN" altLang="en-US" dirty="0"/>
              <a:t>；矩估计量的观察值称为</a:t>
            </a:r>
            <a:r>
              <a:rPr lang="zh-CN" altLang="en-US" u="sng" dirty="0">
                <a:solidFill>
                  <a:srgbClr val="FF0066"/>
                </a:solidFill>
              </a:rPr>
              <a:t>矩估计值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829310" y="1539237"/>
                <a:ext cx="4169731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令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310" y="1539237"/>
                <a:ext cx="4169731" cy="13756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5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矩估计：一个未知参数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"/>
              <p:cNvSpPr txBox="1">
                <a:spLocks noChangeArrowheads="1"/>
              </p:cNvSpPr>
              <p:nvPr/>
            </p:nvSpPr>
            <p:spPr bwMode="auto">
              <a:xfrm>
                <a:off x="972096" y="1845692"/>
                <a:ext cx="362695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dirty="0" smtClean="0"/>
                  <a:t>1</a:t>
                </a:r>
                <a:r>
                  <a:rPr lang="zh-CN" altLang="en-US" dirty="0"/>
                  <a:t>）先求出</a:t>
                </a:r>
                <a:r>
                  <a:rPr lang="en-US" altLang="zh-CN" dirty="0"/>
                  <a:t>EX</a:t>
                </a:r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2096" y="1845692"/>
                <a:ext cx="3626955" cy="584775"/>
              </a:xfrm>
              <a:prstGeom prst="rect">
                <a:avLst/>
              </a:prstGeom>
              <a:blipFill>
                <a:blip r:embed="rId3"/>
                <a:stretch>
                  <a:fillRect l="-4202" t="-17708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4"/>
              <p:cNvSpPr txBox="1">
                <a:spLocks noChangeArrowheads="1"/>
              </p:cNvSpPr>
              <p:nvPr/>
            </p:nvSpPr>
            <p:spPr bwMode="auto">
              <a:xfrm>
                <a:off x="987971" y="2633092"/>
                <a:ext cx="3221588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dirty="0"/>
                  <a:t>2</a:t>
                </a:r>
                <a:r>
                  <a:rPr lang="zh-CN" altLang="en-US" dirty="0"/>
                  <a:t>）解</a:t>
                </a:r>
                <a:r>
                  <a:rPr lang="zh-CN" altLang="en-US" dirty="0" smtClean="0"/>
                  <a:t>出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dirty="0" smtClean="0"/>
                  <a:t>=</a:t>
                </a:r>
                <a:r>
                  <a:rPr lang="en-US" altLang="zh-CN" i="1" dirty="0">
                    <a:ea typeface="DFKai-SB" panose="03000509000000000000" pitchFamily="65" charset="-120"/>
                  </a:rPr>
                  <a:t>g</a:t>
                </a:r>
                <a:r>
                  <a:rPr lang="en-US" altLang="zh-CN" dirty="0">
                    <a:ea typeface="DFKai-SB" panose="03000509000000000000" pitchFamily="65" charset="-120"/>
                  </a:rPr>
                  <a:t>(</a:t>
                </a:r>
                <a:r>
                  <a:rPr lang="en-US" altLang="zh-CN" dirty="0"/>
                  <a:t>EX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)</a:t>
                </a:r>
                <a:endParaRPr lang="el-GR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7971" y="2633092"/>
                <a:ext cx="3221588" cy="584775"/>
              </a:xfrm>
              <a:prstGeom prst="rect">
                <a:avLst/>
              </a:prstGeom>
              <a:blipFill>
                <a:blip r:embed="rId4"/>
                <a:stretch>
                  <a:fillRect l="-4726" t="-17708" r="-3970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043534" y="3569717"/>
            <a:ext cx="6178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3</a:t>
            </a:r>
            <a:r>
              <a:rPr lang="zh-CN" altLang="en-US"/>
              <a:t>）                             为矩估计量。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588893"/>
              </p:ext>
            </p:extLst>
          </p:nvPr>
        </p:nvGraphicFramePr>
        <p:xfrm>
          <a:off x="1835696" y="3356992"/>
          <a:ext cx="28527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4" name="Equation" r:id="rId5" imgW="1066800" imgH="431800" progId="Equation.DSMT4">
                  <p:embed/>
                </p:oleObj>
              </mc:Choice>
              <mc:Fallback>
                <p:oleObj name="Equation" r:id="rId5" imgW="1066800" imgH="431800" progId="Equation.DSMT4">
                  <p:embed/>
                  <p:pic>
                    <p:nvPicPr>
                      <p:cNvPr id="1085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356992"/>
                        <a:ext cx="28527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372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</a:t>
            </a:r>
            <a:r>
              <a:rPr lang="zh-CN" altLang="en-US" dirty="0" smtClean="0"/>
              <a:t>估计：两个未知参数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827584" y="1556792"/>
            <a:ext cx="2160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r>
              <a:rPr lang="zh-CN" altLang="en-US"/>
              <a:t>）计算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350664"/>
              </p:ext>
            </p:extLst>
          </p:nvPr>
        </p:nvGraphicFramePr>
        <p:xfrm>
          <a:off x="2411909" y="1590129"/>
          <a:ext cx="143986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2" name="Equation" r:id="rId3" imgW="596900" imgH="228600" progId="Equation.DSMT4">
                  <p:embed/>
                </p:oleObj>
              </mc:Choice>
              <mc:Fallback>
                <p:oleObj name="Equation" r:id="rId3" imgW="596900" imgH="228600" progId="Equation.DSMT4">
                  <p:embed/>
                  <p:pic>
                    <p:nvPicPr>
                      <p:cNvPr id="1024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909" y="1590129"/>
                        <a:ext cx="143986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209243"/>
              </p:ext>
            </p:extLst>
          </p:nvPr>
        </p:nvGraphicFramePr>
        <p:xfrm>
          <a:off x="4597353" y="1646283"/>
          <a:ext cx="23939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3" name="Equation" r:id="rId5" imgW="1040948" imgH="469696" progId="Equation.DSMT4">
                  <p:embed/>
                </p:oleObj>
              </mc:Choice>
              <mc:Fallback>
                <p:oleObj name="Equation" r:id="rId5" imgW="1040948" imgH="469696" progId="Equation.DSMT4">
                  <p:embed/>
                  <p:pic>
                    <p:nvPicPr>
                      <p:cNvPr id="1024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353" y="1646283"/>
                        <a:ext cx="23939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827584" y="2824208"/>
            <a:ext cx="55451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  <a:r>
              <a:rPr lang="zh-CN" altLang="en-US"/>
              <a:t>）解出        ，用              表示           </a:t>
            </a: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546887"/>
              </p:ext>
            </p:extLst>
          </p:nvPr>
        </p:nvGraphicFramePr>
        <p:xfrm>
          <a:off x="2411909" y="2897232"/>
          <a:ext cx="792163" cy="525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4" name="Equation" r:id="rId7" imgW="355446" imgH="228501" progId="Equation.DSMT4">
                  <p:embed/>
                </p:oleObj>
              </mc:Choice>
              <mc:Fallback>
                <p:oleObj name="Equation" r:id="rId7" imgW="355446" imgH="228501" progId="Equation.DSMT4">
                  <p:embed/>
                  <p:pic>
                    <p:nvPicPr>
                      <p:cNvPr id="1024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909" y="2897232"/>
                        <a:ext cx="792163" cy="525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732276"/>
              </p:ext>
            </p:extLst>
          </p:nvPr>
        </p:nvGraphicFramePr>
        <p:xfrm>
          <a:off x="3924797" y="2849608"/>
          <a:ext cx="1439862" cy="568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5" name="Equation" r:id="rId9" imgW="596900" imgH="228600" progId="Equation.DSMT4">
                  <p:embed/>
                </p:oleObj>
              </mc:Choice>
              <mc:Fallback>
                <p:oleObj name="Equation" r:id="rId9" imgW="596900" imgH="228600" progId="Equation.DSMT4">
                  <p:embed/>
                  <p:pic>
                    <p:nvPicPr>
                      <p:cNvPr id="1025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797" y="2849608"/>
                        <a:ext cx="1439862" cy="568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322932"/>
              </p:ext>
            </p:extLst>
          </p:nvPr>
        </p:nvGraphicFramePr>
        <p:xfrm>
          <a:off x="4398915" y="3433217"/>
          <a:ext cx="25923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6" name="Equation" r:id="rId10" imgW="1269449" imgH="482391" progId="Equation.DSMT4">
                  <p:embed/>
                </p:oleObj>
              </mc:Choice>
              <mc:Fallback>
                <p:oleObj name="Equation" r:id="rId10" imgW="1269449" imgH="482391" progId="Equation.DSMT4">
                  <p:embed/>
                  <p:pic>
                    <p:nvPicPr>
                      <p:cNvPr id="1025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15" y="3433217"/>
                        <a:ext cx="2592388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827584" y="4432118"/>
            <a:ext cx="7848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）用    代替       ，用          代替        ，有                         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066119"/>
              </p:ext>
            </p:extLst>
          </p:nvPr>
        </p:nvGraphicFramePr>
        <p:xfrm>
          <a:off x="1907084" y="4441643"/>
          <a:ext cx="4318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7" name="Equation" r:id="rId12" imgW="177646" imgH="190335" progId="Equation.DSMT4">
                  <p:embed/>
                </p:oleObj>
              </mc:Choice>
              <mc:Fallback>
                <p:oleObj name="Equation" r:id="rId12" imgW="177646" imgH="190335" progId="Equation.DSMT4">
                  <p:embed/>
                  <p:pic>
                    <p:nvPicPr>
                      <p:cNvPr id="1025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084" y="4441643"/>
                        <a:ext cx="4318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092700"/>
              </p:ext>
            </p:extLst>
          </p:nvPr>
        </p:nvGraphicFramePr>
        <p:xfrm>
          <a:off x="3204072" y="4513081"/>
          <a:ext cx="6127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8" name="Equation" r:id="rId14" imgW="253780" imgH="164957" progId="Equation.DSMT4">
                  <p:embed/>
                </p:oleObj>
              </mc:Choice>
              <mc:Fallback>
                <p:oleObj name="Equation" r:id="rId14" imgW="253780" imgH="164957" progId="Equation.DSMT4">
                  <p:embed/>
                  <p:pic>
                    <p:nvPicPr>
                      <p:cNvPr id="1025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072" y="4513081"/>
                        <a:ext cx="6127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293499"/>
              </p:ext>
            </p:extLst>
          </p:nvPr>
        </p:nvGraphicFramePr>
        <p:xfrm>
          <a:off x="6571159" y="4441643"/>
          <a:ext cx="736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99" name="Equation" r:id="rId16" imgW="304668" imgH="190417" progId="Equation.DSMT4">
                  <p:embed/>
                </p:oleObj>
              </mc:Choice>
              <mc:Fallback>
                <p:oleObj name="Equation" r:id="rId16" imgW="304668" imgH="190417" progId="Equation.DSMT4">
                  <p:embed/>
                  <p:pic>
                    <p:nvPicPr>
                      <p:cNvPr id="1025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1159" y="4441643"/>
                        <a:ext cx="7366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490632"/>
              </p:ext>
            </p:extLst>
          </p:nvPr>
        </p:nvGraphicFramePr>
        <p:xfrm>
          <a:off x="4715372" y="4333693"/>
          <a:ext cx="9366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00" name="Equation" r:id="rId18" imgW="545863" imgH="431613" progId="Equation.DSMT4">
                  <p:embed/>
                </p:oleObj>
              </mc:Choice>
              <mc:Fallback>
                <p:oleObj name="Equation" r:id="rId18" imgW="545863" imgH="431613" progId="Equation.DSMT4">
                  <p:embed/>
                  <p:pic>
                    <p:nvPicPr>
                      <p:cNvPr id="1025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372" y="4333693"/>
                        <a:ext cx="9366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38343"/>
              </p:ext>
            </p:extLst>
          </p:nvPr>
        </p:nvGraphicFramePr>
        <p:xfrm>
          <a:off x="1446165" y="4870814"/>
          <a:ext cx="2784475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01" name="Equation" r:id="rId20" imgW="1346200" imgH="889000" progId="Equation.DSMT4">
                  <p:embed/>
                </p:oleObj>
              </mc:Choice>
              <mc:Fallback>
                <p:oleObj name="Equation" r:id="rId20" imgW="1346200" imgH="889000" progId="Equation.DSMT4">
                  <p:embed/>
                  <p:pic>
                    <p:nvPicPr>
                      <p:cNvPr id="1025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165" y="4870814"/>
                        <a:ext cx="2784475" cy="183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2"/>
          <p:cNvSpPr txBox="1">
            <a:spLocks noChangeArrowheads="1"/>
          </p:cNvSpPr>
          <p:nvPr/>
        </p:nvSpPr>
        <p:spPr bwMode="auto">
          <a:xfrm>
            <a:off x="4398915" y="5375639"/>
            <a:ext cx="4535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即为         的矩估计量。</a:t>
            </a:r>
          </a:p>
        </p:txBody>
      </p:sp>
      <p:graphicFrame>
        <p:nvGraphicFramePr>
          <p:cNvPr id="2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795406"/>
              </p:ext>
            </p:extLst>
          </p:nvPr>
        </p:nvGraphicFramePr>
        <p:xfrm>
          <a:off x="5335540" y="5447076"/>
          <a:ext cx="7921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02" name="Equation" r:id="rId22" imgW="355446" imgH="228501" progId="Equation.DSMT4">
                  <p:embed/>
                </p:oleObj>
              </mc:Choice>
              <mc:Fallback>
                <p:oleObj name="Equation" r:id="rId22" imgW="355446" imgH="228501" progId="Equation.DSMT4">
                  <p:embed/>
                  <p:pic>
                    <p:nvPicPr>
                      <p:cNvPr id="102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40" y="5447076"/>
                        <a:ext cx="79216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15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23528" y="1541814"/>
            <a:ext cx="807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900" dirty="0" smtClean="0"/>
              <a:t>    设</a:t>
            </a:r>
            <a:r>
              <a:rPr lang="zh-CN" altLang="en-US" sz="2900" dirty="0"/>
              <a:t>某城市一天中发生火警的次数</a:t>
            </a:r>
            <a:r>
              <a:rPr lang="en-US" altLang="zh-CN" sz="2900" dirty="0"/>
              <a:t>X</a:t>
            </a:r>
            <a:r>
              <a:rPr lang="zh-CN" altLang="en-US" sz="2900" dirty="0"/>
              <a:t>服从 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568663"/>
              </p:ext>
            </p:extLst>
          </p:nvPr>
        </p:nvGraphicFramePr>
        <p:xfrm>
          <a:off x="683890" y="2045052"/>
          <a:ext cx="76327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2" name="Equation" r:id="rId4" imgW="2997200" imgH="431800" progId="Equation.DSMT4">
                  <p:embed/>
                </p:oleObj>
              </mc:Choice>
              <mc:Fallback>
                <p:oleObj name="Equation" r:id="rId4" imgW="2997200" imgH="431800" progId="Equation.DSMT4">
                  <p:embed/>
                  <p:pic>
                    <p:nvPicPr>
                      <p:cNvPr id="501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0" y="2045052"/>
                        <a:ext cx="76327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614741"/>
              </p:ext>
            </p:extLst>
          </p:nvPr>
        </p:nvGraphicFramePr>
        <p:xfrm>
          <a:off x="314817" y="4160140"/>
          <a:ext cx="4689231" cy="848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3" name="Equation" r:id="rId6" imgW="2438400" imgH="431800" progId="Equation.DSMT4">
                  <p:embed/>
                </p:oleObj>
              </mc:Choice>
              <mc:Fallback>
                <p:oleObj name="Equation" r:id="rId6" imgW="2438400" imgH="431800" progId="Equation.DSMT4">
                  <p:embed/>
                  <p:pic>
                    <p:nvPicPr>
                      <p:cNvPr id="501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17" y="4160140"/>
                        <a:ext cx="4689231" cy="848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97473"/>
              </p:ext>
            </p:extLst>
          </p:nvPr>
        </p:nvGraphicFramePr>
        <p:xfrm>
          <a:off x="5350615" y="4377929"/>
          <a:ext cx="3527623" cy="521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4" name="Equation" r:id="rId8" imgW="1371600" imgH="203200" progId="Equation.DSMT4">
                  <p:embed/>
                </p:oleObj>
              </mc:Choice>
              <mc:Fallback>
                <p:oleObj name="Equation" r:id="rId8" imgW="1371600" imgH="203200" progId="Equation.DSMT4">
                  <p:embed/>
                  <p:pic>
                    <p:nvPicPr>
                      <p:cNvPr id="501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0615" y="4377929"/>
                        <a:ext cx="3527623" cy="521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831964"/>
              </p:ext>
            </p:extLst>
          </p:nvPr>
        </p:nvGraphicFramePr>
        <p:xfrm>
          <a:off x="4420121" y="5088359"/>
          <a:ext cx="11715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5" name="Equation" r:id="rId10" imgW="406224" imgH="190417" progId="Equation.DSMT4">
                  <p:embed/>
                </p:oleObj>
              </mc:Choice>
              <mc:Fallback>
                <p:oleObj name="Equation" r:id="rId10" imgW="406224" imgH="190417" progId="Equation.DSMT4">
                  <p:embed/>
                  <p:pic>
                    <p:nvPicPr>
                      <p:cNvPr id="5019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0121" y="5088359"/>
                        <a:ext cx="11715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1322908" y="5088359"/>
            <a:ext cx="343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所以，矩估计量：</a:t>
            </a:r>
          </a:p>
        </p:txBody>
      </p:sp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697879"/>
              </p:ext>
            </p:extLst>
          </p:nvPr>
        </p:nvGraphicFramePr>
        <p:xfrm>
          <a:off x="1035571" y="5674146"/>
          <a:ext cx="720883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6" name="Equation" r:id="rId12" imgW="2501900" imgH="342900" progId="Equation.DSMT4">
                  <p:embed/>
                </p:oleObj>
              </mc:Choice>
              <mc:Fallback>
                <p:oleObj name="Equation" r:id="rId12" imgW="2501900" imgH="342900" progId="Equation.DSMT4">
                  <p:embed/>
                  <p:pic>
                    <p:nvPicPr>
                      <p:cNvPr id="5019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571" y="5674146"/>
                        <a:ext cx="720883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2"/>
          <p:cNvSpPr txBox="1">
            <a:spLocks noChangeArrowheads="1"/>
          </p:cNvSpPr>
          <p:nvPr/>
        </p:nvSpPr>
        <p:spPr bwMode="auto">
          <a:xfrm>
            <a:off x="5859983" y="5085184"/>
            <a:ext cx="2216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矩估计值：</a:t>
            </a:r>
          </a:p>
        </p:txBody>
      </p:sp>
      <p:grpSp>
        <p:nvGrpSpPr>
          <p:cNvPr id="13" name="Group 24"/>
          <p:cNvGrpSpPr>
            <a:grpSpLocks/>
          </p:cNvGrpSpPr>
          <p:nvPr/>
        </p:nvGrpSpPr>
        <p:grpSpPr bwMode="auto">
          <a:xfrm>
            <a:off x="539428" y="3197577"/>
            <a:ext cx="7632972" cy="1008062"/>
            <a:chOff x="430" y="1525"/>
            <a:chExt cx="4945" cy="680"/>
          </a:xfrm>
        </p:grpSpPr>
        <p:graphicFrame>
          <p:nvGraphicFramePr>
            <p:cNvPr id="14" name="Object 8"/>
            <p:cNvGraphicFramePr>
              <a:graphicFrameLocks noChangeAspect="1"/>
            </p:cNvGraphicFramePr>
            <p:nvPr/>
          </p:nvGraphicFramePr>
          <p:xfrm>
            <a:off x="431" y="1525"/>
            <a:ext cx="4944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87" name="Equation" r:id="rId14" imgW="3784600" imgH="482600" progId="Equation.DSMT4">
                    <p:embed/>
                  </p:oleObj>
                </mc:Choice>
                <mc:Fallback>
                  <p:oleObj name="Equation" r:id="rId14" imgW="3784600" imgH="482600" progId="Equation.DSMT4">
                    <p:embed/>
                    <p:pic>
                      <p:nvPicPr>
                        <p:cNvPr id="1127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1525"/>
                          <a:ext cx="4944" cy="6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430" y="1797"/>
              <a:ext cx="48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2200" y="1525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4558" y="1525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521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12</a:t>
            </a:fld>
            <a:endParaRPr lang="en-US" altLang="zh-CN"/>
          </a:p>
        </p:txBody>
      </p:sp>
      <p:graphicFrame>
        <p:nvGraphicFramePr>
          <p:cNvPr id="7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567831"/>
              </p:ext>
            </p:extLst>
          </p:nvPr>
        </p:nvGraphicFramePr>
        <p:xfrm>
          <a:off x="518175" y="2738062"/>
          <a:ext cx="38084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4" name="Equation" r:id="rId3" imgW="1256755" imgH="342751" progId="Equation.DSMT4">
                  <p:embed/>
                </p:oleObj>
              </mc:Choice>
              <mc:Fallback>
                <p:oleObj name="Equation" r:id="rId3" imgW="1256755" imgH="342751" progId="Equation.DSMT4">
                  <p:embed/>
                  <p:pic>
                    <p:nvPicPr>
                      <p:cNvPr id="287747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75" y="2738062"/>
                        <a:ext cx="380841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804671"/>
              </p:ext>
            </p:extLst>
          </p:nvPr>
        </p:nvGraphicFramePr>
        <p:xfrm>
          <a:off x="1393680" y="3297166"/>
          <a:ext cx="7323137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5" name="Equation" r:id="rId5" imgW="2462731" imgH="406224" progId="Equation.DSMT4">
                  <p:embed/>
                </p:oleObj>
              </mc:Choice>
              <mc:Fallback>
                <p:oleObj name="Equation" r:id="rId5" imgW="2462731" imgH="406224" progId="Equation.DSMT4">
                  <p:embed/>
                  <p:pic>
                    <p:nvPicPr>
                      <p:cNvPr id="28775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680" y="3297166"/>
                        <a:ext cx="7323137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259632" y="1667660"/>
                <a:ext cx="712879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设总体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b="1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800" b="1" dirty="0" smtClean="0"/>
                  <a:t>未知；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b="1" dirty="0" smtClean="0"/>
                  <a:t>的样本，求：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800" b="1" dirty="0" smtClean="0"/>
                  <a:t>的矩估计量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667660"/>
                <a:ext cx="7128792" cy="954107"/>
              </a:xfrm>
              <a:prstGeom prst="rect">
                <a:avLst/>
              </a:prstGeom>
              <a:blipFill>
                <a:blip r:embed="rId7"/>
                <a:stretch>
                  <a:fillRect l="-1796" t="-10256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547664" y="4506841"/>
                <a:ext cx="5410520" cy="628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3200" b="1" dirty="0" smtClean="0"/>
                  <a:t>令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   ⋯  (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4506841"/>
                <a:ext cx="5410520" cy="628826"/>
              </a:xfrm>
              <a:prstGeom prst="rect">
                <a:avLst/>
              </a:prstGeom>
              <a:blipFill>
                <a:blip r:embed="rId8"/>
                <a:stretch>
                  <a:fillRect l="-4622" t="-9709" b="-27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475656" y="5373216"/>
                <a:ext cx="6525954" cy="1174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⋯  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373216"/>
                <a:ext cx="6525954" cy="11742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61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13</a:t>
            </a:fld>
            <a:endParaRPr lang="en-US" altLang="zh-CN"/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283842"/>
              </p:ext>
            </p:extLst>
          </p:nvPr>
        </p:nvGraphicFramePr>
        <p:xfrm>
          <a:off x="1474837" y="5012456"/>
          <a:ext cx="41767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2" name="Equation" r:id="rId3" imgW="1218671" imgH="215806" progId="Equation.DSMT4">
                  <p:embed/>
                </p:oleObj>
              </mc:Choice>
              <mc:Fallback>
                <p:oleObj name="Equation" r:id="rId3" imgW="1218671" imgH="215806" progId="Equation.DSMT4">
                  <p:embed/>
                  <p:pic>
                    <p:nvPicPr>
                      <p:cNvPr id="522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837" y="5012456"/>
                        <a:ext cx="417671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672926"/>
              </p:ext>
            </p:extLst>
          </p:nvPr>
        </p:nvGraphicFramePr>
        <p:xfrm>
          <a:off x="1699469" y="2161317"/>
          <a:ext cx="4868862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3" name="Equation" r:id="rId5" imgW="1548728" imgH="355446" progId="Equation.DSMT4">
                  <p:embed/>
                </p:oleObj>
              </mc:Choice>
              <mc:Fallback>
                <p:oleObj name="Equation" r:id="rId5" imgW="1548728" imgH="355446" progId="Equation.DSMT4">
                  <p:embed/>
                  <p:pic>
                    <p:nvPicPr>
                      <p:cNvPr id="522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469" y="2161317"/>
                        <a:ext cx="4868862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85054"/>
              </p:ext>
            </p:extLst>
          </p:nvPr>
        </p:nvGraphicFramePr>
        <p:xfrm>
          <a:off x="2014586" y="3304224"/>
          <a:ext cx="33131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4" name="Equation" r:id="rId7" imgW="952087" imgH="215806" progId="Equation.DSMT4">
                  <p:embed/>
                </p:oleObj>
              </mc:Choice>
              <mc:Fallback>
                <p:oleObj name="Equation" r:id="rId7" imgW="952087" imgH="215806" progId="Equation.DSMT4">
                  <p:embed/>
                  <p:pic>
                    <p:nvPicPr>
                      <p:cNvPr id="522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86" y="3304224"/>
                        <a:ext cx="33131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33837"/>
              </p:ext>
            </p:extLst>
          </p:nvPr>
        </p:nvGraphicFramePr>
        <p:xfrm>
          <a:off x="2600198" y="4083594"/>
          <a:ext cx="20891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5" name="Equation" r:id="rId9" imgW="609336" imgH="177723" progId="Equation.DSMT4">
                  <p:embed/>
                </p:oleObj>
              </mc:Choice>
              <mc:Fallback>
                <p:oleObj name="Equation" r:id="rId9" imgW="609336" imgH="177723" progId="Equation.DSMT4">
                  <p:embed/>
                  <p:pic>
                    <p:nvPicPr>
                      <p:cNvPr id="522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198" y="4083594"/>
                        <a:ext cx="20891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614598"/>
              </p:ext>
            </p:extLst>
          </p:nvPr>
        </p:nvGraphicFramePr>
        <p:xfrm>
          <a:off x="1906637" y="5804619"/>
          <a:ext cx="35290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6" name="Equation" r:id="rId11" imgW="1053643" imgH="215806" progId="Equation.DSMT4">
                  <p:embed/>
                </p:oleObj>
              </mc:Choice>
              <mc:Fallback>
                <p:oleObj name="Equation" r:id="rId11" imgW="1053643" imgH="215806" progId="Equation.DSMT4">
                  <p:embed/>
                  <p:pic>
                    <p:nvPicPr>
                      <p:cNvPr id="5223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637" y="5804619"/>
                        <a:ext cx="35290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971600" y="1516698"/>
            <a:ext cx="3162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(1) </a:t>
            </a:r>
            <a:r>
              <a:rPr lang="zh-CN" altLang="en-US" b="1"/>
              <a:t>代入 </a:t>
            </a:r>
            <a:r>
              <a:rPr lang="en-US" altLang="zh-CN" b="1"/>
              <a:t>(2), </a:t>
            </a:r>
            <a:r>
              <a:rPr lang="zh-CN" altLang="en-US" b="1"/>
              <a:t>得：</a:t>
            </a:r>
          </a:p>
        </p:txBody>
      </p:sp>
      <p:graphicFrame>
        <p:nvGraphicFramePr>
          <p:cNvPr id="1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708886"/>
              </p:ext>
            </p:extLst>
          </p:nvPr>
        </p:nvGraphicFramePr>
        <p:xfrm>
          <a:off x="1474837" y="5012456"/>
          <a:ext cx="41767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7" name="Equation" r:id="rId13" imgW="1218671" imgH="215806" progId="Equation.DSMT4">
                  <p:embed/>
                </p:oleObj>
              </mc:Choice>
              <mc:Fallback>
                <p:oleObj name="Equation" r:id="rId13" imgW="1218671" imgH="215806" progId="Equation.DSMT4">
                  <p:embed/>
                  <p:pic>
                    <p:nvPicPr>
                      <p:cNvPr id="5224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837" y="5012456"/>
                        <a:ext cx="417671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723585"/>
              </p:ext>
            </p:extLst>
          </p:nvPr>
        </p:nvGraphicFramePr>
        <p:xfrm>
          <a:off x="1906637" y="5804619"/>
          <a:ext cx="35290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8" name="Equation" r:id="rId14" imgW="1053643" imgH="215806" progId="Equation.DSMT4">
                  <p:embed/>
                </p:oleObj>
              </mc:Choice>
              <mc:Fallback>
                <p:oleObj name="Equation" r:id="rId14" imgW="1053643" imgH="215806" progId="Equation.DSMT4">
                  <p:embed/>
                  <p:pic>
                    <p:nvPicPr>
                      <p:cNvPr id="5224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637" y="5804619"/>
                        <a:ext cx="35290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203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14</a:t>
            </a:fld>
            <a:endParaRPr lang="en-US" altLang="zh-CN"/>
          </a:p>
        </p:txBody>
      </p:sp>
      <p:graphicFrame>
        <p:nvGraphicFramePr>
          <p:cNvPr id="5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263246"/>
              </p:ext>
            </p:extLst>
          </p:nvPr>
        </p:nvGraphicFramePr>
        <p:xfrm>
          <a:off x="944563" y="1516063"/>
          <a:ext cx="7113587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65" name="Equation" r:id="rId3" imgW="2857320" imgH="482400" progId="Equation.DSMT4">
                  <p:embed/>
                </p:oleObj>
              </mc:Choice>
              <mc:Fallback>
                <p:oleObj name="Equation" r:id="rId3" imgW="2857320" imgH="482400" progId="Equation.DSMT4">
                  <p:embed/>
                  <p:pic>
                    <p:nvPicPr>
                      <p:cNvPr id="1434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516063"/>
                        <a:ext cx="7113587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058214"/>
              </p:ext>
            </p:extLst>
          </p:nvPr>
        </p:nvGraphicFramePr>
        <p:xfrm>
          <a:off x="910802" y="2580918"/>
          <a:ext cx="374491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66" name="Equation" r:id="rId5" imgW="1524000" imgH="228600" progId="Equation.DSMT4">
                  <p:embed/>
                </p:oleObj>
              </mc:Choice>
              <mc:Fallback>
                <p:oleObj name="Equation" r:id="rId5" imgW="1524000" imgH="228600" progId="Equation.DSMT4">
                  <p:embed/>
                  <p:pic>
                    <p:nvPicPr>
                      <p:cNvPr id="28877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802" y="2580918"/>
                        <a:ext cx="374491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984161"/>
              </p:ext>
            </p:extLst>
          </p:nvPr>
        </p:nvGraphicFramePr>
        <p:xfrm>
          <a:off x="544651" y="3136543"/>
          <a:ext cx="5688239" cy="1056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67" name="Equation" r:id="rId7" imgW="2120900" imgH="393700" progId="Equation.DSMT4">
                  <p:embed/>
                </p:oleObj>
              </mc:Choice>
              <mc:Fallback>
                <p:oleObj name="Equation" r:id="rId7" imgW="2120900" imgH="393700" progId="Equation.DSMT4">
                  <p:embed/>
                  <p:pic>
                    <p:nvPicPr>
                      <p:cNvPr id="28877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51" y="3136543"/>
                        <a:ext cx="5688239" cy="1056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867342"/>
              </p:ext>
            </p:extLst>
          </p:nvPr>
        </p:nvGraphicFramePr>
        <p:xfrm>
          <a:off x="1259632" y="4076342"/>
          <a:ext cx="4320657" cy="959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68" name="Equation" r:id="rId9" imgW="1586811" imgH="355446" progId="Equation.DSMT4">
                  <p:embed/>
                </p:oleObj>
              </mc:Choice>
              <mc:Fallback>
                <p:oleObj name="Equation" r:id="rId9" imgW="1586811" imgH="355446" progId="Equation.DSMT4">
                  <p:embed/>
                  <p:pic>
                    <p:nvPicPr>
                      <p:cNvPr id="28877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076342"/>
                        <a:ext cx="4320657" cy="959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46239"/>
              </p:ext>
            </p:extLst>
          </p:nvPr>
        </p:nvGraphicFramePr>
        <p:xfrm>
          <a:off x="1259632" y="4810077"/>
          <a:ext cx="5327752" cy="948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69" name="Equation" r:id="rId11" imgW="1981200" imgH="355600" progId="Equation.DSMT4">
                  <p:embed/>
                </p:oleObj>
              </mc:Choice>
              <mc:Fallback>
                <p:oleObj name="Equation" r:id="rId11" imgW="1981200" imgH="355600" progId="Equation.DSMT4">
                  <p:embed/>
                  <p:pic>
                    <p:nvPicPr>
                      <p:cNvPr id="288773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810077"/>
                        <a:ext cx="5327752" cy="948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684942"/>
              </p:ext>
            </p:extLst>
          </p:nvPr>
        </p:nvGraphicFramePr>
        <p:xfrm>
          <a:off x="1180287" y="5933407"/>
          <a:ext cx="2375424" cy="531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70" name="Equation" r:id="rId13" imgW="901309" imgH="203112" progId="Equation.DSMT4">
                  <p:embed/>
                </p:oleObj>
              </mc:Choice>
              <mc:Fallback>
                <p:oleObj name="Equation" r:id="rId13" imgW="901309" imgH="203112" progId="Equation.DSMT4">
                  <p:embed/>
                  <p:pic>
                    <p:nvPicPr>
                      <p:cNvPr id="288774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287" y="5933407"/>
                        <a:ext cx="2375424" cy="531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284324"/>
              </p:ext>
            </p:extLst>
          </p:nvPr>
        </p:nvGraphicFramePr>
        <p:xfrm>
          <a:off x="3596543" y="5702529"/>
          <a:ext cx="5114131" cy="95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71" name="Equation" r:id="rId15" imgW="2082800" imgH="355600" progId="Equation.DSMT4">
                  <p:embed/>
                </p:oleObj>
              </mc:Choice>
              <mc:Fallback>
                <p:oleObj name="Equation" r:id="rId15" imgW="2082800" imgH="355600" progId="Equation.DSMT4">
                  <p:embed/>
                  <p:pic>
                    <p:nvPicPr>
                      <p:cNvPr id="288775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543" y="5702529"/>
                        <a:ext cx="5114131" cy="95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26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15</a:t>
            </a:fld>
            <a:endParaRPr lang="en-US" altLang="zh-CN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465058"/>
              </p:ext>
            </p:extLst>
          </p:nvPr>
        </p:nvGraphicFramePr>
        <p:xfrm>
          <a:off x="1767290" y="5157813"/>
          <a:ext cx="5232400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42" name="Equation" r:id="rId4" imgW="1879600" imgH="431800" progId="Equation.DSMT4">
                  <p:embed/>
                </p:oleObj>
              </mc:Choice>
              <mc:Fallback>
                <p:oleObj name="Equation" r:id="rId4" imgW="1879600" imgH="431800" progId="Equation.DSMT4">
                  <p:embed/>
                  <p:pic>
                    <p:nvPicPr>
                      <p:cNvPr id="54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290" y="5157813"/>
                        <a:ext cx="5232400" cy="119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543327" y="2636863"/>
            <a:ext cx="8413750" cy="283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     </a:t>
            </a:r>
            <a:r>
              <a:rPr lang="zh-CN" altLang="en-US" sz="3600" dirty="0"/>
              <a:t>无论总体</a:t>
            </a:r>
            <a:r>
              <a:rPr lang="en-US" altLang="zh-CN" sz="3600" dirty="0"/>
              <a:t>X</a:t>
            </a:r>
            <a:r>
              <a:rPr lang="zh-CN" altLang="en-US" sz="3600" dirty="0"/>
              <a:t>服从何种分布，总体均值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3600" dirty="0"/>
              <a:t>EX= </a:t>
            </a:r>
            <a:r>
              <a:rPr lang="el-GR" altLang="zh-CN" sz="3600" dirty="0"/>
              <a:t>μ</a:t>
            </a:r>
            <a:r>
              <a:rPr lang="en-US" altLang="zh-CN" sz="3600" dirty="0"/>
              <a:t>, </a:t>
            </a:r>
            <a:r>
              <a:rPr lang="zh-CN" altLang="en-US" sz="3600" dirty="0"/>
              <a:t>总体方差</a:t>
            </a:r>
            <a:r>
              <a:rPr lang="en-US" altLang="zh-CN" sz="3600" dirty="0"/>
              <a:t>DX=</a:t>
            </a:r>
            <a:r>
              <a:rPr lang="el-GR" altLang="zh-CN" sz="3600" dirty="0"/>
              <a:t>σ</a:t>
            </a:r>
            <a:r>
              <a:rPr lang="en-US" altLang="zh-CN" sz="3600" baseline="30000" dirty="0"/>
              <a:t>2</a:t>
            </a:r>
            <a:r>
              <a:rPr lang="zh-CN" altLang="en-US" sz="3600" dirty="0"/>
              <a:t>作为未知参数，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zh-CN" altLang="en-US" sz="3600" dirty="0"/>
              <a:t>其矩估计量一定是样本均值和样本方差，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zh-CN" altLang="en-US" sz="3600" dirty="0"/>
              <a:t>即：</a:t>
            </a:r>
            <a:endParaRPr lang="zh-CN" altLang="el-GR" sz="3600" dirty="0"/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903690" y="1628800"/>
            <a:ext cx="2428875" cy="771525"/>
          </a:xfrm>
          <a:prstGeom prst="rect">
            <a:avLst/>
          </a:prstGeom>
          <a:noFill/>
          <a:ln w="9525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4400">
                <a:latin typeface="黑体" panose="02010609060101010101" pitchFamily="49" charset="-122"/>
                <a:ea typeface="黑体" panose="02010609060101010101" pitchFamily="49" charset="-122"/>
              </a:rPr>
              <a:t>结  论 </a:t>
            </a:r>
          </a:p>
        </p:txBody>
      </p:sp>
    </p:spTree>
    <p:extLst>
      <p:ext uri="{BB962C8B-B14F-4D97-AF65-F5344CB8AC3E}">
        <p14:creationId xmlns:p14="http://schemas.microsoft.com/office/powerpoint/2010/main" val="402098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292080" y="3433049"/>
            <a:ext cx="4032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令           ，得            ；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9665" y="1603772"/>
            <a:ext cx="781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设</a:t>
            </a:r>
            <a:r>
              <a:rPr lang="zh-CN" altLang="en-US" dirty="0"/>
              <a:t>总体</a:t>
            </a:r>
            <a:r>
              <a:rPr lang="en-US" altLang="zh-CN" dirty="0"/>
              <a:t>X</a:t>
            </a:r>
            <a:r>
              <a:rPr lang="zh-CN" altLang="en-US" dirty="0"/>
              <a:t>的密度为</a:t>
            </a:r>
          </a:p>
        </p:txBody>
      </p:sp>
      <p:graphicFrame>
        <p:nvGraphicFramePr>
          <p:cNvPr id="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78774"/>
              </p:ext>
            </p:extLst>
          </p:nvPr>
        </p:nvGraphicFramePr>
        <p:xfrm>
          <a:off x="4168130" y="1449110"/>
          <a:ext cx="3454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94" name="Equation" r:id="rId3" imgW="1701800" imgH="393700" progId="Equation.DSMT4">
                  <p:embed/>
                </p:oleObj>
              </mc:Choice>
              <mc:Fallback>
                <p:oleObj name="Equation" r:id="rId3" imgW="1701800" imgH="393700" progId="Equation.DSMT4">
                  <p:embed/>
                  <p:pic>
                    <p:nvPicPr>
                      <p:cNvPr id="1638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130" y="1449110"/>
                        <a:ext cx="34544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508691"/>
              </p:ext>
            </p:extLst>
          </p:nvPr>
        </p:nvGraphicFramePr>
        <p:xfrm>
          <a:off x="777898" y="2157651"/>
          <a:ext cx="164306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95" name="Equation" r:id="rId5" imgW="634725" imgH="228501" progId="Equation.DSMT4">
                  <p:embed/>
                </p:oleObj>
              </mc:Choice>
              <mc:Fallback>
                <p:oleObj name="Equation" r:id="rId5" imgW="634725" imgH="228501" progId="Equation.DSMT4">
                  <p:embed/>
                  <p:pic>
                    <p:nvPicPr>
                      <p:cNvPr id="1638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98" y="2157651"/>
                        <a:ext cx="164306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563835" y="2157651"/>
            <a:ext cx="3071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是来自</a:t>
            </a:r>
            <a:r>
              <a:rPr lang="en-US" altLang="zh-CN" dirty="0"/>
              <a:t>X</a:t>
            </a:r>
            <a:r>
              <a:rPr lang="zh-CN" altLang="en-US" dirty="0"/>
              <a:t>的样本。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747991"/>
              </p:ext>
            </p:extLst>
          </p:nvPr>
        </p:nvGraphicFramePr>
        <p:xfrm>
          <a:off x="1754083" y="3392329"/>
          <a:ext cx="324008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96" name="Equation" r:id="rId7" imgW="1752600" imgH="393700" progId="Equation.DSMT4">
                  <p:embed/>
                </p:oleObj>
              </mc:Choice>
              <mc:Fallback>
                <p:oleObj name="Equation" r:id="rId7" imgW="1752600" imgH="393700" progId="Equation.DSMT4">
                  <p:embed/>
                  <p:pic>
                    <p:nvPicPr>
                      <p:cNvPr id="1639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083" y="3392329"/>
                        <a:ext cx="3240087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474712"/>
              </p:ext>
            </p:extLst>
          </p:nvPr>
        </p:nvGraphicFramePr>
        <p:xfrm>
          <a:off x="5895330" y="3393361"/>
          <a:ext cx="11049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97" name="Equation" r:id="rId9" imgW="444307" imgH="393529" progId="Equation.DSMT4">
                  <p:embed/>
                </p:oleObj>
              </mc:Choice>
              <mc:Fallback>
                <p:oleObj name="Equation" r:id="rId9" imgW="444307" imgH="393529" progId="Equation.DSMT4">
                  <p:embed/>
                  <p:pic>
                    <p:nvPicPr>
                      <p:cNvPr id="1639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330" y="3393361"/>
                        <a:ext cx="11049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338033" y="3463766"/>
            <a:ext cx="3071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解：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89462"/>
              </p:ext>
            </p:extLst>
          </p:nvPr>
        </p:nvGraphicFramePr>
        <p:xfrm>
          <a:off x="7760643" y="3493374"/>
          <a:ext cx="10588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98" name="Equation" r:id="rId11" imgW="494870" imgH="215713" progId="Equation.DSMT4">
                  <p:embed/>
                </p:oleObj>
              </mc:Choice>
              <mc:Fallback>
                <p:oleObj name="Equation" r:id="rId11" imgW="494870" imgH="215713" progId="Equation.DSMT4">
                  <p:embed/>
                  <p:pic>
                    <p:nvPicPr>
                      <p:cNvPr id="1639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0643" y="3493374"/>
                        <a:ext cx="105886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860248"/>
              </p:ext>
            </p:extLst>
          </p:nvPr>
        </p:nvGraphicFramePr>
        <p:xfrm>
          <a:off x="1754083" y="4312285"/>
          <a:ext cx="3732212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99" name="Equation" r:id="rId13" imgW="2019300" imgH="419100" progId="Equation.DSMT4">
                  <p:embed/>
                </p:oleObj>
              </mc:Choice>
              <mc:Fallback>
                <p:oleObj name="Equation" r:id="rId13" imgW="2019300" imgH="419100" progId="Equation.DSMT4">
                  <p:embed/>
                  <p:pic>
                    <p:nvPicPr>
                      <p:cNvPr id="1639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083" y="4312285"/>
                        <a:ext cx="3732212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177820" y="4428172"/>
            <a:ext cx="863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796301"/>
              </p:ext>
            </p:extLst>
          </p:nvPr>
        </p:nvGraphicFramePr>
        <p:xfrm>
          <a:off x="1750908" y="5085397"/>
          <a:ext cx="43243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00" name="Equation" r:id="rId15" imgW="1739900" imgH="419100" progId="Equation.DSMT4">
                  <p:embed/>
                </p:oleObj>
              </mc:Choice>
              <mc:Fallback>
                <p:oleObj name="Equation" r:id="rId15" imgW="1739900" imgH="419100" progId="Equation.DSMT4">
                  <p:embed/>
                  <p:pic>
                    <p:nvPicPr>
                      <p:cNvPr id="1640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908" y="5085397"/>
                        <a:ext cx="432435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115306"/>
              </p:ext>
            </p:extLst>
          </p:nvPr>
        </p:nvGraphicFramePr>
        <p:xfrm>
          <a:off x="1754083" y="5948997"/>
          <a:ext cx="47037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01" name="Equation" r:id="rId17" imgW="1892300" imgH="419100" progId="Equation.DSMT4">
                  <p:embed/>
                </p:oleObj>
              </mc:Choice>
              <mc:Fallback>
                <p:oleObj name="Equation" r:id="rId17" imgW="1892300" imgH="419100" progId="Equation.DSMT4">
                  <p:embed/>
                  <p:pic>
                    <p:nvPicPr>
                      <p:cNvPr id="1640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083" y="5948997"/>
                        <a:ext cx="470376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89665" y="2734596"/>
                <a:ext cx="6228399" cy="648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1)</a:t>
                </a:r>
                <a:r>
                  <a:rPr lang="zh-CN" altLang="en-US" sz="32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的矩估计量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；</a:t>
                </a:r>
                <a:r>
                  <a:rPr lang="en-US" altLang="zh-CN" sz="32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32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）求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sz="3200" dirty="0" smtClean="0"/>
                  <a:t>。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65" y="2734596"/>
                <a:ext cx="6228399" cy="648191"/>
              </a:xfrm>
              <a:prstGeom prst="rect">
                <a:avLst/>
              </a:prstGeom>
              <a:blipFill>
                <a:blip r:embed="rId19"/>
                <a:stretch>
                  <a:fillRect l="-2446" t="-12264" r="-9002" b="-27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17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440" y="2857922"/>
            <a:ext cx="6374746" cy="30856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极大似然估计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66700" y="1635344"/>
            <a:ext cx="63579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抛硬币的例子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857500" y="1588808"/>
            <a:ext cx="6286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结果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</a:rPr>
              <a:t>1001110101 </a:t>
            </a:r>
            <a:r>
              <a:rPr lang="en-US" altLang="zh-CN" dirty="0"/>
              <a:t>  1:</a:t>
            </a:r>
            <a:r>
              <a:rPr lang="zh-CN" altLang="en-US" dirty="0"/>
              <a:t>正，</a:t>
            </a:r>
            <a:r>
              <a:rPr lang="en-US" altLang="zh-CN" dirty="0"/>
              <a:t>0:</a:t>
            </a:r>
            <a:r>
              <a:rPr lang="zh-CN" altLang="en-US" dirty="0"/>
              <a:t>反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2437" y="3816561"/>
            <a:ext cx="2143125" cy="584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猜测：</a:t>
            </a:r>
            <a:r>
              <a:rPr lang="en-US" altLang="zh-CN" dirty="0">
                <a:solidFill>
                  <a:srgbClr val="FF0000"/>
                </a:solidFill>
              </a:rPr>
              <a:t>0.6</a:t>
            </a:r>
            <a:r>
              <a:rPr lang="zh-CN" altLang="en-US" dirty="0"/>
              <a:t>？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1259632" y="5883207"/>
            <a:ext cx="614362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100" b="1" dirty="0"/>
              <a:t>机制</a:t>
            </a:r>
            <a:r>
              <a:rPr lang="zh-CN" altLang="en-US" sz="3100" dirty="0"/>
              <a:t>：</a:t>
            </a:r>
            <a:r>
              <a:rPr lang="zh-CN" altLang="en-US" sz="2800" dirty="0">
                <a:solidFill>
                  <a:srgbClr val="002060"/>
                </a:solidFill>
              </a:rPr>
              <a:t>发生概率大    容易发生    发生</a:t>
            </a:r>
          </a:p>
        </p:txBody>
      </p:sp>
      <p:sp>
        <p:nvSpPr>
          <p:cNvPr id="11" name="右箭头 8"/>
          <p:cNvSpPr>
            <a:spLocks noChangeArrowheads="1"/>
          </p:cNvSpPr>
          <p:nvPr/>
        </p:nvSpPr>
        <p:spPr bwMode="auto">
          <a:xfrm>
            <a:off x="4331444" y="6097519"/>
            <a:ext cx="285750" cy="1428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右箭头 9"/>
          <p:cNvSpPr>
            <a:spLocks noChangeArrowheads="1"/>
          </p:cNvSpPr>
          <p:nvPr/>
        </p:nvSpPr>
        <p:spPr bwMode="auto">
          <a:xfrm>
            <a:off x="6117382" y="6097519"/>
            <a:ext cx="285750" cy="1428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413524"/>
              </p:ext>
            </p:extLst>
          </p:nvPr>
        </p:nvGraphicFramePr>
        <p:xfrm>
          <a:off x="3474825" y="2542616"/>
          <a:ext cx="99218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0" name="Equation" r:id="rId4" imgW="634725" imgH="228501" progId="Equation.DSMT4">
                  <p:embed/>
                </p:oleObj>
              </mc:Choice>
              <mc:Fallback>
                <p:oleObj name="Equation" r:id="rId4" imgW="634725" imgH="228501" progId="Equation.DSMT4">
                  <p:embed/>
                  <p:pic>
                    <p:nvPicPr>
                      <p:cNvPr id="1844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825" y="2542616"/>
                        <a:ext cx="992188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187998"/>
              </p:ext>
            </p:extLst>
          </p:nvPr>
        </p:nvGraphicFramePr>
        <p:xfrm>
          <a:off x="6228184" y="2607703"/>
          <a:ext cx="18573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1" name="Equation" r:id="rId6" imgW="1295400" imgH="203200" progId="Equation.DSMT4">
                  <p:embed/>
                </p:oleObj>
              </mc:Choice>
              <mc:Fallback>
                <p:oleObj name="Equation" r:id="rId6" imgW="1295400" imgH="203200" progId="Equation.DSMT4">
                  <p:embed/>
                  <p:pic>
                    <p:nvPicPr>
                      <p:cNvPr id="1844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2607703"/>
                        <a:ext cx="18573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811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395288" y="1938338"/>
                <a:ext cx="8497192" cy="3624582"/>
              </a:xfrm>
              <a:prstGeom prst="rect">
                <a:avLst/>
              </a:prstGeom>
              <a:noFill/>
              <a:ln w="9525">
                <a:solidFill>
                  <a:srgbClr val="CC33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600" dirty="0" smtClean="0"/>
                  <a:t>原则：</a:t>
                </a:r>
              </a:p>
              <a:p>
                <a:pPr eaLnBrk="1" hangingPunct="1"/>
                <a:endParaRPr lang="zh-CN" altLang="en-US" sz="1200" dirty="0"/>
              </a:p>
              <a:p>
                <a:pPr eaLnBrk="1" hangingPunct="1"/>
                <a:r>
                  <a:rPr lang="zh-CN" altLang="en-US" sz="3600" dirty="0"/>
                  <a:t>    以样本</a:t>
                </a:r>
                <a:r>
                  <a:rPr lang="en-US" altLang="zh-CN" sz="3600" i="1" dirty="0"/>
                  <a:t>X</a:t>
                </a:r>
                <a:r>
                  <a:rPr lang="en-US" altLang="zh-CN" sz="3600" i="1" baseline="-25000" dirty="0"/>
                  <a:t>1</a:t>
                </a:r>
                <a:r>
                  <a:rPr lang="en-US" altLang="zh-CN" sz="3600" i="1" dirty="0"/>
                  <a:t>,X</a:t>
                </a:r>
                <a:r>
                  <a:rPr lang="en-US" altLang="zh-CN" sz="3600" i="1" baseline="-25000" dirty="0"/>
                  <a:t>2</a:t>
                </a:r>
                <a:r>
                  <a:rPr lang="en-US" altLang="zh-CN" sz="3600" i="1" dirty="0"/>
                  <a:t>, ... </a:t>
                </a:r>
                <a:r>
                  <a:rPr lang="en-US" altLang="zh-CN" sz="3600" i="1" dirty="0" err="1"/>
                  <a:t>X</a:t>
                </a:r>
                <a:r>
                  <a:rPr lang="en-US" altLang="zh-CN" sz="3600" i="1" baseline="-25000" dirty="0" err="1"/>
                  <a:t>n</a:t>
                </a:r>
                <a:r>
                  <a:rPr lang="zh-CN" altLang="en-US" sz="3600" dirty="0"/>
                  <a:t>的观测值</a:t>
                </a:r>
                <a:r>
                  <a:rPr lang="en-US" altLang="zh-CN" sz="3600" i="1" dirty="0"/>
                  <a:t>x</a:t>
                </a:r>
                <a:r>
                  <a:rPr lang="en-US" altLang="zh-CN" sz="3600" baseline="-25000" dirty="0"/>
                  <a:t>1</a:t>
                </a:r>
                <a:r>
                  <a:rPr lang="en-US" altLang="zh-CN" sz="3600" dirty="0"/>
                  <a:t>, ... </a:t>
                </a:r>
                <a:r>
                  <a:rPr lang="en-US" altLang="zh-CN" sz="3600" i="1" dirty="0" err="1"/>
                  <a:t>x</a:t>
                </a:r>
                <a:r>
                  <a:rPr lang="en-US" altLang="zh-CN" sz="3600" i="1" baseline="-25000" dirty="0" err="1"/>
                  <a:t>n</a:t>
                </a:r>
                <a:r>
                  <a:rPr lang="zh-CN" altLang="en-US" sz="3600" dirty="0"/>
                  <a:t>来</a:t>
                </a:r>
              </a:p>
              <a:p>
                <a:pPr eaLnBrk="1" hangingPunct="1"/>
                <a:endParaRPr lang="zh-CN" altLang="en-US" sz="1200" dirty="0"/>
              </a:p>
              <a:p>
                <a:pPr eaLnBrk="1" hangingPunct="1"/>
                <a:r>
                  <a:rPr lang="zh-CN" altLang="en-US" sz="3600" dirty="0"/>
                  <a:t>估计</a:t>
                </a:r>
                <a:r>
                  <a:rPr lang="zh-CN" altLang="en-US" sz="3600" dirty="0" smtClean="0"/>
                  <a:t>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600" dirty="0" smtClean="0"/>
                  <a:t>，若选取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600" dirty="0" smtClean="0"/>
                  <a:t> </a:t>
                </a:r>
                <a:endParaRPr lang="zh-CN" altLang="en-US" sz="3600" dirty="0"/>
              </a:p>
              <a:p>
                <a:pPr eaLnBrk="1" hangingPunct="1"/>
                <a:endParaRPr lang="zh-CN" altLang="en-US" sz="1200" dirty="0"/>
              </a:p>
              <a:p>
                <a:pPr eaLnBrk="1" hangingPunct="1"/>
                <a:r>
                  <a:rPr lang="zh-CN" altLang="en-US" sz="3600" dirty="0"/>
                  <a:t>使观测值出现的概率最大</a:t>
                </a:r>
                <a:r>
                  <a:rPr lang="en-US" altLang="zh-CN" sz="3600" dirty="0"/>
                  <a:t>,  </a:t>
                </a:r>
                <a:r>
                  <a:rPr lang="zh-CN" altLang="en-US" sz="3600" dirty="0"/>
                  <a:t>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i="1" dirty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3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600" dirty="0"/>
                  <a:t>                           </a:t>
                </a:r>
              </a:p>
              <a:p>
                <a:pPr eaLnBrk="1" hangingPunct="1"/>
                <a:endParaRPr lang="zh-CN" altLang="en-US" sz="1200" dirty="0"/>
              </a:p>
              <a:p>
                <a:pPr eaLnBrk="1" hangingPunct="1"/>
                <a:r>
                  <a:rPr lang="zh-CN" altLang="en-US" sz="3600" dirty="0"/>
                  <a:t>作为参数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600" dirty="0" smtClean="0"/>
                  <a:t>的</a:t>
                </a:r>
                <a:r>
                  <a:rPr lang="zh-CN" altLang="en-US" sz="3600" dirty="0"/>
                  <a:t>估计量。</a:t>
                </a:r>
              </a:p>
            </p:txBody>
          </p:sp>
        </mc:Choice>
        <mc:Fallback xmlns=""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288" y="1938338"/>
                <a:ext cx="8497192" cy="3624582"/>
              </a:xfrm>
              <a:prstGeom prst="rect">
                <a:avLst/>
              </a:prstGeom>
              <a:blipFill>
                <a:blip r:embed="rId2"/>
                <a:stretch>
                  <a:fillRect l="-2149" t="-3183" b="-5193"/>
                </a:stretch>
              </a:blipFill>
              <a:ln w="9525">
                <a:solidFill>
                  <a:srgbClr val="CC33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96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离散情况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19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287871"/>
              </p:ext>
            </p:extLst>
          </p:nvPr>
        </p:nvGraphicFramePr>
        <p:xfrm>
          <a:off x="827584" y="1533176"/>
          <a:ext cx="5112568" cy="1559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3" name="Equation" r:id="rId3" imgW="2044700" imgH="622300" progId="Equation.DSMT4">
                  <p:embed/>
                </p:oleObj>
              </mc:Choice>
              <mc:Fallback>
                <p:oleObj name="Equation" r:id="rId3" imgW="2044700" imgH="622300" progId="Equation.DSMT4">
                  <p:embed/>
                  <p:pic>
                    <p:nvPicPr>
                      <p:cNvPr id="1095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533176"/>
                        <a:ext cx="5112568" cy="1559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097781"/>
              </p:ext>
            </p:extLst>
          </p:nvPr>
        </p:nvGraphicFramePr>
        <p:xfrm>
          <a:off x="1115616" y="3092418"/>
          <a:ext cx="5975576" cy="523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4" name="Equation" r:id="rId5" imgW="2590800" imgH="228600" progId="Equation.DSMT4">
                  <p:embed/>
                </p:oleObj>
              </mc:Choice>
              <mc:Fallback>
                <p:oleObj name="Equation" r:id="rId5" imgW="2590800" imgH="228600" progId="Equation.DSMT4">
                  <p:embed/>
                  <p:pic>
                    <p:nvPicPr>
                      <p:cNvPr id="1095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092418"/>
                        <a:ext cx="5975576" cy="523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238709"/>
              </p:ext>
            </p:extLst>
          </p:nvPr>
        </p:nvGraphicFramePr>
        <p:xfrm>
          <a:off x="1115616" y="3615427"/>
          <a:ext cx="6250073" cy="525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5" name="Equation" r:id="rId7" imgW="2705100" imgH="228600" progId="Equation.DSMT4">
                  <p:embed/>
                </p:oleObj>
              </mc:Choice>
              <mc:Fallback>
                <p:oleObj name="Equation" r:id="rId7" imgW="2705100" imgH="228600" progId="Equation.DSMT4">
                  <p:embed/>
                  <p:pic>
                    <p:nvPicPr>
                      <p:cNvPr id="1095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615427"/>
                        <a:ext cx="6250073" cy="525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295927"/>
              </p:ext>
            </p:extLst>
          </p:nvPr>
        </p:nvGraphicFramePr>
        <p:xfrm>
          <a:off x="1119064" y="4041304"/>
          <a:ext cx="2935489" cy="494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6" name="Equation" r:id="rId9" imgW="1651000" imgH="254000" progId="Equation.DSMT4">
                  <p:embed/>
                </p:oleObj>
              </mc:Choice>
              <mc:Fallback>
                <p:oleObj name="Equation" r:id="rId9" imgW="1651000" imgH="254000" progId="Equation.DSMT4">
                  <p:embed/>
                  <p:pic>
                    <p:nvPicPr>
                      <p:cNvPr id="1095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064" y="4041304"/>
                        <a:ext cx="2935489" cy="494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142890"/>
              </p:ext>
            </p:extLst>
          </p:nvPr>
        </p:nvGraphicFramePr>
        <p:xfrm>
          <a:off x="1968980" y="5036172"/>
          <a:ext cx="6044781" cy="84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7" name="Equation" r:id="rId11" imgW="3581400" imgH="520700" progId="Equation.DSMT4">
                  <p:embed/>
                </p:oleObj>
              </mc:Choice>
              <mc:Fallback>
                <p:oleObj name="Equation" r:id="rId11" imgW="3581400" imgH="520700" progId="Equation.DSMT4">
                  <p:embed/>
                  <p:pic>
                    <p:nvPicPr>
                      <p:cNvPr id="1095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980" y="5036172"/>
                        <a:ext cx="6044781" cy="84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612270"/>
              </p:ext>
            </p:extLst>
          </p:nvPr>
        </p:nvGraphicFramePr>
        <p:xfrm>
          <a:off x="1172055" y="4433572"/>
          <a:ext cx="7516812" cy="8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8" name="Equation" r:id="rId13" imgW="4787900" imgH="444500" progId="Equation.DSMT4">
                  <p:embed/>
                </p:oleObj>
              </mc:Choice>
              <mc:Fallback>
                <p:oleObj name="Equation" r:id="rId13" imgW="4787900" imgH="444500" progId="Equation.DSMT4">
                  <p:embed/>
                  <p:pic>
                    <p:nvPicPr>
                      <p:cNvPr id="1095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055" y="4433572"/>
                        <a:ext cx="7516812" cy="8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115616" y="513012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记：</a:t>
            </a: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4103404" y="4012787"/>
            <a:ext cx="26299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发生的概率为：</a:t>
            </a:r>
          </a:p>
        </p:txBody>
      </p:sp>
      <p:graphicFrame>
        <p:nvGraphicFramePr>
          <p:cNvPr id="13" name="Object 15"/>
          <p:cNvGraphicFramePr>
            <a:graphicFrameLocks noChangeAspect="1"/>
          </p:cNvGraphicFramePr>
          <p:nvPr/>
        </p:nvGraphicFramePr>
        <p:xfrm>
          <a:off x="1116013" y="6021388"/>
          <a:ext cx="4824412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9" name="Equation" r:id="rId15" imgW="1727200" imgH="228600" progId="Equation.DSMT4">
                  <p:embed/>
                </p:oleObj>
              </mc:Choice>
              <mc:Fallback>
                <p:oleObj name="Equation" r:id="rId15" imgW="1727200" imgH="228600" progId="Equation.DSMT4">
                  <p:embed/>
                  <p:pic>
                    <p:nvPicPr>
                      <p:cNvPr id="1095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6021388"/>
                        <a:ext cx="4824412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38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20</a:t>
            </a:fld>
            <a:endParaRPr lang="en-US" altLang="zh-CN"/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141994"/>
              </p:ext>
            </p:extLst>
          </p:nvPr>
        </p:nvGraphicFramePr>
        <p:xfrm>
          <a:off x="612648" y="1600200"/>
          <a:ext cx="7777162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8" name="Equation" r:id="rId3" imgW="2641600" imgH="685800" progId="Equation.DSMT4">
                  <p:embed/>
                </p:oleObj>
              </mc:Choice>
              <mc:Fallback>
                <p:oleObj name="Equation" r:id="rId3" imgW="2641600" imgH="685800" progId="Equation.DSMT4">
                  <p:embed/>
                  <p:pic>
                    <p:nvPicPr>
                      <p:cNvPr id="55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1600200"/>
                        <a:ext cx="7777162" cy="20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384328"/>
              </p:ext>
            </p:extLst>
          </p:nvPr>
        </p:nvGraphicFramePr>
        <p:xfrm>
          <a:off x="1810417" y="3557026"/>
          <a:ext cx="575786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9" name="Equation" r:id="rId5" imgW="2146300" imgH="279400" progId="Equation.DSMT4">
                  <p:embed/>
                </p:oleObj>
              </mc:Choice>
              <mc:Fallback>
                <p:oleObj name="Equation" r:id="rId5" imgW="2146300" imgH="279400" progId="Equation.DSMT4">
                  <p:embed/>
                  <p:pic>
                    <p:nvPicPr>
                      <p:cNvPr id="553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417" y="3557026"/>
                        <a:ext cx="5757862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640776"/>
              </p:ext>
            </p:extLst>
          </p:nvPr>
        </p:nvGraphicFramePr>
        <p:xfrm>
          <a:off x="755523" y="4389437"/>
          <a:ext cx="6086475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0" name="Equation" r:id="rId7" imgW="2082800" imgH="469900" progId="Equation.DSMT4">
                  <p:embed/>
                </p:oleObj>
              </mc:Choice>
              <mc:Fallback>
                <p:oleObj name="Equation" r:id="rId7" imgW="2082800" imgH="469900" progId="Equation.DSMT4">
                  <p:embed/>
                  <p:pic>
                    <p:nvPicPr>
                      <p:cNvPr id="553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23" y="4389437"/>
                        <a:ext cx="6086475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55721"/>
              </p:ext>
            </p:extLst>
          </p:nvPr>
        </p:nvGraphicFramePr>
        <p:xfrm>
          <a:off x="723773" y="5829300"/>
          <a:ext cx="7777162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1" name="Equation" r:id="rId9" imgW="2552700" imgH="241300" progId="Equation.DSMT4">
                  <p:embed/>
                </p:oleObj>
              </mc:Choice>
              <mc:Fallback>
                <p:oleObj name="Equation" r:id="rId9" imgW="2552700" imgH="241300" progId="Equation.DSMT4">
                  <p:embed/>
                  <p:pic>
                    <p:nvPicPr>
                      <p:cNvPr id="553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73" y="5829300"/>
                        <a:ext cx="7777162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228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连续情况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21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16366"/>
              </p:ext>
            </p:extLst>
          </p:nvPr>
        </p:nvGraphicFramePr>
        <p:xfrm>
          <a:off x="755576" y="1600200"/>
          <a:ext cx="766921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4" name="Equation" r:id="rId3" imgW="2882900" imgH="419100" progId="Equation.DSMT4">
                  <p:embed/>
                </p:oleObj>
              </mc:Choice>
              <mc:Fallback>
                <p:oleObj name="Equation" r:id="rId3" imgW="2882900" imgH="419100" progId="Equation.DSMT4">
                  <p:embed/>
                  <p:pic>
                    <p:nvPicPr>
                      <p:cNvPr id="56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600200"/>
                        <a:ext cx="7669213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132934"/>
              </p:ext>
            </p:extLst>
          </p:nvPr>
        </p:nvGraphicFramePr>
        <p:xfrm>
          <a:off x="1158545" y="2709862"/>
          <a:ext cx="3557471" cy="5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5" name="Equation" r:id="rId5" imgW="1600200" imgH="228600" progId="Equation.DSMT4">
                  <p:embed/>
                </p:oleObj>
              </mc:Choice>
              <mc:Fallback>
                <p:oleObj name="Equation" r:id="rId5" imgW="1600200" imgH="228600" progId="Equation.DSMT4">
                  <p:embed/>
                  <p:pic>
                    <p:nvPicPr>
                      <p:cNvPr id="563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545" y="2709862"/>
                        <a:ext cx="3557471" cy="502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378926"/>
              </p:ext>
            </p:extLst>
          </p:nvPr>
        </p:nvGraphicFramePr>
        <p:xfrm>
          <a:off x="4749008" y="2444077"/>
          <a:ext cx="1362799" cy="83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6" name="Equation" r:id="rId7" imgW="660113" imgH="406224" progId="Equation.DSMT4">
                  <p:embed/>
                </p:oleObj>
              </mc:Choice>
              <mc:Fallback>
                <p:oleObj name="Equation" r:id="rId7" imgW="660113" imgH="406224" progId="Equation.DSMT4">
                  <p:embed/>
                  <p:pic>
                    <p:nvPicPr>
                      <p:cNvPr id="563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008" y="2444077"/>
                        <a:ext cx="1362799" cy="83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866147"/>
              </p:ext>
            </p:extLst>
          </p:nvPr>
        </p:nvGraphicFramePr>
        <p:xfrm>
          <a:off x="1130200" y="3373768"/>
          <a:ext cx="6797260" cy="150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7" name="Equation" r:id="rId9" imgW="2984500" imgH="660400" progId="Equation.DSMT4">
                  <p:embed/>
                </p:oleObj>
              </mc:Choice>
              <mc:Fallback>
                <p:oleObj name="Equation" r:id="rId9" imgW="2984500" imgH="660400" progId="Equation.DSMT4">
                  <p:embed/>
                  <p:pic>
                    <p:nvPicPr>
                      <p:cNvPr id="563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200" y="3373768"/>
                        <a:ext cx="6797260" cy="150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193003"/>
              </p:ext>
            </p:extLst>
          </p:nvPr>
        </p:nvGraphicFramePr>
        <p:xfrm>
          <a:off x="3347864" y="4874880"/>
          <a:ext cx="2763943" cy="861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8" name="Equation" r:id="rId11" imgW="1218671" imgH="406224" progId="Equation.DSMT4">
                  <p:embed/>
                </p:oleObj>
              </mc:Choice>
              <mc:Fallback>
                <p:oleObj name="Equation" r:id="rId11" imgW="1218671" imgH="406224" progId="Equation.DSMT4">
                  <p:embed/>
                  <p:pic>
                    <p:nvPicPr>
                      <p:cNvPr id="563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874880"/>
                        <a:ext cx="2763943" cy="861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29227"/>
              </p:ext>
            </p:extLst>
          </p:nvPr>
        </p:nvGraphicFramePr>
        <p:xfrm>
          <a:off x="1259633" y="5818697"/>
          <a:ext cx="5209932" cy="557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9" name="Equation" r:id="rId13" imgW="2019300" imgH="215900" progId="Equation.DSMT4">
                  <p:embed/>
                </p:oleObj>
              </mc:Choice>
              <mc:Fallback>
                <p:oleObj name="Equation" r:id="rId13" imgW="2019300" imgH="215900" progId="Equation.DSMT4">
                  <p:embed/>
                  <p:pic>
                    <p:nvPicPr>
                      <p:cNvPr id="563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3" y="5818697"/>
                        <a:ext cx="5209932" cy="557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39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连续情况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22</a:t>
            </a:fld>
            <a:endParaRPr lang="en-US" altLang="zh-CN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929355"/>
              </p:ext>
            </p:extLst>
          </p:nvPr>
        </p:nvGraphicFramePr>
        <p:xfrm>
          <a:off x="1063879" y="1600200"/>
          <a:ext cx="4588241" cy="81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68" name="公式" r:id="rId3" imgW="1916868" imgH="342751" progId="Equation.3">
                  <p:embed/>
                </p:oleObj>
              </mc:Choice>
              <mc:Fallback>
                <p:oleObj name="公式" r:id="rId3" imgW="1916868" imgH="342751" progId="Equation.3">
                  <p:embed/>
                  <p:pic>
                    <p:nvPicPr>
                      <p:cNvPr id="2355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879" y="1600200"/>
                        <a:ext cx="4588241" cy="818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394480"/>
              </p:ext>
            </p:extLst>
          </p:nvPr>
        </p:nvGraphicFramePr>
        <p:xfrm>
          <a:off x="2126853" y="2134690"/>
          <a:ext cx="5124990" cy="89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69" name="Equation" r:id="rId5" imgW="2311400" imgH="406400" progId="Equation.DSMT4">
                  <p:embed/>
                </p:oleObj>
              </mc:Choice>
              <mc:Fallback>
                <p:oleObj name="Equation" r:id="rId5" imgW="2311400" imgH="406400" progId="Equation.DSMT4">
                  <p:embed/>
                  <p:pic>
                    <p:nvPicPr>
                      <p:cNvPr id="289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853" y="2134690"/>
                        <a:ext cx="5124990" cy="89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286450"/>
              </p:ext>
            </p:extLst>
          </p:nvPr>
        </p:nvGraphicFramePr>
        <p:xfrm>
          <a:off x="1072553" y="3066803"/>
          <a:ext cx="5680213" cy="56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0" name="Equation" r:id="rId7" imgW="2273300" imgH="228600" progId="Equation.DSMT4">
                  <p:embed/>
                </p:oleObj>
              </mc:Choice>
              <mc:Fallback>
                <p:oleObj name="Equation" r:id="rId7" imgW="2273300" imgH="228600" progId="Equation.DSMT4">
                  <p:embed/>
                  <p:pic>
                    <p:nvPicPr>
                      <p:cNvPr id="289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553" y="3066803"/>
                        <a:ext cx="5680213" cy="567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953152"/>
              </p:ext>
            </p:extLst>
          </p:nvPr>
        </p:nvGraphicFramePr>
        <p:xfrm>
          <a:off x="949640" y="4149080"/>
          <a:ext cx="5396651" cy="653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1" name="Equation" r:id="rId9" imgW="2374900" imgH="279400" progId="Equation.DSMT4">
                  <p:embed/>
                </p:oleObj>
              </mc:Choice>
              <mc:Fallback>
                <p:oleObj name="Equation" r:id="rId9" imgW="2374900" imgH="279400" progId="Equation.DSMT4">
                  <p:embed/>
                  <p:pic>
                    <p:nvPicPr>
                      <p:cNvPr id="289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640" y="4149080"/>
                        <a:ext cx="5396651" cy="653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886042"/>
              </p:ext>
            </p:extLst>
          </p:nvPr>
        </p:nvGraphicFramePr>
        <p:xfrm>
          <a:off x="1242829" y="4868324"/>
          <a:ext cx="6296310" cy="648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2" name="Equation" r:id="rId11" imgW="2324100" imgH="241300" progId="Equation.DSMT4">
                  <p:embed/>
                </p:oleObj>
              </mc:Choice>
              <mc:Fallback>
                <p:oleObj name="Equation" r:id="rId11" imgW="2324100" imgH="241300" progId="Equation.DSMT4">
                  <p:embed/>
                  <p:pic>
                    <p:nvPicPr>
                      <p:cNvPr id="289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829" y="4868324"/>
                        <a:ext cx="6296310" cy="648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163354"/>
              </p:ext>
            </p:extLst>
          </p:nvPr>
        </p:nvGraphicFramePr>
        <p:xfrm>
          <a:off x="1242829" y="5608054"/>
          <a:ext cx="6461562" cy="63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3" name="Equation" r:id="rId13" imgW="2425700" imgH="241300" progId="Equation.DSMT4">
                  <p:embed/>
                </p:oleObj>
              </mc:Choice>
              <mc:Fallback>
                <p:oleObj name="Equation" r:id="rId13" imgW="2425700" imgH="241300" progId="Equation.DSMT4">
                  <p:embed/>
                  <p:pic>
                    <p:nvPicPr>
                      <p:cNvPr id="289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829" y="5608054"/>
                        <a:ext cx="6461562" cy="636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503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单参数情况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23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180848"/>
              </p:ext>
            </p:extLst>
          </p:nvPr>
        </p:nvGraphicFramePr>
        <p:xfrm>
          <a:off x="555032" y="5157813"/>
          <a:ext cx="71913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84" name="Equation" r:id="rId4" imgW="2616200" imgH="368300" progId="Equation.DSMT4">
                  <p:embed/>
                </p:oleObj>
              </mc:Choice>
              <mc:Fallback>
                <p:oleObj name="Equation" r:id="rId4" imgW="2616200" imgH="368300" progId="Equation.DSMT4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32" y="5157813"/>
                        <a:ext cx="7191375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139329"/>
              </p:ext>
            </p:extLst>
          </p:nvPr>
        </p:nvGraphicFramePr>
        <p:xfrm>
          <a:off x="986832" y="1628800"/>
          <a:ext cx="6554788" cy="157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85" name="Equation" r:id="rId6" imgW="2425700" imgH="584200" progId="Equation.DSMT4">
                  <p:embed/>
                </p:oleObj>
              </mc:Choice>
              <mc:Fallback>
                <p:oleObj name="Equation" r:id="rId6" imgW="2425700" imgH="584200" progId="Equation.DSMT4">
                  <p:embed/>
                  <p:pic>
                    <p:nvPicPr>
                      <p:cNvPr id="583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832" y="1628800"/>
                        <a:ext cx="6554788" cy="157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410323"/>
              </p:ext>
            </p:extLst>
          </p:nvPr>
        </p:nvGraphicFramePr>
        <p:xfrm>
          <a:off x="555032" y="3357588"/>
          <a:ext cx="764857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86" name="Equation" r:id="rId8" imgW="2882900" imgH="635000" progId="Equation.DSMT4">
                  <p:embed/>
                </p:oleObj>
              </mc:Choice>
              <mc:Fallback>
                <p:oleObj name="Equation" r:id="rId8" imgW="2882900" imgH="635000" progId="Equation.DSMT4">
                  <p:embed/>
                  <p:pic>
                    <p:nvPicPr>
                      <p:cNvPr id="583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32" y="3357588"/>
                        <a:ext cx="764857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19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多参数情况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24</a:t>
            </a:fld>
            <a:endParaRPr lang="en-US" altLang="zh-CN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314842"/>
              </p:ext>
            </p:extLst>
          </p:nvPr>
        </p:nvGraphicFramePr>
        <p:xfrm>
          <a:off x="937410" y="1605493"/>
          <a:ext cx="5938846" cy="544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48" name="Equation" r:id="rId3" imgW="2349500" imgH="215900" progId="Equation.DSMT4">
                  <p:embed/>
                </p:oleObj>
              </mc:Choice>
              <mc:Fallback>
                <p:oleObj name="Equation" r:id="rId3" imgW="2349500" imgH="215900" progId="Equation.DSMT4">
                  <p:embed/>
                  <p:pic>
                    <p:nvPicPr>
                      <p:cNvPr id="1187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410" y="1605493"/>
                        <a:ext cx="5938846" cy="544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218575"/>
              </p:ext>
            </p:extLst>
          </p:nvPr>
        </p:nvGraphicFramePr>
        <p:xfrm>
          <a:off x="1130806" y="2833424"/>
          <a:ext cx="2523292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49" name="Equation" r:id="rId5" imgW="1104900" imgH="1041400" progId="Equation.DSMT4">
                  <p:embed/>
                </p:oleObj>
              </mc:Choice>
              <mc:Fallback>
                <p:oleObj name="Equation" r:id="rId5" imgW="1104900" imgH="1041400" progId="Equation.DSMT4">
                  <p:embed/>
                  <p:pic>
                    <p:nvPicPr>
                      <p:cNvPr id="1187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806" y="2833424"/>
                        <a:ext cx="2523292" cy="237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576546"/>
              </p:ext>
            </p:extLst>
          </p:nvPr>
        </p:nvGraphicFramePr>
        <p:xfrm>
          <a:off x="612648" y="5829068"/>
          <a:ext cx="82200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50" name="Equation" r:id="rId7" imgW="3009900" imgH="228600" progId="Equation.DSMT4">
                  <p:embed/>
                </p:oleObj>
              </mc:Choice>
              <mc:Fallback>
                <p:oleObj name="Equation" r:id="rId7" imgW="3009900" imgH="228600" progId="Equation.DSMT4">
                  <p:embed/>
                  <p:pic>
                    <p:nvPicPr>
                      <p:cNvPr id="1187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5829068"/>
                        <a:ext cx="8220075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294687"/>
              </p:ext>
            </p:extLst>
          </p:nvPr>
        </p:nvGraphicFramePr>
        <p:xfrm>
          <a:off x="4802694" y="2761986"/>
          <a:ext cx="2449423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51" name="Equation" r:id="rId9" imgW="1040948" imgH="1040948" progId="Equation.DSMT4">
                  <p:embed/>
                </p:oleObj>
              </mc:Choice>
              <mc:Fallback>
                <p:oleObj name="Equation" r:id="rId9" imgW="1040948" imgH="1040948" progId="Equation.DSMT4">
                  <p:embed/>
                  <p:pic>
                    <p:nvPicPr>
                      <p:cNvPr id="1187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694" y="2761986"/>
                        <a:ext cx="2449423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130806" y="5209912"/>
            <a:ext cx="2673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（似然方程组）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99992" y="5206965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（对数似然方程组）</a:t>
            </a: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501591"/>
              </p:ext>
            </p:extLst>
          </p:nvPr>
        </p:nvGraphicFramePr>
        <p:xfrm>
          <a:off x="948245" y="2098412"/>
          <a:ext cx="3695763" cy="527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52" name="Equation" r:id="rId11" imgW="1511300" imgH="215900" progId="Equation.DSMT4">
                  <p:embed/>
                </p:oleObj>
              </mc:Choice>
              <mc:Fallback>
                <p:oleObj name="Equation" r:id="rId11" imgW="1511300" imgH="215900" progId="Equation.DSMT4">
                  <p:embed/>
                  <p:pic>
                    <p:nvPicPr>
                      <p:cNvPr id="1187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245" y="2098412"/>
                        <a:ext cx="3695763" cy="527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654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25</a:t>
            </a:fld>
            <a:endParaRPr lang="en-US" altLang="zh-CN"/>
          </a:p>
        </p:txBody>
      </p:sp>
      <p:graphicFrame>
        <p:nvGraphicFramePr>
          <p:cNvPr id="5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027303"/>
              </p:ext>
            </p:extLst>
          </p:nvPr>
        </p:nvGraphicFramePr>
        <p:xfrm>
          <a:off x="984119" y="1535438"/>
          <a:ext cx="64500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2" name="Equation" r:id="rId3" imgW="2641320" imgH="215640" progId="Equation.DSMT4">
                  <p:embed/>
                </p:oleObj>
              </mc:Choice>
              <mc:Fallback>
                <p:oleObj name="Equation" r:id="rId3" imgW="2641320" imgH="215640" progId="Equation.DSMT4">
                  <p:embed/>
                  <p:pic>
                    <p:nvPicPr>
                      <p:cNvPr id="26628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119" y="1535438"/>
                        <a:ext cx="645001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899592" y="1974599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试求参数</a:t>
            </a:r>
            <a:r>
              <a:rPr lang="en-US" altLang="zh-CN" sz="2800" dirty="0"/>
              <a:t>p</a:t>
            </a:r>
            <a:r>
              <a:rPr lang="zh-CN" altLang="en-US" sz="2800" dirty="0"/>
              <a:t>的极大似然估计量。</a:t>
            </a:r>
          </a:p>
        </p:txBody>
      </p:sp>
      <p:graphicFrame>
        <p:nvGraphicFramePr>
          <p:cNvPr id="7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889586"/>
              </p:ext>
            </p:extLst>
          </p:nvPr>
        </p:nvGraphicFramePr>
        <p:xfrm>
          <a:off x="533400" y="2526786"/>
          <a:ext cx="6484585" cy="48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3" name="Equation" r:id="rId5" imgW="3035300" imgH="228600" progId="Equation.DSMT4">
                  <p:embed/>
                </p:oleObj>
              </mc:Choice>
              <mc:Fallback>
                <p:oleObj name="Equation" r:id="rId5" imgW="3035300" imgH="228600" progId="Equation.DSMT4">
                  <p:embed/>
                  <p:pic>
                    <p:nvPicPr>
                      <p:cNvPr id="290818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26786"/>
                        <a:ext cx="6484585" cy="48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09461"/>
              </p:ext>
            </p:extLst>
          </p:nvPr>
        </p:nvGraphicFramePr>
        <p:xfrm>
          <a:off x="1152406" y="2982661"/>
          <a:ext cx="4571722" cy="529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4" name="公式" r:id="rId7" imgW="1853396" imgH="215806" progId="Equation.3">
                  <p:embed/>
                </p:oleObj>
              </mc:Choice>
              <mc:Fallback>
                <p:oleObj name="公式" r:id="rId7" imgW="1853396" imgH="215806" progId="Equation.3">
                  <p:embed/>
                  <p:pic>
                    <p:nvPicPr>
                      <p:cNvPr id="290819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406" y="2982661"/>
                        <a:ext cx="4571722" cy="529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12648" y="3560351"/>
            <a:ext cx="289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故似然函数为</a:t>
            </a:r>
          </a:p>
        </p:txBody>
      </p:sp>
      <p:graphicFrame>
        <p:nvGraphicFramePr>
          <p:cNvPr id="10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652806"/>
              </p:ext>
            </p:extLst>
          </p:nvPr>
        </p:nvGraphicFramePr>
        <p:xfrm>
          <a:off x="3059832" y="3223150"/>
          <a:ext cx="5878279" cy="113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5" name="公式" r:id="rId9" imgW="2641600" imgH="508000" progId="Equation.3">
                  <p:embed/>
                </p:oleObj>
              </mc:Choice>
              <mc:Fallback>
                <p:oleObj name="公式" r:id="rId9" imgW="2641600" imgH="508000" progId="Equation.3">
                  <p:embed/>
                  <p:pic>
                    <p:nvPicPr>
                      <p:cNvPr id="29082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223150"/>
                        <a:ext cx="5878279" cy="1133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324863"/>
              </p:ext>
            </p:extLst>
          </p:nvPr>
        </p:nvGraphicFramePr>
        <p:xfrm>
          <a:off x="1152406" y="4264767"/>
          <a:ext cx="6021856" cy="1046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6" name="公式" r:id="rId11" imgW="2552700" imgH="444500" progId="Equation.3">
                  <p:embed/>
                </p:oleObj>
              </mc:Choice>
              <mc:Fallback>
                <p:oleObj name="公式" r:id="rId11" imgW="2552700" imgH="444500" progId="Equation.3">
                  <p:embed/>
                  <p:pic>
                    <p:nvPicPr>
                      <p:cNvPr id="29082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406" y="4264767"/>
                        <a:ext cx="6021856" cy="1046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742881"/>
              </p:ext>
            </p:extLst>
          </p:nvPr>
        </p:nvGraphicFramePr>
        <p:xfrm>
          <a:off x="1152406" y="5311118"/>
          <a:ext cx="4958336" cy="1426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7" name="公式" r:id="rId13" imgW="2120900" imgH="609600" progId="Equation.3">
                  <p:embed/>
                </p:oleObj>
              </mc:Choice>
              <mc:Fallback>
                <p:oleObj name="公式" r:id="rId13" imgW="2120900" imgH="609600" progId="Equation.3">
                  <p:embed/>
                  <p:pic>
                    <p:nvPicPr>
                      <p:cNvPr id="290822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406" y="5311118"/>
                        <a:ext cx="4958336" cy="1426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137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26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662841"/>
              </p:ext>
            </p:extLst>
          </p:nvPr>
        </p:nvGraphicFramePr>
        <p:xfrm>
          <a:off x="1187624" y="1547040"/>
          <a:ext cx="4800600" cy="180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6" name="公式" r:id="rId3" imgW="1651000" imgH="622300" progId="Equation.3">
                  <p:embed/>
                </p:oleObj>
              </mc:Choice>
              <mc:Fallback>
                <p:oleObj name="公式" r:id="rId3" imgW="1651000" imgH="622300" progId="Equation.3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547040"/>
                        <a:ext cx="4800600" cy="180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513997"/>
              </p:ext>
            </p:extLst>
          </p:nvPr>
        </p:nvGraphicFramePr>
        <p:xfrm>
          <a:off x="2837037" y="4074340"/>
          <a:ext cx="28194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7" name="Equation" r:id="rId5" imgW="1016000" imgH="393700" progId="Equation.DSMT4">
                  <p:embed/>
                </p:oleObj>
              </mc:Choice>
              <mc:Fallback>
                <p:oleObj name="Equation" r:id="rId5" imgW="1016000" imgH="393700" progId="Equation.DSMT4">
                  <p:embed/>
                  <p:pic>
                    <p:nvPicPr>
                      <p:cNvPr id="604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037" y="4074340"/>
                        <a:ext cx="2819400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397174" y="5514203"/>
            <a:ext cx="495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与矩估计量相同。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197149" y="3494903"/>
            <a:ext cx="495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即</a:t>
            </a:r>
            <a:r>
              <a:rPr lang="en-US" altLang="zh-CN" dirty="0"/>
              <a:t>p</a:t>
            </a:r>
            <a:r>
              <a:rPr lang="zh-CN" altLang="en-US" dirty="0"/>
              <a:t>的极大似然估计量为：</a:t>
            </a:r>
          </a:p>
        </p:txBody>
      </p:sp>
    </p:spTree>
    <p:extLst>
      <p:ext uri="{BB962C8B-B14F-4D97-AF65-F5344CB8AC3E}">
        <p14:creationId xmlns:p14="http://schemas.microsoft.com/office/powerpoint/2010/main" val="293648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27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470019"/>
              </p:ext>
            </p:extLst>
          </p:nvPr>
        </p:nvGraphicFramePr>
        <p:xfrm>
          <a:off x="692150" y="1568450"/>
          <a:ext cx="8204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65" name="Equation" r:id="rId3" imgW="3340080" imgH="215640" progId="Equation.DSMT4">
                  <p:embed/>
                </p:oleObj>
              </mc:Choice>
              <mc:Fallback>
                <p:oleObj name="Equation" r:id="rId3" imgW="3340080" imgH="215640" progId="Equation.DSMT4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1568450"/>
                        <a:ext cx="8204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441217"/>
              </p:ext>
            </p:extLst>
          </p:nvPr>
        </p:nvGraphicFramePr>
        <p:xfrm>
          <a:off x="696706" y="2060446"/>
          <a:ext cx="447833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66" name="公式" r:id="rId5" imgW="1624895" imgH="215806" progId="Equation.3">
                  <p:embed/>
                </p:oleObj>
              </mc:Choice>
              <mc:Fallback>
                <p:oleObj name="公式" r:id="rId5" imgW="1624895" imgH="215806" progId="Equation.3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06" y="2060446"/>
                        <a:ext cx="447833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238368"/>
              </p:ext>
            </p:extLst>
          </p:nvPr>
        </p:nvGraphicFramePr>
        <p:xfrm>
          <a:off x="474389" y="2691878"/>
          <a:ext cx="34290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67" name="公式" r:id="rId7" imgW="1180588" imgH="190417" progId="Equation.3">
                  <p:embed/>
                </p:oleObj>
              </mc:Choice>
              <mc:Fallback>
                <p:oleObj name="公式" r:id="rId7" imgW="1180588" imgH="190417" progId="Equation.3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89" y="2691878"/>
                        <a:ext cx="342900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333741"/>
              </p:ext>
            </p:extLst>
          </p:nvPr>
        </p:nvGraphicFramePr>
        <p:xfrm>
          <a:off x="2188889" y="3071334"/>
          <a:ext cx="5825852" cy="905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68" name="公式" r:id="rId9" imgW="2527300" imgH="419100" progId="Equation.3">
                  <p:embed/>
                </p:oleObj>
              </mc:Choice>
              <mc:Fallback>
                <p:oleObj name="公式" r:id="rId9" imgW="2527300" imgH="419100" progId="Equation.3">
                  <p:embed/>
                  <p:pic>
                    <p:nvPicPr>
                      <p:cNvPr id="61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889" y="3071334"/>
                        <a:ext cx="5825852" cy="905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74389" y="3673476"/>
            <a:ext cx="2949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似然函数为：</a:t>
            </a: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354417"/>
              </p:ext>
            </p:extLst>
          </p:nvPr>
        </p:nvGraphicFramePr>
        <p:xfrm>
          <a:off x="2555776" y="3874364"/>
          <a:ext cx="5608563" cy="1062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69" name="Equation" r:id="rId11" imgW="2336800" imgH="444500" progId="Equation.DSMT4">
                  <p:embed/>
                </p:oleObj>
              </mc:Choice>
              <mc:Fallback>
                <p:oleObj name="Equation" r:id="rId11" imgW="2336800" imgH="444500" progId="Equation.DSMT4">
                  <p:embed/>
                  <p:pic>
                    <p:nvPicPr>
                      <p:cNvPr id="614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874364"/>
                        <a:ext cx="5608563" cy="1062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505810"/>
              </p:ext>
            </p:extLst>
          </p:nvPr>
        </p:nvGraphicFramePr>
        <p:xfrm>
          <a:off x="1288029" y="5802889"/>
          <a:ext cx="6726712" cy="881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70" name="Equation" r:id="rId13" imgW="2997200" imgH="393700" progId="Equation.DSMT4">
                  <p:embed/>
                </p:oleObj>
              </mc:Choice>
              <mc:Fallback>
                <p:oleObj name="Equation" r:id="rId13" imgW="2997200" imgH="393700" progId="Equation.DSMT4">
                  <p:embed/>
                  <p:pic>
                    <p:nvPicPr>
                      <p:cNvPr id="614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029" y="5802889"/>
                        <a:ext cx="6726712" cy="8810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516162"/>
              </p:ext>
            </p:extLst>
          </p:nvPr>
        </p:nvGraphicFramePr>
        <p:xfrm>
          <a:off x="3725488" y="4852378"/>
          <a:ext cx="5040560" cy="812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71" name="Equation" r:id="rId15" imgW="2667000" imgH="431800" progId="Equation.DSMT4">
                  <p:embed/>
                </p:oleObj>
              </mc:Choice>
              <mc:Fallback>
                <p:oleObj name="Equation" r:id="rId15" imgW="2667000" imgH="431800" progId="Equation.DSMT4">
                  <p:embed/>
                  <p:pic>
                    <p:nvPicPr>
                      <p:cNvPr id="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488" y="4852378"/>
                        <a:ext cx="5040560" cy="812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259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28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147470"/>
              </p:ext>
            </p:extLst>
          </p:nvPr>
        </p:nvGraphicFramePr>
        <p:xfrm>
          <a:off x="773112" y="1674293"/>
          <a:ext cx="2819400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14" name="Equation" r:id="rId3" imgW="1117600" imgH="800100" progId="Equation.DSMT4">
                  <p:embed/>
                </p:oleObj>
              </mc:Choice>
              <mc:Fallback>
                <p:oleObj name="Equation" r:id="rId3" imgW="1117600" imgH="800100" progId="Equation.DSMT4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2" y="1674293"/>
                        <a:ext cx="2819400" cy="216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562930"/>
              </p:ext>
            </p:extLst>
          </p:nvPr>
        </p:nvGraphicFramePr>
        <p:xfrm>
          <a:off x="1270793" y="3936239"/>
          <a:ext cx="4643437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15" name="Equation" r:id="rId5" imgW="1497950" imgH="393529" progId="Equation.DSMT4">
                  <p:embed/>
                </p:oleObj>
              </mc:Choice>
              <mc:Fallback>
                <p:oleObj name="Equation" r:id="rId5" imgW="1497950" imgH="393529" progId="Equation.DSMT4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793" y="3936239"/>
                        <a:ext cx="4643437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100823"/>
              </p:ext>
            </p:extLst>
          </p:nvPr>
        </p:nvGraphicFramePr>
        <p:xfrm>
          <a:off x="2423318" y="5160202"/>
          <a:ext cx="462915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16" name="Equation" r:id="rId7" imgW="1473200" imgH="393700" progId="Equation.DSMT4">
                  <p:embed/>
                </p:oleObj>
              </mc:Choice>
              <mc:Fallback>
                <p:oleObj name="Equation" r:id="rId7" imgW="1473200" imgH="393700" progId="Equation.DSMT4">
                  <p:embed/>
                  <p:pic>
                    <p:nvPicPr>
                      <p:cNvPr id="624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318" y="5160202"/>
                        <a:ext cx="462915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496432"/>
              </p:ext>
            </p:extLst>
          </p:nvPr>
        </p:nvGraphicFramePr>
        <p:xfrm>
          <a:off x="3177356" y="1629023"/>
          <a:ext cx="549910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17" name="Equation" r:id="rId9" imgW="2108200" imgH="838200" progId="Equation.DSMT4">
                  <p:embed/>
                </p:oleObj>
              </mc:Choice>
              <mc:Fallback>
                <p:oleObj name="Equation" r:id="rId9" imgW="2108200" imgH="838200" progId="Equation.DSMT4">
                  <p:embed/>
                  <p:pic>
                    <p:nvPicPr>
                      <p:cNvPr id="62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356" y="1629023"/>
                        <a:ext cx="549910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669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29</a:t>
            </a:fld>
            <a:endParaRPr lang="en-US" altLang="zh-CN"/>
          </a:p>
        </p:txBody>
      </p:sp>
      <p:graphicFrame>
        <p:nvGraphicFramePr>
          <p:cNvPr id="5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966861"/>
              </p:ext>
            </p:extLst>
          </p:nvPr>
        </p:nvGraphicFramePr>
        <p:xfrm>
          <a:off x="866775" y="1539875"/>
          <a:ext cx="75406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4" name="Equation" r:id="rId3" imgW="3149280" imgH="228600" progId="Equation.DSMT4">
                  <p:embed/>
                </p:oleObj>
              </mc:Choice>
              <mc:Fallback>
                <p:oleObj name="Equation" r:id="rId3" imgW="3149280" imgH="228600" progId="Equation.DSMT4">
                  <p:embed/>
                  <p:pic>
                    <p:nvPicPr>
                      <p:cNvPr id="3482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1539875"/>
                        <a:ext cx="754062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870835"/>
              </p:ext>
            </p:extLst>
          </p:nvPr>
        </p:nvGraphicFramePr>
        <p:xfrm>
          <a:off x="857250" y="2023254"/>
          <a:ext cx="42338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5" name="Equation" r:id="rId5" imgW="1536700" imgH="190500" progId="Equation.DSMT4">
                  <p:embed/>
                </p:oleObj>
              </mc:Choice>
              <mc:Fallback>
                <p:oleObj name="Equation" r:id="rId5" imgW="1536700" imgH="190500" progId="Equation.DSMT4">
                  <p:embed/>
                  <p:pic>
                    <p:nvPicPr>
                      <p:cNvPr id="291842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023254"/>
                        <a:ext cx="42338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222781"/>
              </p:ext>
            </p:extLst>
          </p:nvPr>
        </p:nvGraphicFramePr>
        <p:xfrm>
          <a:off x="461962" y="2548717"/>
          <a:ext cx="82089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6" name="Equation" r:id="rId7" imgW="3352800" imgH="241300" progId="Equation.DSMT4">
                  <p:embed/>
                </p:oleObj>
              </mc:Choice>
              <mc:Fallback>
                <p:oleObj name="Equation" r:id="rId7" imgW="3352800" imgH="241300" progId="Equation.DSMT4">
                  <p:embed/>
                  <p:pic>
                    <p:nvPicPr>
                      <p:cNvPr id="291843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" y="2548717"/>
                        <a:ext cx="8208963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823912" y="3058304"/>
            <a:ext cx="3598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/>
              <a:t>X</a:t>
            </a:r>
            <a:r>
              <a:rPr lang="zh-CN" altLang="en-US" sz="2800" dirty="0"/>
              <a:t>的概率密度为：</a:t>
            </a:r>
          </a:p>
        </p:txBody>
      </p:sp>
      <p:graphicFrame>
        <p:nvGraphicFramePr>
          <p:cNvPr id="9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711520"/>
              </p:ext>
            </p:extLst>
          </p:nvPr>
        </p:nvGraphicFramePr>
        <p:xfrm>
          <a:off x="3261047" y="3299404"/>
          <a:ext cx="3660130" cy="129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7" name="Equation" r:id="rId9" imgW="1548728" imgH="545863" progId="Equation.DSMT4">
                  <p:embed/>
                </p:oleObj>
              </mc:Choice>
              <mc:Fallback>
                <p:oleObj name="Equation" r:id="rId9" imgW="1548728" imgH="545863" progId="Equation.DSMT4">
                  <p:embed/>
                  <p:pic>
                    <p:nvPicPr>
                      <p:cNvPr id="291844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047" y="3299404"/>
                        <a:ext cx="3660130" cy="129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737095"/>
              </p:ext>
            </p:extLst>
          </p:nvPr>
        </p:nvGraphicFramePr>
        <p:xfrm>
          <a:off x="876614" y="4636515"/>
          <a:ext cx="6774135" cy="54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" name="Equation" r:id="rId11" imgW="3467100" imgH="279400" progId="Equation.DSMT4">
                  <p:embed/>
                </p:oleObj>
              </mc:Choice>
              <mc:Fallback>
                <p:oleObj name="Equation" r:id="rId11" imgW="3467100" imgH="279400" progId="Equation.DSMT4">
                  <p:embed/>
                  <p:pic>
                    <p:nvPicPr>
                      <p:cNvPr id="291845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614" y="4636515"/>
                        <a:ext cx="6774135" cy="54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818397"/>
              </p:ext>
            </p:extLst>
          </p:nvPr>
        </p:nvGraphicFramePr>
        <p:xfrm>
          <a:off x="2208967" y="5166896"/>
          <a:ext cx="4960762" cy="1514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9" name="Equation" r:id="rId13" imgW="1955800" imgH="596900" progId="Equation.DSMT4">
                  <p:embed/>
                </p:oleObj>
              </mc:Choice>
              <mc:Fallback>
                <p:oleObj name="Equation" r:id="rId13" imgW="1955800" imgH="596900" progId="Equation.DSMT4">
                  <p:embed/>
                  <p:pic>
                    <p:nvPicPr>
                      <p:cNvPr id="291846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967" y="5166896"/>
                        <a:ext cx="4960762" cy="1514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298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6429" y="176847"/>
            <a:ext cx="8153400" cy="990600"/>
          </a:xfrm>
        </p:spPr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30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278753"/>
              </p:ext>
            </p:extLst>
          </p:nvPr>
        </p:nvGraphicFramePr>
        <p:xfrm>
          <a:off x="1103635" y="1628487"/>
          <a:ext cx="3670731" cy="165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99" name="Equation" r:id="rId3" imgW="1663700" imgH="749300" progId="Equation.DSMT4">
                  <p:embed/>
                </p:oleObj>
              </mc:Choice>
              <mc:Fallback>
                <p:oleObj name="Equation" r:id="rId3" imgW="1663700" imgH="749300" progId="Equation.DSMT4">
                  <p:embed/>
                  <p:pic>
                    <p:nvPicPr>
                      <p:cNvPr id="1177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635" y="1628487"/>
                        <a:ext cx="3670731" cy="1652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146364" y="2174655"/>
            <a:ext cx="27879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似然方程组无解</a:t>
            </a:r>
            <a:r>
              <a:rPr lang="en-US" altLang="zh-CN" sz="2800" dirty="0"/>
              <a:t>.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71600" y="3370988"/>
            <a:ext cx="56605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直接从似然函数本身考虑求最大值</a:t>
            </a:r>
            <a:r>
              <a:rPr lang="en-US" altLang="zh-CN" sz="2800" dirty="0"/>
              <a:t>.</a:t>
            </a:r>
          </a:p>
        </p:txBody>
      </p:sp>
      <p:graphicFrame>
        <p:nvGraphicFramePr>
          <p:cNvPr id="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949657"/>
              </p:ext>
            </p:extLst>
          </p:nvPr>
        </p:nvGraphicFramePr>
        <p:xfrm>
          <a:off x="1103635" y="4047484"/>
          <a:ext cx="5689203" cy="88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00" name="Equation" r:id="rId5" imgW="2273300" imgH="355600" progId="Equation.DSMT4">
                  <p:embed/>
                </p:oleObj>
              </mc:Choice>
              <mc:Fallback>
                <p:oleObj name="Equation" r:id="rId5" imgW="2273300" imgH="355600" progId="Equation.DSMT4">
                  <p:embed/>
                  <p:pic>
                    <p:nvPicPr>
                      <p:cNvPr id="11778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635" y="4047484"/>
                        <a:ext cx="5689203" cy="889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120331"/>
              </p:ext>
            </p:extLst>
          </p:nvPr>
        </p:nvGraphicFramePr>
        <p:xfrm>
          <a:off x="1036054" y="5090036"/>
          <a:ext cx="7334150" cy="58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01" name="Equation" r:id="rId7" imgW="4102100" imgH="330200" progId="Equation.DSMT4">
                  <p:embed/>
                </p:oleObj>
              </mc:Choice>
              <mc:Fallback>
                <p:oleObj name="Equation" r:id="rId7" imgW="4102100" imgH="330200" progId="Equation.DSMT4">
                  <p:embed/>
                  <p:pic>
                    <p:nvPicPr>
                      <p:cNvPr id="11778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054" y="5090036"/>
                        <a:ext cx="7334150" cy="589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72028" y="3958272"/>
              <a:ext cx="1588" cy="1588"/>
            </p14:xfrm>
          </p:contentPart>
        </mc:Choice>
        <mc:Fallback xmlns="">
          <p:pic>
            <p:nvPicPr>
              <p:cNvPr id="11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94216" y="3880460"/>
                <a:ext cx="157212" cy="1572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767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31</a:t>
            </a:fld>
            <a:endParaRPr lang="en-US" altLang="zh-CN"/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218247"/>
              </p:ext>
            </p:extLst>
          </p:nvPr>
        </p:nvGraphicFramePr>
        <p:xfrm>
          <a:off x="1673562" y="1550171"/>
          <a:ext cx="6396097" cy="96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8" name="Equation" r:id="rId3" imgW="2362200" imgH="355600" progId="Equation.DSMT4">
                  <p:embed/>
                </p:oleObj>
              </mc:Choice>
              <mc:Fallback>
                <p:oleObj name="Equation" r:id="rId3" imgW="2362200" imgH="355600" progId="Equation.DSMT4">
                  <p:embed/>
                  <p:pic>
                    <p:nvPicPr>
                      <p:cNvPr id="1751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562" y="1550171"/>
                        <a:ext cx="6396097" cy="962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535191"/>
              </p:ext>
            </p:extLst>
          </p:nvPr>
        </p:nvGraphicFramePr>
        <p:xfrm>
          <a:off x="966566" y="2583023"/>
          <a:ext cx="72009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9" name="Equation" r:id="rId5" imgW="4178300" imgH="330200" progId="Equation.DSMT4">
                  <p:embed/>
                </p:oleObj>
              </mc:Choice>
              <mc:Fallback>
                <p:oleObj name="Equation" r:id="rId5" imgW="4178300" imgH="330200" progId="Equation.DSMT4">
                  <p:embed/>
                  <p:pic>
                    <p:nvPicPr>
                      <p:cNvPr id="1751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566" y="2583023"/>
                        <a:ext cx="72009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177224"/>
              </p:ext>
            </p:extLst>
          </p:nvPr>
        </p:nvGraphicFramePr>
        <p:xfrm>
          <a:off x="940592" y="3346830"/>
          <a:ext cx="44196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" name="公式" r:id="rId7" imgW="1524000" imgH="190500" progId="Equation.3">
                  <p:embed/>
                </p:oleObj>
              </mc:Choice>
              <mc:Fallback>
                <p:oleObj name="公式" r:id="rId7" imgW="1524000" imgH="190500" progId="Equation.3">
                  <p:embed/>
                  <p:pic>
                    <p:nvPicPr>
                      <p:cNvPr id="1751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592" y="3346830"/>
                        <a:ext cx="44196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105591"/>
              </p:ext>
            </p:extLst>
          </p:nvPr>
        </p:nvGraphicFramePr>
        <p:xfrm>
          <a:off x="1166562" y="3830536"/>
          <a:ext cx="62484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1" name="公式" r:id="rId9" imgW="1981200" imgH="241300" progId="Equation.3">
                  <p:embed/>
                </p:oleObj>
              </mc:Choice>
              <mc:Fallback>
                <p:oleObj name="公式" r:id="rId9" imgW="1981200" imgH="241300" progId="Equation.3">
                  <p:embed/>
                  <p:pic>
                    <p:nvPicPr>
                      <p:cNvPr id="1751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562" y="3830536"/>
                        <a:ext cx="62484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495580"/>
              </p:ext>
            </p:extLst>
          </p:nvPr>
        </p:nvGraphicFramePr>
        <p:xfrm>
          <a:off x="934358" y="4661563"/>
          <a:ext cx="44196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2" name="公式" r:id="rId11" imgW="1524000" imgH="190500" progId="Equation.3">
                  <p:embed/>
                </p:oleObj>
              </mc:Choice>
              <mc:Fallback>
                <p:oleObj name="公式" r:id="rId11" imgW="1524000" imgH="190500" progId="Equation.3">
                  <p:embed/>
                  <p:pic>
                    <p:nvPicPr>
                      <p:cNvPr id="1751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58" y="4661563"/>
                        <a:ext cx="44196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436620"/>
              </p:ext>
            </p:extLst>
          </p:nvPr>
        </p:nvGraphicFramePr>
        <p:xfrm>
          <a:off x="1187624" y="5159385"/>
          <a:ext cx="43656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3" name="公式" r:id="rId13" imgW="1384300" imgH="228600" progId="Equation.3">
                  <p:embed/>
                </p:oleObj>
              </mc:Choice>
              <mc:Fallback>
                <p:oleObj name="公式" r:id="rId13" imgW="1384300" imgH="228600" progId="Equation.3">
                  <p:embed/>
                  <p:pic>
                    <p:nvPicPr>
                      <p:cNvPr id="1751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159385"/>
                        <a:ext cx="43656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214205" y="1733711"/>
            <a:ext cx="1452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类似地，</a:t>
            </a:r>
            <a:endParaRPr lang="zh-CN" altLang="en-US" sz="2800" b="1" dirty="0"/>
          </a:p>
        </p:txBody>
      </p:sp>
      <p:graphicFrame>
        <p:nvGraphicFramePr>
          <p:cNvPr id="14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125456"/>
              </p:ext>
            </p:extLst>
          </p:nvPr>
        </p:nvGraphicFramePr>
        <p:xfrm>
          <a:off x="2051720" y="6027687"/>
          <a:ext cx="19986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4" name="Equation" r:id="rId15" imgW="825500" imgH="228600" progId="Equation.DSMT4">
                  <p:embed/>
                </p:oleObj>
              </mc:Choice>
              <mc:Fallback>
                <p:oleObj name="Equation" r:id="rId15" imgW="825500" imgH="228600" progId="Equation.DSMT4">
                  <p:embed/>
                  <p:pic>
                    <p:nvPicPr>
                      <p:cNvPr id="12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contrast="-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6027687"/>
                        <a:ext cx="19986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034756"/>
              </p:ext>
            </p:extLst>
          </p:nvPr>
        </p:nvGraphicFramePr>
        <p:xfrm>
          <a:off x="4430588" y="6057850"/>
          <a:ext cx="18335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5" name="Equation" r:id="rId17" imgW="774364" imgH="228501" progId="Equation.DSMT4">
                  <p:embed/>
                </p:oleObj>
              </mc:Choice>
              <mc:Fallback>
                <p:oleObj name="Equation" r:id="rId17" imgW="774364" imgH="228501" progId="Equation.DSMT4">
                  <p:embed/>
                  <p:pic>
                    <p:nvPicPr>
                      <p:cNvPr id="13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lum bright="-6000" contras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588" y="6057850"/>
                        <a:ext cx="18335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754733" y="609912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3399"/>
                </a:solidFill>
              </a:rPr>
              <a:t>矩估计：</a:t>
            </a:r>
          </a:p>
        </p:txBody>
      </p:sp>
    </p:spTree>
    <p:extLst>
      <p:ext uri="{BB962C8B-B14F-4D97-AF65-F5344CB8AC3E}">
        <p14:creationId xmlns:p14="http://schemas.microsoft.com/office/powerpoint/2010/main" val="363427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32</a:t>
            </a:fld>
            <a:endParaRPr lang="en-US" altLang="zh-CN"/>
          </a:p>
        </p:txBody>
      </p:sp>
      <p:graphicFrame>
        <p:nvGraphicFramePr>
          <p:cNvPr id="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207361"/>
              </p:ext>
            </p:extLst>
          </p:nvPr>
        </p:nvGraphicFramePr>
        <p:xfrm>
          <a:off x="2574187" y="2167975"/>
          <a:ext cx="3201527" cy="908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3" name="Equation" r:id="rId4" imgW="1701800" imgH="482600" progId="Equation.DSMT4">
                  <p:embed/>
                </p:oleObj>
              </mc:Choice>
              <mc:Fallback>
                <p:oleObj name="Equation" r:id="rId4" imgW="1701800" imgH="482600" progId="Equation.DSMT4">
                  <p:embed/>
                  <p:pic>
                    <p:nvPicPr>
                      <p:cNvPr id="3789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187" y="2167975"/>
                        <a:ext cx="3201527" cy="908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644219" y="1563473"/>
            <a:ext cx="47140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 smtClean="0"/>
              <a:t>某</a:t>
            </a:r>
            <a:r>
              <a:rPr lang="zh-CN" altLang="en-US" sz="2800" dirty="0"/>
              <a:t>元件寿命</a:t>
            </a:r>
            <a:r>
              <a:rPr lang="en-US" altLang="zh-CN" sz="2800" dirty="0"/>
              <a:t>X</a:t>
            </a:r>
            <a:r>
              <a:rPr lang="zh-CN" altLang="en-US" sz="2800" dirty="0"/>
              <a:t>的密度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644219" y="3076534"/>
            <a:ext cx="7416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    是未知参数，               </a:t>
            </a:r>
            <a:r>
              <a:rPr lang="zh-CN" altLang="en-US" sz="2800" dirty="0" smtClean="0"/>
              <a:t> 是</a:t>
            </a:r>
            <a:r>
              <a:rPr lang="zh-CN" altLang="en-US" sz="2800" dirty="0"/>
              <a:t>样本观察值。求    的极大似然估计量。</a:t>
            </a:r>
          </a:p>
        </p:txBody>
      </p:sp>
      <p:graphicFrame>
        <p:nvGraphicFramePr>
          <p:cNvPr id="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898055"/>
              </p:ext>
            </p:extLst>
          </p:nvPr>
        </p:nvGraphicFramePr>
        <p:xfrm>
          <a:off x="820145" y="3167035"/>
          <a:ext cx="2889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4" name="Equation" r:id="rId6" imgW="126725" imgH="177415" progId="Equation.DSMT4">
                  <p:embed/>
                </p:oleObj>
              </mc:Choice>
              <mc:Fallback>
                <p:oleObj name="Equation" r:id="rId6" imgW="126725" imgH="177415" progId="Equation.DSMT4">
                  <p:embed/>
                  <p:pic>
                    <p:nvPicPr>
                      <p:cNvPr id="3789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45" y="3167035"/>
                        <a:ext cx="2889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457075"/>
              </p:ext>
            </p:extLst>
          </p:nvPr>
        </p:nvGraphicFramePr>
        <p:xfrm>
          <a:off x="3053261" y="3076534"/>
          <a:ext cx="18002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5" name="Equation" r:id="rId8" imgW="495085" imgH="228501" progId="Equation.DSMT4">
                  <p:embed/>
                </p:oleObj>
              </mc:Choice>
              <mc:Fallback>
                <p:oleObj name="Equation" r:id="rId8" imgW="495085" imgH="228501" progId="Equation.DSMT4">
                  <p:embed/>
                  <p:pic>
                    <p:nvPicPr>
                      <p:cNvPr id="3789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261" y="3076534"/>
                        <a:ext cx="18002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808916"/>
              </p:ext>
            </p:extLst>
          </p:nvPr>
        </p:nvGraphicFramePr>
        <p:xfrm>
          <a:off x="7517782" y="3181138"/>
          <a:ext cx="2889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6" name="Equation" r:id="rId10" imgW="126725" imgH="177415" progId="Equation.DSMT4">
                  <p:embed/>
                </p:oleObj>
              </mc:Choice>
              <mc:Fallback>
                <p:oleObj name="Equation" r:id="rId10" imgW="126725" imgH="177415" progId="Equation.DSMT4">
                  <p:embed/>
                  <p:pic>
                    <p:nvPicPr>
                      <p:cNvPr id="37896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7782" y="3181138"/>
                        <a:ext cx="2889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76057"/>
              </p:ext>
            </p:extLst>
          </p:nvPr>
        </p:nvGraphicFramePr>
        <p:xfrm>
          <a:off x="2018545" y="3873471"/>
          <a:ext cx="62563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7" name="Equation" r:id="rId11" imgW="3187700" imgH="660400" progId="Equation.DSMT4">
                  <p:embed/>
                </p:oleObj>
              </mc:Choice>
              <mc:Fallback>
                <p:oleObj name="Equation" r:id="rId11" imgW="3187700" imgH="660400" progId="Equation.DSMT4">
                  <p:embed/>
                  <p:pic>
                    <p:nvPicPr>
                      <p:cNvPr id="3789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8545" y="3873471"/>
                        <a:ext cx="625633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1154945" y="4160809"/>
            <a:ext cx="863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解：</a:t>
            </a: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1883608" y="5075460"/>
            <a:ext cx="34480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当一切           时有</a:t>
            </a:r>
          </a:p>
        </p:txBody>
      </p:sp>
      <p:graphicFrame>
        <p:nvGraphicFramePr>
          <p:cNvPr id="1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137897"/>
              </p:ext>
            </p:extLst>
          </p:nvPr>
        </p:nvGraphicFramePr>
        <p:xfrm>
          <a:off x="1924883" y="5516835"/>
          <a:ext cx="420846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8" name="Equation" r:id="rId13" imgW="1206500" imgH="330200" progId="Equation.DSMT4">
                  <p:embed/>
                </p:oleObj>
              </mc:Choice>
              <mc:Fallback>
                <p:oleObj name="Equation" r:id="rId13" imgW="1206500" imgH="330200" progId="Equation.DSMT4">
                  <p:embed/>
                  <p:pic>
                    <p:nvPicPr>
                      <p:cNvPr id="37901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883" y="5516835"/>
                        <a:ext cx="420846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618163"/>
              </p:ext>
            </p:extLst>
          </p:nvPr>
        </p:nvGraphicFramePr>
        <p:xfrm>
          <a:off x="3347864" y="5149720"/>
          <a:ext cx="8270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9" name="Equation" r:id="rId15" imgW="393529" imgH="228501" progId="Equation.DSMT4">
                  <p:embed/>
                </p:oleObj>
              </mc:Choice>
              <mc:Fallback>
                <p:oleObj name="Equation" r:id="rId15" imgW="393529" imgH="228501" progId="Equation.DSMT4">
                  <p:embed/>
                  <p:pic>
                    <p:nvPicPr>
                      <p:cNvPr id="3790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5149720"/>
                        <a:ext cx="8270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441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33</a:t>
            </a:fld>
            <a:endParaRPr lang="en-US" altLang="zh-CN"/>
          </a:p>
        </p:txBody>
      </p:sp>
      <p:graphicFrame>
        <p:nvGraphicFramePr>
          <p:cNvPr id="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057445"/>
              </p:ext>
            </p:extLst>
          </p:nvPr>
        </p:nvGraphicFramePr>
        <p:xfrm>
          <a:off x="972046" y="1540260"/>
          <a:ext cx="51101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5" name="Equation" r:id="rId3" imgW="2540000" imgH="393700" progId="Equation.DSMT4">
                  <p:embed/>
                </p:oleObj>
              </mc:Choice>
              <mc:Fallback>
                <p:oleObj name="Equation" r:id="rId3" imgW="2540000" imgH="393700" progId="Equation.DSMT4">
                  <p:embed/>
                  <p:pic>
                    <p:nvPicPr>
                      <p:cNvPr id="3891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046" y="1540260"/>
                        <a:ext cx="511016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809327" y="2493880"/>
            <a:ext cx="4752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从似然函数本身考虑，</a:t>
            </a:r>
          </a:p>
        </p:txBody>
      </p:sp>
      <p:graphicFrame>
        <p:nvGraphicFramePr>
          <p:cNvPr id="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590182"/>
              </p:ext>
            </p:extLst>
          </p:nvPr>
        </p:nvGraphicFramePr>
        <p:xfrm>
          <a:off x="899592" y="3130408"/>
          <a:ext cx="82708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6" name="Equation" r:id="rId5" imgW="330057" imgH="203112" progId="Equation.DSMT4">
                  <p:embed/>
                </p:oleObj>
              </mc:Choice>
              <mc:Fallback>
                <p:oleObj name="Equation" r:id="rId5" imgW="330057" imgH="203112" progId="Equation.DSMT4">
                  <p:embed/>
                  <p:pic>
                    <p:nvPicPr>
                      <p:cNvPr id="3891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130408"/>
                        <a:ext cx="827088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14884"/>
              </p:ext>
            </p:extLst>
          </p:nvPr>
        </p:nvGraphicFramePr>
        <p:xfrm>
          <a:off x="3742805" y="3208195"/>
          <a:ext cx="2762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7" name="Equation" r:id="rId7" imgW="126725" imgH="177415" progId="Equation.DSMT4">
                  <p:embed/>
                </p:oleObj>
              </mc:Choice>
              <mc:Fallback>
                <p:oleObj name="Equation" r:id="rId7" imgW="126725" imgH="177415" progId="Equation.DSMT4">
                  <p:embed/>
                  <p:pic>
                    <p:nvPicPr>
                      <p:cNvPr id="38919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2805" y="3208195"/>
                        <a:ext cx="27622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919868"/>
              </p:ext>
            </p:extLst>
          </p:nvPr>
        </p:nvGraphicFramePr>
        <p:xfrm>
          <a:off x="5111230" y="3130408"/>
          <a:ext cx="82708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8" name="Equation" r:id="rId9" imgW="330057" imgH="203112" progId="Equation.DSMT4">
                  <p:embed/>
                </p:oleObj>
              </mc:Choice>
              <mc:Fallback>
                <p:oleObj name="Equation" r:id="rId9" imgW="330057" imgH="203112" progId="Equation.DSMT4">
                  <p:embed/>
                  <p:pic>
                    <p:nvPicPr>
                      <p:cNvPr id="3892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230" y="3130408"/>
                        <a:ext cx="82708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398795"/>
              </p:ext>
            </p:extLst>
          </p:nvPr>
        </p:nvGraphicFramePr>
        <p:xfrm>
          <a:off x="3492996" y="3862065"/>
          <a:ext cx="2133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9" name="Equation" r:id="rId11" imgW="1016000" imgH="228600" progId="Equation.DSMT4">
                  <p:embed/>
                </p:oleObj>
              </mc:Choice>
              <mc:Fallback>
                <p:oleObj name="Equation" r:id="rId11" imgW="1016000" imgH="228600" progId="Equation.DSMT4">
                  <p:embed/>
                  <p:pic>
                    <p:nvPicPr>
                      <p:cNvPr id="38921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996" y="3862065"/>
                        <a:ext cx="21336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900609" y="3789040"/>
            <a:ext cx="54721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又因    要满足</a:t>
            </a:r>
          </a:p>
        </p:txBody>
      </p:sp>
      <p:graphicFrame>
        <p:nvGraphicFramePr>
          <p:cNvPr id="12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525984"/>
              </p:ext>
            </p:extLst>
          </p:nvPr>
        </p:nvGraphicFramePr>
        <p:xfrm>
          <a:off x="1908671" y="3862065"/>
          <a:ext cx="2762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0" name="Equation" r:id="rId13" imgW="126725" imgH="177415" progId="Equation.DSMT4">
                  <p:embed/>
                </p:oleObj>
              </mc:Choice>
              <mc:Fallback>
                <p:oleObj name="Equation" r:id="rId13" imgW="126725" imgH="177415" progId="Equation.DSMT4">
                  <p:embed/>
                  <p:pic>
                    <p:nvPicPr>
                      <p:cNvPr id="3892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671" y="3862065"/>
                        <a:ext cx="27622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917577"/>
              </p:ext>
            </p:extLst>
          </p:nvPr>
        </p:nvGraphicFramePr>
        <p:xfrm>
          <a:off x="1859459" y="4581203"/>
          <a:ext cx="19208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1" name="Equation" r:id="rId14" imgW="761669" imgH="228501" progId="Equation.DSMT4">
                  <p:embed/>
                </p:oleObj>
              </mc:Choice>
              <mc:Fallback>
                <p:oleObj name="Equation" r:id="rId14" imgW="761669" imgH="228501" progId="Equation.DSMT4">
                  <p:embed/>
                  <p:pic>
                    <p:nvPicPr>
                      <p:cNvPr id="38925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459" y="4581203"/>
                        <a:ext cx="19208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426213"/>
              </p:ext>
            </p:extLst>
          </p:nvPr>
        </p:nvGraphicFramePr>
        <p:xfrm>
          <a:off x="2200771" y="5878190"/>
          <a:ext cx="26479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2" name="Equation" r:id="rId16" imgW="850531" imgH="253890" progId="Equation.DSMT4">
                  <p:embed/>
                </p:oleObj>
              </mc:Choice>
              <mc:Fallback>
                <p:oleObj name="Equation" r:id="rId16" imgW="850531" imgH="253890" progId="Equation.DSMT4">
                  <p:embed/>
                  <p:pic>
                    <p:nvPicPr>
                      <p:cNvPr id="38926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771" y="5878190"/>
                        <a:ext cx="26479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900609" y="5220965"/>
            <a:ext cx="46974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从而得极大似然估计量：</a:t>
            </a:r>
          </a:p>
        </p:txBody>
      </p:sp>
      <p:graphicFrame>
        <p:nvGraphicFramePr>
          <p:cNvPr id="1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083002"/>
              </p:ext>
            </p:extLst>
          </p:nvPr>
        </p:nvGraphicFramePr>
        <p:xfrm>
          <a:off x="4321671" y="4581203"/>
          <a:ext cx="82708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3" name="Equation" r:id="rId18" imgW="330057" imgH="203112" progId="Equation.DSMT4">
                  <p:embed/>
                </p:oleObj>
              </mc:Choice>
              <mc:Fallback>
                <p:oleObj name="Equation" r:id="rId18" imgW="330057" imgH="203112" progId="Equation.DSMT4">
                  <p:embed/>
                  <p:pic>
                    <p:nvPicPr>
                      <p:cNvPr id="3892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671" y="4581203"/>
                        <a:ext cx="827088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4"/>
          <p:cNvSpPr txBox="1">
            <a:spLocks noChangeArrowheads="1"/>
          </p:cNvSpPr>
          <p:nvPr/>
        </p:nvSpPr>
        <p:spPr bwMode="auto">
          <a:xfrm>
            <a:off x="899592" y="3068960"/>
            <a:ext cx="6832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        单调递增，  越大，       越大</a:t>
            </a:r>
          </a:p>
        </p:txBody>
      </p:sp>
      <p:sp>
        <p:nvSpPr>
          <p:cNvPr id="18" name="TextBox 11"/>
          <p:cNvSpPr txBox="1">
            <a:spLocks noChangeArrowheads="1"/>
          </p:cNvSpPr>
          <p:nvPr/>
        </p:nvSpPr>
        <p:spPr bwMode="auto">
          <a:xfrm>
            <a:off x="919743" y="4538147"/>
            <a:ext cx="566848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即取                    时          最大，</a:t>
            </a:r>
          </a:p>
        </p:txBody>
      </p:sp>
    </p:spTree>
    <p:extLst>
      <p:ext uri="{BB962C8B-B14F-4D97-AF65-F5344CB8AC3E}">
        <p14:creationId xmlns:p14="http://schemas.microsoft.com/office/powerpoint/2010/main" val="357307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极大似然估计的不变性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34</a:t>
            </a:fld>
            <a:endParaRPr lang="en-US" altLang="zh-CN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82812" y="1872233"/>
            <a:ext cx="6805613" cy="641350"/>
            <a:chOff x="913" y="1026"/>
            <a:chExt cx="4287" cy="404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913" y="1026"/>
              <a:ext cx="428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dirty="0">
                  <a:ea typeface="楷体_GB2312" pitchFamily="49" charset="-122"/>
                </a:rPr>
                <a:t>设    是</a:t>
              </a:r>
              <a:r>
                <a:rPr lang="zh-CN" altLang="en-US" sz="3600" i="1" dirty="0"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zh-CN" altLang="en-US" sz="3600" dirty="0">
                  <a:ea typeface="楷体_GB2312" pitchFamily="49" charset="-122"/>
                  <a:sym typeface="Symbol" panose="05050102010706020507" pitchFamily="18" charset="2"/>
                </a:rPr>
                <a:t>的极大似然估计</a:t>
              </a:r>
              <a:r>
                <a:rPr lang="en-US" altLang="zh-CN" sz="3600" dirty="0">
                  <a:ea typeface="楷体_GB2312" pitchFamily="49" charset="-122"/>
                  <a:sym typeface="Symbol" panose="05050102010706020507" pitchFamily="18" charset="2"/>
                </a:rPr>
                <a:t>,  </a:t>
              </a:r>
              <a:r>
                <a:rPr lang="en-US" altLang="zh-CN" sz="3600" i="1" dirty="0"/>
                <a:t>u</a:t>
              </a:r>
              <a:r>
                <a:rPr lang="en-US" altLang="zh-CN" sz="2800" i="1" dirty="0"/>
                <a:t>=</a:t>
              </a:r>
              <a:r>
                <a:rPr lang="en-US" altLang="zh-CN" sz="3600" i="1" dirty="0">
                  <a:ea typeface="楷体_GB2312" pitchFamily="49" charset="-122"/>
                </a:rPr>
                <a:t>u</a:t>
              </a:r>
              <a:r>
                <a:rPr lang="en-US" altLang="zh-CN" sz="3600" dirty="0">
                  <a:ea typeface="楷体_GB2312" pitchFamily="49" charset="-122"/>
                </a:rPr>
                <a:t>(</a:t>
              </a:r>
              <a:r>
                <a:rPr lang="en-US" altLang="zh-CN" sz="3600" i="1" dirty="0"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en-US" altLang="zh-CN" sz="3600" dirty="0">
                  <a:ea typeface="楷体_GB2312" pitchFamily="49" charset="-122"/>
                </a:rPr>
                <a:t>)</a:t>
              </a:r>
            </a:p>
          </p:txBody>
        </p:sp>
        <p:graphicFrame>
          <p:nvGraphicFramePr>
            <p:cNvPr id="7" name="Object 5"/>
            <p:cNvGraphicFramePr>
              <a:graphicFrameLocks noChangeAspect="1"/>
            </p:cNvGraphicFramePr>
            <p:nvPr/>
          </p:nvGraphicFramePr>
          <p:xfrm>
            <a:off x="1328" y="1056"/>
            <a:ext cx="18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14" name="Equation" r:id="rId3" imgW="247620" imgH="419040" progId="Equation.3">
                    <p:embed/>
                  </p:oleObj>
                </mc:Choice>
                <mc:Fallback>
                  <p:oleObj name="Equation" r:id="rId3" imgW="247620" imgH="419040" progId="Equation.3">
                    <p:embed/>
                    <p:pic>
                      <p:nvPicPr>
                        <p:cNvPr id="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" y="1056"/>
                          <a:ext cx="18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82812" y="2686620"/>
            <a:ext cx="6251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ea typeface="楷体_GB2312" pitchFamily="49" charset="-122"/>
              </a:rPr>
              <a:t>是</a:t>
            </a:r>
            <a:r>
              <a:rPr lang="zh-CN" altLang="en-US" sz="3600" i="1" dirty="0">
                <a:ea typeface="楷体_GB2312" pitchFamily="49" charset="-122"/>
                <a:sym typeface="Symbol" panose="05050102010706020507" pitchFamily="18" charset="2"/>
              </a:rPr>
              <a:t> </a:t>
            </a:r>
            <a:r>
              <a:rPr lang="zh-CN" altLang="en-US" sz="3600" dirty="0">
                <a:ea typeface="楷体_GB2312" pitchFamily="49" charset="-122"/>
                <a:sym typeface="Symbol" panose="05050102010706020507" pitchFamily="18" charset="2"/>
              </a:rPr>
              <a:t>的函数</a:t>
            </a:r>
            <a:r>
              <a:rPr lang="en-US" altLang="zh-CN" sz="3600" dirty="0"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3600" dirty="0">
                <a:ea typeface="楷体_GB2312" pitchFamily="49" charset="-122"/>
                <a:sym typeface="Symbol" panose="05050102010706020507" pitchFamily="18" charset="2"/>
              </a:rPr>
              <a:t>且有单值反函数：</a:t>
            </a:r>
            <a:endParaRPr lang="zh-CN" altLang="en-US" sz="3600" i="1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395536" y="3717032"/>
            <a:ext cx="7888288" cy="646112"/>
            <a:chOff x="285" y="1859"/>
            <a:chExt cx="4969" cy="407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85" y="1859"/>
              <a:ext cx="4969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i="1" dirty="0">
                  <a:ea typeface="楷体_GB2312" pitchFamily="49" charset="-122"/>
                  <a:sym typeface="Symbol" panose="05050102010706020507" pitchFamily="18" charset="2"/>
                </a:rPr>
                <a:t>   </a:t>
              </a:r>
              <a:r>
                <a:rPr lang="zh-CN" altLang="en-US" sz="3600" dirty="0" smtClean="0">
                  <a:ea typeface="楷体_GB2312" pitchFamily="49" charset="-122"/>
                </a:rPr>
                <a:t>则                </a:t>
              </a:r>
              <a:r>
                <a:rPr lang="zh-CN" altLang="en-US" sz="3600" dirty="0">
                  <a:ea typeface="楷体_GB2312" pitchFamily="49" charset="-122"/>
                </a:rPr>
                <a:t>是 </a:t>
              </a:r>
              <a:r>
                <a:rPr lang="en-US" altLang="zh-CN" sz="3600" i="1" dirty="0">
                  <a:ea typeface="楷体_GB2312" pitchFamily="49" charset="-122"/>
                </a:rPr>
                <a:t>u</a:t>
              </a:r>
              <a:r>
                <a:rPr lang="en-US" altLang="zh-CN" sz="3600" dirty="0">
                  <a:ea typeface="楷体_GB2312" pitchFamily="49" charset="-122"/>
                </a:rPr>
                <a:t>(</a:t>
              </a:r>
              <a:r>
                <a:rPr lang="en-US" altLang="zh-CN" sz="3600" i="1" dirty="0"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en-US" altLang="zh-CN" sz="3600" dirty="0">
                  <a:ea typeface="楷体_GB2312" pitchFamily="49" charset="-122"/>
                </a:rPr>
                <a:t>) </a:t>
              </a:r>
              <a:r>
                <a:rPr lang="zh-CN" altLang="en-US" sz="3600" dirty="0">
                  <a:ea typeface="楷体_GB2312" pitchFamily="49" charset="-122"/>
                </a:rPr>
                <a:t>的极大似然估计</a:t>
              </a:r>
              <a:r>
                <a:rPr lang="en-US" altLang="zh-CN" sz="3600" b="1" dirty="0">
                  <a:ea typeface="楷体_GB2312" pitchFamily="49" charset="-122"/>
                </a:rPr>
                <a:t>. </a:t>
              </a:r>
            </a:p>
          </p:txBody>
        </p:sp>
        <p:graphicFrame>
          <p:nvGraphicFramePr>
            <p:cNvPr id="11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862" y="1859"/>
            <a:ext cx="1097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15" name="Equation" r:id="rId5" imgW="1362048" imgH="495180" progId="Equation.3">
                    <p:embed/>
                  </p:oleObj>
                </mc:Choice>
                <mc:Fallback>
                  <p:oleObj name="Equation" r:id="rId5" imgW="1362048" imgH="495180" progId="Equation.3">
                    <p:embed/>
                    <p:pic>
                      <p:nvPicPr>
                        <p:cNvPr id="1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1859"/>
                          <a:ext cx="1097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4910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35</a:t>
            </a:fld>
            <a:endParaRPr lang="en-US" altLang="zh-CN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/>
          </p:nvPr>
        </p:nvGraphicFramePr>
        <p:xfrm>
          <a:off x="1058863" y="1646238"/>
          <a:ext cx="719137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6" name="Equation" r:id="rId3" imgW="2412720" imgH="393480" progId="Equation.DSMT4">
                  <p:embed/>
                </p:oleObj>
              </mc:Choice>
              <mc:Fallback>
                <p:oleObj name="Equation" r:id="rId3" imgW="2412720" imgH="39348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1646238"/>
                        <a:ext cx="7191375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/>
          </p:nvPr>
        </p:nvGraphicFramePr>
        <p:xfrm>
          <a:off x="1093179" y="2746375"/>
          <a:ext cx="4392612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7" name="Equation" r:id="rId5" imgW="1397000" imgH="241300" progId="Equation.DSMT4">
                  <p:embed/>
                </p:oleObj>
              </mc:Choice>
              <mc:Fallback>
                <p:oleObj name="Equation" r:id="rId5" imgW="1397000" imgH="24130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179" y="2746375"/>
                        <a:ext cx="4392612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/>
          </p:nvPr>
        </p:nvGraphicFramePr>
        <p:xfrm>
          <a:off x="977057" y="3806850"/>
          <a:ext cx="6473825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8" name="Equation" r:id="rId7" imgW="2146300" imgH="647700" progId="Equation.DSMT4">
                  <p:embed/>
                </p:oleObj>
              </mc:Choice>
              <mc:Fallback>
                <p:oleObj name="Equation" r:id="rId7" imgW="2146300" imgH="6477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057" y="3806850"/>
                        <a:ext cx="6473825" cy="195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641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无偏</a:t>
            </a:r>
            <a:r>
              <a:rPr lang="zh-CN" altLang="en-US" dirty="0" smtClean="0">
                <a:latin typeface="+mn-ea"/>
              </a:rPr>
              <a:t>性（</a:t>
            </a:r>
            <a:r>
              <a:rPr lang="en-US" altLang="zh-CN" dirty="0">
                <a:latin typeface="+mn-ea"/>
              </a:rPr>
              <a:t>Unbiasedness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有效性（</a:t>
            </a:r>
            <a:r>
              <a:rPr lang="en-US" altLang="zh-CN" dirty="0">
                <a:latin typeface="+mn-ea"/>
              </a:rPr>
              <a:t>Efficiency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一致性（</a:t>
            </a:r>
            <a:r>
              <a:rPr lang="en-US" altLang="zh-CN" dirty="0" smtClean="0">
                <a:latin typeface="+mn-ea"/>
              </a:rPr>
              <a:t>Consistency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014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无偏性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37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1366277" y="1637779"/>
          <a:ext cx="64484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4" name="Equation" r:id="rId3" imgW="2120760" imgH="215640" progId="Equation.DSMT4">
                  <p:embed/>
                </p:oleObj>
              </mc:Choice>
              <mc:Fallback>
                <p:oleObj name="Equation" r:id="rId3" imgW="2120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277" y="1637779"/>
                        <a:ext cx="644842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607452" y="2233091"/>
          <a:ext cx="7034212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5" name="Equation" r:id="rId5" imgW="2450880" imgH="482400" progId="Equation.DSMT4">
                  <p:embed/>
                </p:oleObj>
              </mc:Choice>
              <mc:Fallback>
                <p:oleObj name="Equation" r:id="rId5" imgW="2450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52" y="2233091"/>
                        <a:ext cx="7034212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09" y="3563543"/>
            <a:ext cx="8219048" cy="241904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51520" y="5982591"/>
            <a:ext cx="8892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我们不可能要求每一次由样本得到的估计值与真值都相等，但可以要求这些估计值的平均值与真值相等.</a:t>
            </a:r>
          </a:p>
        </p:txBody>
      </p:sp>
    </p:spTree>
    <p:extLst>
      <p:ext uri="{BB962C8B-B14F-4D97-AF65-F5344CB8AC3E}">
        <p14:creationId xmlns:p14="http://schemas.microsoft.com/office/powerpoint/2010/main" val="384741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683816" y="1545233"/>
          <a:ext cx="8408987" cy="274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8" name="Equation" r:id="rId3" imgW="3340080" imgH="1091880" progId="Equation.DSMT4">
                  <p:embed/>
                </p:oleObj>
              </mc:Choice>
              <mc:Fallback>
                <p:oleObj name="Equation" r:id="rId3" imgW="3340080" imgH="1091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16" y="1545233"/>
                        <a:ext cx="8408987" cy="274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99000" y="4296661"/>
            <a:ext cx="175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1621201" y="4348045"/>
          <a:ext cx="56165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9" name="Equation" r:id="rId5" imgW="2209680" imgH="228600" progId="Equation.DSMT4">
                  <p:embed/>
                </p:oleObj>
              </mc:Choice>
              <mc:Fallback>
                <p:oleObj name="Equation" r:id="rId5" imgW="220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201" y="4348045"/>
                        <a:ext cx="56165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/>
          </p:nvPr>
        </p:nvGraphicFramePr>
        <p:xfrm>
          <a:off x="1614967" y="4995157"/>
          <a:ext cx="3756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60" name="Equation" r:id="rId7" imgW="3466800" imgH="520560" progId="Equation.DSMT4">
                  <p:embed/>
                </p:oleObj>
              </mc:Choice>
              <mc:Fallback>
                <p:oleObj name="Equation" r:id="rId7" imgW="34668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967" y="4995157"/>
                        <a:ext cx="3756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/>
          </p:nvPr>
        </p:nvGraphicFramePr>
        <p:xfrm>
          <a:off x="5440401" y="4990137"/>
          <a:ext cx="34559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61" name="Equation" r:id="rId9" imgW="1295280" imgH="228600" progId="Equation.DSMT4">
                  <p:embed/>
                </p:oleObj>
              </mc:Choice>
              <mc:Fallback>
                <p:oleObj name="Equation" r:id="rId9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401" y="4990137"/>
                        <a:ext cx="34559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/>
          </p:nvPr>
        </p:nvGraphicFramePr>
        <p:xfrm>
          <a:off x="1687992" y="5568993"/>
          <a:ext cx="3683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62" name="Equation" r:id="rId11" imgW="3682800" imgH="939600" progId="Equation.DSMT4">
                  <p:embed/>
                </p:oleObj>
              </mc:Choice>
              <mc:Fallback>
                <p:oleObj name="Equation" r:id="rId11" imgW="36828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992" y="5568993"/>
                        <a:ext cx="3683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/>
          </p:nvPr>
        </p:nvGraphicFramePr>
        <p:xfrm>
          <a:off x="5586202" y="5813515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63" name="Equation" r:id="rId13" imgW="799920" imgH="431640" progId="Equation.3">
                  <p:embed/>
                </p:oleObj>
              </mc:Choice>
              <mc:Fallback>
                <p:oleObj name="Equation" r:id="rId13" imgW="799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202" y="5813515"/>
                        <a:ext cx="80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/>
          </p:nvPr>
        </p:nvGraphicFramePr>
        <p:xfrm>
          <a:off x="612648" y="3618535"/>
          <a:ext cx="2232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64" name="Equation" r:id="rId15" imgW="863280" imgH="215640" progId="Equation.DSMT4">
                  <p:embed/>
                </p:oleObj>
              </mc:Choice>
              <mc:Fallback>
                <p:oleObj name="Equation" r:id="rId15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3618535"/>
                        <a:ext cx="22320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662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27584" y="1628800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CC3399"/>
                </a:solidFill>
              </a:rPr>
              <a:t>特别：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251321" y="3889400"/>
            <a:ext cx="7345363" cy="1323975"/>
            <a:chOff x="612" y="1979"/>
            <a:chExt cx="4627" cy="834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612" y="2146"/>
              <a:ext cx="213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dirty="0"/>
                <a:t>       </a:t>
              </a:r>
              <a:r>
                <a:rPr lang="zh-CN" altLang="en-US" sz="3600" dirty="0"/>
                <a:t>样本二阶矩</a:t>
              </a:r>
            </a:p>
          </p:txBody>
        </p:sp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2699" y="1979"/>
            <a:ext cx="1488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134" name="Equation" r:id="rId3" imgW="863280" imgH="431640" progId="Equation.3">
                    <p:embed/>
                  </p:oleObj>
                </mc:Choice>
                <mc:Fallback>
                  <p:oleObj name="Equation" r:id="rId3" imgW="863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1979"/>
                          <a:ext cx="1488" cy="8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136" y="2160"/>
              <a:ext cx="110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/>
                <a:t>是总体</a:t>
              </a:r>
            </a:p>
          </p:txBody>
        </p:sp>
      </p:grpSp>
      <p:grpSp>
        <p:nvGrpSpPr>
          <p:cNvPr id="10" name="Group 17"/>
          <p:cNvGrpSpPr>
            <a:grpSpLocks/>
          </p:cNvGrpSpPr>
          <p:nvPr/>
        </p:nvGrpSpPr>
        <p:grpSpPr bwMode="auto">
          <a:xfrm>
            <a:off x="972046" y="2449537"/>
            <a:ext cx="6826250" cy="700088"/>
            <a:chOff x="612" y="1026"/>
            <a:chExt cx="4300" cy="441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130" y="1063"/>
              <a:ext cx="278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/>
                <a:t>是总体均值</a:t>
              </a:r>
              <a:r>
                <a:rPr lang="zh-CN" altLang="en-US" sz="3600" b="1" i="1"/>
                <a:t> </a:t>
              </a:r>
              <a:r>
                <a:rPr lang="el-GR" altLang="zh-CN" sz="3600" b="1" i="1"/>
                <a:t>μ</a:t>
              </a:r>
              <a:r>
                <a:rPr lang="en-US" altLang="zh-CN" sz="3600" b="1" i="1"/>
                <a:t> </a:t>
              </a:r>
              <a:r>
                <a:rPr lang="en-US" altLang="zh-CN" sz="3600"/>
                <a:t>=</a:t>
              </a:r>
              <a:r>
                <a:rPr lang="en-US" altLang="zh-CN" sz="3600" i="1"/>
                <a:t>E</a:t>
              </a:r>
              <a:r>
                <a:rPr lang="en-US" altLang="zh-CN" sz="3600"/>
                <a:t>( </a:t>
              </a:r>
              <a:r>
                <a:rPr lang="en-US" altLang="zh-CN" sz="3600" i="1"/>
                <a:t>X </a:t>
              </a:r>
              <a:r>
                <a:rPr lang="en-US" altLang="zh-CN" sz="3600"/>
                <a:t>) </a:t>
              </a:r>
            </a:p>
          </p:txBody>
        </p:sp>
        <p:graphicFrame>
          <p:nvGraphicFramePr>
            <p:cNvPr id="12" name="Object 9"/>
            <p:cNvGraphicFramePr>
              <a:graphicFrameLocks noChangeAspect="1"/>
            </p:cNvGraphicFramePr>
            <p:nvPr/>
          </p:nvGraphicFramePr>
          <p:xfrm>
            <a:off x="1803" y="1041"/>
            <a:ext cx="384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135" name="Equation" r:id="rId5" imgW="177480" imgH="203040" progId="Equation.DSMT4">
                    <p:embed/>
                  </p:oleObj>
                </mc:Choice>
                <mc:Fallback>
                  <p:oleObj name="Equation" r:id="rId5" imgW="177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" y="1041"/>
                          <a:ext cx="384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612" y="1026"/>
              <a:ext cx="12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dirty="0"/>
                <a:t>样本均值</a:t>
              </a:r>
            </a:p>
          </p:txBody>
        </p:sp>
      </p:grp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11684" y="3198837"/>
            <a:ext cx="3041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600" dirty="0"/>
              <a:t>的无偏估计量</a:t>
            </a:r>
            <a:r>
              <a:rPr lang="en-US" altLang="zh-CN" sz="3600" dirty="0"/>
              <a:t>.</a:t>
            </a:r>
          </a:p>
        </p:txBody>
      </p:sp>
      <p:grpSp>
        <p:nvGrpSpPr>
          <p:cNvPr id="15" name="Group 19"/>
          <p:cNvGrpSpPr>
            <a:grpSpLocks/>
          </p:cNvGrpSpPr>
          <p:nvPr/>
        </p:nvGrpSpPr>
        <p:grpSpPr bwMode="auto">
          <a:xfrm>
            <a:off x="831852" y="5165962"/>
            <a:ext cx="6985000" cy="728662"/>
            <a:chOff x="521" y="2840"/>
            <a:chExt cx="4400" cy="459"/>
          </a:xfrm>
        </p:grpSpPr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880" y="2886"/>
              <a:ext cx="204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3600"/>
                <a:t>的无偏估计量</a:t>
              </a:r>
              <a:r>
                <a:rPr lang="en-US" altLang="zh-CN" sz="3600"/>
                <a:t>.</a:t>
              </a:r>
            </a:p>
          </p:txBody>
        </p:sp>
        <p:graphicFrame>
          <p:nvGraphicFramePr>
            <p:cNvPr id="17" name="Object 14"/>
            <p:cNvGraphicFramePr>
              <a:graphicFrameLocks noChangeAspect="1"/>
            </p:cNvGraphicFramePr>
            <p:nvPr/>
          </p:nvGraphicFramePr>
          <p:xfrm>
            <a:off x="1474" y="2840"/>
            <a:ext cx="1406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136" name="公式" r:id="rId7" imgW="799920" imgH="228600" progId="Equation.3">
                    <p:embed/>
                  </p:oleObj>
                </mc:Choice>
                <mc:Fallback>
                  <p:oleObj name="公式" r:id="rId7" imgW="7999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840"/>
                          <a:ext cx="1406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521" y="2840"/>
              <a:ext cx="18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/>
                <a:t>二阶矩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948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40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683568" y="1628800"/>
          <a:ext cx="6599238" cy="179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2" name="Equation" r:id="rId3" imgW="2514600" imgH="685800" progId="Equation.DSMT4">
                  <p:embed/>
                </p:oleObj>
              </mc:Choice>
              <mc:Fallback>
                <p:oleObj name="Equation" r:id="rId3" imgW="2514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628800"/>
                        <a:ext cx="6599238" cy="179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14901" y="3588569"/>
            <a:ext cx="175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 smtClean="0">
                <a:ea typeface="黑体" panose="02010609060101010101" pitchFamily="49" charset="-122"/>
              </a:rPr>
              <a:t>证：</a:t>
            </a:r>
            <a:endParaRPr lang="zh-CN" altLang="en-US" b="1" dirty="0">
              <a:ea typeface="黑体" panose="02010609060101010101" pitchFamily="49" charset="-122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1829917" y="3444524"/>
          <a:ext cx="3600326" cy="1004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3" name="Equation" r:id="rId5" imgW="1549080" imgH="431640" progId="Equation.DSMT4">
                  <p:embed/>
                </p:oleObj>
              </mc:Choice>
              <mc:Fallback>
                <p:oleObj name="Equation" r:id="rId5" imgW="1549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917" y="3444524"/>
                        <a:ext cx="3600326" cy="1004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5"/>
          <p:cNvGraphicFramePr>
            <a:graphicFrameLocks noChangeAspect="1"/>
          </p:cNvGraphicFramePr>
          <p:nvPr>
            <p:extLst/>
          </p:nvPr>
        </p:nvGraphicFramePr>
        <p:xfrm>
          <a:off x="2699792" y="4435522"/>
          <a:ext cx="5975647" cy="508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4" name="Equation" r:id="rId7" imgW="5867280" imgH="469800" progId="Equation.DSMT4">
                  <p:embed/>
                </p:oleObj>
              </mc:Choice>
              <mc:Fallback>
                <p:oleObj name="Equation" r:id="rId7" imgW="5867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435522"/>
                        <a:ext cx="5975647" cy="508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/>
          </p:nvPr>
        </p:nvGraphicFramePr>
        <p:xfrm>
          <a:off x="2721960" y="4957849"/>
          <a:ext cx="4823519" cy="951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5" name="Equation" r:id="rId9" imgW="4584600" imgH="863280" progId="Equation.3">
                  <p:embed/>
                </p:oleObj>
              </mc:Choice>
              <mc:Fallback>
                <p:oleObj name="Equation" r:id="rId9" imgW="45846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960" y="4957849"/>
                        <a:ext cx="4823519" cy="951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/>
          </p:nvPr>
        </p:nvGraphicFramePr>
        <p:xfrm>
          <a:off x="2730410" y="5855453"/>
          <a:ext cx="5184576" cy="711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6" name="Equation" r:id="rId11" imgW="2234880" imgH="279360" progId="Equation.DSMT4">
                  <p:embed/>
                </p:oleObj>
              </mc:Choice>
              <mc:Fallback>
                <p:oleObj name="Equation" r:id="rId11" imgW="2234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410" y="5855453"/>
                        <a:ext cx="5184576" cy="711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514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41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978868" y="1586238"/>
          <a:ext cx="4752975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6" name="Equation" r:id="rId3" imgW="1854000" imgH="431640" progId="Equation.DSMT4">
                  <p:embed/>
                </p:oleObj>
              </mc:Choice>
              <mc:Fallback>
                <p:oleObj name="Equation" r:id="rId3" imgW="1854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868" y="1586238"/>
                        <a:ext cx="4752975" cy="121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2675" y="1519323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因而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1331640" y="3838927"/>
          <a:ext cx="3529013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7" name="Equation" r:id="rId5" imgW="3377880" imgH="863280" progId="Equation.3">
                  <p:embed/>
                </p:oleObj>
              </mc:Choice>
              <mc:Fallback>
                <p:oleObj name="Equation" r:id="rId5" imgW="33778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838927"/>
                        <a:ext cx="3529013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1331541" y="4941168"/>
          <a:ext cx="2592387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8" name="Equation" r:id="rId7" imgW="965160" imgH="393480" progId="Equation.3">
                  <p:embed/>
                </p:oleObj>
              </mc:Choice>
              <mc:Fallback>
                <p:oleObj name="Equation" r:id="rId7" imgW="965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541" y="4941168"/>
                        <a:ext cx="2592387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1305592" y="2648289"/>
          <a:ext cx="6767512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9" name="Equation" r:id="rId9" imgW="2603160" imgH="431640" progId="Equation.DSMT4">
                  <p:embed/>
                </p:oleObj>
              </mc:Choice>
              <mc:Fallback>
                <p:oleObj name="Equation" r:id="rId9" imgW="2603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592" y="2648289"/>
                        <a:ext cx="6767512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4355355" y="5256155"/>
          <a:ext cx="45370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10" name="Equation" r:id="rId11" imgW="1473120" imgH="241200" progId="Equation.DSMT4">
                  <p:embed/>
                </p:oleObj>
              </mc:Choice>
              <mc:Fallback>
                <p:oleObj name="Equation" r:id="rId11" imgW="1473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355" y="5256155"/>
                        <a:ext cx="45370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03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42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693610" y="1460100"/>
          <a:ext cx="79914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2" name="Equation" r:id="rId3" imgW="3174840" imgH="393480" progId="Equation.DSMT4">
                  <p:embed/>
                </p:oleObj>
              </mc:Choice>
              <mc:Fallback>
                <p:oleObj name="Equation" r:id="rId3" imgW="3174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610" y="1460100"/>
                        <a:ext cx="79914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860032" y="2187176"/>
            <a:ext cx="428396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(</a:t>
            </a:r>
            <a:r>
              <a:rPr lang="zh-CN" altLang="en-US" b="1" dirty="0"/>
              <a:t>这种方法称为</a:t>
            </a:r>
            <a:r>
              <a:rPr lang="zh-CN" altLang="en-US" b="1" dirty="0">
                <a:solidFill>
                  <a:srgbClr val="CC3399"/>
                </a:solidFill>
                <a:ea typeface="黑体" panose="02010609060101010101" pitchFamily="49" charset="-122"/>
              </a:rPr>
              <a:t>无偏化</a:t>
            </a:r>
            <a:r>
              <a:rPr lang="en-US" altLang="zh-CN" b="1" dirty="0">
                <a:ea typeface="黑体" panose="02010609060101010101" pitchFamily="49" charset="-122"/>
              </a:rPr>
              <a:t>)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845854" y="2670573"/>
          <a:ext cx="4896470" cy="1080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3" name="Equation" r:id="rId5" imgW="1955520" imgH="431640" progId="Equation.DSMT4">
                  <p:embed/>
                </p:oleObj>
              </mc:Choice>
              <mc:Fallback>
                <p:oleObj name="Equation" r:id="rId5" imgW="1955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54" y="2670573"/>
                        <a:ext cx="4896470" cy="1080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827089" y="3860800"/>
          <a:ext cx="2232744" cy="96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4" name="Equation" r:id="rId7" imgW="914400" imgH="393480" progId="Equation.DSMT4">
                  <p:embed/>
                </p:oleObj>
              </mc:Choice>
              <mc:Fallback>
                <p:oleObj name="Equation" r:id="rId7" imgW="914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9" y="3860800"/>
                        <a:ext cx="2232744" cy="96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3275856" y="3860801"/>
          <a:ext cx="4089548" cy="1086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5" name="Equation" r:id="rId9" imgW="1625400" imgH="431640" progId="Equation.DSMT4">
                  <p:embed/>
                </p:oleObj>
              </mc:Choice>
              <mc:Fallback>
                <p:oleObj name="Equation" r:id="rId9" imgW="1625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860801"/>
                        <a:ext cx="4089548" cy="1086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844551" y="5110163"/>
          <a:ext cx="4015482" cy="583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6" name="Equation" r:id="rId11" imgW="1663560" imgH="241200" progId="Equation.DSMT4">
                  <p:embed/>
                </p:oleObj>
              </mc:Choice>
              <mc:Fallback>
                <p:oleObj name="Equation" r:id="rId11" imgW="1663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1" y="5110163"/>
                        <a:ext cx="4015482" cy="583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795338" y="5894388"/>
          <a:ext cx="4946986" cy="63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7" name="Equation" r:id="rId13" imgW="1879560" imgH="241200" progId="Equation.DSMT4">
                  <p:embed/>
                </p:oleObj>
              </mc:Choice>
              <mc:Fallback>
                <p:oleObj name="Equation" r:id="rId13" imgW="1879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5894388"/>
                        <a:ext cx="4946986" cy="63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08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57571" y="3403387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CC3399"/>
                </a:solidFill>
              </a:rPr>
              <a:t>特别：</a:t>
            </a:r>
          </a:p>
        </p:txBody>
      </p:sp>
      <p:graphicFrame>
        <p:nvGraphicFramePr>
          <p:cNvPr id="19" name="Object 9"/>
          <p:cNvGraphicFramePr>
            <a:graphicFrameLocks noChangeAspect="1"/>
          </p:cNvGraphicFramePr>
          <p:nvPr>
            <p:extLst/>
          </p:nvPr>
        </p:nvGraphicFramePr>
        <p:xfrm>
          <a:off x="1069557" y="4149080"/>
          <a:ext cx="4015482" cy="583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8" name="Equation" r:id="rId3" imgW="1663560" imgH="241200" progId="Equation.DSMT4">
                  <p:embed/>
                </p:oleObj>
              </mc:Choice>
              <mc:Fallback>
                <p:oleObj name="Equation" r:id="rId3" imgW="1663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557" y="4149080"/>
                        <a:ext cx="4015482" cy="583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33" y="4240603"/>
            <a:ext cx="571429" cy="400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411708" y="4829920"/>
            <a:ext cx="5414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但，</a:t>
            </a:r>
            <a:r>
              <a:rPr lang="en-US" altLang="zh-CN" sz="3200" dirty="0" smtClean="0">
                <a:latin typeface="+mn-ea"/>
              </a:rPr>
              <a:t>S</a:t>
            </a:r>
            <a:r>
              <a:rPr lang="zh-CN" altLang="en-US" sz="3200" dirty="0" smtClean="0">
                <a:latin typeface="+mn-ea"/>
              </a:rPr>
              <a:t>并不是</a:t>
            </a:r>
            <a:r>
              <a:rPr lang="el-GR" altLang="zh-CN" sz="3200" dirty="0" smtClean="0">
                <a:latin typeface="+mn-ea"/>
              </a:rPr>
              <a:t>σ</a:t>
            </a:r>
            <a:r>
              <a:rPr lang="zh-CN" altLang="en-US" sz="3200" dirty="0" smtClean="0">
                <a:latin typeface="+mn-ea"/>
              </a:rPr>
              <a:t>的无偏估计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50157" y="5538955"/>
            <a:ext cx="79453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尽管如此</a:t>
            </a:r>
            <a:r>
              <a:rPr lang="zh-CN" altLang="en-US" sz="3200" dirty="0" smtClean="0">
                <a:latin typeface="+mn-ea"/>
              </a:rPr>
              <a:t>，</a:t>
            </a:r>
            <a:r>
              <a:rPr lang="en-US" altLang="zh-CN" sz="3200" dirty="0" smtClean="0">
                <a:latin typeface="+mn-ea"/>
              </a:rPr>
              <a:t>S</a:t>
            </a:r>
            <a:r>
              <a:rPr lang="zh-CN" altLang="en-US" sz="3200" dirty="0" smtClean="0">
                <a:latin typeface="+mn-ea"/>
              </a:rPr>
              <a:t>依然常常用来作为</a:t>
            </a:r>
            <a:r>
              <a:rPr lang="el-GR" altLang="zh-CN" sz="3200" dirty="0" smtClean="0">
                <a:latin typeface="+mn-ea"/>
              </a:rPr>
              <a:t>σ</a:t>
            </a:r>
            <a:r>
              <a:rPr lang="zh-CN" altLang="en-US" sz="3200" dirty="0" smtClean="0">
                <a:latin typeface="+mn-ea"/>
              </a:rPr>
              <a:t>的估计量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/>
          </p:nvPr>
        </p:nvGraphicFramePr>
        <p:xfrm>
          <a:off x="834294" y="1616781"/>
          <a:ext cx="6558542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9" name="Equation" r:id="rId6" imgW="2120760" imgH="647640" progId="Equation.DSMT4">
                  <p:embed/>
                </p:oleObj>
              </mc:Choice>
              <mc:Fallback>
                <p:oleObj name="Equation" r:id="rId6" imgW="21207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100000" contrast="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294" y="1616781"/>
                        <a:ext cx="6558542" cy="195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89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76674" y="1573371"/>
            <a:ext cx="6575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 smtClean="0"/>
              <a:t>设</a:t>
            </a:r>
            <a:r>
              <a:rPr lang="zh-CN" altLang="en-US" b="1" dirty="0"/>
              <a:t>总体 </a:t>
            </a:r>
            <a:r>
              <a:rPr lang="en-US" altLang="zh-CN" b="1" dirty="0"/>
              <a:t>X </a:t>
            </a:r>
            <a:r>
              <a:rPr lang="zh-CN" altLang="zh-CN" b="1" dirty="0"/>
              <a:t>的密度函数为</a:t>
            </a:r>
            <a:endParaRPr lang="zh-CN" altLang="en-US" b="1" dirty="0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267213" y="2155180"/>
            <a:ext cx="7343775" cy="1624013"/>
            <a:chOff x="920" y="566"/>
            <a:chExt cx="4504" cy="1013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920" y="566"/>
            <a:ext cx="2362" cy="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26" name="Equation" r:id="rId3" imgW="1600200" imgH="685800" progId="Equation.DSMT4">
                    <p:embed/>
                  </p:oleObj>
                </mc:Choice>
                <mc:Fallback>
                  <p:oleObj name="Equation" r:id="rId3" imgW="16002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566"/>
                          <a:ext cx="2362" cy="10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3782" y="831"/>
              <a:ext cx="1642" cy="384"/>
              <a:chOff x="3696" y="946"/>
              <a:chExt cx="1642" cy="384"/>
            </a:xfrm>
          </p:grpSpPr>
          <p:graphicFrame>
            <p:nvGraphicFramePr>
              <p:cNvPr id="9" name="Object 6"/>
              <p:cNvGraphicFramePr>
                <a:graphicFrameLocks noChangeAspect="1"/>
              </p:cNvGraphicFramePr>
              <p:nvPr/>
            </p:nvGraphicFramePr>
            <p:xfrm>
              <a:off x="3696" y="1022"/>
              <a:ext cx="644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327" name="公式" r:id="rId5" imgW="368280" imgH="177480" progId="Equation.3">
                      <p:embed/>
                    </p:oleObj>
                  </mc:Choice>
                  <mc:Fallback>
                    <p:oleObj name="公式" r:id="rId5" imgW="3682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1022"/>
                            <a:ext cx="644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 Box 7"/>
              <p:cNvSpPr txBox="1">
                <a:spLocks noChangeArrowheads="1"/>
              </p:cNvSpPr>
              <p:nvPr/>
            </p:nvSpPr>
            <p:spPr bwMode="auto">
              <a:xfrm>
                <a:off x="4358" y="946"/>
                <a:ext cx="980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/>
                  <a:t>为常数</a:t>
                </a:r>
              </a:p>
            </p:txBody>
          </p:sp>
        </p:grpSp>
      </p:grpSp>
      <p:grpSp>
        <p:nvGrpSpPr>
          <p:cNvPr id="11" name="Group 34"/>
          <p:cNvGrpSpPr>
            <a:grpSpLocks/>
          </p:cNvGrpSpPr>
          <p:nvPr/>
        </p:nvGrpSpPr>
        <p:grpSpPr bwMode="auto">
          <a:xfrm>
            <a:off x="708413" y="3659337"/>
            <a:ext cx="7513637" cy="641350"/>
            <a:chOff x="415" y="1551"/>
            <a:chExt cx="4733" cy="404"/>
          </a:xfrm>
        </p:grpSpPr>
        <p:graphicFrame>
          <p:nvGraphicFramePr>
            <p:cNvPr id="12" name="Object 9"/>
            <p:cNvGraphicFramePr>
              <a:graphicFrameLocks noChangeAspect="1"/>
            </p:cNvGraphicFramePr>
            <p:nvPr/>
          </p:nvGraphicFramePr>
          <p:xfrm>
            <a:off x="415" y="1574"/>
            <a:ext cx="1652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28" name="Equation" r:id="rId7" imgW="1028520" imgH="228600" progId="Equation.DSMT4">
                    <p:embed/>
                  </p:oleObj>
                </mc:Choice>
                <mc:Fallback>
                  <p:oleObj name="Equation" r:id="rId7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" y="1574"/>
                          <a:ext cx="1652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985" y="1551"/>
              <a:ext cx="316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/>
                <a:t>为 </a:t>
              </a:r>
              <a:r>
                <a:rPr lang="en-US" altLang="zh-CN" b="1" i="1" dirty="0"/>
                <a:t>X</a:t>
              </a:r>
              <a:r>
                <a:rPr lang="en-US" altLang="zh-CN" b="1" dirty="0"/>
                <a:t> </a:t>
              </a:r>
              <a:r>
                <a:rPr lang="zh-CN" altLang="zh-CN" b="1" dirty="0"/>
                <a:t>的一个样本</a:t>
              </a:r>
              <a:r>
                <a:rPr lang="en-US" altLang="zh-CN" b="1" dirty="0"/>
                <a:t>. </a:t>
              </a:r>
              <a:r>
                <a:rPr lang="zh-CN" altLang="en-US" b="1" dirty="0"/>
                <a:t>证明：</a:t>
              </a:r>
            </a:p>
          </p:txBody>
        </p:sp>
      </p:grpSp>
      <p:grpSp>
        <p:nvGrpSpPr>
          <p:cNvPr id="14" name="Group 38"/>
          <p:cNvGrpSpPr>
            <a:grpSpLocks/>
          </p:cNvGrpSpPr>
          <p:nvPr/>
        </p:nvGrpSpPr>
        <p:grpSpPr bwMode="auto">
          <a:xfrm>
            <a:off x="708413" y="4278463"/>
            <a:ext cx="8299450" cy="688975"/>
            <a:chOff x="431" y="1979"/>
            <a:chExt cx="5228" cy="434"/>
          </a:xfrm>
        </p:grpSpPr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431" y="2025"/>
            <a:ext cx="27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29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2025"/>
                          <a:ext cx="27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631" y="1979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与</a:t>
              </a:r>
            </a:p>
          </p:txBody>
        </p:sp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975" y="2024"/>
            <a:ext cx="212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30" name="Equation" r:id="rId11" imgW="1396800" imgH="228600" progId="Equation.DSMT4">
                    <p:embed/>
                  </p:oleObj>
                </mc:Choice>
                <mc:Fallback>
                  <p:oleObj name="Equation" r:id="rId11" imgW="13968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024"/>
                          <a:ext cx="2121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3028" y="2009"/>
              <a:ext cx="263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都是    的无偏估计量</a:t>
              </a:r>
              <a:r>
                <a:rPr lang="en-US" altLang="zh-CN" b="1"/>
                <a:t>.</a:t>
              </a:r>
            </a:p>
          </p:txBody>
        </p:sp>
        <p:graphicFrame>
          <p:nvGraphicFramePr>
            <p:cNvPr id="19" name="Object 20"/>
            <p:cNvGraphicFramePr>
              <a:graphicFrameLocks noChangeAspect="1"/>
            </p:cNvGraphicFramePr>
            <p:nvPr/>
          </p:nvGraphicFramePr>
          <p:xfrm>
            <a:off x="3633" y="2057"/>
            <a:ext cx="220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31" name="公式" r:id="rId13" imgW="139680" imgH="177480" progId="Equation.3">
                    <p:embed/>
                  </p:oleObj>
                </mc:Choice>
                <mc:Fallback>
                  <p:oleObj name="公式" r:id="rId13" imgW="1396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3" y="2057"/>
                          <a:ext cx="220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37"/>
          <p:cNvGrpSpPr>
            <a:grpSpLocks/>
          </p:cNvGrpSpPr>
          <p:nvPr/>
        </p:nvGrpSpPr>
        <p:grpSpPr bwMode="auto">
          <a:xfrm>
            <a:off x="533367" y="4972020"/>
            <a:ext cx="5182851" cy="930275"/>
            <a:chOff x="467" y="2387"/>
            <a:chExt cx="3410" cy="706"/>
          </a:xfrm>
        </p:grpSpPr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467" y="2427"/>
              <a:ext cx="649" cy="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b="1" dirty="0" smtClean="0">
                  <a:ea typeface="黑体" panose="02010609060101010101" pitchFamily="49" charset="-122"/>
                </a:rPr>
                <a:t>证：</a:t>
              </a:r>
              <a:r>
                <a:rPr lang="zh-CN" altLang="en-US" sz="3600" dirty="0" smtClean="0">
                  <a:ea typeface="楷体_GB2312" pitchFamily="49" charset="-122"/>
                </a:rPr>
                <a:t>  </a:t>
              </a:r>
              <a:endParaRPr lang="zh-CN" altLang="en-US" sz="3600" dirty="0">
                <a:ea typeface="楷体_GB2312" pitchFamily="49" charset="-122"/>
              </a:endParaRPr>
            </a:p>
          </p:txBody>
        </p:sp>
        <p:graphicFrame>
          <p:nvGraphicFramePr>
            <p:cNvPr id="32" name="Object 25"/>
            <p:cNvGraphicFramePr>
              <a:graphicFrameLocks noChangeAspect="1"/>
            </p:cNvGraphicFramePr>
            <p:nvPr/>
          </p:nvGraphicFramePr>
          <p:xfrm>
            <a:off x="1292" y="2387"/>
            <a:ext cx="2585" cy="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32" name="Equation" r:id="rId15" imgW="1841400" imgH="431640" progId="Equation.DSMT4">
                    <p:embed/>
                  </p:oleObj>
                </mc:Choice>
                <mc:Fallback>
                  <p:oleObj name="Equation" r:id="rId15" imgW="18414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2387"/>
                          <a:ext cx="2585" cy="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26"/>
          <p:cNvGrpSpPr>
            <a:grpSpLocks/>
          </p:cNvGrpSpPr>
          <p:nvPr/>
        </p:nvGrpSpPr>
        <p:grpSpPr bwMode="auto">
          <a:xfrm>
            <a:off x="618633" y="5966658"/>
            <a:ext cx="3816424" cy="561975"/>
            <a:chOff x="950" y="3279"/>
            <a:chExt cx="3082" cy="453"/>
          </a:xfrm>
        </p:grpSpPr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950" y="3279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故</a:t>
              </a:r>
            </a:p>
          </p:txBody>
        </p:sp>
        <p:graphicFrame>
          <p:nvGraphicFramePr>
            <p:cNvPr id="35" name="Object 28"/>
            <p:cNvGraphicFramePr>
              <a:graphicFrameLocks noChangeAspect="1"/>
            </p:cNvGraphicFramePr>
            <p:nvPr/>
          </p:nvGraphicFramePr>
          <p:xfrm>
            <a:off x="1344" y="3312"/>
            <a:ext cx="2688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33" name="公式" r:id="rId17" imgW="1168200" imgH="228600" progId="Equation.3">
                    <p:embed/>
                  </p:oleObj>
                </mc:Choice>
                <mc:Fallback>
                  <p:oleObj name="公式" r:id="rId17" imgW="1168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312"/>
                          <a:ext cx="2688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6"/>
          <p:cNvGrpSpPr>
            <a:grpSpLocks/>
          </p:cNvGrpSpPr>
          <p:nvPr/>
        </p:nvGrpSpPr>
        <p:grpSpPr bwMode="auto">
          <a:xfrm>
            <a:off x="4939101" y="5996373"/>
            <a:ext cx="4248472" cy="543483"/>
            <a:chOff x="1150" y="3657"/>
            <a:chExt cx="2731" cy="404"/>
          </a:xfrm>
        </p:grpSpPr>
        <p:sp>
          <p:nvSpPr>
            <p:cNvPr id="37" name="Text Box 30"/>
            <p:cNvSpPr txBox="1">
              <a:spLocks noChangeArrowheads="1"/>
            </p:cNvSpPr>
            <p:nvPr/>
          </p:nvSpPr>
          <p:spPr bwMode="auto">
            <a:xfrm>
              <a:off x="1383" y="3657"/>
              <a:ext cx="249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/>
                <a:t>是 </a:t>
              </a:r>
              <a:r>
                <a:rPr lang="zh-CN" altLang="en-US" i="1" dirty="0">
                  <a:ea typeface="楷体_GB2312" pitchFamily="49" charset="-122"/>
                  <a:sym typeface="Symbol" panose="05050102010706020507" pitchFamily="18" charset="2"/>
                </a:rPr>
                <a:t>  </a:t>
              </a:r>
              <a:r>
                <a:rPr lang="zh-CN" altLang="en-US" dirty="0">
                  <a:latin typeface="宋体" panose="02010600030101010101" pitchFamily="2" charset="-122"/>
                </a:rPr>
                <a:t>的无偏估计量</a:t>
              </a:r>
              <a:r>
                <a:rPr lang="en-US" altLang="zh-CN" dirty="0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38" name="Object 35"/>
            <p:cNvGraphicFramePr>
              <a:graphicFrameLocks noChangeAspect="1"/>
            </p:cNvGraphicFramePr>
            <p:nvPr/>
          </p:nvGraphicFramePr>
          <p:xfrm>
            <a:off x="1150" y="3669"/>
            <a:ext cx="28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34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0" y="3669"/>
                          <a:ext cx="28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6815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84213" y="115888"/>
            <a:ext cx="5886450" cy="738187"/>
            <a:chOff x="240" y="63"/>
            <a:chExt cx="3708" cy="465"/>
          </a:xfrm>
        </p:grpSpPr>
        <p:graphicFrame>
          <p:nvGraphicFramePr>
            <p:cNvPr id="10250" name="Object 3"/>
            <p:cNvGraphicFramePr>
              <a:graphicFrameLocks noChangeAspect="1"/>
            </p:cNvGraphicFramePr>
            <p:nvPr/>
          </p:nvGraphicFramePr>
          <p:xfrm>
            <a:off x="1122" y="144"/>
            <a:ext cx="282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38" name="Equation" r:id="rId3" imgW="1562040" imgH="228600" progId="Equation.DSMT4">
                    <p:embed/>
                  </p:oleObj>
                </mc:Choice>
                <mc:Fallback>
                  <p:oleObj name="Equation" r:id="rId3" imgW="1562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2" y="144"/>
                          <a:ext cx="2826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5" name="Text Box 4"/>
            <p:cNvSpPr txBox="1">
              <a:spLocks noChangeArrowheads="1"/>
            </p:cNvSpPr>
            <p:nvPr/>
          </p:nvSpPr>
          <p:spPr bwMode="auto">
            <a:xfrm>
              <a:off x="240" y="63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令</a:t>
              </a:r>
            </a:p>
          </p:txBody>
        </p:sp>
      </p:grpSp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4427538" y="3284538"/>
          <a:ext cx="4537075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39" name="Equation" r:id="rId5" imgW="1714320" imgH="672840" progId="Equation.DSMT4">
                  <p:embed/>
                </p:oleObj>
              </mc:Choice>
              <mc:Fallback>
                <p:oleObj name="Equation" r:id="rId5" imgW="17143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284538"/>
                        <a:ext cx="4537075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457200" y="5287963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即</a:t>
            </a:r>
          </a:p>
        </p:txBody>
      </p:sp>
      <p:graphicFrame>
        <p:nvGraphicFramePr>
          <p:cNvPr id="167943" name="Object 7">
            <a:hlinkClick r:id="rId7" action="ppaction://hlinksldjump"/>
          </p:cNvPr>
          <p:cNvGraphicFramePr>
            <a:graphicFrameLocks noChangeAspect="1"/>
          </p:cNvGraphicFramePr>
          <p:nvPr/>
        </p:nvGraphicFramePr>
        <p:xfrm>
          <a:off x="1692275" y="5064125"/>
          <a:ext cx="36004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0" name="Equation" r:id="rId8" imgW="4051080" imgH="1015920" progId="Equation.3">
                  <p:embed/>
                </p:oleObj>
              </mc:Choice>
              <mc:Fallback>
                <p:oleObj name="Equation" r:id="rId8" imgW="405108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064125"/>
                        <a:ext cx="36004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684213" y="3284538"/>
          <a:ext cx="3468687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1" name="Equation" r:id="rId10" imgW="1257120" imgH="583920" progId="Equation.DSMT4">
                  <p:embed/>
                </p:oleObj>
              </mc:Choice>
              <mc:Fallback>
                <p:oleObj name="Equation" r:id="rId10" imgW="125712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284538"/>
                        <a:ext cx="3468687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5" name="Object 9">
            <a:hlinkClick r:id="rId7" action="ppaction://hlinksldjump"/>
          </p:cNvPr>
          <p:cNvGraphicFramePr>
            <a:graphicFrameLocks noChangeAspect="1"/>
          </p:cNvGraphicFramePr>
          <p:nvPr/>
        </p:nvGraphicFramePr>
        <p:xfrm>
          <a:off x="6386513" y="5343525"/>
          <a:ext cx="17668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2" name="Equation" r:id="rId12" imgW="1714320" imgH="431640" progId="Equation.3">
                  <p:embed/>
                </p:oleObj>
              </mc:Choice>
              <mc:Fallback>
                <p:oleObj name="Equation" r:id="rId12" imgW="1714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513" y="5343525"/>
                        <a:ext cx="17668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6" name="Text Box 10"/>
          <p:cNvSpPr txBox="1">
            <a:spLocks noChangeArrowheads="1"/>
          </p:cNvSpPr>
          <p:nvPr/>
        </p:nvSpPr>
        <p:spPr bwMode="auto">
          <a:xfrm>
            <a:off x="471488" y="6075363"/>
            <a:ext cx="5362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故    </a:t>
            </a:r>
            <a:r>
              <a:rPr lang="en-US" altLang="zh-CN" sz="3600" i="1"/>
              <a:t>nZ </a:t>
            </a:r>
            <a:r>
              <a:rPr lang="zh-CN" altLang="en-US" sz="3600"/>
              <a:t>是</a:t>
            </a:r>
            <a:r>
              <a:rPr lang="zh-CN" altLang="en-US" sz="3600" i="1">
                <a:sym typeface="Symbol" panose="05050102010706020507" pitchFamily="18" charset="2"/>
              </a:rPr>
              <a:t> </a:t>
            </a:r>
            <a:r>
              <a:rPr lang="zh-CN" altLang="en-US" sz="3600">
                <a:sym typeface="Symbol" panose="05050102010706020507" pitchFamily="18" charset="2"/>
              </a:rPr>
              <a:t>的无偏估计量</a:t>
            </a:r>
            <a:r>
              <a:rPr lang="en-US" altLang="zh-CN" sz="3600">
                <a:sym typeface="Symbol" panose="05050102010706020507" pitchFamily="18" charset="2"/>
              </a:rPr>
              <a:t>.</a:t>
            </a:r>
            <a:endParaRPr lang="en-US" altLang="zh-CN" sz="3600"/>
          </a:p>
        </p:txBody>
      </p:sp>
      <p:graphicFrame>
        <p:nvGraphicFramePr>
          <p:cNvPr id="167947" name="Object 11"/>
          <p:cNvGraphicFramePr>
            <a:graphicFrameLocks noChangeAspect="1"/>
          </p:cNvGraphicFramePr>
          <p:nvPr>
            <p:extLst/>
          </p:nvPr>
        </p:nvGraphicFramePr>
        <p:xfrm>
          <a:off x="827088" y="1628775"/>
          <a:ext cx="553878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3" name="Equation" r:id="rId14" imgW="2273040" imgH="253800" progId="Equation.DSMT4">
                  <p:embed/>
                </p:oleObj>
              </mc:Choice>
              <mc:Fallback>
                <p:oleObj name="Equation" r:id="rId14" imgW="22730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628775"/>
                        <a:ext cx="5538787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8" name="Object 12"/>
          <p:cNvGraphicFramePr>
            <a:graphicFrameLocks noChangeAspect="1"/>
          </p:cNvGraphicFramePr>
          <p:nvPr/>
        </p:nvGraphicFramePr>
        <p:xfrm>
          <a:off x="827088" y="2276475"/>
          <a:ext cx="69850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4" name="Equation" r:id="rId16" imgW="3213000" imgH="444240" progId="Equation.DSMT4">
                  <p:embed/>
                </p:oleObj>
              </mc:Choice>
              <mc:Fallback>
                <p:oleObj name="Equation" r:id="rId16" imgW="3213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76475"/>
                        <a:ext cx="69850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13"/>
          <p:cNvGraphicFramePr>
            <a:graphicFrameLocks noChangeAspect="1"/>
          </p:cNvGraphicFramePr>
          <p:nvPr/>
        </p:nvGraphicFramePr>
        <p:xfrm>
          <a:off x="755650" y="908050"/>
          <a:ext cx="747553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5" name="Equation" r:id="rId18" imgW="3530520" imgH="253800" progId="Equation.DSMT4">
                  <p:embed/>
                </p:oleObj>
              </mc:Choice>
              <mc:Fallback>
                <p:oleObj name="Equation" r:id="rId18" imgW="35305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908050"/>
                        <a:ext cx="747553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24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0" y="4749800"/>
              <a:ext cx="1588" cy="1588"/>
            </p14:xfrm>
          </p:contentPart>
        </mc:Choice>
        <mc:Fallback xmlns="">
          <p:pic>
            <p:nvPicPr>
              <p:cNvPr id="1024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77812" y="4671988"/>
                <a:ext cx="157212" cy="1572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185770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有效性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一个参数可能存在多个无偏估计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46</a:t>
            </a:fld>
            <a:endParaRPr lang="en-US" altLang="zh-CN"/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612648" y="2438764"/>
            <a:ext cx="1946275" cy="584201"/>
            <a:chOff x="2307" y="651"/>
            <a:chExt cx="1226" cy="368"/>
          </a:xfrm>
        </p:grpSpPr>
        <p:graphicFrame>
          <p:nvGraphicFramePr>
            <p:cNvPr id="6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3291" y="651"/>
            <a:ext cx="24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14" name="Equation" r:id="rId3" imgW="164880" imgH="241200" progId="Equation.DSMT4">
                    <p:embed/>
                  </p:oleObj>
                </mc:Choice>
                <mc:Fallback>
                  <p:oleObj name="Equation" r:id="rId3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651"/>
                          <a:ext cx="24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2701" y="651"/>
            <a:ext cx="22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15" name="公式" r:id="rId5" imgW="152280" imgH="241200" progId="Equation.3">
                    <p:embed/>
                  </p:oleObj>
                </mc:Choice>
                <mc:Fallback>
                  <p:oleObj name="公式" r:id="rId5" imgW="1522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" y="651"/>
                          <a:ext cx="22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2307" y="662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 smtClean="0"/>
                <a:t>若</a:t>
              </a:r>
              <a:endParaRPr lang="zh-CN" altLang="en-US" sz="2800" b="1" dirty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2928" y="651"/>
              <a:ext cx="3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和</a:t>
              </a:r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146050" y="2438201"/>
            <a:ext cx="8462963" cy="1577976"/>
            <a:chOff x="141" y="674"/>
            <a:chExt cx="5331" cy="994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240" y="1073"/>
              <a:ext cx="5232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sz="2800" b="1"/>
            </a:p>
            <a:p>
              <a:pPr algn="just"/>
              <a:endParaRPr lang="en-US" altLang="zh-CN" sz="2800"/>
            </a:p>
          </p:txBody>
        </p:sp>
        <p:graphicFrame>
          <p:nvGraphicFramePr>
            <p:cNvPr id="12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2701" y="696"/>
            <a:ext cx="22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16" name="公式" r:id="rId7" imgW="139680" imgH="177480" progId="Equation.3">
                    <p:embed/>
                  </p:oleObj>
                </mc:Choice>
                <mc:Fallback>
                  <p:oleObj name="公式" r:id="rId7" imgW="1396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" y="696"/>
                          <a:ext cx="22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587" y="674"/>
              <a:ext cx="31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/>
                <a:t>都是参数</a:t>
              </a:r>
              <a:r>
                <a:rPr lang="zh-CN" altLang="zh-CN" sz="2800" b="1" dirty="0"/>
                <a:t>    </a:t>
              </a:r>
              <a:r>
                <a:rPr lang="zh-CN" altLang="en-US" sz="2800" b="1" dirty="0"/>
                <a:t>的无偏估计量，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41" y="1198"/>
              <a:ext cx="15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/>
                <a:t>可以比较</a:t>
              </a:r>
            </a:p>
          </p:txBody>
        </p:sp>
        <p:graphicFrame>
          <p:nvGraphicFramePr>
            <p:cNvPr id="15" name="Object 15"/>
            <p:cNvGraphicFramePr>
              <a:graphicFrameLocks noChangeAspect="1"/>
            </p:cNvGraphicFramePr>
            <p:nvPr>
              <p:extLst/>
            </p:nvPr>
          </p:nvGraphicFramePr>
          <p:xfrm>
            <a:off x="1337" y="1198"/>
            <a:ext cx="144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317" name="Equation" r:id="rId9" imgW="939600" imgH="253800" progId="Equation.DSMT4">
                    <p:embed/>
                  </p:oleObj>
                </mc:Choice>
                <mc:Fallback>
                  <p:oleObj name="Equation" r:id="rId9" imgW="9396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7" y="1198"/>
                          <a:ext cx="1449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584317" y="4102382"/>
            <a:ext cx="71256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以方差小为好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这就引进了</a:t>
            </a:r>
            <a:r>
              <a:rPr lang="zh-CN" altLang="en-US" sz="2800" b="1" dirty="0">
                <a:solidFill>
                  <a:srgbClr val="CC3399"/>
                </a:solidFill>
              </a:rPr>
              <a:t>有效性</a:t>
            </a:r>
            <a:r>
              <a:rPr lang="zh-CN" altLang="en-US" sz="2800" b="1" dirty="0"/>
              <a:t>这一概念 </a:t>
            </a:r>
            <a:r>
              <a:rPr lang="en-US" altLang="zh-CN" sz="2800" b="1" dirty="0" smtClean="0"/>
              <a:t>.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08447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46" y="3392415"/>
            <a:ext cx="7456608" cy="283502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有效性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47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11188" y="2133600"/>
            <a:ext cx="8305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zh-CN" altLang="zh-CN" sz="2800" b="1"/>
          </a:p>
          <a:p>
            <a:pPr algn="just">
              <a:lnSpc>
                <a:spcPct val="120000"/>
              </a:lnSpc>
            </a:pPr>
            <a:endParaRPr lang="en-US" altLang="zh-CN" sz="2800"/>
          </a:p>
        </p:txBody>
      </p: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251520" y="3068960"/>
            <a:ext cx="3133725" cy="658812"/>
            <a:chOff x="247" y="3252"/>
            <a:chExt cx="1974" cy="415"/>
          </a:xfrm>
        </p:grpSpPr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247" y="3252"/>
              <a:ext cx="197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800" b="1" dirty="0"/>
                <a:t>则称      较     有效 </a:t>
              </a:r>
              <a:r>
                <a:rPr lang="en-US" altLang="zh-CN" sz="2800" b="1" dirty="0"/>
                <a:t>.</a:t>
              </a:r>
            </a:p>
          </p:txBody>
        </p:sp>
        <p:graphicFrame>
          <p:nvGraphicFramePr>
            <p:cNvPr id="8" name="Object 11"/>
            <p:cNvGraphicFramePr>
              <a:graphicFrameLocks noChangeAspect="1"/>
            </p:cNvGraphicFramePr>
            <p:nvPr>
              <p:extLst/>
            </p:nvPr>
          </p:nvGraphicFramePr>
          <p:xfrm>
            <a:off x="1347" y="3279"/>
            <a:ext cx="23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86" name="Equation" r:id="rId4" imgW="152280" imgH="253800" progId="Equation.DSMT4">
                    <p:embed/>
                  </p:oleObj>
                </mc:Choice>
                <mc:Fallback>
                  <p:oleObj name="Equation" r:id="rId4" imgW="1522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lum brigh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" y="3279"/>
                          <a:ext cx="233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836" y="3279"/>
            <a:ext cx="25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87" name="Equation" r:id="rId6" imgW="164880" imgH="253800" progId="Equation.DSMT4">
                    <p:embed/>
                  </p:oleObj>
                </mc:Choice>
                <mc:Fallback>
                  <p:oleObj name="Equation" r:id="rId6" imgW="164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lum brigh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3279"/>
                          <a:ext cx="253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4"/>
          <p:cNvGrpSpPr>
            <a:grpSpLocks/>
          </p:cNvGrpSpPr>
          <p:nvPr/>
        </p:nvGrpSpPr>
        <p:grpSpPr bwMode="auto">
          <a:xfrm>
            <a:off x="1403350" y="1628800"/>
            <a:ext cx="6913563" cy="717550"/>
            <a:chOff x="657" y="1117"/>
            <a:chExt cx="4355" cy="452"/>
          </a:xfrm>
        </p:grpSpPr>
        <p:graphicFrame>
          <p:nvGraphicFramePr>
            <p:cNvPr id="11" name="Object 16"/>
            <p:cNvGraphicFramePr>
              <a:graphicFrameLocks noChangeAspect="1"/>
            </p:cNvGraphicFramePr>
            <p:nvPr/>
          </p:nvGraphicFramePr>
          <p:xfrm>
            <a:off x="3138" y="1162"/>
            <a:ext cx="1874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88" name="Equation" r:id="rId8" imgW="1218960" imgH="266400" progId="Equation.DSMT4">
                    <p:embed/>
                  </p:oleObj>
                </mc:Choice>
                <mc:Fallback>
                  <p:oleObj name="Equation" r:id="rId8" imgW="121896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8" y="1162"/>
                          <a:ext cx="1874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23"/>
            <p:cNvGrpSpPr>
              <a:grpSpLocks/>
            </p:cNvGrpSpPr>
            <p:nvPr/>
          </p:nvGrpSpPr>
          <p:grpSpPr bwMode="auto">
            <a:xfrm>
              <a:off x="1020" y="1143"/>
              <a:ext cx="1838" cy="406"/>
              <a:chOff x="1133" y="1391"/>
              <a:chExt cx="1838" cy="406"/>
            </a:xfrm>
          </p:grpSpPr>
          <p:graphicFrame>
            <p:nvGraphicFramePr>
              <p:cNvPr id="15" name="Object 15"/>
              <p:cNvGraphicFramePr>
                <a:graphicFrameLocks noChangeAspect="1"/>
              </p:cNvGraphicFramePr>
              <p:nvPr/>
            </p:nvGraphicFramePr>
            <p:xfrm>
              <a:off x="1567" y="1391"/>
              <a:ext cx="1404" cy="4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389" name="Equation" r:id="rId10" imgW="914400" imgH="266400" progId="Equation.DSMT4">
                      <p:embed/>
                    </p:oleObj>
                  </mc:Choice>
                  <mc:Fallback>
                    <p:oleObj name="Equation" r:id="rId10" imgW="914400" imgH="2664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7" y="1391"/>
                            <a:ext cx="1404" cy="4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17"/>
              <p:cNvGraphicFramePr>
                <a:graphicFrameLocks noChangeAspect="1"/>
              </p:cNvGraphicFramePr>
              <p:nvPr/>
            </p:nvGraphicFramePr>
            <p:xfrm>
              <a:off x="1133" y="1408"/>
              <a:ext cx="448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390" name="Equation" r:id="rId12" imgW="291960" imgH="241200" progId="Equation.DSMT4">
                      <p:embed/>
                    </p:oleObj>
                  </mc:Choice>
                  <mc:Fallback>
                    <p:oleObj name="Equation" r:id="rId12" imgW="29196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3" y="1408"/>
                            <a:ext cx="448" cy="3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657" y="1117"/>
              <a:ext cx="341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lang="zh-CN" altLang="en-US" sz="2800" b="1"/>
                <a:t>设</a:t>
              </a: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auto">
            <a:xfrm>
              <a:off x="2789" y="1162"/>
              <a:ext cx="341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lang="zh-CN" altLang="en-US" sz="2800" b="1"/>
                <a:t>和</a:t>
              </a:r>
            </a:p>
          </p:txBody>
        </p:sp>
      </p:grpSp>
      <p:grpSp>
        <p:nvGrpSpPr>
          <p:cNvPr id="17" name="Group 25"/>
          <p:cNvGrpSpPr>
            <a:grpSpLocks/>
          </p:cNvGrpSpPr>
          <p:nvPr/>
        </p:nvGrpSpPr>
        <p:grpSpPr bwMode="auto">
          <a:xfrm>
            <a:off x="250825" y="2422478"/>
            <a:ext cx="8458200" cy="627063"/>
            <a:chOff x="158" y="1706"/>
            <a:chExt cx="5328" cy="395"/>
          </a:xfrm>
        </p:grpSpPr>
        <p:graphicFrame>
          <p:nvGraphicFramePr>
            <p:cNvPr id="18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4068" y="1714"/>
            <a:ext cx="1418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91" name="Equation" r:id="rId14" imgW="927000" imgH="253800" progId="Equation.DSMT4">
                    <p:embed/>
                  </p:oleObj>
                </mc:Choice>
                <mc:Fallback>
                  <p:oleObj name="Equation" r:id="rId14" imgW="9270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lum brigh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8" y="1714"/>
                          <a:ext cx="1418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58" y="1706"/>
              <a:ext cx="5211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/>
                <a:t>都是参数</a:t>
              </a:r>
              <a:r>
                <a:rPr lang="zh-CN" altLang="zh-CN" sz="2800" b="1" dirty="0"/>
                <a:t>    </a:t>
              </a:r>
              <a:r>
                <a:rPr lang="zh-CN" altLang="en-US" sz="2800" b="1" dirty="0"/>
                <a:t>的无偏估计量，若对任意</a:t>
              </a:r>
              <a:r>
                <a:rPr lang="en-US" altLang="zh-CN" sz="2800" b="1" i="1" dirty="0"/>
                <a:t>n</a:t>
              </a:r>
              <a:r>
                <a:rPr lang="zh-CN" altLang="en-US" sz="2800" b="1" dirty="0"/>
                <a:t>，</a:t>
              </a:r>
            </a:p>
          </p:txBody>
        </p:sp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1105" y="1751"/>
            <a:ext cx="23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92" name="公式" r:id="rId16" imgW="139680" imgH="177480" progId="Equation.3">
                    <p:embed/>
                  </p:oleObj>
                </mc:Choice>
                <mc:Fallback>
                  <p:oleObj name="公式" r:id="rId16" imgW="1396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5" y="1751"/>
                          <a:ext cx="23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080" y="1829"/>
            <a:ext cx="12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93" name="Equation" r:id="rId18" imgW="190440" imgH="330120" progId="Equation.DSMT4">
                    <p:embed/>
                  </p:oleObj>
                </mc:Choice>
                <mc:Fallback>
                  <p:oleObj name="Equation" r:id="rId18" imgW="1904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829"/>
                          <a:ext cx="12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87377" y="6227436"/>
            <a:ext cx="5647619" cy="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6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48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39080" y="1549621"/>
            <a:ext cx="790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dirty="0">
                <a:ea typeface="楷体_GB2312" pitchFamily="49" charset="-122"/>
              </a:rPr>
              <a:t>   </a:t>
            </a:r>
            <a:r>
              <a:rPr lang="zh-CN" altLang="en-US" dirty="0">
                <a:ea typeface="楷体_GB2312" pitchFamily="49" charset="-122"/>
              </a:rPr>
              <a:t>设总体 </a:t>
            </a:r>
            <a:r>
              <a:rPr lang="en-US" altLang="zh-CN" i="1" dirty="0">
                <a:ea typeface="楷体_GB2312" pitchFamily="49" charset="-122"/>
              </a:rPr>
              <a:t>X</a:t>
            </a:r>
            <a:r>
              <a:rPr lang="zh-CN" altLang="en-US" dirty="0">
                <a:ea typeface="楷体_GB2312" pitchFamily="49" charset="-122"/>
              </a:rPr>
              <a:t>，且</a:t>
            </a:r>
            <a:r>
              <a:rPr lang="zh-CN" altLang="zh-CN" dirty="0">
                <a:ea typeface="楷体_GB2312" pitchFamily="49" charset="-122"/>
              </a:rPr>
              <a:t> </a:t>
            </a:r>
            <a:r>
              <a:rPr lang="en-US" altLang="zh-CN" i="1" dirty="0">
                <a:ea typeface="楷体_GB2312" pitchFamily="49" charset="-122"/>
              </a:rPr>
              <a:t>E</a:t>
            </a:r>
            <a:r>
              <a:rPr lang="en-US" altLang="zh-CN" dirty="0">
                <a:ea typeface="楷体_GB2312" pitchFamily="49" charset="-122"/>
              </a:rPr>
              <a:t>( </a:t>
            </a:r>
            <a:r>
              <a:rPr lang="en-US" altLang="zh-CN" i="1" dirty="0">
                <a:ea typeface="楷体_GB2312" pitchFamily="49" charset="-122"/>
              </a:rPr>
              <a:t>X </a:t>
            </a:r>
            <a:r>
              <a:rPr lang="en-US" altLang="zh-CN" dirty="0">
                <a:ea typeface="楷体_GB2312" pitchFamily="49" charset="-122"/>
              </a:rPr>
              <a:t>)=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 ,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zh-CN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( 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X 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)=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lang="en-US" altLang="zh-CN" i="1" dirty="0">
                <a:ea typeface="楷体_GB2312" pitchFamily="49" charset="-122"/>
              </a:rPr>
              <a:t> </a:t>
            </a:r>
            <a:r>
              <a:rPr lang="en-US" altLang="zh-CN" baseline="30000" dirty="0">
                <a:ea typeface="楷体_GB2312" pitchFamily="49" charset="-122"/>
              </a:rPr>
              <a:t>2</a:t>
            </a:r>
            <a:r>
              <a:rPr lang="en-US" altLang="zh-CN" dirty="0">
                <a:ea typeface="楷体_GB2312" pitchFamily="49" charset="-122"/>
              </a:rPr>
              <a:t> 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151880" y="2108422"/>
            <a:ext cx="6353175" cy="584200"/>
            <a:chOff x="672" y="745"/>
            <a:chExt cx="4002" cy="368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672" y="762"/>
            <a:ext cx="1531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98" name="Equation" r:id="rId3" imgW="1028520" imgH="228600" progId="Equation.DSMT4">
                    <p:embed/>
                  </p:oleObj>
                </mc:Choice>
                <mc:Fallback>
                  <p:oleObj name="Equation" r:id="rId3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762"/>
                          <a:ext cx="1531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203" y="745"/>
              <a:ext cx="247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_GB2312" pitchFamily="49" charset="-122"/>
                </a:rPr>
                <a:t>为总体 </a:t>
              </a:r>
              <a:r>
                <a:rPr lang="en-US" altLang="zh-CN" i="1" dirty="0">
                  <a:ea typeface="楷体_GB2312" pitchFamily="49" charset="-122"/>
                </a:rPr>
                <a:t>X</a:t>
              </a:r>
              <a:r>
                <a:rPr lang="en-US" altLang="zh-CN" dirty="0">
                  <a:ea typeface="楷体_GB2312" pitchFamily="49" charset="-122"/>
                </a:rPr>
                <a:t> </a:t>
              </a:r>
              <a:r>
                <a:rPr lang="zh-CN" altLang="zh-CN" dirty="0">
                  <a:ea typeface="楷体_GB2312" pitchFamily="49" charset="-122"/>
                </a:rPr>
                <a:t>的一个样本</a:t>
              </a:r>
              <a:endParaRPr lang="zh-CN" altLang="en-US" dirty="0">
                <a:ea typeface="楷体_GB2312" pitchFamily="49" charset="-122"/>
              </a:endParaRP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830885" y="3484270"/>
            <a:ext cx="7115175" cy="1036637"/>
            <a:chOff x="576" y="2160"/>
            <a:chExt cx="4482" cy="653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576" y="2243"/>
              <a:ext cx="6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ea typeface="楷体_GB2312" pitchFamily="49" charset="-122"/>
                </a:rPr>
                <a:t>证明</a:t>
              </a:r>
            </a:p>
          </p:txBody>
        </p:sp>
        <p:grpSp>
          <p:nvGrpSpPr>
            <p:cNvPr id="11" name="Group 8"/>
            <p:cNvGrpSpPr>
              <a:grpSpLocks/>
            </p:cNvGrpSpPr>
            <p:nvPr/>
          </p:nvGrpSpPr>
          <p:grpSpPr bwMode="auto">
            <a:xfrm>
              <a:off x="1378" y="2160"/>
              <a:ext cx="3680" cy="653"/>
              <a:chOff x="1296" y="2160"/>
              <a:chExt cx="3680" cy="653"/>
            </a:xfrm>
          </p:grpSpPr>
          <p:graphicFrame>
            <p:nvGraphicFramePr>
              <p:cNvPr id="12" name="Object 9"/>
              <p:cNvGraphicFramePr>
                <a:graphicFrameLocks noChangeAspect="1"/>
              </p:cNvGraphicFramePr>
              <p:nvPr/>
            </p:nvGraphicFramePr>
            <p:xfrm>
              <a:off x="1296" y="2160"/>
              <a:ext cx="1213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1399" name="公式" r:id="rId5" imgW="799920" imgH="431640" progId="Equation.3">
                      <p:embed/>
                    </p:oleObj>
                  </mc:Choice>
                  <mc:Fallback>
                    <p:oleObj name="公式" r:id="rId5" imgW="799920" imgH="431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6" y="2160"/>
                            <a:ext cx="1213" cy="6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Text Box 10"/>
              <p:cNvSpPr txBox="1">
                <a:spLocks noChangeArrowheads="1"/>
              </p:cNvSpPr>
              <p:nvPr/>
            </p:nvSpPr>
            <p:spPr bwMode="auto">
              <a:xfrm>
                <a:off x="2534" y="2260"/>
                <a:ext cx="244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ea typeface="楷体_GB2312" pitchFamily="49" charset="-122"/>
                  </a:rPr>
                  <a:t>是 </a:t>
                </a:r>
                <a:r>
                  <a:rPr lang="zh-CN" altLang="zh-CN" i="1" dirty="0">
                    <a:ea typeface="楷体_GB2312" pitchFamily="49" charset="-122"/>
                    <a:sym typeface="Symbol" panose="05050102010706020507" pitchFamily="18" charset="2"/>
                  </a:rPr>
                  <a:t> </a:t>
                </a:r>
                <a:r>
                  <a:rPr lang="zh-CN" altLang="zh-CN" dirty="0">
                    <a:ea typeface="楷体_GB2312" pitchFamily="49" charset="-122"/>
                    <a:sym typeface="Symbol" panose="05050102010706020507" pitchFamily="18" charset="2"/>
                  </a:rPr>
                  <a:t>的无偏估计量</a:t>
                </a:r>
                <a:endParaRPr lang="zh-CN" altLang="en-US" i="1" dirty="0">
                  <a:ea typeface="楷体_GB2312" pitchFamily="49" charset="-122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266700" y="4367176"/>
            <a:ext cx="7007225" cy="1036638"/>
            <a:chOff x="386" y="2496"/>
            <a:chExt cx="4414" cy="653"/>
          </a:xfrm>
        </p:grpSpPr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86" y="2608"/>
              <a:ext cx="117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ea typeface="楷体_GB2312" pitchFamily="49" charset="-122"/>
                </a:rPr>
                <a:t>(2)  </a:t>
              </a:r>
              <a:r>
                <a:rPr lang="zh-CN" altLang="en-US">
                  <a:ea typeface="楷体_GB2312" pitchFamily="49" charset="-122"/>
                </a:rPr>
                <a:t>证明</a:t>
              </a:r>
            </a:p>
          </p:txBody>
        </p: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>
              <a:off x="1526" y="2496"/>
              <a:ext cx="3274" cy="653"/>
              <a:chOff x="1306" y="2736"/>
              <a:chExt cx="3274" cy="653"/>
            </a:xfrm>
          </p:grpSpPr>
          <p:graphicFrame>
            <p:nvGraphicFramePr>
              <p:cNvPr id="17" name="Object 14"/>
              <p:cNvGraphicFramePr>
                <a:graphicFrameLocks noChangeAspect="1"/>
              </p:cNvGraphicFramePr>
              <p:nvPr/>
            </p:nvGraphicFramePr>
            <p:xfrm>
              <a:off x="1306" y="2889"/>
              <a:ext cx="671" cy="3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1400" name="公式" r:id="rId7" imgW="444240" imgH="228600" progId="Equation.3">
                      <p:embed/>
                    </p:oleObj>
                  </mc:Choice>
                  <mc:Fallback>
                    <p:oleObj name="公式" r:id="rId7" imgW="44424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6" y="2889"/>
                            <a:ext cx="671" cy="3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Text Box 15"/>
              <p:cNvSpPr txBox="1">
                <a:spLocks noChangeArrowheads="1"/>
              </p:cNvSpPr>
              <p:nvPr/>
            </p:nvSpPr>
            <p:spPr bwMode="auto">
              <a:xfrm>
                <a:off x="1968" y="2833"/>
                <a:ext cx="40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ea typeface="楷体_GB2312" pitchFamily="49" charset="-122"/>
                  </a:rPr>
                  <a:t>比</a:t>
                </a:r>
              </a:p>
            </p:txBody>
          </p:sp>
          <p:graphicFrame>
            <p:nvGraphicFramePr>
              <p:cNvPr id="19" name="Object 16"/>
              <p:cNvGraphicFramePr>
                <a:graphicFrameLocks noChangeAspect="1"/>
              </p:cNvGraphicFramePr>
              <p:nvPr/>
            </p:nvGraphicFramePr>
            <p:xfrm>
              <a:off x="2362" y="2736"/>
              <a:ext cx="1213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1401" name="公式" r:id="rId9" imgW="799920" imgH="431640" progId="Equation.3">
                      <p:embed/>
                    </p:oleObj>
                  </mc:Choice>
                  <mc:Fallback>
                    <p:oleObj name="公式" r:id="rId9" imgW="799920" imgH="431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2" y="2736"/>
                            <a:ext cx="1213" cy="6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Text Box 17"/>
              <p:cNvSpPr txBox="1">
                <a:spLocks noChangeArrowheads="1"/>
              </p:cNvSpPr>
              <p:nvPr/>
            </p:nvSpPr>
            <p:spPr bwMode="auto">
              <a:xfrm>
                <a:off x="3600" y="2833"/>
                <a:ext cx="980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ea typeface="楷体_GB2312" pitchFamily="49" charset="-122"/>
                  </a:rPr>
                  <a:t>更有效</a:t>
                </a:r>
              </a:p>
            </p:txBody>
          </p:sp>
        </p:grpSp>
      </p:grp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242094" y="5673945"/>
            <a:ext cx="12532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证</a:t>
            </a:r>
            <a:r>
              <a:rPr lang="zh-CN" altLang="en-US" b="1">
                <a:ea typeface="楷体_GB2312" pitchFamily="49" charset="-122"/>
              </a:rPr>
              <a:t>  </a:t>
            </a:r>
            <a:r>
              <a:rPr lang="en-US" altLang="zh-CN">
                <a:ea typeface="楷体_GB2312" pitchFamily="49" charset="-122"/>
              </a:rPr>
              <a:t>(1)</a:t>
            </a:r>
            <a:r>
              <a:rPr lang="en-US" altLang="zh-CN" b="1">
                <a:ea typeface="楷体_GB2312" pitchFamily="49" charset="-122"/>
              </a:rPr>
              <a:t> </a:t>
            </a:r>
          </a:p>
        </p:txBody>
      </p:sp>
      <p:graphicFrame>
        <p:nvGraphicFramePr>
          <p:cNvPr id="22" name="Object 19"/>
          <p:cNvGraphicFramePr>
            <a:graphicFrameLocks noChangeAspect="1"/>
          </p:cNvGraphicFramePr>
          <p:nvPr>
            <p:extLst/>
          </p:nvPr>
        </p:nvGraphicFramePr>
        <p:xfrm>
          <a:off x="1705769" y="5450108"/>
          <a:ext cx="5458519" cy="1147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02" name="公式" r:id="rId11" imgW="2070000" imgH="431640" progId="Equation.3">
                  <p:embed/>
                </p:oleObj>
              </mc:Choice>
              <mc:Fallback>
                <p:oleObj name="公式" r:id="rId11" imgW="2070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769" y="5450108"/>
                        <a:ext cx="5458519" cy="1147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6"/>
          <p:cNvGrpSpPr>
            <a:grpSpLocks/>
          </p:cNvGrpSpPr>
          <p:nvPr/>
        </p:nvGrpSpPr>
        <p:grpSpPr bwMode="auto">
          <a:xfrm>
            <a:off x="183185" y="2547645"/>
            <a:ext cx="8099425" cy="1189037"/>
            <a:chOff x="297" y="1253"/>
            <a:chExt cx="5102" cy="749"/>
          </a:xfrm>
        </p:grpSpPr>
        <p:graphicFrame>
          <p:nvGraphicFramePr>
            <p:cNvPr id="24" name="Object 22"/>
            <p:cNvGraphicFramePr>
              <a:graphicFrameLocks noChangeAspect="1"/>
            </p:cNvGraphicFramePr>
            <p:nvPr/>
          </p:nvGraphicFramePr>
          <p:xfrm>
            <a:off x="4513" y="1253"/>
            <a:ext cx="886" cy="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403" name="Equation" r:id="rId13" imgW="583920" imgH="431640" progId="Equation.DSMT4">
                    <p:embed/>
                  </p:oleObj>
                </mc:Choice>
                <mc:Fallback>
                  <p:oleObj name="Equation" r:id="rId13" imgW="5839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253"/>
                          <a:ext cx="886" cy="7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3"/>
            <p:cNvGraphicFramePr>
              <a:graphicFrameLocks noChangeAspect="1"/>
            </p:cNvGraphicFramePr>
            <p:nvPr/>
          </p:nvGraphicFramePr>
          <p:xfrm>
            <a:off x="1701" y="1409"/>
            <a:ext cx="2722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404" name="Equation" r:id="rId15" imgW="2476440" imgH="304560" progId="Equation.DSMT4">
                    <p:embed/>
                  </p:oleObj>
                </mc:Choice>
                <mc:Fallback>
                  <p:oleObj name="Equation" r:id="rId15" imgW="247644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1409"/>
                          <a:ext cx="2722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97" y="1395"/>
              <a:ext cx="14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ea typeface="楷体_GB2312" pitchFamily="49" charset="-122"/>
                </a:rPr>
                <a:t>(1)  </a:t>
              </a:r>
              <a:r>
                <a:rPr lang="zh-CN" altLang="en-US" dirty="0">
                  <a:ea typeface="楷体_GB2312" pitchFamily="49" charset="-122"/>
                </a:rPr>
                <a:t>设常数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278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49</a:t>
            </a:fld>
            <a:endParaRPr lang="en-US" altLang="zh-CN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914450" y="1518556"/>
            <a:ext cx="5097710" cy="932544"/>
            <a:chOff x="576" y="163"/>
            <a:chExt cx="3636" cy="653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576" y="264"/>
              <a:ext cx="524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>
                  <a:ea typeface="楷体_GB2312" pitchFamily="49" charset="-122"/>
                </a:rPr>
                <a:t>(2)</a:t>
              </a:r>
              <a:r>
                <a:rPr lang="en-US" altLang="zh-CN" sz="3600" b="1"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1228" y="163"/>
            <a:ext cx="2984" cy="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398" name="公式" r:id="rId3" imgW="1968480" imgH="431640" progId="Equation.3">
                    <p:embed/>
                  </p:oleObj>
                </mc:Choice>
                <mc:Fallback>
                  <p:oleObj name="公式" r:id="rId3" imgW="19684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8" y="163"/>
                          <a:ext cx="2984" cy="6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8"/>
          <p:cNvGraphicFramePr>
            <a:graphicFrameLocks noChangeAspect="1"/>
          </p:cNvGraphicFramePr>
          <p:nvPr>
            <p:extLst/>
          </p:nvPr>
        </p:nvGraphicFramePr>
        <p:xfrm>
          <a:off x="1206129" y="4596004"/>
          <a:ext cx="1656209" cy="860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99" name="Equation" r:id="rId5" imgW="799920" imgH="431640" progId="Equation.DSMT4">
                  <p:embed/>
                </p:oleObj>
              </mc:Choice>
              <mc:Fallback>
                <p:oleObj name="Equation" r:id="rId5" imgW="79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129" y="4596004"/>
                        <a:ext cx="1656209" cy="860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/>
          </p:nvPr>
        </p:nvGraphicFramePr>
        <p:xfrm>
          <a:off x="3779912" y="4620979"/>
          <a:ext cx="4104631" cy="895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00" name="Equation" r:id="rId7" imgW="2387520" imgH="469800" progId="Equation.DSMT4">
                  <p:embed/>
                </p:oleObj>
              </mc:Choice>
              <mc:Fallback>
                <p:oleObj name="Equation" r:id="rId7" imgW="23875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620979"/>
                        <a:ext cx="4104631" cy="895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/>
          </p:nvPr>
        </p:nvGraphicFramePr>
        <p:xfrm>
          <a:off x="2051721" y="3527753"/>
          <a:ext cx="4536504" cy="1037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01" name="Equation" r:id="rId9" imgW="1942920" imgH="444240" progId="Equation.3">
                  <p:embed/>
                </p:oleObj>
              </mc:Choice>
              <mc:Fallback>
                <p:oleObj name="Equation" r:id="rId9" imgW="1942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1" y="3527753"/>
                        <a:ext cx="4536504" cy="1037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3054425" y="4927830"/>
            <a:ext cx="533400" cy="228600"/>
          </a:xfrm>
          <a:prstGeom prst="rightArrow">
            <a:avLst>
              <a:gd name="adj1" fmla="val 94444"/>
              <a:gd name="adj2" fmla="val 666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774776" y="5697632"/>
            <a:ext cx="7834312" cy="650875"/>
          </a:xfrm>
          <a:prstGeom prst="rect">
            <a:avLst/>
          </a:prstGeom>
          <a:noFill/>
          <a:ln w="9525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CC3399"/>
                </a:solidFill>
                <a:ea typeface="黑体" panose="02010609060101010101" pitchFamily="49" charset="-122"/>
              </a:rPr>
              <a:t>结论  </a:t>
            </a:r>
            <a:r>
              <a:rPr lang="zh-CN" altLang="en-US" sz="3600" dirty="0">
                <a:solidFill>
                  <a:schemeClr val="tx2"/>
                </a:solidFill>
              </a:rPr>
              <a:t>算术均值比加权均值更有效</a:t>
            </a:r>
            <a:r>
              <a:rPr lang="en-US" altLang="zh-CN" sz="3600" b="1" dirty="0">
                <a:solidFill>
                  <a:schemeClr val="tx2"/>
                </a:solidFill>
              </a:rPr>
              <a:t>.</a:t>
            </a:r>
            <a:endParaRPr lang="en-US" altLang="zh-CN" sz="3600" b="1" dirty="0">
              <a:ea typeface="楷体_GB2312" pitchFamily="49" charset="-122"/>
            </a:endParaRPr>
          </a:p>
        </p:txBody>
      </p:sp>
      <p:grpSp>
        <p:nvGrpSpPr>
          <p:cNvPr id="13" name="Group 17"/>
          <p:cNvGrpSpPr>
            <a:grpSpLocks/>
          </p:cNvGrpSpPr>
          <p:nvPr/>
        </p:nvGrpSpPr>
        <p:grpSpPr bwMode="auto">
          <a:xfrm>
            <a:off x="914450" y="2449877"/>
            <a:ext cx="5817354" cy="1077876"/>
            <a:chOff x="612" y="799"/>
            <a:chExt cx="4397" cy="906"/>
          </a:xfrm>
        </p:grpSpPr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612" y="999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_GB2312" pitchFamily="49" charset="-122"/>
                </a:rPr>
                <a:t>而</a:t>
              </a:r>
              <a:endParaRPr lang="zh-CN" altLang="en-US" sz="3600" dirty="0">
                <a:ea typeface="楷体_GB2312" pitchFamily="49" charset="-122"/>
              </a:endParaRPr>
            </a:p>
          </p:txBody>
        </p:sp>
        <p:graphicFrame>
          <p:nvGraphicFramePr>
            <p:cNvPr id="15" name="Object 16"/>
            <p:cNvGraphicFramePr>
              <a:graphicFrameLocks noChangeAspect="1"/>
            </p:cNvGraphicFramePr>
            <p:nvPr>
              <p:extLst/>
            </p:nvPr>
          </p:nvGraphicFramePr>
          <p:xfrm>
            <a:off x="1292" y="799"/>
            <a:ext cx="3717" cy="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02" name="Equation" r:id="rId11" imgW="2031840" imgH="495000" progId="Equation.DSMT4">
                    <p:embed/>
                  </p:oleObj>
                </mc:Choice>
                <mc:Fallback>
                  <p:oleObj name="Equation" r:id="rId11" imgW="203184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799"/>
                          <a:ext cx="3717" cy="9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1177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12648" y="1535973"/>
            <a:ext cx="67120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 smtClean="0">
                <a:ea typeface="楷体_GB2312" pitchFamily="49" charset="-122"/>
              </a:rPr>
              <a:t> </a:t>
            </a:r>
            <a:r>
              <a:rPr lang="en-US" altLang="zh-CN" sz="3600" i="1" dirty="0">
                <a:ea typeface="楷体_GB2312" pitchFamily="49" charset="-122"/>
              </a:rPr>
              <a:t>X </a:t>
            </a:r>
            <a:r>
              <a:rPr lang="en-US" altLang="zh-CN" sz="3600" dirty="0">
                <a:ea typeface="楷体_GB2312" pitchFamily="49" charset="-122"/>
              </a:rPr>
              <a:t>~ </a:t>
            </a:r>
            <a:r>
              <a:rPr lang="en-US" altLang="zh-CN" sz="3600" i="1" dirty="0">
                <a:ea typeface="楷体_GB2312" pitchFamily="49" charset="-122"/>
              </a:rPr>
              <a:t>N</a:t>
            </a:r>
            <a:r>
              <a:rPr lang="en-US" altLang="zh-CN" sz="3600" dirty="0">
                <a:ea typeface="楷体_GB2312" pitchFamily="49" charset="-122"/>
              </a:rPr>
              <a:t>( </a:t>
            </a:r>
            <a:r>
              <a:rPr lang="en-US" altLang="zh-CN" sz="3600" i="1" dirty="0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sz="3600" dirty="0">
                <a:ea typeface="楷体_GB2312" pitchFamily="49" charset="-122"/>
                <a:sym typeface="Symbol" panose="05050102010706020507" pitchFamily="18" charset="2"/>
              </a:rPr>
              <a:t> ,</a:t>
            </a:r>
            <a:r>
              <a:rPr lang="en-US" altLang="zh-CN" sz="3600" i="1" dirty="0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3600" baseline="30000" dirty="0"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36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ea typeface="楷体_GB2312" pitchFamily="49" charset="-122"/>
              </a:rPr>
              <a:t>) , ( </a:t>
            </a:r>
            <a:r>
              <a:rPr lang="en-US" altLang="zh-CN" sz="3600" i="1" dirty="0">
                <a:ea typeface="楷体_GB2312" pitchFamily="49" charset="-122"/>
              </a:rPr>
              <a:t>X</a:t>
            </a:r>
            <a:r>
              <a:rPr lang="en-US" altLang="zh-CN" sz="3600" baseline="-25000" dirty="0">
                <a:ea typeface="楷体_GB2312" pitchFamily="49" charset="-122"/>
              </a:rPr>
              <a:t> 1</a:t>
            </a:r>
            <a:r>
              <a:rPr lang="en-US" altLang="zh-CN" sz="3600" dirty="0">
                <a:ea typeface="楷体_GB2312" pitchFamily="49" charset="-122"/>
              </a:rPr>
              <a:t> </a:t>
            </a:r>
            <a:r>
              <a:rPr lang="en-US" altLang="zh-CN" sz="3600" i="1" dirty="0">
                <a:ea typeface="楷体_GB2312" pitchFamily="49" charset="-122"/>
              </a:rPr>
              <a:t>,X </a:t>
            </a:r>
            <a:r>
              <a:rPr lang="en-US" altLang="zh-CN" sz="3600" baseline="-25000" dirty="0">
                <a:ea typeface="楷体_GB2312" pitchFamily="49" charset="-122"/>
              </a:rPr>
              <a:t>2 </a:t>
            </a:r>
            <a:r>
              <a:rPr lang="en-US" altLang="zh-CN" sz="3600" dirty="0">
                <a:ea typeface="楷体_GB2312" pitchFamily="49" charset="-122"/>
              </a:rPr>
              <a:t>) </a:t>
            </a:r>
            <a:r>
              <a:rPr lang="zh-CN" altLang="en-US" sz="3600" dirty="0">
                <a:ea typeface="楷体_GB2312" pitchFamily="49" charset="-122"/>
              </a:rPr>
              <a:t>是样本</a:t>
            </a:r>
            <a:r>
              <a:rPr lang="en-US" altLang="zh-CN" sz="36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1188911" y="2328136"/>
          <a:ext cx="2671762" cy="328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6" name="Equation" r:id="rId3" imgW="1130040" imgH="1206360" progId="Equation.DSMT4">
                  <p:embed/>
                </p:oleObj>
              </mc:Choice>
              <mc:Fallback>
                <p:oleObj name="Equation" r:id="rId3" imgW="1130040" imgH="1206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911" y="2328136"/>
                        <a:ext cx="2671762" cy="328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500436" y="3696561"/>
            <a:ext cx="4219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ea typeface="楷体_GB2312" pitchFamily="49" charset="-122"/>
              </a:rPr>
              <a:t>都是</a:t>
            </a:r>
            <a:r>
              <a:rPr lang="zh-CN" altLang="en-US" sz="3600" i="1" dirty="0"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3600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zh-CN" sz="3600" dirty="0">
                <a:ea typeface="楷体_GB2312" pitchFamily="49" charset="-122"/>
                <a:sym typeface="Symbol" panose="05050102010706020507" pitchFamily="18" charset="2"/>
              </a:rPr>
              <a:t>无偏估计量</a:t>
            </a:r>
            <a:endParaRPr lang="zh-CN" altLang="en-US" sz="3600" i="1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-108077" y="5857148"/>
            <a:ext cx="4635500" cy="709613"/>
            <a:chOff x="388" y="2956"/>
            <a:chExt cx="2920" cy="447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388" y="2956"/>
              <a:ext cx="153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zh-CN" altLang="en-US" sz="3600">
                  <a:ea typeface="楷体_GB2312" pitchFamily="49" charset="-122"/>
                </a:rPr>
                <a:t>其中</a:t>
              </a:r>
            </a:p>
          </p:txBody>
        </p:sp>
        <p:graphicFrame>
          <p:nvGraphicFramePr>
            <p:cNvPr id="10" name="Object 7"/>
            <p:cNvGraphicFramePr>
              <a:graphicFrameLocks noChangeAspect="1"/>
            </p:cNvGraphicFramePr>
            <p:nvPr/>
          </p:nvGraphicFramePr>
          <p:xfrm>
            <a:off x="1920" y="2976"/>
            <a:ext cx="314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87"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976"/>
                          <a:ext cx="314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256" y="2976"/>
              <a:ext cx="105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dirty="0">
                  <a:ea typeface="楷体_GB2312" pitchFamily="49" charset="-122"/>
                </a:rPr>
                <a:t>最有效</a:t>
              </a:r>
              <a:r>
                <a:rPr lang="en-US" altLang="zh-CN" sz="3600" b="1" dirty="0"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12" name="AutoShape 9"/>
          <p:cNvSpPr>
            <a:spLocks/>
          </p:cNvSpPr>
          <p:nvPr/>
        </p:nvSpPr>
        <p:spPr bwMode="auto">
          <a:xfrm>
            <a:off x="3924173" y="2617061"/>
            <a:ext cx="457200" cy="2895600"/>
          </a:xfrm>
          <a:prstGeom prst="rightBrace">
            <a:avLst>
              <a:gd name="adj1" fmla="val 5277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50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51</a:t>
            </a:fld>
            <a:endParaRPr lang="en-US" altLang="zh-CN"/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336423" y="2141138"/>
            <a:ext cx="6575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/>
              <a:t>设</a:t>
            </a:r>
            <a:r>
              <a:rPr lang="zh-CN" altLang="en-US" sz="2800" b="1" dirty="0"/>
              <a:t>总体 </a:t>
            </a:r>
            <a:r>
              <a:rPr lang="en-US" altLang="zh-CN" sz="2800" b="1" dirty="0"/>
              <a:t>X </a:t>
            </a:r>
            <a:r>
              <a:rPr lang="zh-CN" altLang="zh-CN" sz="2800" b="1" dirty="0"/>
              <a:t>的密度函数为</a:t>
            </a:r>
            <a:endParaRPr lang="zh-CN" altLang="en-US" sz="2800" b="1" dirty="0"/>
          </a:p>
        </p:txBody>
      </p:sp>
      <p:graphicFrame>
        <p:nvGraphicFramePr>
          <p:cNvPr id="6" name="Object 29"/>
          <p:cNvGraphicFramePr>
            <a:graphicFrameLocks noChangeAspect="1"/>
          </p:cNvGraphicFramePr>
          <p:nvPr>
            <p:extLst/>
          </p:nvPr>
        </p:nvGraphicFramePr>
        <p:xfrm>
          <a:off x="4284411" y="1539474"/>
          <a:ext cx="3851275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4" name="Equation" r:id="rId3" imgW="1600200" imgH="685800" progId="Equation.DSMT4">
                  <p:embed/>
                </p:oleObj>
              </mc:Choice>
              <mc:Fallback>
                <p:oleObj name="Equation" r:id="rId3" imgW="16002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411" y="1539474"/>
                        <a:ext cx="3851275" cy="162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1079373" y="3149201"/>
            <a:ext cx="7513637" cy="641350"/>
            <a:chOff x="415" y="1551"/>
            <a:chExt cx="4733" cy="404"/>
          </a:xfrm>
        </p:grpSpPr>
        <p:graphicFrame>
          <p:nvGraphicFramePr>
            <p:cNvPr id="8" name="Object 34"/>
            <p:cNvGraphicFramePr>
              <a:graphicFrameLocks noChangeAspect="1"/>
            </p:cNvGraphicFramePr>
            <p:nvPr/>
          </p:nvGraphicFramePr>
          <p:xfrm>
            <a:off x="415" y="1574"/>
            <a:ext cx="1652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35" name="Equation" r:id="rId5" imgW="1028520" imgH="228600" progId="Equation.DSMT4">
                    <p:embed/>
                  </p:oleObj>
                </mc:Choice>
                <mc:Fallback>
                  <p:oleObj name="Equation" r:id="rId5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" y="1574"/>
                          <a:ext cx="1652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35"/>
            <p:cNvSpPr txBox="1">
              <a:spLocks noChangeArrowheads="1"/>
            </p:cNvSpPr>
            <p:nvPr/>
          </p:nvSpPr>
          <p:spPr bwMode="auto">
            <a:xfrm>
              <a:off x="1985" y="1551"/>
              <a:ext cx="316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为 </a:t>
              </a:r>
              <a:r>
                <a:rPr lang="en-US" altLang="zh-CN" b="1" i="1"/>
                <a:t>X</a:t>
              </a:r>
              <a:r>
                <a:rPr lang="en-US" altLang="zh-CN" b="1"/>
                <a:t> </a:t>
              </a:r>
              <a:r>
                <a:rPr lang="zh-CN" altLang="zh-CN" b="1"/>
                <a:t>的一个样本</a:t>
              </a:r>
              <a:r>
                <a:rPr lang="en-US" altLang="zh-CN" b="1"/>
                <a:t>. </a:t>
              </a:r>
            </a:p>
          </p:txBody>
        </p:sp>
      </p:grpSp>
      <p:graphicFrame>
        <p:nvGraphicFramePr>
          <p:cNvPr id="10" name="Object 39"/>
          <p:cNvGraphicFramePr>
            <a:graphicFrameLocks noChangeAspect="1"/>
          </p:cNvGraphicFramePr>
          <p:nvPr>
            <p:extLst/>
          </p:nvPr>
        </p:nvGraphicFramePr>
        <p:xfrm>
          <a:off x="684085" y="3969938"/>
          <a:ext cx="43926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6" name="Equation" r:id="rId7" imgW="1688760" imgH="228600" progId="Equation.DSMT4">
                  <p:embed/>
                </p:oleObj>
              </mc:Choice>
              <mc:Fallback>
                <p:oleObj name="Equation" r:id="rId7" imgW="1688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85" y="3969938"/>
                        <a:ext cx="439261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2"/>
          <p:cNvGraphicFramePr>
            <a:graphicFrameLocks noChangeAspect="1"/>
          </p:cNvGraphicFramePr>
          <p:nvPr>
            <p:extLst/>
          </p:nvPr>
        </p:nvGraphicFramePr>
        <p:xfrm>
          <a:off x="612648" y="4804963"/>
          <a:ext cx="82089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7" name="Equation" r:id="rId9" imgW="7226280" imgH="444240" progId="Equation.3">
                  <p:embed/>
                </p:oleObj>
              </mc:Choice>
              <mc:Fallback>
                <p:oleObj name="Equation" r:id="rId9" imgW="7226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4804963"/>
                        <a:ext cx="82089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541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52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12648" y="171026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anose="02010609060101010101" pitchFamily="49" charset="-122"/>
              </a:rPr>
              <a:t>证明：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/>
          </p:nvPr>
        </p:nvGraphicFramePr>
        <p:xfrm>
          <a:off x="1909635" y="1559448"/>
          <a:ext cx="45370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6" name="Equation" r:id="rId3" imgW="1968480" imgH="393480" progId="Equation.DSMT4">
                  <p:embed/>
                </p:oleObj>
              </mc:Choice>
              <mc:Fallback>
                <p:oleObj name="Equation" r:id="rId3" imgW="1968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635" y="1559448"/>
                        <a:ext cx="45370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/>
          </p:nvPr>
        </p:nvGraphicFramePr>
        <p:xfrm>
          <a:off x="6373685" y="1488010"/>
          <a:ext cx="208756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7" name="Equation" r:id="rId5" imgW="825480" imgH="419040" progId="Equation.DSMT4">
                  <p:embed/>
                </p:oleObj>
              </mc:Choice>
              <mc:Fallback>
                <p:oleObj name="Equation" r:id="rId5" imgW="825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685" y="1488010"/>
                        <a:ext cx="2087563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/>
          </p:nvPr>
        </p:nvGraphicFramePr>
        <p:xfrm>
          <a:off x="5725985" y="2718323"/>
          <a:ext cx="20891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8" name="Equation" r:id="rId7" imgW="850680" imgH="419040" progId="Equation.DSMT4">
                  <p:embed/>
                </p:oleObj>
              </mc:Choice>
              <mc:Fallback>
                <p:oleObj name="Equation" r:id="rId7" imgW="850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5985" y="2718323"/>
                        <a:ext cx="20891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/>
          </p:nvPr>
        </p:nvGraphicFramePr>
        <p:xfrm>
          <a:off x="973010" y="3942285"/>
          <a:ext cx="32400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9" name="Equation" r:id="rId9" imgW="2692080" imgH="469800" progId="Equation.3">
                  <p:embed/>
                </p:oleObj>
              </mc:Choice>
              <mc:Fallback>
                <p:oleObj name="Equation" r:id="rId9" imgW="2692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010" y="3942285"/>
                        <a:ext cx="32400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/>
          </p:nvPr>
        </p:nvGraphicFramePr>
        <p:xfrm>
          <a:off x="901573" y="4807473"/>
          <a:ext cx="20780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0" name="Equation" r:id="rId11" imgW="1790640" imgH="431640" progId="Equation.3">
                  <p:embed/>
                </p:oleObj>
              </mc:Choice>
              <mc:Fallback>
                <p:oleObj name="Equation" r:id="rId11" imgW="1790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73" y="4807473"/>
                        <a:ext cx="20780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/>
          </p:nvPr>
        </p:nvGraphicFramePr>
        <p:xfrm>
          <a:off x="2773235" y="4734448"/>
          <a:ext cx="27352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1" name="Equation" r:id="rId13" imgW="1028520" imgH="228600" progId="Equation.DSMT4">
                  <p:embed/>
                </p:oleObj>
              </mc:Choice>
              <mc:Fallback>
                <p:oleObj name="Equation" r:id="rId13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235" y="4734448"/>
                        <a:ext cx="27352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>
            <p:extLst/>
          </p:nvPr>
        </p:nvGraphicFramePr>
        <p:xfrm>
          <a:off x="901573" y="5671073"/>
          <a:ext cx="59309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2" name="Equation" r:id="rId15" imgW="5295600" imgH="444240" progId="Equation.DSMT4">
                  <p:embed/>
                </p:oleObj>
              </mc:Choice>
              <mc:Fallback>
                <p:oleObj name="Equation" r:id="rId15" imgW="529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73" y="5671073"/>
                        <a:ext cx="59309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hlinkClick r:id="rId17" action="ppaction://hlinksldjump"/>
          </p:cNvPr>
          <p:cNvGraphicFramePr>
            <a:graphicFrameLocks noChangeAspect="1"/>
          </p:cNvGraphicFramePr>
          <p:nvPr>
            <p:extLst/>
          </p:nvPr>
        </p:nvGraphicFramePr>
        <p:xfrm>
          <a:off x="828548" y="2718323"/>
          <a:ext cx="48688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3" name="Equation" r:id="rId18" imgW="2273040" imgH="431640" progId="Equation.DSMT4">
                  <p:embed/>
                </p:oleObj>
              </mc:Choice>
              <mc:Fallback>
                <p:oleObj name="Equation" r:id="rId18" imgW="2273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548" y="2718323"/>
                        <a:ext cx="48688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92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一致性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无偏性与有效性都研究固定样本量的情况</a:t>
            </a:r>
            <a:endParaRPr lang="en-US" altLang="zh-CN" dirty="0" smtClean="0"/>
          </a:p>
          <a:p>
            <a:r>
              <a:rPr lang="zh-CN" altLang="en-US" dirty="0" smtClean="0"/>
              <a:t>一致性关注样本量</a:t>
            </a:r>
            <a:r>
              <a:rPr lang="en-US" altLang="zh-CN" i="1" dirty="0" smtClean="0"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dirty="0" smtClean="0">
                <a:ea typeface="楷体_GB2312" pitchFamily="49" charset="-122"/>
                <a:sym typeface="Symbol" panose="05050102010706020507" pitchFamily="18" charset="2"/>
              </a:rPr>
              <a:t> 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</a:t>
            </a:r>
            <a:r>
              <a:rPr lang="zh-CN" altLang="en-US" dirty="0" smtClean="0"/>
              <a:t>的情况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53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2267744" y="4868936"/>
          <a:ext cx="4123663" cy="79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94" name="Equation" r:id="rId3" imgW="1701720" imgH="368280" progId="Equation.DSMT4">
                  <p:embed/>
                </p:oleObj>
              </mc:Choice>
              <mc:Fallback>
                <p:oleObj name="Equation" r:id="rId3" imgW="17017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4868936"/>
                        <a:ext cx="4123663" cy="79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12775" y="2852937"/>
            <a:ext cx="8540750" cy="673100"/>
            <a:chOff x="299" y="697"/>
            <a:chExt cx="5380" cy="424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299" y="717"/>
              <a:ext cx="53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ea typeface="黑体" panose="02010609060101010101" pitchFamily="49" charset="-122"/>
                </a:rPr>
                <a:t>定义</a:t>
              </a:r>
              <a:r>
                <a:rPr lang="zh-CN" altLang="en-US" b="1" dirty="0">
                  <a:ea typeface="楷体_GB2312" pitchFamily="49" charset="-122"/>
                </a:rPr>
                <a:t>    </a:t>
              </a:r>
              <a:r>
                <a:rPr lang="zh-CN" altLang="en-US" dirty="0">
                  <a:ea typeface="楷体_GB2312" pitchFamily="49" charset="-122"/>
                </a:rPr>
                <a:t>设                                是总体参数</a:t>
              </a:r>
              <a:r>
                <a:rPr lang="zh-CN" altLang="en-US" i="1" dirty="0">
                  <a:ea typeface="楷体_GB2312" pitchFamily="49" charset="-122"/>
                  <a:sym typeface="Symbol" panose="05050102010706020507" pitchFamily="18" charset="2"/>
                </a:rPr>
                <a:t>  </a:t>
              </a:r>
              <a:endParaRPr lang="zh-CN" altLang="en-US" dirty="0"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8" name="Object 5"/>
            <p:cNvGraphicFramePr>
              <a:graphicFrameLocks noChangeAspect="1"/>
            </p:cNvGraphicFramePr>
            <p:nvPr>
              <p:extLst/>
            </p:nvPr>
          </p:nvGraphicFramePr>
          <p:xfrm>
            <a:off x="1444" y="697"/>
            <a:ext cx="1984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95" name="Equation" r:id="rId5" imgW="1765080" imgH="291960" progId="Equation.DSMT4">
                    <p:embed/>
                  </p:oleObj>
                </mc:Choice>
                <mc:Fallback>
                  <p:oleObj name="Equation" r:id="rId5" imgW="176508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4" y="697"/>
                          <a:ext cx="1984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20"/>
          <p:cNvGrpSpPr>
            <a:grpSpLocks/>
          </p:cNvGrpSpPr>
          <p:nvPr/>
        </p:nvGrpSpPr>
        <p:grpSpPr bwMode="auto">
          <a:xfrm>
            <a:off x="1616993" y="5769023"/>
            <a:ext cx="8728075" cy="677863"/>
            <a:chOff x="385" y="2789"/>
            <a:chExt cx="5498" cy="427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385" y="2789"/>
              <a:ext cx="6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_GB2312" pitchFamily="49" charset="-122"/>
                </a:rPr>
                <a:t>则称</a:t>
              </a:r>
            </a:p>
          </p:txBody>
        </p:sp>
        <p:graphicFrame>
          <p:nvGraphicFramePr>
            <p:cNvPr id="11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1032" y="2795"/>
            <a:ext cx="238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96" name="Equation" r:id="rId7" imgW="203040" imgH="291960" progId="Equation.DSMT4">
                    <p:embed/>
                  </p:oleObj>
                </mc:Choice>
                <mc:Fallback>
                  <p:oleObj name="Equation" r:id="rId7" imgW="20304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2795"/>
                          <a:ext cx="238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249" y="2812"/>
              <a:ext cx="463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_GB2312" pitchFamily="49" charset="-122"/>
                </a:rPr>
                <a:t>是总体参数</a:t>
              </a:r>
              <a:r>
                <a:rPr lang="zh-CN" altLang="en-US" i="1" dirty="0"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zh-CN" altLang="en-US" dirty="0">
                  <a:ea typeface="楷体_GB2312" pitchFamily="49" charset="-122"/>
                  <a:sym typeface="Symbol" panose="05050102010706020507" pitchFamily="18" charset="2"/>
                </a:rPr>
                <a:t>的一致估计量</a:t>
              </a:r>
              <a:r>
                <a:rPr lang="en-US" altLang="zh-CN" b="1" dirty="0">
                  <a:ea typeface="楷体_GB2312" pitchFamily="49" charset="-122"/>
                  <a:sym typeface="Symbol" panose="05050102010706020507" pitchFamily="18" charset="2"/>
                </a:rPr>
                <a:t>.</a:t>
              </a:r>
              <a:endParaRPr lang="en-US" altLang="zh-CN" i="1" dirty="0"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907704" y="3501008"/>
            <a:ext cx="49872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楷体_GB2312" pitchFamily="49" charset="-122"/>
                <a:sym typeface="Symbol" panose="05050102010706020507" pitchFamily="18" charset="2"/>
              </a:rPr>
              <a:t>的估计量</a:t>
            </a:r>
            <a:r>
              <a:rPr lang="en-US" altLang="zh-CN" b="1" dirty="0">
                <a:ea typeface="楷体_GB2312" pitchFamily="49" charset="-122"/>
                <a:sym typeface="Symbol" panose="05050102010706020507" pitchFamily="18" charset="2"/>
              </a:rPr>
              <a:t>. </a:t>
            </a:r>
            <a:r>
              <a:rPr lang="zh-CN" altLang="en-US" dirty="0">
                <a:ea typeface="楷体_GB2312" pitchFamily="49" charset="-122"/>
                <a:sym typeface="Symbol" panose="05050102010706020507" pitchFamily="18" charset="2"/>
              </a:rPr>
              <a:t>若当</a:t>
            </a:r>
            <a:r>
              <a:rPr lang="en-US" altLang="zh-CN" i="1" dirty="0"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 </a:t>
            </a:r>
            <a:r>
              <a:rPr lang="zh-CN" altLang="en-US" dirty="0">
                <a:ea typeface="楷体_GB2312" pitchFamily="49" charset="-122"/>
                <a:sym typeface="Symbol" panose="05050102010706020507" pitchFamily="18" charset="2"/>
              </a:rPr>
              <a:t>时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,      </a:t>
            </a:r>
            <a:endParaRPr lang="en-US" altLang="zh-CN" dirty="0">
              <a:ea typeface="楷体_GB2312" pitchFamily="49" charset="-122"/>
            </a:endParaRP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1616993" y="4196060"/>
            <a:ext cx="5475287" cy="673100"/>
            <a:chOff x="445" y="1516"/>
            <a:chExt cx="3449" cy="424"/>
          </a:xfrm>
        </p:grpSpPr>
        <p:graphicFrame>
          <p:nvGraphicFramePr>
            <p:cNvPr id="15" name="Object 13"/>
            <p:cNvGraphicFramePr>
              <a:graphicFrameLocks noChangeAspect="1"/>
            </p:cNvGraphicFramePr>
            <p:nvPr>
              <p:extLst/>
            </p:nvPr>
          </p:nvGraphicFramePr>
          <p:xfrm>
            <a:off x="445" y="1516"/>
            <a:ext cx="300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97" name="Equation" r:id="rId9" imgW="203040" imgH="291960" progId="Equation.DSMT4">
                    <p:embed/>
                  </p:oleObj>
                </mc:Choice>
                <mc:Fallback>
                  <p:oleObj name="Equation" r:id="rId9" imgW="20304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" y="1516"/>
                          <a:ext cx="300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72" y="1536"/>
              <a:ext cx="32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_GB2312" pitchFamily="49" charset="-122"/>
                </a:rPr>
                <a:t>依概率收敛于</a:t>
              </a:r>
              <a:r>
                <a:rPr lang="zh-CN" altLang="en-US" i="1" dirty="0"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en-US" altLang="zh-CN" i="1" dirty="0"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zh-CN" altLang="en-US" dirty="0">
                  <a:ea typeface="楷体_GB2312" pitchFamily="49" charset="-122"/>
                </a:rPr>
                <a:t>即</a:t>
              </a:r>
            </a:p>
          </p:txBody>
        </p:sp>
        <p:graphicFrame>
          <p:nvGraphicFramePr>
            <p:cNvPr id="17" name="Object 15"/>
            <p:cNvGraphicFramePr>
              <a:graphicFrameLocks noChangeAspect="1"/>
            </p:cNvGraphicFramePr>
            <p:nvPr>
              <p:extLst/>
            </p:nvPr>
          </p:nvGraphicFramePr>
          <p:xfrm>
            <a:off x="2908" y="1566"/>
            <a:ext cx="98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98" name="Equation" r:id="rId11" imgW="495000" imgH="203040" progId="Equation.3">
                    <p:embed/>
                  </p:oleObj>
                </mc:Choice>
                <mc:Fallback>
                  <p:oleObj name="Equation" r:id="rId11" imgW="4950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8" y="1566"/>
                          <a:ext cx="986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6761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54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1028573" y="1502792"/>
          <a:ext cx="4983587" cy="1604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42" name="Equation" r:id="rId3" imgW="1981080" imgH="685800" progId="Equation.DSMT4">
                  <p:embed/>
                </p:oleObj>
              </mc:Choice>
              <mc:Fallback>
                <p:oleObj name="Equation" r:id="rId3" imgW="19810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573" y="1502792"/>
                        <a:ext cx="4983587" cy="1604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6372200" y="495225"/>
            <a:ext cx="1911350" cy="1809776"/>
            <a:chOff x="3936" y="1372"/>
            <a:chExt cx="1508" cy="1321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3936" y="2385"/>
            <a:ext cx="64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3" name="公式" r:id="rId5" imgW="368280" imgH="177480" progId="Equation.3">
                    <p:embed/>
                  </p:oleObj>
                </mc:Choice>
                <mc:Fallback>
                  <p:oleObj name="公式" r:id="rId5" imgW="368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385"/>
                          <a:ext cx="64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464" y="1372"/>
              <a:ext cx="9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3600">
                <a:ea typeface="楷体_GB2312" pitchFamily="49" charset="-122"/>
              </a:endParaRP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820610" y="3070127"/>
            <a:ext cx="7737475" cy="641350"/>
            <a:chOff x="662" y="1559"/>
            <a:chExt cx="4874" cy="378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662" y="1559"/>
              <a:ext cx="4874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/>
                <a:t>则      是</a:t>
              </a:r>
              <a:r>
                <a:rPr lang="zh-CN" altLang="en-US" i="1" dirty="0">
                  <a:sym typeface="Symbol" panose="05050102010706020507" pitchFamily="18" charset="2"/>
                </a:rPr>
                <a:t> </a:t>
              </a:r>
              <a:r>
                <a:rPr lang="zh-CN" altLang="en-US" dirty="0">
                  <a:sym typeface="Symbol" panose="05050102010706020507" pitchFamily="18" charset="2"/>
                </a:rPr>
                <a:t>的一致估计量</a:t>
              </a:r>
              <a:r>
                <a:rPr lang="en-US" altLang="zh-CN" dirty="0">
                  <a:sym typeface="Symbol" panose="05050102010706020507" pitchFamily="18" charset="2"/>
                </a:rPr>
                <a:t>.</a:t>
              </a:r>
            </a:p>
          </p:txBody>
        </p:sp>
        <p:graphicFrame>
          <p:nvGraphicFramePr>
            <p:cNvPr id="11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1062" y="1559"/>
            <a:ext cx="26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4" name="Equation" r:id="rId7" imgW="177480" imgH="190440" progId="Equation.3">
                    <p:embed/>
                  </p:oleObj>
                </mc:Choice>
                <mc:Fallback>
                  <p:oleObj name="Equation" r:id="rId7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" y="1559"/>
                          <a:ext cx="26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9"/>
          <p:cNvGrpSpPr>
            <a:grpSpLocks/>
          </p:cNvGrpSpPr>
          <p:nvPr/>
        </p:nvGrpSpPr>
        <p:grpSpPr bwMode="auto">
          <a:xfrm>
            <a:off x="612648" y="3582528"/>
            <a:ext cx="7317412" cy="905371"/>
            <a:chOff x="249" y="2069"/>
            <a:chExt cx="5375" cy="695"/>
          </a:xfrm>
        </p:grpSpPr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249" y="2160"/>
              <a:ext cx="63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rgbClr val="CC3399"/>
                  </a:solidFill>
                  <a:ea typeface="黑体" panose="02010609060101010101" pitchFamily="49" charset="-122"/>
                </a:rPr>
                <a:t>证</a:t>
              </a:r>
              <a:r>
                <a:rPr lang="en-US" altLang="zh-CN" b="1" dirty="0">
                  <a:solidFill>
                    <a:srgbClr val="CC3399"/>
                  </a:solidFill>
                  <a:ea typeface="黑体" panose="02010609060101010101" pitchFamily="49" charset="-122"/>
                </a:rPr>
                <a:t>:</a:t>
              </a:r>
              <a:r>
                <a:rPr lang="en-US" altLang="zh-CN" sz="3600" b="1" dirty="0">
                  <a:solidFill>
                    <a:srgbClr val="99CCFF"/>
                  </a:solidFill>
                  <a:ea typeface="楷体_GB2312" pitchFamily="49" charset="-122"/>
                </a:rPr>
                <a:t>   </a:t>
              </a:r>
              <a:endParaRPr lang="en-US" altLang="zh-CN" sz="3600" dirty="0"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2" name="Object 11"/>
            <p:cNvGraphicFramePr>
              <a:graphicFrameLocks noChangeAspect="1"/>
            </p:cNvGraphicFramePr>
            <p:nvPr/>
          </p:nvGraphicFramePr>
          <p:xfrm>
            <a:off x="725" y="2069"/>
            <a:ext cx="4899" cy="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5" name="Equation" r:id="rId9" imgW="2717640" imgH="393480" progId="Equation.DSMT4">
                    <p:embed/>
                  </p:oleObj>
                </mc:Choice>
                <mc:Fallback>
                  <p:oleObj name="Equation" r:id="rId9" imgW="271764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2069"/>
                          <a:ext cx="4899" cy="6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17"/>
          <p:cNvGraphicFramePr>
            <a:graphicFrameLocks noChangeAspect="1"/>
          </p:cNvGraphicFramePr>
          <p:nvPr>
            <p:extLst/>
          </p:nvPr>
        </p:nvGraphicFramePr>
        <p:xfrm>
          <a:off x="1260146" y="4485199"/>
          <a:ext cx="5271619" cy="59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46" name="Equation" r:id="rId11" imgW="2133360" imgH="241200" progId="Equation.DSMT4">
                  <p:embed/>
                </p:oleObj>
              </mc:Choice>
              <mc:Fallback>
                <p:oleObj name="Equation" r:id="rId11" imgW="2133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146" y="4485199"/>
                        <a:ext cx="5271619" cy="59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/>
          <p:cNvGraphicFramePr>
            <a:graphicFrameLocks noChangeAspect="1"/>
          </p:cNvGraphicFramePr>
          <p:nvPr>
            <p:extLst/>
          </p:nvPr>
        </p:nvGraphicFramePr>
        <p:xfrm>
          <a:off x="1010120" y="5127363"/>
          <a:ext cx="3301557" cy="943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47" name="Equation" r:id="rId13" imgW="1511280" imgH="431640" progId="Equation.DSMT4">
                  <p:embed/>
                </p:oleObj>
              </mc:Choice>
              <mc:Fallback>
                <p:oleObj name="Equation" r:id="rId13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120" y="5127363"/>
                        <a:ext cx="3301557" cy="943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14"/>
          <p:cNvGrpSpPr>
            <a:grpSpLocks/>
          </p:cNvGrpSpPr>
          <p:nvPr/>
        </p:nvGrpSpPr>
        <p:grpSpPr bwMode="auto">
          <a:xfrm>
            <a:off x="1010120" y="6040984"/>
            <a:ext cx="6594475" cy="674688"/>
            <a:chOff x="336" y="3388"/>
            <a:chExt cx="4154" cy="425"/>
          </a:xfrm>
        </p:grpSpPr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336" y="3408"/>
              <a:ext cx="4154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_GB2312" pitchFamily="49" charset="-122"/>
                </a:rPr>
                <a:t>所以    是</a:t>
              </a:r>
              <a:r>
                <a:rPr lang="zh-CN" altLang="en-US" i="1" dirty="0">
                  <a:ea typeface="楷体_GB2312" pitchFamily="49" charset="-122"/>
                </a:rPr>
                <a:t> </a:t>
              </a:r>
              <a:r>
                <a:rPr lang="zh-CN" altLang="en-US" i="1" dirty="0">
                  <a:ea typeface="楷体_GB2312" pitchFamily="49" charset="-122"/>
                  <a:sym typeface="Symbol" panose="05050102010706020507" pitchFamily="18" charset="2"/>
                </a:rPr>
                <a:t>  </a:t>
              </a:r>
              <a:r>
                <a:rPr lang="zh-CN" altLang="en-US" dirty="0">
                  <a:ea typeface="楷体_GB2312" pitchFamily="49" charset="-122"/>
                </a:rPr>
                <a:t>的一致估计量</a:t>
              </a:r>
              <a:r>
                <a:rPr lang="en-US" altLang="zh-CN" dirty="0">
                  <a:ea typeface="楷体_GB2312" pitchFamily="49" charset="-122"/>
                </a:rPr>
                <a:t>, </a:t>
              </a:r>
              <a:r>
                <a:rPr lang="zh-CN" altLang="en-US" dirty="0">
                  <a:ea typeface="楷体_GB2312" pitchFamily="49" charset="-122"/>
                </a:rPr>
                <a:t>证毕</a:t>
              </a:r>
              <a:r>
                <a:rPr lang="en-US" altLang="zh-CN" b="1" dirty="0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7" name="Object 16"/>
            <p:cNvGraphicFramePr>
              <a:graphicFrameLocks noChangeAspect="1"/>
            </p:cNvGraphicFramePr>
            <p:nvPr>
              <p:extLst/>
            </p:nvPr>
          </p:nvGraphicFramePr>
          <p:xfrm>
            <a:off x="901" y="3388"/>
            <a:ext cx="260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8" name="Equation" r:id="rId15" imgW="177480" imgH="190440" progId="Equation.3">
                    <p:embed/>
                  </p:oleObj>
                </mc:Choice>
                <mc:Fallback>
                  <p:oleObj name="Equation" r:id="rId15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1" y="3388"/>
                          <a:ext cx="260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3813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两个常用结论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55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91337" y="1834629"/>
            <a:ext cx="4984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ea typeface="楷体_GB2312" pitchFamily="49" charset="-122"/>
              </a:rPr>
              <a:t>1. </a:t>
            </a:r>
            <a:r>
              <a:rPr lang="zh-CN" altLang="en-US" sz="3600" dirty="0">
                <a:ea typeface="楷体_GB2312" pitchFamily="49" charset="-122"/>
              </a:rPr>
              <a:t>样本 </a:t>
            </a:r>
            <a:r>
              <a:rPr lang="en-US" altLang="zh-CN" sz="3600" i="1" dirty="0">
                <a:ea typeface="楷体_GB2312" pitchFamily="49" charset="-122"/>
              </a:rPr>
              <a:t>k  </a:t>
            </a:r>
            <a:r>
              <a:rPr lang="zh-CN" altLang="en-US" sz="3600" dirty="0">
                <a:ea typeface="楷体_GB2312" pitchFamily="49" charset="-122"/>
              </a:rPr>
              <a:t>阶矩是总体 </a:t>
            </a:r>
            <a:r>
              <a:rPr lang="en-US" altLang="zh-CN" sz="3600" i="1" dirty="0">
                <a:ea typeface="楷体_GB2312" pitchFamily="49" charset="-122"/>
              </a:rPr>
              <a:t>k</a:t>
            </a:r>
            <a:r>
              <a:rPr lang="en-US" altLang="zh-CN" sz="3600" dirty="0">
                <a:ea typeface="楷体_GB2312" pitchFamily="49" charset="-122"/>
              </a:rPr>
              <a:t> </a:t>
            </a:r>
          </a:p>
          <a:p>
            <a:pPr eaLnBrk="1" hangingPunct="1"/>
            <a:r>
              <a:rPr lang="en-US" altLang="zh-CN" sz="3600" dirty="0">
                <a:ea typeface="楷体_GB2312" pitchFamily="49" charset="-122"/>
              </a:rPr>
              <a:t>    </a:t>
            </a:r>
            <a:r>
              <a:rPr lang="zh-CN" altLang="en-US" sz="3600" dirty="0">
                <a:ea typeface="楷体_GB2312" pitchFamily="49" charset="-122"/>
              </a:rPr>
              <a:t>阶矩的一致性估计量</a:t>
            </a:r>
            <a:r>
              <a:rPr lang="en-US" altLang="zh-CN" sz="3600" b="1" dirty="0">
                <a:ea typeface="楷体_GB2312" pitchFamily="49" charset="-122"/>
              </a:rPr>
              <a:t>. 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819937" y="4365104"/>
            <a:ext cx="4537075" cy="641350"/>
            <a:chOff x="480" y="2524"/>
            <a:chExt cx="2858" cy="404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80" y="2524"/>
              <a:ext cx="285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dirty="0">
                  <a:ea typeface="楷体_GB2312" pitchFamily="49" charset="-122"/>
                </a:rPr>
                <a:t>      </a:t>
              </a:r>
              <a:r>
                <a:rPr lang="zh-CN" altLang="en-US" sz="3600" dirty="0">
                  <a:ea typeface="楷体_GB2312" pitchFamily="49" charset="-122"/>
                </a:rPr>
                <a:t>是</a:t>
              </a:r>
              <a:r>
                <a:rPr lang="zh-CN" altLang="en-US" sz="3600" i="1" dirty="0">
                  <a:ea typeface="楷体_GB2312" pitchFamily="49" charset="-122"/>
                  <a:sym typeface="Symbol" panose="05050102010706020507" pitchFamily="18" charset="2"/>
                </a:rPr>
                <a:t> </a:t>
              </a:r>
              <a:r>
                <a:rPr lang="zh-CN" altLang="en-US" sz="3600" dirty="0">
                  <a:ea typeface="楷体_GB2312" pitchFamily="49" charset="-122"/>
                </a:rPr>
                <a:t>的一致估计量</a:t>
              </a:r>
              <a:r>
                <a:rPr lang="en-US" altLang="zh-CN" sz="3600" dirty="0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8" name="Object 6"/>
            <p:cNvGraphicFramePr>
              <a:graphicFrameLocks noChangeAspect="1"/>
            </p:cNvGraphicFramePr>
            <p:nvPr/>
          </p:nvGraphicFramePr>
          <p:xfrm>
            <a:off x="692" y="2544"/>
            <a:ext cx="2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18" name="公式" r:id="rId3" imgW="139680" imgH="215640" progId="Equation.3">
                    <p:embed/>
                  </p:oleObj>
                </mc:Choice>
                <mc:Fallback>
                  <p:oleObj name="公式" r:id="rId3" imgW="1396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2544"/>
                          <a:ext cx="2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5468137" y="1987029"/>
            <a:ext cx="3192463" cy="914400"/>
            <a:chOff x="3408" y="912"/>
            <a:chExt cx="2011" cy="576"/>
          </a:xfrm>
        </p:grpSpPr>
        <p:sp>
          <p:nvSpPr>
            <p:cNvPr id="10" name="AutoShape 8"/>
            <p:cNvSpPr>
              <a:spLocks/>
            </p:cNvSpPr>
            <p:nvPr/>
          </p:nvSpPr>
          <p:spPr bwMode="auto">
            <a:xfrm>
              <a:off x="3408" y="912"/>
              <a:ext cx="192" cy="576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552" y="988"/>
              <a:ext cx="186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b="1" dirty="0"/>
                <a:t>辛钦大数定律</a:t>
              </a:r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5493537" y="3320529"/>
            <a:ext cx="2859088" cy="1524000"/>
            <a:chOff x="3408" y="1872"/>
            <a:chExt cx="1801" cy="960"/>
          </a:xfrm>
        </p:grpSpPr>
        <p:sp>
          <p:nvSpPr>
            <p:cNvPr id="13" name="AutoShape 11"/>
            <p:cNvSpPr>
              <a:spLocks/>
            </p:cNvSpPr>
            <p:nvPr/>
          </p:nvSpPr>
          <p:spPr bwMode="auto">
            <a:xfrm>
              <a:off x="3408" y="1872"/>
              <a:ext cx="144" cy="960"/>
            </a:xfrm>
            <a:prstGeom prst="rightBrace">
              <a:avLst>
                <a:gd name="adj1" fmla="val 5555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648" y="2034"/>
              <a:ext cx="156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600" b="1" dirty="0">
                  <a:latin typeface="宋体" panose="02010600030101010101" pitchFamily="2" charset="-122"/>
                </a:rPr>
                <a:t>用切贝雪夫</a:t>
              </a:r>
            </a:p>
            <a:p>
              <a:pPr eaLnBrk="1" hangingPunct="1"/>
              <a:r>
                <a:rPr lang="zh-CN" altLang="en-US" sz="3600" b="1" dirty="0">
                  <a:latin typeface="宋体" panose="02010600030101010101" pitchFamily="2" charset="-122"/>
                </a:rPr>
                <a:t>不等式证明</a:t>
              </a:r>
            </a:p>
          </p:txBody>
        </p:sp>
      </p:grp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597687" y="3104629"/>
            <a:ext cx="4876800" cy="1331913"/>
            <a:chOff x="356" y="1632"/>
            <a:chExt cx="3072" cy="839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56" y="1632"/>
              <a:ext cx="3072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ea typeface="楷体_GB2312" pitchFamily="49" charset="-122"/>
                </a:rPr>
                <a:t>2. </a:t>
              </a:r>
              <a:r>
                <a:rPr lang="zh-CN" altLang="en-US" sz="3600" dirty="0">
                  <a:ea typeface="楷体_GB2312" pitchFamily="49" charset="-122"/>
                </a:rPr>
                <a:t>设   是</a:t>
              </a:r>
              <a:r>
                <a:rPr lang="zh-CN" altLang="en-US" sz="3600" i="1" dirty="0">
                  <a:ea typeface="楷体_GB2312" pitchFamily="49" charset="-122"/>
                </a:rPr>
                <a:t> </a:t>
              </a:r>
              <a:r>
                <a:rPr lang="zh-CN" altLang="en-US" sz="3600" i="1" dirty="0">
                  <a:ea typeface="楷体_GB2312" pitchFamily="49" charset="-122"/>
                  <a:sym typeface="Symbol" panose="05050102010706020507" pitchFamily="18" charset="2"/>
                </a:rPr>
                <a:t>  </a:t>
              </a:r>
              <a:r>
                <a:rPr lang="zh-CN" altLang="en-US" sz="3600" dirty="0">
                  <a:ea typeface="楷体_GB2312" pitchFamily="49" charset="-122"/>
                </a:rPr>
                <a:t>的无偏估计</a:t>
              </a:r>
            </a:p>
            <a:p>
              <a:pPr eaLnBrk="1" hangingPunct="1"/>
              <a:r>
                <a:rPr lang="zh-CN" altLang="en-US" sz="3600" dirty="0">
                  <a:ea typeface="楷体_GB2312" pitchFamily="49" charset="-122"/>
                </a:rPr>
                <a:t>    量</a:t>
              </a:r>
              <a:r>
                <a:rPr lang="en-US" altLang="zh-CN" sz="3600" dirty="0">
                  <a:ea typeface="楷体_GB2312" pitchFamily="49" charset="-122"/>
                </a:rPr>
                <a:t>, </a:t>
              </a:r>
              <a:r>
                <a:rPr lang="zh-CN" altLang="en-US" sz="3600" dirty="0">
                  <a:ea typeface="楷体_GB2312" pitchFamily="49" charset="-122"/>
                </a:rPr>
                <a:t>且                    </a:t>
              </a:r>
              <a:r>
                <a:rPr lang="en-US" altLang="zh-CN" sz="3600" dirty="0">
                  <a:ea typeface="楷体_GB2312" pitchFamily="49" charset="-122"/>
                </a:rPr>
                <a:t>, </a:t>
              </a:r>
              <a:r>
                <a:rPr lang="zh-CN" altLang="en-US" sz="3600" dirty="0">
                  <a:ea typeface="楷体_GB2312" pitchFamily="49" charset="-122"/>
                </a:rPr>
                <a:t>则</a:t>
              </a:r>
            </a:p>
          </p:txBody>
        </p:sp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1434" y="1979"/>
            <a:ext cx="1521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19" name="Equation" r:id="rId5" imgW="888840" imgH="291960" progId="Equation.DSMT4">
                    <p:embed/>
                  </p:oleObj>
                </mc:Choice>
                <mc:Fallback>
                  <p:oleObj name="Equation" r:id="rId5" imgW="88884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4" y="1979"/>
                          <a:ext cx="1521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980" y="1632"/>
            <a:ext cx="22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20" name="公式" r:id="rId7" imgW="139680" imgH="215640" progId="Equation.3">
                    <p:embed/>
                  </p:oleObj>
                </mc:Choice>
                <mc:Fallback>
                  <p:oleObj name="公式" r:id="rId7" imgW="1396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0" y="1632"/>
                          <a:ext cx="220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4607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</Template>
  <TotalTime>8088</TotalTime>
  <Words>1146</Words>
  <Application>Microsoft Office PowerPoint</Application>
  <PresentationFormat>全屏显示(4:3)</PresentationFormat>
  <Paragraphs>300</Paragraphs>
  <Slides>55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1" baseType="lpstr">
      <vt:lpstr>DFKai-SB</vt:lpstr>
      <vt:lpstr>Tw Cen MT</vt:lpstr>
      <vt:lpstr>黑体</vt:lpstr>
      <vt:lpstr>华文仿宋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中性</vt:lpstr>
      <vt:lpstr>Equation</vt:lpstr>
      <vt:lpstr>公式</vt:lpstr>
      <vt:lpstr>参数估计</vt:lpstr>
      <vt:lpstr>提纲</vt:lpstr>
      <vt:lpstr>点估计</vt:lpstr>
      <vt:lpstr>区间估计</vt:lpstr>
      <vt:lpstr>矩估计</vt:lpstr>
      <vt:lpstr>矩估计</vt:lpstr>
      <vt:lpstr>矩估计</vt:lpstr>
      <vt:lpstr>矩估计</vt:lpstr>
      <vt:lpstr>矩估计：一个未知参数</vt:lpstr>
      <vt:lpstr>矩估计：两个未知参数</vt:lpstr>
      <vt:lpstr>例</vt:lpstr>
      <vt:lpstr>例</vt:lpstr>
      <vt:lpstr>例</vt:lpstr>
      <vt:lpstr>例</vt:lpstr>
      <vt:lpstr>PowerPoint 演示文稿</vt:lpstr>
      <vt:lpstr>例</vt:lpstr>
      <vt:lpstr>极大似然估计</vt:lpstr>
      <vt:lpstr>极大似然估计</vt:lpstr>
      <vt:lpstr>离散情况</vt:lpstr>
      <vt:lpstr>离散情况</vt:lpstr>
      <vt:lpstr>连续情况</vt:lpstr>
      <vt:lpstr>连续情况</vt:lpstr>
      <vt:lpstr>单参数情况</vt:lpstr>
      <vt:lpstr>多参数情况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极大似然估计的不变性</vt:lpstr>
      <vt:lpstr>例</vt:lpstr>
      <vt:lpstr>常用标准</vt:lpstr>
      <vt:lpstr>无偏性</vt:lpstr>
      <vt:lpstr>例</vt:lpstr>
      <vt:lpstr>注</vt:lpstr>
      <vt:lpstr>例</vt:lpstr>
      <vt:lpstr>例</vt:lpstr>
      <vt:lpstr>例</vt:lpstr>
      <vt:lpstr>注</vt:lpstr>
      <vt:lpstr>例</vt:lpstr>
      <vt:lpstr>PowerPoint 演示文稿</vt:lpstr>
      <vt:lpstr>有效性</vt:lpstr>
      <vt:lpstr>有效性</vt:lpstr>
      <vt:lpstr>例</vt:lpstr>
      <vt:lpstr>例</vt:lpstr>
      <vt:lpstr>例</vt:lpstr>
      <vt:lpstr>例</vt:lpstr>
      <vt:lpstr>例</vt:lpstr>
      <vt:lpstr>一致性</vt:lpstr>
      <vt:lpstr>例</vt:lpstr>
      <vt:lpstr>两个常用结论</vt:lpstr>
    </vt:vector>
  </TitlesOfParts>
  <Company>zhang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 随机变量的数字特征</dc:title>
  <dc:creator>zhang</dc:creator>
  <cp:lastModifiedBy>唐 斌</cp:lastModifiedBy>
  <cp:revision>796</cp:revision>
  <dcterms:created xsi:type="dcterms:W3CDTF">1999-07-21T12:48:41Z</dcterms:created>
  <dcterms:modified xsi:type="dcterms:W3CDTF">2018-12-05T02:49:29Z</dcterms:modified>
</cp:coreProperties>
</file>