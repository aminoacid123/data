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33" autoAdjust="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1DBF5-DD02-48BC-B43F-22B94B81167C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CAB1B-5202-4596-B229-B9A444F770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36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5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4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49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35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35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80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98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6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43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92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BFB78-52F1-4C8A-9408-CDBC1B63D52E}" type="datetimeFigureOut">
              <a:rPr lang="zh-CN" altLang="en-US" smtClean="0"/>
              <a:t>2018/10/26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22D79-9DA2-4B1C-B7EA-97EE84D66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75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软件需求工程作业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陈林</a:t>
            </a:r>
            <a:endParaRPr lang="en-US" altLang="zh-CN" dirty="0" smtClean="0"/>
          </a:p>
          <a:p>
            <a:r>
              <a:rPr lang="en-US" altLang="zh-CN" dirty="0" smtClean="0"/>
              <a:t>lchen@nju.edu.cn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6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第一次作业：准备课堂讨论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任务</a:t>
            </a:r>
            <a:endParaRPr lang="en-US" altLang="zh-CN" dirty="0"/>
          </a:p>
          <a:p>
            <a:pPr lvl="1"/>
            <a:r>
              <a:rPr lang="zh-CN" altLang="en-US" dirty="0"/>
              <a:t>需求分析员就下面某一方面的需求准备</a:t>
            </a:r>
            <a:r>
              <a:rPr lang="en-US" altLang="zh-CN" dirty="0"/>
              <a:t>10</a:t>
            </a:r>
            <a:r>
              <a:rPr lang="zh-CN" altLang="en-US" dirty="0"/>
              <a:t>分钟的访谈</a:t>
            </a:r>
            <a:endParaRPr lang="en-US" altLang="zh-CN" dirty="0"/>
          </a:p>
          <a:p>
            <a:pPr lvl="2"/>
            <a:r>
              <a:rPr lang="zh-CN" altLang="en-US" dirty="0"/>
              <a:t>业务需求、用户需求、业务规则、质量属性、外部接口、约束、数据需求</a:t>
            </a:r>
            <a:endParaRPr lang="en-US" altLang="zh-CN" dirty="0"/>
          </a:p>
          <a:p>
            <a:pPr lvl="2"/>
            <a:r>
              <a:rPr lang="zh-CN" altLang="en-US" dirty="0"/>
              <a:t>需求分析员准备好访谈问题</a:t>
            </a:r>
            <a:endParaRPr lang="en-US" altLang="zh-CN" dirty="0"/>
          </a:p>
          <a:p>
            <a:pPr lvl="1"/>
            <a:r>
              <a:rPr lang="zh-CN" altLang="en-US" dirty="0"/>
              <a:t>需求分析员与受访角色进行</a:t>
            </a:r>
            <a:r>
              <a:rPr lang="en-US" altLang="zh-CN" dirty="0"/>
              <a:t>5-10</a:t>
            </a:r>
            <a:r>
              <a:rPr lang="zh-CN" altLang="en-US" dirty="0"/>
              <a:t>分钟的访谈</a:t>
            </a:r>
            <a:endParaRPr lang="en-US" altLang="zh-CN" dirty="0"/>
          </a:p>
          <a:p>
            <a:r>
              <a:rPr lang="zh-CN" altLang="en-US" dirty="0"/>
              <a:t>其他同学进行打分（</a:t>
            </a:r>
            <a:r>
              <a:rPr lang="en-US" altLang="zh-CN" dirty="0"/>
              <a:t>10</a:t>
            </a:r>
            <a:r>
              <a:rPr lang="zh-CN" altLang="en-US" dirty="0"/>
              <a:t>分制，给出加分、扣分理由）</a:t>
            </a:r>
            <a:endParaRPr lang="en-US" altLang="zh-CN" dirty="0"/>
          </a:p>
          <a:p>
            <a:pPr algn="just"/>
            <a:r>
              <a:rPr lang="zh-CN" altLang="en-US" dirty="0"/>
              <a:t>结束后，提交第二次作业</a:t>
            </a:r>
            <a:endParaRPr lang="en-US" altLang="zh-CN" dirty="0"/>
          </a:p>
          <a:p>
            <a:pPr lvl="1" algn="just"/>
            <a:r>
              <a:rPr lang="zh-CN" altLang="en-US" dirty="0"/>
              <a:t>访谈记录（访谈问题、访谈结果信息）</a:t>
            </a:r>
            <a:endParaRPr lang="en-US" altLang="zh-CN" dirty="0"/>
          </a:p>
          <a:p>
            <a:pPr lvl="1" algn="just"/>
            <a:r>
              <a:rPr lang="zh-CN" altLang="en-US" dirty="0"/>
              <a:t>打分结果</a:t>
            </a:r>
            <a:endParaRPr lang="en-US" altLang="zh-CN" dirty="0"/>
          </a:p>
          <a:p>
            <a:pPr algn="just"/>
            <a:r>
              <a:rPr lang="zh-CN" altLang="en-US" dirty="0"/>
              <a:t>请大家下节课（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日）携带纸笔进行记录、打分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1590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第一次作业：课堂讨论</a:t>
            </a:r>
            <a:r>
              <a:rPr lang="en-US" altLang="zh-CN" dirty="0" smtClean="0"/>
              <a:t>&amp;</a:t>
            </a:r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b="1" dirty="0" smtClean="0"/>
              <a:t>任务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就某一方面的需求进行</a:t>
            </a:r>
            <a:r>
              <a:rPr lang="en-US" altLang="zh-CN" b="1" dirty="0" smtClean="0"/>
              <a:t>10</a:t>
            </a:r>
            <a:r>
              <a:rPr lang="zh-CN" altLang="en-US" b="1" dirty="0" smtClean="0"/>
              <a:t>分钟以内的访谈</a:t>
            </a:r>
            <a:endParaRPr lang="en-US" altLang="zh-CN" b="1" dirty="0" smtClean="0"/>
          </a:p>
          <a:p>
            <a:pPr lvl="2"/>
            <a:r>
              <a:rPr lang="zh-CN" altLang="en-US" b="1" dirty="0" smtClean="0"/>
              <a:t>业务需求、用户需求、业务规则、质量属性、外部接口、数据需求、功能需求</a:t>
            </a:r>
            <a:endParaRPr lang="en-US" altLang="zh-CN" b="1" dirty="0"/>
          </a:p>
          <a:p>
            <a:pPr lvl="2"/>
            <a:r>
              <a:rPr lang="zh-CN" altLang="en-US" b="1" dirty="0" smtClean="0"/>
              <a:t>准备好访谈问题</a:t>
            </a:r>
            <a:endParaRPr lang="en-US" altLang="zh-CN" b="1" dirty="0" smtClean="0"/>
          </a:p>
          <a:p>
            <a:r>
              <a:rPr lang="zh-CN" altLang="en-US" b="1" dirty="0" smtClean="0"/>
              <a:t>其他同学进行打分（</a:t>
            </a:r>
            <a:r>
              <a:rPr lang="en-US" altLang="zh-CN" b="1" dirty="0" smtClean="0"/>
              <a:t>10</a:t>
            </a:r>
            <a:r>
              <a:rPr lang="zh-CN" altLang="en-US" b="1" dirty="0" smtClean="0"/>
              <a:t>分制，给出加分、扣分理由）</a:t>
            </a:r>
            <a:endParaRPr lang="en-US" altLang="zh-CN" b="1" dirty="0" smtClean="0"/>
          </a:p>
          <a:p>
            <a:pPr algn="just"/>
            <a:r>
              <a:rPr lang="zh-CN" altLang="en-US" b="1" dirty="0" smtClean="0"/>
              <a:t>结束后，提交作业</a:t>
            </a:r>
            <a:endParaRPr lang="en-US" altLang="zh-CN" b="1" dirty="0" smtClean="0"/>
          </a:p>
          <a:p>
            <a:pPr lvl="1" algn="just"/>
            <a:r>
              <a:rPr lang="zh-CN" altLang="en-US" b="1" dirty="0" smtClean="0"/>
              <a:t>文档：访谈记录（访谈问题、访谈结果信息）、打分结果</a:t>
            </a:r>
            <a:endParaRPr lang="en-US" altLang="zh-CN" b="1" dirty="0" smtClean="0"/>
          </a:p>
          <a:p>
            <a:pPr lvl="1" algn="just"/>
            <a:r>
              <a:rPr lang="zh-CN" altLang="en-US" b="1" dirty="0" smtClean="0"/>
              <a:t>提交截止日期：</a:t>
            </a:r>
            <a:r>
              <a:rPr lang="en-US" altLang="zh-CN" b="1" dirty="0" smtClean="0">
                <a:solidFill>
                  <a:srgbClr val="FF0000"/>
                </a:solidFill>
              </a:rPr>
              <a:t>2018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09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29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en-US" altLang="zh-CN" b="1" dirty="0" smtClean="0">
                <a:solidFill>
                  <a:srgbClr val="FF0000"/>
                </a:solidFill>
              </a:rPr>
              <a:t>23:59</a:t>
            </a:r>
          </a:p>
          <a:p>
            <a:pPr lvl="1"/>
            <a:r>
              <a:rPr lang="zh-CN" altLang="en-US" b="1" dirty="0" smtClean="0"/>
              <a:t>提交</a:t>
            </a:r>
            <a:r>
              <a:rPr lang="zh-CN" altLang="en-US" b="1" dirty="0"/>
              <a:t>方式</a:t>
            </a:r>
            <a:r>
              <a:rPr lang="zh-CN" altLang="en-US" b="1" dirty="0" smtClean="0"/>
              <a:t>：</a:t>
            </a:r>
            <a:endParaRPr lang="en-US" altLang="zh-CN" b="1" dirty="0" smtClean="0"/>
          </a:p>
          <a:p>
            <a:pPr lvl="2"/>
            <a:r>
              <a:rPr lang="zh-CN" altLang="en-US" b="1" dirty="0" smtClean="0">
                <a:solidFill>
                  <a:srgbClr val="FF0000"/>
                </a:solidFill>
              </a:rPr>
              <a:t>文档名</a:t>
            </a:r>
            <a:r>
              <a:rPr lang="zh-CN" altLang="en-US" b="1" dirty="0">
                <a:solidFill>
                  <a:srgbClr val="FF0000"/>
                </a:solidFill>
              </a:rPr>
              <a:t>必须为学号</a:t>
            </a:r>
            <a:r>
              <a:rPr lang="en-US" altLang="zh-CN" b="1" dirty="0">
                <a:solidFill>
                  <a:srgbClr val="FF0000"/>
                </a:solidFill>
              </a:rPr>
              <a:t>_</a:t>
            </a:r>
            <a:r>
              <a:rPr lang="zh-CN" altLang="en-US" b="1" dirty="0">
                <a:solidFill>
                  <a:srgbClr val="FF0000"/>
                </a:solidFill>
              </a:rPr>
              <a:t>姓名</a:t>
            </a:r>
            <a:r>
              <a:rPr lang="en-US" altLang="zh-CN" b="1" dirty="0">
                <a:solidFill>
                  <a:srgbClr val="FF0000"/>
                </a:solidFill>
              </a:rPr>
              <a:t>_</a:t>
            </a:r>
            <a:r>
              <a:rPr lang="en-US" altLang="zh-CN" b="1" dirty="0" err="1" smtClean="0">
                <a:solidFill>
                  <a:srgbClr val="FF0000"/>
                </a:solidFill>
              </a:rPr>
              <a:t>re1</a:t>
            </a:r>
            <a:r>
              <a:rPr lang="zh-CN" altLang="en-US" b="1" dirty="0" smtClean="0">
                <a:solidFill>
                  <a:srgbClr val="FF0000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例如“</a:t>
            </a:r>
            <a:r>
              <a:rPr lang="en-US" altLang="zh-CN" b="1" dirty="0">
                <a:solidFill>
                  <a:srgbClr val="FF0000"/>
                </a:solidFill>
              </a:rPr>
              <a:t>111220025_</a:t>
            </a:r>
            <a:r>
              <a:rPr lang="zh-CN" altLang="en-US" b="1" dirty="0">
                <a:solidFill>
                  <a:srgbClr val="FF0000"/>
                </a:solidFill>
              </a:rPr>
              <a:t>张三</a:t>
            </a:r>
            <a:r>
              <a:rPr lang="en-US" altLang="zh-CN" b="1" dirty="0">
                <a:solidFill>
                  <a:srgbClr val="FF0000"/>
                </a:solidFill>
              </a:rPr>
              <a:t>_</a:t>
            </a:r>
            <a:r>
              <a:rPr lang="en-US" altLang="zh-CN" b="1" dirty="0" err="1" smtClean="0">
                <a:solidFill>
                  <a:srgbClr val="FF0000"/>
                </a:solidFill>
              </a:rPr>
              <a:t>re1.doc</a:t>
            </a:r>
            <a:r>
              <a:rPr lang="en-US" altLang="zh-CN" b="1" dirty="0" smtClean="0">
                <a:solidFill>
                  <a:srgbClr val="FF0000"/>
                </a:solidFill>
              </a:rPr>
              <a:t>”</a:t>
            </a: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word</a:t>
            </a:r>
            <a:r>
              <a:rPr lang="zh-CN" altLang="en-US" b="1" dirty="0" smtClean="0">
                <a:solidFill>
                  <a:srgbClr val="FF0000"/>
                </a:solidFill>
              </a:rPr>
              <a:t>或者</a:t>
            </a:r>
            <a:r>
              <a:rPr lang="en-US" altLang="zh-CN" b="1" dirty="0" smtClean="0">
                <a:solidFill>
                  <a:srgbClr val="FF0000"/>
                </a:solidFill>
              </a:rPr>
              <a:t>pdf</a:t>
            </a:r>
            <a:r>
              <a:rPr lang="zh-CN" altLang="en-US" b="1" dirty="0" smtClean="0">
                <a:solidFill>
                  <a:srgbClr val="FF0000"/>
                </a:solidFill>
              </a:rPr>
              <a:t>），</a:t>
            </a:r>
            <a:r>
              <a:rPr lang="zh-CN" altLang="en-US" b="1" dirty="0">
                <a:solidFill>
                  <a:srgbClr val="FF0000"/>
                </a:solidFill>
              </a:rPr>
              <a:t>否则不计成绩</a:t>
            </a:r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邮件发送至</a:t>
            </a:r>
            <a:r>
              <a:rPr lang="en-US" altLang="zh-CN" b="1" dirty="0" err="1">
                <a:solidFill>
                  <a:srgbClr val="FF0000"/>
                </a:solidFill>
              </a:rPr>
              <a:t>lchen@nju.edu.cn</a:t>
            </a:r>
            <a:r>
              <a:rPr lang="zh-CN" altLang="en-US" b="1" dirty="0">
                <a:solidFill>
                  <a:srgbClr val="FF0000"/>
                </a:solidFill>
              </a:rPr>
              <a:t>（邮件标题为学号</a:t>
            </a:r>
            <a:r>
              <a:rPr lang="en-US" altLang="zh-CN" b="1" dirty="0">
                <a:solidFill>
                  <a:srgbClr val="FF0000"/>
                </a:solidFill>
              </a:rPr>
              <a:t>_</a:t>
            </a:r>
            <a:r>
              <a:rPr lang="zh-CN" altLang="en-US" b="1" dirty="0">
                <a:solidFill>
                  <a:srgbClr val="FF0000"/>
                </a:solidFill>
              </a:rPr>
              <a:t>姓名</a:t>
            </a:r>
            <a:r>
              <a:rPr lang="en-US" altLang="zh-CN" b="1" dirty="0">
                <a:solidFill>
                  <a:srgbClr val="FF0000"/>
                </a:solidFill>
              </a:rPr>
              <a:t>_</a:t>
            </a:r>
            <a:r>
              <a:rPr lang="en-US" altLang="zh-CN" b="1" dirty="0" err="1" smtClean="0">
                <a:solidFill>
                  <a:srgbClr val="FF0000"/>
                </a:solidFill>
              </a:rPr>
              <a:t>re1</a:t>
            </a:r>
            <a:r>
              <a:rPr lang="zh-CN" altLang="en-US" b="1" dirty="0" smtClean="0">
                <a:solidFill>
                  <a:srgbClr val="FF0000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例如“</a:t>
            </a:r>
            <a:r>
              <a:rPr lang="en-US" altLang="zh-CN" b="1" dirty="0">
                <a:solidFill>
                  <a:srgbClr val="FF0000"/>
                </a:solidFill>
              </a:rPr>
              <a:t>111220025_</a:t>
            </a:r>
            <a:r>
              <a:rPr lang="zh-CN" altLang="en-US" b="1" dirty="0">
                <a:solidFill>
                  <a:srgbClr val="FF0000"/>
                </a:solidFill>
              </a:rPr>
              <a:t>张三</a:t>
            </a:r>
            <a:r>
              <a:rPr lang="en-US" altLang="zh-CN" b="1" dirty="0">
                <a:solidFill>
                  <a:srgbClr val="FF0000"/>
                </a:solidFill>
              </a:rPr>
              <a:t>_</a:t>
            </a:r>
            <a:r>
              <a:rPr lang="en-US" altLang="zh-CN" b="1" dirty="0" err="1" smtClean="0">
                <a:solidFill>
                  <a:srgbClr val="FF0000"/>
                </a:solidFill>
              </a:rPr>
              <a:t>re1</a:t>
            </a:r>
            <a:r>
              <a:rPr lang="en-US" altLang="zh-CN" b="1" dirty="0" smtClean="0">
                <a:solidFill>
                  <a:srgbClr val="FF0000"/>
                </a:solidFill>
              </a:rPr>
              <a:t>”</a:t>
            </a:r>
            <a:r>
              <a:rPr lang="zh-CN" altLang="en-US" b="1" dirty="0">
                <a:solidFill>
                  <a:srgbClr val="FF0000"/>
                </a:solidFill>
              </a:rPr>
              <a:t>），否则不计</a:t>
            </a:r>
            <a:r>
              <a:rPr lang="zh-CN" altLang="en-US" b="1" dirty="0" smtClean="0">
                <a:solidFill>
                  <a:srgbClr val="FF0000"/>
                </a:solidFill>
              </a:rPr>
              <a:t>成绩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1"/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11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第二次作业：需求的</a:t>
            </a:r>
            <a:r>
              <a:rPr lang="en-US" altLang="zh-CN" dirty="0"/>
              <a:t>(</a:t>
            </a:r>
            <a:r>
              <a:rPr lang="zh-CN" altLang="en-US" dirty="0" smtClean="0"/>
              <a:t>半</a:t>
            </a:r>
            <a:r>
              <a:rPr lang="en-US" altLang="zh-CN" dirty="0" smtClean="0"/>
              <a:t>)</a:t>
            </a:r>
            <a:r>
              <a:rPr lang="zh-CN" altLang="en-US" dirty="0" smtClean="0"/>
              <a:t>自动提取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任务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背景：访谈和问卷调查都是获取需求的良好方式，当访谈人数不够的时候，如何获取更充分的需求？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目标：从问答网站、开源项目网站等多种信息源自动获取可能的需求。</a:t>
            </a:r>
            <a:endParaRPr lang="en-US" altLang="zh-CN" dirty="0" smtClean="0"/>
          </a:p>
          <a:p>
            <a:r>
              <a:rPr lang="zh-CN" altLang="en-US" dirty="0" smtClean="0"/>
              <a:t>可能的步骤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选定信息源：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问答</a:t>
            </a:r>
            <a:r>
              <a:rPr lang="zh-CN" altLang="en-US" dirty="0"/>
              <a:t>、</a:t>
            </a:r>
            <a:r>
              <a:rPr lang="en-US" altLang="zh-CN" dirty="0"/>
              <a:t>issue</a:t>
            </a:r>
            <a:r>
              <a:rPr lang="zh-CN" altLang="en-US" dirty="0"/>
              <a:t>、缺陷报告、文档、论坛帖子</a:t>
            </a:r>
            <a:r>
              <a:rPr lang="en-US" altLang="zh-CN" dirty="0"/>
              <a:t>……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开发爬虫抓取有效信息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有效信息：相关的文本、概念、关键词</a:t>
            </a:r>
            <a:r>
              <a:rPr lang="en-US" altLang="zh-CN" dirty="0"/>
              <a:t>……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整理信息，形成需求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370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第二次作业：需求</a:t>
            </a:r>
            <a:r>
              <a:rPr lang="zh-CN" altLang="en-US" dirty="0" smtClean="0"/>
              <a:t>的</a:t>
            </a:r>
            <a:r>
              <a:rPr lang="en-US" altLang="zh-CN" dirty="0"/>
              <a:t>(</a:t>
            </a:r>
            <a:r>
              <a:rPr lang="zh-CN" altLang="en-US" dirty="0"/>
              <a:t>半</a:t>
            </a:r>
            <a:r>
              <a:rPr lang="en-US" altLang="zh-CN" dirty="0"/>
              <a:t>)</a:t>
            </a:r>
            <a:r>
              <a:rPr lang="zh-CN" altLang="en-US" dirty="0" smtClean="0"/>
              <a:t>自动提取（</a:t>
            </a:r>
            <a:r>
              <a:rPr lang="zh-CN" altLang="en-US" dirty="0"/>
              <a:t>实例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关键词搜索</a:t>
            </a:r>
            <a:endParaRPr lang="en-US" altLang="zh-CN" dirty="0" smtClean="0"/>
          </a:p>
          <a:p>
            <a:r>
              <a:rPr lang="zh-CN" altLang="en-US" dirty="0" smtClean="0"/>
              <a:t>标签（</a:t>
            </a:r>
            <a:r>
              <a:rPr lang="en-US" altLang="zh-CN" dirty="0" smtClean="0"/>
              <a:t>Tag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主题模型</a:t>
            </a:r>
            <a:endParaRPr lang="en-US" altLang="zh-CN" dirty="0" smtClean="0"/>
          </a:p>
          <a:p>
            <a:r>
              <a:rPr lang="zh-CN" altLang="en-US" dirty="0" smtClean="0"/>
              <a:t>文本聚类</a:t>
            </a:r>
            <a:endParaRPr lang="en-US" altLang="zh-CN" dirty="0" smtClean="0"/>
          </a:p>
          <a:p>
            <a:r>
              <a:rPr lang="en-US" altLang="zh-CN" dirty="0"/>
              <a:t>……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50" y="1424295"/>
            <a:ext cx="7228571" cy="49238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371" y="1424295"/>
            <a:ext cx="5902030" cy="538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6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第二次作业：需求的自动</a:t>
            </a:r>
            <a:r>
              <a:rPr lang="zh-CN" altLang="en-US" dirty="0" smtClean="0"/>
              <a:t>提取（提交）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实验报告文档</a:t>
            </a:r>
            <a:endParaRPr lang="en-US" altLang="zh-CN" dirty="0" smtClean="0"/>
          </a:p>
          <a:p>
            <a:pPr lvl="1"/>
            <a:r>
              <a:rPr lang="zh-CN" altLang="en-US" dirty="0"/>
              <a:t>设定思路</a:t>
            </a:r>
            <a:endParaRPr lang="en-US" altLang="zh-CN" dirty="0"/>
          </a:p>
          <a:p>
            <a:pPr lvl="1"/>
            <a:r>
              <a:rPr lang="zh-CN" altLang="en-US" dirty="0"/>
              <a:t>设计方法（方案）</a:t>
            </a:r>
            <a:endParaRPr lang="en-US" altLang="zh-CN" dirty="0"/>
          </a:p>
          <a:p>
            <a:pPr lvl="1"/>
            <a:r>
              <a:rPr lang="zh-CN" altLang="en-US" dirty="0"/>
              <a:t>编码实现</a:t>
            </a:r>
            <a:endParaRPr lang="en-US" altLang="zh-CN" dirty="0"/>
          </a:p>
          <a:p>
            <a:pPr lvl="1"/>
            <a:r>
              <a:rPr lang="zh-CN" altLang="en-US" dirty="0"/>
              <a:t>形成结果</a:t>
            </a:r>
            <a:endParaRPr lang="en-US" altLang="zh-CN" dirty="0"/>
          </a:p>
          <a:p>
            <a:r>
              <a:rPr lang="zh-CN" altLang="en-US" dirty="0" smtClean="0"/>
              <a:t>制作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，课堂报告</a:t>
            </a:r>
            <a:endParaRPr lang="en-US" altLang="zh-CN" dirty="0" smtClean="0"/>
          </a:p>
          <a:p>
            <a:pPr lvl="1"/>
            <a:r>
              <a:rPr lang="en-US" altLang="zh-CN" b="1" dirty="0" smtClean="0">
                <a:solidFill>
                  <a:srgbClr val="FF0000"/>
                </a:solidFill>
              </a:rPr>
              <a:t>10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11</a:t>
            </a:r>
            <a:r>
              <a:rPr lang="zh-CN" altLang="en-US" b="1" dirty="0" smtClean="0">
                <a:solidFill>
                  <a:srgbClr val="FF0000"/>
                </a:solidFill>
              </a:rPr>
              <a:t>日课堂汇报，组为单位，每组</a:t>
            </a:r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分钟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53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第二次作业：需求的自动提取</a:t>
            </a:r>
            <a:r>
              <a:rPr lang="zh-CN" altLang="en-US" dirty="0" smtClean="0"/>
              <a:t>（提示）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软件需求的挖掘与分析</a:t>
            </a:r>
            <a:endParaRPr lang="en-US" altLang="zh-CN" dirty="0"/>
          </a:p>
          <a:p>
            <a:pPr lvl="1"/>
            <a:r>
              <a:rPr lang="zh-CN" altLang="en-US" dirty="0"/>
              <a:t>确定可能的信息源</a:t>
            </a:r>
            <a:endParaRPr lang="en-US" altLang="zh-CN" dirty="0"/>
          </a:p>
          <a:p>
            <a:pPr lvl="1"/>
            <a:r>
              <a:rPr lang="zh-CN" altLang="en-US" dirty="0"/>
              <a:t>确定课题</a:t>
            </a:r>
            <a:endParaRPr lang="en-US" altLang="zh-CN" dirty="0"/>
          </a:p>
          <a:p>
            <a:pPr lvl="1"/>
            <a:r>
              <a:rPr lang="zh-CN" altLang="en-US" dirty="0"/>
              <a:t>利用爬虫（或手工）抓取与选定课题有关的信息</a:t>
            </a:r>
            <a:endParaRPr lang="en-US" altLang="zh-CN" dirty="0"/>
          </a:p>
          <a:p>
            <a:pPr lvl="1"/>
            <a:r>
              <a:rPr lang="zh-CN" altLang="en-US" dirty="0"/>
              <a:t>对信息进行分类、整理、分析，达成目标</a:t>
            </a:r>
            <a:endParaRPr lang="en-US" altLang="zh-CN" dirty="0"/>
          </a:p>
          <a:p>
            <a:r>
              <a:rPr lang="zh-CN" altLang="en-US" dirty="0"/>
              <a:t>可能的目标</a:t>
            </a:r>
            <a:endParaRPr lang="en-US" altLang="zh-CN" dirty="0"/>
          </a:p>
          <a:p>
            <a:pPr lvl="1"/>
            <a:r>
              <a:rPr lang="zh-CN" altLang="en-US" b="1" dirty="0"/>
              <a:t>需求的获取（概念析取、复现对需求的讨论、精化等过程</a:t>
            </a:r>
            <a:r>
              <a:rPr lang="en-US" altLang="zh-CN" b="1" dirty="0"/>
              <a:t>……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lvl="1"/>
            <a:r>
              <a:rPr lang="zh-CN" altLang="en-US" dirty="0"/>
              <a:t>需求的分析（需求分类、优先级排序、冲突问题分析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需求的管理（需求的演化、变更影响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304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第二次作业：需求的自动提取（提示）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背景：基于文本分析的</a:t>
            </a:r>
            <a:r>
              <a:rPr lang="zh-CN" altLang="en-US" b="1" dirty="0"/>
              <a:t>需求概念析取</a:t>
            </a:r>
            <a:endParaRPr lang="en-US" altLang="zh-CN" b="1" dirty="0"/>
          </a:p>
          <a:p>
            <a:r>
              <a:rPr lang="zh-CN" altLang="en-US" dirty="0"/>
              <a:t>目标：从软件项目相关的大量文本中，提取出需求相关的概念</a:t>
            </a:r>
            <a:endParaRPr lang="en-US" altLang="zh-CN" dirty="0"/>
          </a:p>
          <a:p>
            <a:r>
              <a:rPr lang="zh-CN" altLang="en-US" dirty="0"/>
              <a:t>问题：</a:t>
            </a:r>
            <a:endParaRPr lang="en-US" altLang="zh-CN" dirty="0"/>
          </a:p>
          <a:p>
            <a:pPr lvl="1"/>
            <a:r>
              <a:rPr lang="zh-CN" altLang="en-US" dirty="0"/>
              <a:t>所提炼的概念哪些是重要的，如何排序？</a:t>
            </a:r>
            <a:endParaRPr lang="en-US" altLang="zh-CN" dirty="0"/>
          </a:p>
          <a:p>
            <a:pPr lvl="1"/>
            <a:r>
              <a:rPr lang="zh-CN" altLang="en-US" dirty="0"/>
              <a:t>概念间的关系如何确定？</a:t>
            </a:r>
            <a:endParaRPr lang="en-US" altLang="zh-CN" dirty="0"/>
          </a:p>
          <a:p>
            <a:pPr lvl="1"/>
            <a:r>
              <a:rPr lang="zh-CN" altLang="en-US" dirty="0"/>
              <a:t>给定某个概念，与其相关的软件实体（</a:t>
            </a:r>
            <a:r>
              <a:rPr lang="en-US" altLang="zh-CN" dirty="0"/>
              <a:t>artifact</a:t>
            </a:r>
            <a:r>
              <a:rPr lang="zh-CN" altLang="en-US" dirty="0"/>
              <a:t>）有哪些，如何确定？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29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第三次作业：软件需求规格说明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要求：根据需求规格说明模板，完成</a:t>
            </a:r>
            <a:r>
              <a:rPr lang="en-US" altLang="zh-CN" dirty="0" smtClean="0"/>
              <a:t>AI-IDE</a:t>
            </a:r>
            <a:r>
              <a:rPr lang="zh-CN" altLang="en-US" dirty="0" smtClean="0"/>
              <a:t>的需求规格说明书。</a:t>
            </a:r>
            <a:endParaRPr lang="en-US" altLang="zh-CN" dirty="0" smtClean="0"/>
          </a:p>
          <a:p>
            <a:r>
              <a:rPr lang="zh-CN" altLang="en-US" dirty="0" smtClean="0"/>
              <a:t>提交：</a:t>
            </a:r>
            <a:endParaRPr lang="en-US" altLang="zh-CN" dirty="0" smtClean="0"/>
          </a:p>
          <a:p>
            <a:pPr lvl="1"/>
            <a:r>
              <a:rPr lang="zh-CN" altLang="en-US" b="1" dirty="0" smtClean="0"/>
              <a:t>每个人各自提交自己的需求规格说明书。</a:t>
            </a:r>
            <a:endParaRPr lang="en-US" altLang="zh-CN" b="1" dirty="0" smtClean="0"/>
          </a:p>
          <a:p>
            <a:pPr lvl="1" algn="just"/>
            <a:r>
              <a:rPr lang="zh-CN" altLang="en-US" dirty="0"/>
              <a:t>提交截止日期：</a:t>
            </a:r>
            <a:r>
              <a:rPr lang="en-US" altLang="zh-CN" dirty="0"/>
              <a:t>2018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10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24</a:t>
            </a:r>
            <a:r>
              <a:rPr lang="zh-CN" altLang="en-US" dirty="0" smtClean="0"/>
              <a:t>日</a:t>
            </a:r>
            <a:r>
              <a:rPr lang="en-US" altLang="zh-CN" dirty="0"/>
              <a:t>23:59</a:t>
            </a:r>
          </a:p>
          <a:p>
            <a:pPr lvl="1"/>
            <a:r>
              <a:rPr lang="zh-CN" altLang="en-US" dirty="0"/>
              <a:t>提交方式：</a:t>
            </a:r>
            <a:endParaRPr lang="en-US" altLang="zh-CN" dirty="0"/>
          </a:p>
          <a:p>
            <a:pPr lvl="2"/>
            <a:r>
              <a:rPr lang="zh-CN" altLang="en-US" dirty="0"/>
              <a:t>文档名必须为学号</a:t>
            </a:r>
            <a:r>
              <a:rPr lang="en-US" altLang="zh-CN" dirty="0"/>
              <a:t>_</a:t>
            </a:r>
            <a:r>
              <a:rPr lang="zh-CN" altLang="en-US" dirty="0"/>
              <a:t>姓名</a:t>
            </a:r>
            <a:r>
              <a:rPr lang="en-US" altLang="zh-CN" dirty="0"/>
              <a:t>_</a:t>
            </a:r>
            <a:r>
              <a:rPr lang="en-US" altLang="zh-CN" dirty="0" err="1" smtClean="0"/>
              <a:t>re3</a:t>
            </a:r>
            <a:r>
              <a:rPr lang="zh-CN" altLang="en-US" dirty="0" smtClean="0"/>
              <a:t>，</a:t>
            </a:r>
            <a:r>
              <a:rPr lang="zh-CN" altLang="en-US" dirty="0"/>
              <a:t>例如“</a:t>
            </a:r>
            <a:r>
              <a:rPr lang="en-US" altLang="zh-CN" dirty="0"/>
              <a:t>111220025_</a:t>
            </a:r>
            <a:r>
              <a:rPr lang="zh-CN" altLang="en-US" dirty="0"/>
              <a:t>张三</a:t>
            </a:r>
            <a:r>
              <a:rPr lang="en-US" altLang="zh-CN" dirty="0"/>
              <a:t>_</a:t>
            </a:r>
            <a:r>
              <a:rPr lang="en-US" altLang="zh-CN" dirty="0" err="1" smtClean="0"/>
              <a:t>re3.doc</a:t>
            </a:r>
            <a:r>
              <a:rPr lang="en-US" altLang="zh-CN" dirty="0"/>
              <a:t>”</a:t>
            </a:r>
            <a:r>
              <a:rPr lang="zh-CN" altLang="en-US" dirty="0"/>
              <a:t>（</a:t>
            </a:r>
            <a:r>
              <a:rPr lang="en-US" altLang="zh-CN" dirty="0"/>
              <a:t>word</a:t>
            </a:r>
            <a:r>
              <a:rPr lang="zh-CN" altLang="en-US" dirty="0"/>
              <a:t>或者</a:t>
            </a:r>
            <a:r>
              <a:rPr lang="en-US" altLang="zh-CN" dirty="0"/>
              <a:t>pdf</a:t>
            </a:r>
            <a:r>
              <a:rPr lang="zh-CN" altLang="en-US" dirty="0"/>
              <a:t>），否则不计成绩</a:t>
            </a:r>
          </a:p>
          <a:p>
            <a:pPr lvl="2"/>
            <a:r>
              <a:rPr lang="zh-CN" altLang="en-US" dirty="0"/>
              <a:t>邮件发送至</a:t>
            </a:r>
            <a:r>
              <a:rPr lang="en-US" altLang="zh-CN" dirty="0" err="1"/>
              <a:t>lchen@nju.edu.cn</a:t>
            </a:r>
            <a:r>
              <a:rPr lang="zh-CN" altLang="en-US" dirty="0"/>
              <a:t>（邮件标题为学号</a:t>
            </a:r>
            <a:r>
              <a:rPr lang="en-US" altLang="zh-CN" dirty="0"/>
              <a:t>_</a:t>
            </a:r>
            <a:r>
              <a:rPr lang="zh-CN" altLang="en-US" dirty="0"/>
              <a:t>姓名</a:t>
            </a:r>
            <a:r>
              <a:rPr lang="en-US" altLang="zh-CN" dirty="0"/>
              <a:t>_</a:t>
            </a:r>
            <a:r>
              <a:rPr lang="en-US" altLang="zh-CN" dirty="0" err="1" smtClean="0"/>
              <a:t>re3</a:t>
            </a:r>
            <a:r>
              <a:rPr lang="zh-CN" altLang="en-US" dirty="0" smtClean="0"/>
              <a:t>，</a:t>
            </a:r>
            <a:r>
              <a:rPr lang="zh-CN" altLang="en-US" dirty="0"/>
              <a:t>例如“</a:t>
            </a:r>
            <a:r>
              <a:rPr lang="en-US" altLang="zh-CN" dirty="0"/>
              <a:t>111220025_</a:t>
            </a:r>
            <a:r>
              <a:rPr lang="zh-CN" altLang="en-US" dirty="0"/>
              <a:t>张三</a:t>
            </a:r>
            <a:r>
              <a:rPr lang="en-US" altLang="zh-CN" dirty="0"/>
              <a:t>_</a:t>
            </a:r>
            <a:r>
              <a:rPr lang="en-US" altLang="zh-CN" dirty="0" err="1" smtClean="0"/>
              <a:t>re3</a:t>
            </a:r>
            <a:r>
              <a:rPr lang="en-US" altLang="zh-CN" dirty="0" smtClean="0"/>
              <a:t>”</a:t>
            </a:r>
            <a:r>
              <a:rPr lang="zh-CN" altLang="en-US" dirty="0"/>
              <a:t>），否则不计成绩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076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第四次</a:t>
            </a:r>
            <a:r>
              <a:rPr lang="zh-CN" altLang="en-US" dirty="0"/>
              <a:t>作业</a:t>
            </a:r>
            <a:r>
              <a:rPr lang="zh-CN" altLang="en-US" dirty="0" smtClean="0"/>
              <a:t>：</a:t>
            </a:r>
            <a:r>
              <a:rPr lang="zh-CN" altLang="en-US" dirty="0"/>
              <a:t>传统需求分析方法的应用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smtClean="0"/>
              <a:t>11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</a:t>
            </a:r>
            <a:r>
              <a:rPr lang="zh-CN" altLang="en-US" dirty="0" smtClean="0"/>
              <a:t>日课堂报告（以个人为单位，每人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分钟以内，下面两个讨论议题可以任选一个）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你</a:t>
            </a:r>
            <a:r>
              <a:rPr lang="zh-CN" altLang="en-US" dirty="0"/>
              <a:t>能在</a:t>
            </a:r>
            <a:r>
              <a:rPr lang="en-US" altLang="zh-CN" dirty="0"/>
              <a:t>AI-IDE</a:t>
            </a:r>
            <a:r>
              <a:rPr lang="zh-CN" altLang="en-US" dirty="0"/>
              <a:t>项目中找到以上需求分析方法的痕迹吗？</a:t>
            </a:r>
          </a:p>
          <a:p>
            <a:pPr lvl="1"/>
            <a:r>
              <a:rPr lang="zh-CN" altLang="en-US" dirty="0" smtClean="0"/>
              <a:t>面对</a:t>
            </a:r>
            <a:r>
              <a:rPr lang="en-US" altLang="zh-CN" dirty="0"/>
              <a:t>AI-IDE</a:t>
            </a:r>
            <a:r>
              <a:rPr lang="zh-CN" altLang="en-US" dirty="0"/>
              <a:t>项目的某个新需求，你能用以上需求分析方法对该需求进行建模吗？</a:t>
            </a:r>
          </a:p>
          <a:p>
            <a:r>
              <a:rPr lang="zh-CN" altLang="en-US" dirty="0" smtClean="0"/>
              <a:t>简单提示</a:t>
            </a: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 smtClean="0"/>
              <a:t>以面向对象分析为例，能否在现有的</a:t>
            </a:r>
            <a:r>
              <a:rPr lang="en-US" altLang="zh-CN" dirty="0" smtClean="0"/>
              <a:t>IDE</a:t>
            </a:r>
            <a:r>
              <a:rPr lang="zh-CN" altLang="en-US" dirty="0" smtClean="0"/>
              <a:t>项目中找到面向对象的</a:t>
            </a:r>
            <a:r>
              <a:rPr lang="zh-CN" altLang="en-US" smtClean="0"/>
              <a:t>设计，逆向</a:t>
            </a:r>
            <a:r>
              <a:rPr lang="zh-CN" altLang="en-US" dirty="0" smtClean="0"/>
              <a:t>出相应需求，再进一步探讨可能如何用面向对象方法分析这些需求。</a:t>
            </a: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 smtClean="0"/>
              <a:t>任选之前作业所索取的</a:t>
            </a:r>
            <a:r>
              <a:rPr lang="en-US" altLang="zh-CN" dirty="0" smtClean="0"/>
              <a:t>AI-IDE</a:t>
            </a:r>
            <a:r>
              <a:rPr lang="zh-CN" altLang="en-US" dirty="0" smtClean="0"/>
              <a:t>项目的一些需求，思考能否用结构化（或面向对象）的方法进行分析，得到更具体、准确的需求？如果不能，有什么新思路吗？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174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849</Words>
  <Application>Microsoft Office PowerPoint</Application>
  <PresentationFormat>宽屏</PresentationFormat>
  <Paragraphs>83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软件需求工程作业</vt:lpstr>
      <vt:lpstr>第一次作业：准备课堂讨论</vt:lpstr>
      <vt:lpstr>第一次作业：课堂讨论&amp;作业</vt:lpstr>
      <vt:lpstr>第二次作业：需求的(半)自动提取</vt:lpstr>
      <vt:lpstr>第二次作业：需求的(半)自动提取（实例）</vt:lpstr>
      <vt:lpstr>第二次作业：需求的自动提取（提交）</vt:lpstr>
      <vt:lpstr>第二次作业：需求的自动提取（提示）</vt:lpstr>
      <vt:lpstr>第二次作业：需求的自动提取（提示）</vt:lpstr>
      <vt:lpstr>第三次作业：软件需求规格说明</vt:lpstr>
      <vt:lpstr>第四次作业：传统需求分析方法的应用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软件需求工程作业</dc:title>
  <dc:creator>Lin CHEN</dc:creator>
  <cp:lastModifiedBy>Chen Lin</cp:lastModifiedBy>
  <cp:revision>154</cp:revision>
  <dcterms:created xsi:type="dcterms:W3CDTF">2016-09-14T04:16:49Z</dcterms:created>
  <dcterms:modified xsi:type="dcterms:W3CDTF">2018-10-26T02:42:41Z</dcterms:modified>
</cp:coreProperties>
</file>