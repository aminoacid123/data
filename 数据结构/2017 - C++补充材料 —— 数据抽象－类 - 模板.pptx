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1" r:id="rId1"/>
    <p:sldMasterId id="2147484133" r:id="rId2"/>
  </p:sldMasterIdLst>
  <p:notesMasterIdLst>
    <p:notesMasterId r:id="rId33"/>
  </p:notesMasterIdLst>
  <p:handoutMasterIdLst>
    <p:handoutMasterId r:id="rId34"/>
  </p:handoutMasterIdLst>
  <p:sldIdLst>
    <p:sldId id="931" r:id="rId3"/>
    <p:sldId id="993" r:id="rId4"/>
    <p:sldId id="267" r:id="rId5"/>
    <p:sldId id="994" r:id="rId6"/>
    <p:sldId id="275" r:id="rId7"/>
    <p:sldId id="941" r:id="rId8"/>
    <p:sldId id="964" r:id="rId9"/>
    <p:sldId id="943" r:id="rId10"/>
    <p:sldId id="946" r:id="rId11"/>
    <p:sldId id="780" r:id="rId12"/>
    <p:sldId id="781" r:id="rId13"/>
    <p:sldId id="996" r:id="rId14"/>
    <p:sldId id="995" r:id="rId15"/>
    <p:sldId id="776" r:id="rId16"/>
    <p:sldId id="674" r:id="rId17"/>
    <p:sldId id="969" r:id="rId18"/>
    <p:sldId id="997" r:id="rId19"/>
    <p:sldId id="998" r:id="rId20"/>
    <p:sldId id="1000" r:id="rId21"/>
    <p:sldId id="999" r:id="rId22"/>
    <p:sldId id="1001" r:id="rId23"/>
    <p:sldId id="1002" r:id="rId24"/>
    <p:sldId id="1003" r:id="rId25"/>
    <p:sldId id="1006" r:id="rId26"/>
    <p:sldId id="1007" r:id="rId27"/>
    <p:sldId id="1008" r:id="rId28"/>
    <p:sldId id="1009" r:id="rId29"/>
    <p:sldId id="1010" r:id="rId30"/>
    <p:sldId id="1004" r:id="rId31"/>
    <p:sldId id="1005" r:id="rId3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3300"/>
    <a:srgbClr val="FF9900"/>
    <a:srgbClr val="99FFCC"/>
    <a:srgbClr val="663300"/>
    <a:srgbClr val="00CC99"/>
    <a:srgbClr val="009900"/>
    <a:srgbClr val="005CB8"/>
    <a:srgbClr val="00CC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3" autoAdjust="0"/>
    <p:restoredTop sz="88874" autoAdjust="0"/>
  </p:normalViewPr>
  <p:slideViewPr>
    <p:cSldViewPr>
      <p:cViewPr varScale="1">
        <p:scale>
          <a:sx n="74" d="100"/>
          <a:sy n="74" d="100"/>
        </p:scale>
        <p:origin x="139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1348"/>
    </p:cViewPr>
  </p:sorterViewPr>
  <p:notesViewPr>
    <p:cSldViewPr>
      <p:cViewPr>
        <p:scale>
          <a:sx n="75" d="100"/>
          <a:sy n="75" d="100"/>
        </p:scale>
        <p:origin x="-726" y="63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8EBD6098-A085-497F-9E2E-CC6E44AC52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600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9EB88270-B7FB-4223-A8DC-5318658615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97561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0E75C67B-3F8B-4C5E-8A88-D60B3DD4F70B}" type="slidenum">
              <a:rPr lang="en-US" altLang="zh-CN" sz="1200" smtClean="0">
                <a:latin typeface="Times New Roman" pitchFamily="18" charset="0"/>
              </a:rPr>
              <a:pPr eaLnBrk="1" hangingPunct="1"/>
              <a:t>3</a:t>
            </a:fld>
            <a:endParaRPr lang="en-US" altLang="zh-CN" sz="1200" smtClean="0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58296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B3AC1DC0-5415-48F2-98DC-4AF44BDFE2A4}" type="slidenum">
              <a:rPr lang="en-US" altLang="zh-CN" sz="1200" smtClean="0">
                <a:latin typeface="Times New Roman" pitchFamily="18" charset="0"/>
              </a:rPr>
              <a:pPr eaLnBrk="1" hangingPunct="1"/>
              <a:t>5</a:t>
            </a:fld>
            <a:endParaRPr lang="en-US" altLang="zh-CN" sz="1200" smtClean="0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190973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6F0A6EFF-C47E-445B-8524-2DC563E5C18E}" type="slidenum">
              <a:rPr lang="en-US" altLang="zh-CN" sz="1200" smtClean="0">
                <a:latin typeface="Times New Roman" pitchFamily="18" charset="0"/>
              </a:rPr>
              <a:pPr eaLnBrk="1" hangingPunct="1"/>
              <a:t>8</a:t>
            </a:fld>
            <a:endParaRPr lang="en-US" altLang="zh-CN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402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CED9C6-1AE1-4E17-B386-965AC6A9763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767786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4EE92-0C38-43D2-A13B-A597385F2C6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870763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4DAAA-FDD5-4D68-841E-81AC7323FA4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84289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B867-F854-444B-97CD-BE57BBF4F87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92129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9135E-F258-4592-94AC-56A3379B1D0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07883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3B41C3-2512-4E49-939C-FC8D9E22F0D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1588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C56C5-4F75-4E76-A2C0-155C2FEB40C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721291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A2C05-8FB8-423A-A9D0-6937720A31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5800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403AF-79B0-4896-B444-9D3ECC09A24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34488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C2C9F-7E7F-4AC5-AEA0-A06B837FE437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57098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9820E-6275-47BB-B59B-0DD44B2305B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119995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2E687-73AF-4ED0-A631-4746F6B721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27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A8554-8A67-45E5-8071-783B59B4E6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7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BAA8-6990-466A-B0D3-9B9A14BE68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1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CEF30-FEC5-4758-9469-ECF6B2DF8A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59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25BFA9-74DA-45D9-9C3A-0945F0B196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02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1D150-04D3-4443-A5FF-AE253EB324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50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4A59E-7A2F-4AB4-ADFE-5E25D95EC2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40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6F4E2-062B-481A-A02D-260BF41B5F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98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37453-F50E-4753-92CC-705D0F7C82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82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7D4A8-F964-4AA2-856F-6F87C2E9B7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26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769C2-EEF5-47CA-A532-6FD337F6E1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1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125538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447800" y="1125538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pic>
        <p:nvPicPr>
          <p:cNvPr id="1030" name="Picture 6" descr="tow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6284913"/>
            <a:ext cx="1293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202363"/>
            <a:ext cx="52578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Arial" pitchFamily="34" charset="0"/>
              </a:defRPr>
            </a:lvl1pPr>
          </a:lstStyle>
          <a:p>
            <a:pPr>
              <a:defRPr/>
            </a:pPr>
            <a:fld id="{4FDF8573-4DD4-47AF-ACB5-0FA2B3506A0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 descr="校徽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61938"/>
            <a:ext cx="66516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</p:sldLayoutIdLst>
  <p:transition>
    <p:fad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400">
          <a:solidFill>
            <a:schemeClr val="tx1"/>
          </a:solidFill>
          <a:latin typeface="+mn-lt"/>
          <a:ea typeface="+mn-ea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" name="Rectangle 7"/>
          <p:cNvSpPr>
            <a:spLocks noChangeArrowheads="1"/>
          </p:cNvSpPr>
          <p:nvPr/>
        </p:nvSpPr>
        <p:spPr bwMode="auto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2052" name="Rectangle 8"/>
          <p:cNvSpPr>
            <a:spLocks noChangeArrowheads="1"/>
          </p:cNvSpPr>
          <p:nvPr/>
        </p:nvSpPr>
        <p:spPr bwMode="auto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pic>
        <p:nvPicPr>
          <p:cNvPr id="2053" name="Picture 10" descr="tow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1" descr="NJU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60350"/>
            <a:ext cx="2303462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17013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205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2059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84913"/>
            <a:ext cx="1293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95513" y="6202363"/>
            <a:ext cx="511333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 Institute of Computer Software</a:t>
            </a:r>
          </a:p>
          <a:p>
            <a:pPr>
              <a:defRPr/>
            </a:pPr>
            <a:r>
              <a:rPr lang="en-US"/>
              <a:t>Nanjing University</a:t>
            </a:r>
          </a:p>
        </p:txBody>
      </p:sp>
      <p:sp>
        <p:nvSpPr>
          <p:cNvPr id="206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Arial" pitchFamily="34" charset="0"/>
              </a:defRPr>
            </a:lvl1pPr>
          </a:lstStyle>
          <a:p>
            <a:pPr>
              <a:defRPr/>
            </a:pPr>
            <a:fld id="{A2A46090-36D0-4EA4-9D84-9CECEA89C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  <p:sldLayoutId id="2147484135" r:id="rId2"/>
    <p:sldLayoutId id="2147484136" r:id="rId3"/>
    <p:sldLayoutId id="2147484137" r:id="rId4"/>
    <p:sldLayoutId id="2147484138" r:id="rId5"/>
    <p:sldLayoutId id="2147484139" r:id="rId6"/>
    <p:sldLayoutId id="2147484140" r:id="rId7"/>
    <p:sldLayoutId id="2147484141" r:id="rId8"/>
    <p:sldLayoutId id="2147484142" r:id="rId9"/>
    <p:sldLayoutId id="2147484143" r:id="rId10"/>
    <p:sldLayoutId id="2147484144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447675" indent="-44767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400">
          <a:solidFill>
            <a:schemeClr val="tx1"/>
          </a:solidFill>
          <a:latin typeface="+mn-lt"/>
          <a:ea typeface="+mn-ea"/>
        </a:defRPr>
      </a:lvl2pPr>
      <a:lvl3pPr marL="1293813" indent="-4032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681163" indent="-385763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>
          <a:solidFill>
            <a:schemeClr val="tx1"/>
          </a:solidFill>
          <a:latin typeface="+mn-lt"/>
          <a:ea typeface="+mn-ea"/>
        </a:defRPr>
      </a:lvl4pPr>
      <a:lvl5pPr marL="20701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714" name="Rectangle 2"/>
          <p:cNvSpPr>
            <a:spLocks noGrp="1" noChangeArrowheads="1"/>
          </p:cNvSpPr>
          <p:nvPr>
            <p:ph type="ctrTitle"/>
          </p:nvPr>
        </p:nvSpPr>
        <p:spPr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0000" endA="300" endPos="90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</a:t>
            </a:r>
            <a:r>
              <a:rPr lang="zh-CN" altLang="en-US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中的对象与</a:t>
            </a:r>
            <a:r>
              <a:rPr lang="zh-CN" altLang="en-US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类、继承和派生</a:t>
            </a:r>
            <a:r>
              <a:rPr lang="en-US" altLang="zh-CN" dirty="0" smtClean="0">
                <a:solidFill>
                  <a:srgbClr val="7030A0"/>
                </a:solidFill>
              </a:rPr>
              <a:t/>
            </a:r>
            <a:br>
              <a:rPr lang="en-US" altLang="zh-CN" dirty="0" smtClean="0">
                <a:solidFill>
                  <a:srgbClr val="7030A0"/>
                </a:solidFill>
              </a:rPr>
            </a:br>
            <a:endParaRPr lang="zh-CN" altLang="en-US" dirty="0" smtClean="0">
              <a:solidFill>
                <a:srgbClr val="7030A0"/>
              </a:solidFill>
            </a:endParaRPr>
          </a:p>
        </p:txBody>
      </p:sp>
      <p:sp>
        <p:nvSpPr>
          <p:cNvPr id="12677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648" y="3717032"/>
            <a:ext cx="6400800" cy="1752600"/>
          </a:xfrm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</a:t>
            </a:r>
            <a:r>
              <a:rPr lang="zh-CN" altLang="en-US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数据结构</a:t>
            </a:r>
            <a:r>
              <a:rPr lang="en-US" altLang="zh-CN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》</a:t>
            </a:r>
            <a:r>
              <a:rPr lang="zh-CN" altLang="en-US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前序知识补充</a:t>
            </a:r>
            <a:endParaRPr lang="zh-CN" altLang="zh-CN" b="1" dirty="0" smtClean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5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面向对象程序设计的基础</a:t>
            </a:r>
            <a:endParaRPr lang="zh-CN" alt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89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GB" b="1" dirty="0" smtClean="0">
                <a:solidFill>
                  <a:srgbClr val="7030A0"/>
                </a:solidFill>
              </a:rPr>
              <a:t>数据抽象</a:t>
            </a:r>
            <a:endParaRPr lang="en-US" altLang="zh-CN" b="1" dirty="0" smtClean="0">
              <a:solidFill>
                <a:srgbClr val="7030A0"/>
              </a:solidFill>
            </a:endParaRPr>
          </a:p>
          <a:p>
            <a:pPr lvl="1" eaLnBrk="1" hangingPunct="1">
              <a:defRPr/>
            </a:pPr>
            <a:r>
              <a:rPr lang="zh-CN" altLang="en-US" dirty="0" smtClean="0"/>
              <a:t>数据的</a:t>
            </a:r>
            <a:r>
              <a:rPr lang="zh-CN" altLang="en-US" dirty="0" smtClean="0">
                <a:solidFill>
                  <a:srgbClr val="0000FF"/>
                </a:solidFill>
              </a:rPr>
              <a:t>使用者</a:t>
            </a:r>
            <a:r>
              <a:rPr lang="zh-CN" altLang="en-US" dirty="0" smtClean="0"/>
              <a:t>只需要知道对数据所能实施的</a:t>
            </a:r>
            <a:r>
              <a:rPr lang="zh-CN" altLang="en-US" dirty="0">
                <a:solidFill>
                  <a:srgbClr val="CC3300"/>
                </a:solidFill>
              </a:rPr>
              <a:t>操作</a:t>
            </a:r>
            <a:r>
              <a:rPr lang="zh-CN" altLang="en-US" dirty="0" smtClean="0"/>
              <a:t>以及这些</a:t>
            </a:r>
            <a:r>
              <a:rPr lang="zh-CN" altLang="en-US" dirty="0">
                <a:solidFill>
                  <a:srgbClr val="CC3300"/>
                </a:solidFill>
              </a:rPr>
              <a:t>操作之间的关系</a:t>
            </a:r>
            <a:r>
              <a:rPr lang="zh-CN" altLang="en-US" dirty="0" smtClean="0"/>
              <a:t>，而不必知道数据的具体表示。</a:t>
            </a:r>
            <a:endParaRPr lang="en-US" altLang="zh-CN" dirty="0" smtClean="0"/>
          </a:p>
          <a:p>
            <a:pPr lvl="1" eaLnBrk="1" hangingPunct="1">
              <a:defRPr/>
            </a:pPr>
            <a:r>
              <a:rPr lang="zh-CN" altLang="en-US" dirty="0" smtClean="0"/>
              <a:t>操作的</a:t>
            </a:r>
            <a:r>
              <a:rPr lang="zh-CN" altLang="en-US" dirty="0">
                <a:solidFill>
                  <a:srgbClr val="CC3300"/>
                </a:solidFill>
              </a:rPr>
              <a:t>具体实现</a:t>
            </a:r>
            <a:r>
              <a:rPr lang="zh-CN" altLang="en-US" dirty="0" smtClean="0"/>
              <a:t>由</a:t>
            </a:r>
            <a:r>
              <a:rPr lang="zh-CN" altLang="en-US" dirty="0">
                <a:solidFill>
                  <a:srgbClr val="0000FF"/>
                </a:solidFill>
              </a:rPr>
              <a:t>设计者</a:t>
            </a:r>
            <a:r>
              <a:rPr lang="zh-CN" altLang="en-US" dirty="0" smtClean="0"/>
              <a:t>决定。</a:t>
            </a:r>
          </a:p>
          <a:p>
            <a:pPr eaLnBrk="1" hangingPunct="1">
              <a:defRPr/>
            </a:pPr>
            <a:r>
              <a:rPr lang="zh-CN" altLang="en-GB" b="1" dirty="0" smtClean="0">
                <a:solidFill>
                  <a:srgbClr val="7030A0"/>
                </a:solidFill>
              </a:rPr>
              <a:t>数据</a:t>
            </a:r>
            <a:r>
              <a:rPr lang="zh-CN" altLang="en-US" b="1" dirty="0" smtClean="0">
                <a:solidFill>
                  <a:srgbClr val="7030A0"/>
                </a:solidFill>
              </a:rPr>
              <a:t>封装</a:t>
            </a:r>
            <a:endParaRPr lang="en-US" altLang="zh-CN" b="1" dirty="0" smtClean="0">
              <a:solidFill>
                <a:srgbClr val="7030A0"/>
              </a:solidFill>
            </a:endParaRPr>
          </a:p>
          <a:p>
            <a:pPr lvl="1" eaLnBrk="1" hangingPunct="1">
              <a:defRPr/>
            </a:pPr>
            <a:r>
              <a:rPr lang="zh-CN" altLang="en-GB" dirty="0" smtClean="0"/>
              <a:t>指把数据及其操作作为一个</a:t>
            </a:r>
            <a:r>
              <a:rPr lang="zh-CN" altLang="en-GB" dirty="0">
                <a:solidFill>
                  <a:srgbClr val="CC3300"/>
                </a:solidFill>
              </a:rPr>
              <a:t>整体</a:t>
            </a:r>
            <a:r>
              <a:rPr lang="zh-CN" altLang="en-GB" dirty="0" smtClean="0"/>
              <a:t>来进行</a:t>
            </a:r>
            <a:r>
              <a:rPr lang="zh-CN" altLang="en-US" dirty="0"/>
              <a:t>实现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 algn="just" eaLnBrk="1" hangingPunct="1">
              <a:defRPr/>
            </a:pPr>
            <a:r>
              <a:rPr lang="zh-CN" altLang="zh-CN" dirty="0" smtClean="0"/>
              <a:t>数据的</a:t>
            </a:r>
            <a:r>
              <a:rPr lang="zh-CN" altLang="zh-CN" dirty="0">
                <a:solidFill>
                  <a:srgbClr val="CC3300"/>
                </a:solidFill>
              </a:rPr>
              <a:t>具体表示</a:t>
            </a:r>
            <a:r>
              <a:rPr lang="zh-CN" altLang="zh-CN" dirty="0" smtClean="0"/>
              <a:t>对使用者是</a:t>
            </a:r>
            <a:r>
              <a:rPr lang="zh-CN" altLang="zh-CN" dirty="0">
                <a:solidFill>
                  <a:srgbClr val="CC3300"/>
                </a:solidFill>
              </a:rPr>
              <a:t>不可见</a:t>
            </a:r>
            <a:r>
              <a:rPr lang="zh-CN" altLang="zh-CN" dirty="0" smtClean="0"/>
              <a:t>的，对数据的访问只能通过</a:t>
            </a:r>
            <a:r>
              <a:rPr lang="zh-CN" altLang="zh-CN" dirty="0">
                <a:solidFill>
                  <a:srgbClr val="CC3300"/>
                </a:solidFill>
              </a:rPr>
              <a:t>封装体</a:t>
            </a:r>
            <a:r>
              <a:rPr lang="zh-CN" altLang="zh-CN" dirty="0" smtClean="0"/>
              <a:t>所提供的</a:t>
            </a:r>
            <a:r>
              <a:rPr lang="zh-CN" altLang="en-US" dirty="0" smtClean="0"/>
              <a:t>对外</a:t>
            </a:r>
            <a:r>
              <a:rPr lang="zh-CN" altLang="en-US" dirty="0">
                <a:solidFill>
                  <a:srgbClr val="CC3300"/>
                </a:solidFill>
              </a:rPr>
              <a:t>接口</a:t>
            </a:r>
            <a:r>
              <a:rPr lang="zh-CN" altLang="en-US" dirty="0" smtClean="0"/>
              <a:t>（</a:t>
            </a:r>
            <a:r>
              <a:rPr lang="zh-CN" altLang="zh-CN" dirty="0" smtClean="0"/>
              <a:t>操作</a:t>
            </a:r>
            <a:r>
              <a:rPr lang="zh-CN" altLang="en-US" dirty="0" smtClean="0"/>
              <a:t>）</a:t>
            </a:r>
            <a:r>
              <a:rPr lang="zh-CN" altLang="zh-CN" dirty="0" smtClean="0"/>
              <a:t>来完成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algn="just">
              <a:defRPr/>
            </a:pPr>
            <a:r>
              <a:rPr lang="zh-CN" altLang="en-US" dirty="0" smtClean="0"/>
              <a:t>数据抽象和封装是</a:t>
            </a:r>
            <a:r>
              <a:rPr lang="zh-CN" altLang="en-US" b="1" dirty="0">
                <a:solidFill>
                  <a:srgbClr val="7030A0"/>
                </a:solidFill>
              </a:rPr>
              <a:t>面向对象程序设计</a:t>
            </a:r>
            <a:r>
              <a:rPr lang="zh-CN" altLang="en-US" dirty="0" smtClean="0"/>
              <a:t>的基础</a:t>
            </a:r>
            <a:r>
              <a:rPr lang="zh-CN" altLang="en-GB" dirty="0" smtClean="0"/>
              <a:t> 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260350"/>
            <a:ext cx="7046913" cy="792163"/>
          </a:xfrm>
        </p:spPr>
        <p:txBody>
          <a:bodyPr/>
          <a:lstStyle/>
          <a:p>
            <a:pPr algn="l">
              <a:defRPr/>
            </a:pPr>
            <a:r>
              <a:rPr lang="en-US" altLang="zh-CN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</a:t>
            </a:r>
            <a:r>
              <a:rPr lang="zh-CN" alt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中的数据抽象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12776"/>
            <a:ext cx="7988300" cy="460851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360363" indent="-360363">
              <a:spcBef>
                <a:spcPct val="0"/>
              </a:spcBef>
              <a:defRPr/>
            </a:pPr>
            <a:r>
              <a:rPr lang="zh-CN" altLang="en-US" dirty="0"/>
              <a:t>在</a:t>
            </a:r>
            <a:r>
              <a:rPr lang="en-US" altLang="zh-CN" dirty="0"/>
              <a:t>C++</a:t>
            </a:r>
            <a:r>
              <a:rPr lang="zh-CN" altLang="en-US" dirty="0"/>
              <a:t>中</a:t>
            </a:r>
            <a:r>
              <a:rPr lang="zh-CN" altLang="en-US" dirty="0" smtClean="0"/>
              <a:t>，数据抽象的表现形式为</a:t>
            </a:r>
            <a:r>
              <a:rPr lang="zh-CN" altLang="en-US" dirty="0" smtClean="0">
                <a:solidFill>
                  <a:srgbClr val="FF9900"/>
                </a:solidFill>
              </a:rPr>
              <a:t>类</a:t>
            </a:r>
            <a:r>
              <a:rPr lang="zh-CN" altLang="en-US" dirty="0" smtClean="0"/>
              <a:t>。</a:t>
            </a:r>
            <a:r>
              <a:rPr lang="zh-CN" altLang="en-US" dirty="0" smtClean="0">
                <a:solidFill>
                  <a:srgbClr val="FF9900"/>
                </a:solidFill>
              </a:rPr>
              <a:t>类</a:t>
            </a:r>
            <a:r>
              <a:rPr lang="zh-CN" altLang="en-US" dirty="0" smtClean="0"/>
              <a:t>是</a:t>
            </a:r>
            <a:r>
              <a:rPr lang="zh-CN" altLang="en-US" dirty="0"/>
              <a:t>一种用户自定义类型，定义形式如下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pPr marL="1230313" lvl="2">
              <a:buNone/>
              <a:defRPr/>
            </a:pPr>
            <a:endParaRPr lang="en-US" altLang="zh-CN" sz="2800" dirty="0" smtClean="0">
              <a:solidFill>
                <a:srgbClr val="0000FF"/>
              </a:solidFill>
            </a:endParaRPr>
          </a:p>
          <a:p>
            <a:pPr marL="1230313" lvl="2">
              <a:buNone/>
              <a:defRPr/>
            </a:pPr>
            <a:r>
              <a:rPr lang="en-US" altLang="zh-CN" sz="3500" dirty="0" smtClean="0">
                <a:solidFill>
                  <a:srgbClr val="0000FF"/>
                </a:solidFill>
              </a:rPr>
              <a:t>class</a:t>
            </a:r>
            <a:r>
              <a:rPr lang="en-US" altLang="zh-CN" sz="2600" dirty="0" smtClean="0">
                <a:solidFill>
                  <a:srgbClr val="0000FF"/>
                </a:solidFill>
              </a:rPr>
              <a:t> &lt;</a:t>
            </a:r>
            <a:r>
              <a:rPr lang="zh-CN" altLang="en-US" sz="2600" dirty="0" smtClean="0">
                <a:solidFill>
                  <a:srgbClr val="0000FF"/>
                </a:solidFill>
              </a:rPr>
              <a:t>类名</a:t>
            </a:r>
            <a:r>
              <a:rPr lang="en-US" altLang="zh-CN" sz="2600" dirty="0" smtClean="0">
                <a:solidFill>
                  <a:srgbClr val="0000FF"/>
                </a:solidFill>
              </a:rPr>
              <a:t>&gt; { </a:t>
            </a:r>
            <a:r>
              <a:rPr lang="en-GB" altLang="zh-CN" sz="2600" dirty="0" smtClean="0">
                <a:solidFill>
                  <a:srgbClr val="0000FF"/>
                </a:solidFill>
              </a:rPr>
              <a:t>&lt;</a:t>
            </a:r>
            <a:r>
              <a:rPr lang="zh-CN" altLang="en-GB" sz="2600" dirty="0" smtClean="0">
                <a:solidFill>
                  <a:srgbClr val="0000FF"/>
                </a:solidFill>
              </a:rPr>
              <a:t>成员描述</a:t>
            </a:r>
            <a:r>
              <a:rPr lang="en-GB" altLang="zh-CN" sz="2600" dirty="0" smtClean="0">
                <a:solidFill>
                  <a:srgbClr val="0000FF"/>
                </a:solidFill>
              </a:rPr>
              <a:t>&gt;</a:t>
            </a:r>
            <a:r>
              <a:rPr lang="en-GB" altLang="zh-CN" sz="3500" dirty="0" smtClean="0">
                <a:solidFill>
                  <a:srgbClr val="0000FF"/>
                </a:solidFill>
              </a:rPr>
              <a:t> </a:t>
            </a:r>
            <a:r>
              <a:rPr lang="en-US" altLang="en-US" sz="2600" dirty="0" smtClean="0">
                <a:solidFill>
                  <a:srgbClr val="0000FF"/>
                </a:solidFill>
              </a:rPr>
              <a:t>} ;</a:t>
            </a:r>
            <a:endParaRPr lang="en-US" altLang="zh-CN" sz="2600" dirty="0" smtClean="0">
              <a:solidFill>
                <a:srgbClr val="0000FF"/>
              </a:solidFill>
            </a:endParaRPr>
          </a:p>
          <a:p>
            <a:pPr marL="1230313" lvl="2">
              <a:spcBef>
                <a:spcPct val="0"/>
              </a:spcBef>
              <a:buNone/>
              <a:defRPr/>
            </a:pPr>
            <a:endParaRPr lang="en-US" altLang="zh-CN" sz="2600" dirty="0" smtClean="0">
              <a:solidFill>
                <a:srgbClr val="0000FF"/>
              </a:solidFill>
            </a:endParaRPr>
          </a:p>
          <a:p>
            <a:pPr marL="1230313" lvl="2">
              <a:spcBef>
                <a:spcPct val="0"/>
              </a:spcBef>
              <a:buNone/>
              <a:defRPr/>
            </a:pPr>
            <a:r>
              <a:rPr lang="zh-CN" altLang="en-US" sz="2600" dirty="0" smtClean="0">
                <a:solidFill>
                  <a:srgbClr val="0000FF"/>
                </a:solidFill>
              </a:rPr>
              <a:t>其中，类的成员包括：</a:t>
            </a:r>
          </a:p>
          <a:p>
            <a:pPr marL="1230313" lvl="2">
              <a:spcBef>
                <a:spcPct val="0"/>
              </a:spcBef>
              <a:buFont typeface="Wingdings" pitchFamily="2" charset="2"/>
              <a:buChar char="Ø"/>
              <a:defRPr/>
            </a:pPr>
            <a:r>
              <a:rPr lang="zh-CN" altLang="en-US" sz="2600" b="1" dirty="0" smtClean="0">
                <a:solidFill>
                  <a:srgbClr val="0000FF"/>
                </a:solidFill>
              </a:rPr>
              <a:t>数据成员</a:t>
            </a:r>
          </a:p>
          <a:p>
            <a:pPr marL="1230313" lvl="2">
              <a:spcBef>
                <a:spcPct val="0"/>
              </a:spcBef>
              <a:buFont typeface="Wingdings" pitchFamily="2" charset="2"/>
              <a:buChar char="Ø"/>
              <a:defRPr/>
            </a:pPr>
            <a:r>
              <a:rPr lang="zh-CN" altLang="en-US" sz="2600" b="1" dirty="0" smtClean="0">
                <a:solidFill>
                  <a:srgbClr val="0000FF"/>
                </a:solidFill>
              </a:rPr>
              <a:t>成员函数</a:t>
            </a:r>
            <a:endParaRPr lang="en-US" altLang="zh-CN" sz="2600" b="1" dirty="0" smtClean="0">
              <a:solidFill>
                <a:srgbClr val="0000FF"/>
              </a:solidFill>
            </a:endParaRPr>
          </a:p>
          <a:p>
            <a:pPr marL="360363" indent="-360363" eaLnBrk="1" hangingPunct="1">
              <a:spcBef>
                <a:spcPct val="0"/>
              </a:spcBef>
              <a:defRPr/>
            </a:pPr>
            <a:endParaRPr lang="en-US" altLang="zh-CN" dirty="0" smtClean="0">
              <a:solidFill>
                <a:schemeClr val="folHlink"/>
              </a:solidFill>
            </a:endParaRPr>
          </a:p>
          <a:p>
            <a:pPr marL="360363" indent="-360363" eaLnBrk="1" hangingPunct="1">
              <a:spcBef>
                <a:spcPct val="0"/>
              </a:spcBef>
              <a:defRPr/>
            </a:pPr>
            <a:endParaRPr lang="en-US" altLang="zh-CN" dirty="0" smtClean="0">
              <a:solidFill>
                <a:srgbClr val="FF9900"/>
              </a:solidFill>
            </a:endParaRPr>
          </a:p>
          <a:p>
            <a:pPr marL="360363" indent="-360363" eaLnBrk="1" hangingPunct="1">
              <a:spcBef>
                <a:spcPct val="0"/>
              </a:spcBef>
              <a:defRPr/>
            </a:pPr>
            <a:endParaRPr lang="en-US" altLang="zh-CN" dirty="0">
              <a:solidFill>
                <a:srgbClr val="FF9900"/>
              </a:solidFill>
            </a:endParaRPr>
          </a:p>
          <a:p>
            <a:pPr marL="360363" indent="-360363" eaLnBrk="1" hangingPunct="1">
              <a:spcBef>
                <a:spcPct val="0"/>
              </a:spcBef>
              <a:defRPr/>
            </a:pPr>
            <a:r>
              <a:rPr lang="zh-CN" altLang="en-GB" dirty="0" smtClean="0">
                <a:solidFill>
                  <a:srgbClr val="FF9900"/>
                </a:solidFill>
              </a:rPr>
              <a:t>对象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9900"/>
                </a:solidFill>
              </a:rPr>
              <a:t>类</a:t>
            </a:r>
            <a:r>
              <a:rPr lang="zh-CN" altLang="en-US" dirty="0" smtClean="0"/>
              <a:t>的实例，是数据及其操作的封装体</a:t>
            </a:r>
            <a:r>
              <a:rPr lang="zh-CN" altLang="en-GB" dirty="0" smtClean="0"/>
              <a:t>。</a:t>
            </a:r>
            <a:endParaRPr lang="zh-CN" altLang="en-US" dirty="0" smtClean="0"/>
          </a:p>
        </p:txBody>
      </p:sp>
      <p:sp>
        <p:nvSpPr>
          <p:cNvPr id="2" name="矩形 1"/>
          <p:cNvSpPr/>
          <p:nvPr/>
        </p:nvSpPr>
        <p:spPr>
          <a:xfrm>
            <a:off x="1187624" y="2420888"/>
            <a:ext cx="4824536" cy="2376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8112" y="1522504"/>
            <a:ext cx="8626376" cy="3130484"/>
            <a:chOff x="0" y="302567"/>
            <a:chExt cx="8626376" cy="3801003"/>
          </a:xfrm>
        </p:grpSpPr>
        <p:sp>
          <p:nvSpPr>
            <p:cNvPr id="5" name="矩形 4"/>
            <p:cNvSpPr/>
            <p:nvPr/>
          </p:nvSpPr>
          <p:spPr>
            <a:xfrm>
              <a:off x="12364" y="302567"/>
              <a:ext cx="8050312" cy="3276413"/>
            </a:xfrm>
            <a:prstGeom prst="rect">
              <a:avLst/>
            </a:pr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矩形 5"/>
            <p:cNvSpPr/>
            <p:nvPr/>
          </p:nvSpPr>
          <p:spPr>
            <a:xfrm>
              <a:off x="0" y="503170"/>
              <a:ext cx="8626376" cy="36004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56624" tIns="333248" rIns="656624" bIns="142240" numCol="1" spcCol="1270" anchor="t" anchorCtr="0">
              <a:noAutofit/>
            </a:bodyPr>
            <a:lstStyle/>
            <a:p>
              <a:pPr marL="342900" indent="-342900">
                <a:buClr>
                  <a:schemeClr val="accent1">
                    <a:lumMod val="40000"/>
                    <a:lumOff val="60000"/>
                  </a:schemeClr>
                </a:buClr>
                <a:buSzPct val="50000"/>
                <a:buFont typeface="Wingdings" pitchFamily="2" charset="2"/>
                <a:buChar char="l"/>
              </a:pPr>
              <a:r>
                <a:rPr lang="zh-CN" altLang="en-US" dirty="0" smtClean="0">
                  <a:solidFill>
                    <a:srgbClr val="0000FF"/>
                  </a:solidFill>
                </a:rPr>
                <a:t>类</a:t>
              </a:r>
              <a:r>
                <a:rPr lang="zh-CN" altLang="en-US" dirty="0"/>
                <a:t>是抽象的</a:t>
              </a:r>
              <a:r>
                <a:rPr lang="zh-CN" altLang="en-US" dirty="0" smtClean="0"/>
                <a:t>概念，</a:t>
              </a:r>
              <a:r>
                <a:rPr lang="zh-CN" altLang="en-US" dirty="0"/>
                <a:t>比如说：</a:t>
              </a:r>
              <a:r>
                <a:rPr lang="zh-CN" altLang="en-US" dirty="0" smtClean="0"/>
                <a:t>“</a:t>
              </a:r>
              <a:r>
                <a:rPr lang="zh-CN" altLang="en-US" dirty="0"/>
                <a:t>大学生</a:t>
              </a:r>
              <a:r>
                <a:rPr lang="zh-CN" altLang="en-US" dirty="0" smtClean="0"/>
                <a:t>”</a:t>
              </a:r>
              <a:r>
                <a:rPr lang="zh-CN" altLang="en-US" dirty="0"/>
                <a:t>类</a:t>
              </a:r>
            </a:p>
            <a:p>
              <a:pPr marL="342900" indent="-342900">
                <a:buClr>
                  <a:schemeClr val="accent1">
                    <a:lumMod val="40000"/>
                    <a:lumOff val="60000"/>
                  </a:schemeClr>
                </a:buClr>
                <a:buSzPct val="50000"/>
                <a:buFont typeface="Wingdings" pitchFamily="2" charset="2"/>
                <a:buChar char="l"/>
              </a:pPr>
              <a:r>
                <a:rPr lang="zh-CN" altLang="en-US" dirty="0">
                  <a:solidFill>
                    <a:srgbClr val="0000FF"/>
                  </a:solidFill>
                </a:rPr>
                <a:t>对象</a:t>
              </a:r>
              <a:r>
                <a:rPr lang="zh-CN" altLang="en-US" dirty="0"/>
                <a:t>是一</a:t>
              </a:r>
              <a:r>
                <a:rPr lang="zh-CN" altLang="en-US" dirty="0" smtClean="0"/>
                <a:t>个能够</a:t>
              </a:r>
              <a:r>
                <a:rPr lang="zh-CN" altLang="en-US" dirty="0"/>
                <a:t>看得到、摸得着的具体实体</a:t>
              </a:r>
            </a:p>
            <a:p>
              <a:pPr marL="342900" indent="-342900">
                <a:buClr>
                  <a:schemeClr val="accent1">
                    <a:lumMod val="40000"/>
                    <a:lumOff val="60000"/>
                  </a:schemeClr>
                </a:buClr>
                <a:buSzPct val="50000"/>
                <a:buFont typeface="Wingdings" pitchFamily="2" charset="2"/>
                <a:buChar char="l"/>
              </a:pPr>
              <a:r>
                <a:rPr lang="zh-CN" altLang="en-US" dirty="0">
                  <a:solidFill>
                    <a:srgbClr val="0000FF"/>
                  </a:solidFill>
                </a:rPr>
                <a:t>类</a:t>
              </a:r>
              <a:r>
                <a:rPr lang="zh-CN" altLang="en-US" dirty="0"/>
                <a:t>不占</a:t>
              </a:r>
              <a:r>
                <a:rPr lang="zh-CN" altLang="en-US" dirty="0" smtClean="0"/>
                <a:t>内存，对象</a:t>
              </a:r>
              <a:r>
                <a:rPr lang="zh-CN" altLang="en-US" dirty="0"/>
                <a:t>才占</a:t>
              </a:r>
              <a:r>
                <a:rPr lang="zh-CN" altLang="en-US" dirty="0" smtClean="0"/>
                <a:t>内存</a:t>
              </a:r>
              <a:endParaRPr lang="en-US" altLang="zh-CN" dirty="0" smtClean="0"/>
            </a:p>
            <a:p>
              <a:pPr marL="342900" indent="-342900">
                <a:buClr>
                  <a:schemeClr val="accent1">
                    <a:lumMod val="40000"/>
                    <a:lumOff val="60000"/>
                  </a:schemeClr>
                </a:buClr>
                <a:buSzPct val="50000"/>
                <a:buFont typeface="Wingdings" pitchFamily="2" charset="2"/>
                <a:buChar char="l"/>
              </a:pPr>
              <a:r>
                <a:rPr lang="zh-CN" altLang="en-US" dirty="0" smtClean="0">
                  <a:solidFill>
                    <a:srgbClr val="0000FF"/>
                  </a:solidFill>
                </a:rPr>
                <a:t>对象</a:t>
              </a:r>
              <a:r>
                <a:rPr lang="zh-CN" altLang="en-US" dirty="0" smtClean="0"/>
                <a:t>的</a:t>
              </a:r>
              <a:r>
                <a:rPr lang="zh-CN" altLang="en-US" dirty="0"/>
                <a:t>特征（属性）和行为（方法</a:t>
              </a:r>
              <a:r>
                <a:rPr lang="zh-CN" altLang="en-US" dirty="0" smtClean="0"/>
                <a:t>）由相应的</a:t>
              </a:r>
              <a:r>
                <a:rPr lang="zh-CN" altLang="en-US" dirty="0" smtClean="0">
                  <a:solidFill>
                    <a:srgbClr val="0000FF"/>
                  </a:solidFill>
                </a:rPr>
                <a:t>类</a:t>
              </a:r>
              <a:r>
                <a:rPr lang="zh-CN" altLang="en-US" dirty="0" smtClean="0"/>
                <a:t>来描述</a:t>
              </a:r>
              <a:endParaRPr lang="en-US" altLang="zh-CN" dirty="0" smtClean="0"/>
            </a:p>
            <a:p>
              <a:pPr marL="342900" indent="-342900">
                <a:buClr>
                  <a:schemeClr val="accent1">
                    <a:lumMod val="40000"/>
                    <a:lumOff val="60000"/>
                  </a:schemeClr>
                </a:buClr>
                <a:buSzPct val="50000"/>
                <a:buFont typeface="Wingdings" pitchFamily="2" charset="2"/>
                <a:buChar char="l"/>
              </a:pPr>
              <a:r>
                <a:rPr lang="zh-CN" altLang="en-US" dirty="0" smtClean="0">
                  <a:solidFill>
                    <a:srgbClr val="0000FF"/>
                  </a:solidFill>
                </a:rPr>
                <a:t>类</a:t>
              </a:r>
              <a:r>
                <a:rPr lang="zh-CN" altLang="en-US" dirty="0" smtClean="0"/>
                <a:t>是</a:t>
              </a:r>
              <a:r>
                <a:rPr lang="zh-CN" altLang="en-US" dirty="0" smtClean="0">
                  <a:solidFill>
                    <a:srgbClr val="0000FF"/>
                  </a:solidFill>
                </a:rPr>
                <a:t>对象</a:t>
              </a:r>
              <a:r>
                <a:rPr lang="zh-CN" altLang="en-US" dirty="0" smtClean="0"/>
                <a:t>的类型</a:t>
              </a:r>
              <a:endParaRPr lang="zh-CN" altLang="en-US" dirty="0"/>
            </a:p>
            <a:p>
              <a:pPr marL="342900" indent="-342900">
                <a:buClr>
                  <a:schemeClr val="accent1">
                    <a:lumMod val="40000"/>
                    <a:lumOff val="60000"/>
                  </a:schemeClr>
                </a:buClr>
                <a:buSzPct val="50000"/>
                <a:buFont typeface="Wingdings" pitchFamily="2" charset="2"/>
                <a:buChar char="l"/>
              </a:pPr>
              <a:endParaRPr lang="zh-CN" altLang="en-US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61133" y="1273843"/>
            <a:ext cx="4386931" cy="472320"/>
            <a:chOff x="423021" y="53907"/>
            <a:chExt cx="7228999" cy="472320"/>
          </a:xfrm>
          <a:scene3d>
            <a:camera prst="orthographicFront"/>
            <a:lightRig rig="flat" dir="t"/>
          </a:scene3d>
        </p:grpSpPr>
        <p:sp>
          <p:nvSpPr>
            <p:cNvPr id="8" name="圆角矩形 7"/>
            <p:cNvSpPr/>
            <p:nvPr/>
          </p:nvSpPr>
          <p:spPr>
            <a:xfrm>
              <a:off x="423021" y="53907"/>
              <a:ext cx="7228999" cy="47232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9" name="圆角矩形 6"/>
            <p:cNvSpPr/>
            <p:nvPr/>
          </p:nvSpPr>
          <p:spPr>
            <a:xfrm>
              <a:off x="446078" y="76964"/>
              <a:ext cx="7182885" cy="4262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23849" tIns="0" rIns="223849" bIns="0" numCol="1" spcCol="1270" anchor="ctr" anchorCtr="0">
              <a:noAutofit/>
            </a:bodyPr>
            <a:lstStyle/>
            <a:p>
              <a:pPr lvl="0" defTabSz="12446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800" b="1" dirty="0">
                  <a:solidFill>
                    <a:srgbClr val="663300"/>
                  </a:solidFill>
                </a:rPr>
                <a:t>类和对象的关系</a:t>
              </a:r>
              <a:endParaRPr lang="zh-CN" altLang="en-US" sz="2800" kern="1200" dirty="0">
                <a:solidFill>
                  <a:srgbClr val="6633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042988" y="188640"/>
            <a:ext cx="5616575" cy="576262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018453" y="4416828"/>
            <a:ext cx="2586731" cy="472320"/>
            <a:chOff x="423021" y="53907"/>
            <a:chExt cx="7228999" cy="472320"/>
          </a:xfrm>
          <a:scene3d>
            <a:camera prst="orthographicFront"/>
            <a:lightRig rig="flat" dir="t"/>
          </a:scene3d>
        </p:grpSpPr>
        <p:sp>
          <p:nvSpPr>
            <p:cNvPr id="14" name="圆角矩形 13"/>
            <p:cNvSpPr/>
            <p:nvPr/>
          </p:nvSpPr>
          <p:spPr>
            <a:xfrm>
              <a:off x="423021" y="53907"/>
              <a:ext cx="7228999" cy="472320"/>
            </a:xfrm>
            <a:prstGeom prst="roundRect">
              <a:avLst/>
            </a:prstGeom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5" name="圆角矩形 6"/>
            <p:cNvSpPr/>
            <p:nvPr/>
          </p:nvSpPr>
          <p:spPr>
            <a:xfrm>
              <a:off x="446078" y="76964"/>
              <a:ext cx="7182885" cy="4262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23849" tIns="0" rIns="223849" bIns="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800" b="1" dirty="0">
                  <a:solidFill>
                    <a:srgbClr val="663300"/>
                  </a:solidFill>
                </a:rPr>
                <a:t>大学生</a:t>
              </a:r>
              <a:endParaRPr lang="zh-CN" altLang="en-US" sz="2800" kern="1200" dirty="0">
                <a:solidFill>
                  <a:srgbClr val="6633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083842" y="5422167"/>
            <a:ext cx="2586731" cy="472320"/>
            <a:chOff x="423021" y="53907"/>
            <a:chExt cx="7228999" cy="472320"/>
          </a:xfr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17" name="圆角矩形 16"/>
            <p:cNvSpPr/>
            <p:nvPr/>
          </p:nvSpPr>
          <p:spPr>
            <a:xfrm>
              <a:off x="423021" y="53907"/>
              <a:ext cx="7228999" cy="472320"/>
            </a:xfrm>
            <a:prstGeom prst="round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18" name="圆角矩形 6"/>
            <p:cNvSpPr/>
            <p:nvPr/>
          </p:nvSpPr>
          <p:spPr>
            <a:xfrm>
              <a:off x="446078" y="76964"/>
              <a:ext cx="7182885" cy="42620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23849" tIns="0" rIns="223849" bIns="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Aft>
                  <a:spcPct val="35000"/>
                </a:spcAft>
              </a:pPr>
              <a:r>
                <a:rPr lang="en-US" altLang="zh-CN" sz="2800" b="1" dirty="0" smtClean="0">
                  <a:solidFill>
                    <a:srgbClr val="663300"/>
                  </a:solidFill>
                </a:rPr>
                <a:t>……</a:t>
              </a:r>
              <a:endParaRPr lang="zh-CN" altLang="en-US" sz="2800" kern="1200" dirty="0">
                <a:solidFill>
                  <a:srgbClr val="6633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310020" y="5422167"/>
            <a:ext cx="2586731" cy="472320"/>
            <a:chOff x="423021" y="53907"/>
            <a:chExt cx="7228999" cy="472320"/>
          </a:xfr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0" name="圆角矩形 19"/>
            <p:cNvSpPr/>
            <p:nvPr/>
          </p:nvSpPr>
          <p:spPr>
            <a:xfrm>
              <a:off x="423021" y="53907"/>
              <a:ext cx="7228999" cy="472320"/>
            </a:xfrm>
            <a:prstGeom prst="round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1" name="圆角矩形 6"/>
            <p:cNvSpPr/>
            <p:nvPr/>
          </p:nvSpPr>
          <p:spPr>
            <a:xfrm>
              <a:off x="446078" y="76964"/>
              <a:ext cx="7182885" cy="42620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23849" tIns="0" rIns="223849" bIns="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800" b="1" dirty="0">
                  <a:solidFill>
                    <a:srgbClr val="663300"/>
                  </a:solidFill>
                </a:rPr>
                <a:t>李四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67544" y="5445224"/>
            <a:ext cx="2586731" cy="472320"/>
            <a:chOff x="423021" y="53907"/>
            <a:chExt cx="7228999" cy="472320"/>
          </a:xfr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23" name="圆角矩形 22"/>
            <p:cNvSpPr/>
            <p:nvPr/>
          </p:nvSpPr>
          <p:spPr>
            <a:xfrm>
              <a:off x="423021" y="53907"/>
              <a:ext cx="7228999" cy="472320"/>
            </a:xfrm>
            <a:prstGeom prst="roundRect">
              <a:avLst/>
            </a:prstGeom>
            <a:grpFill/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</p:sp>
        <p:sp>
          <p:nvSpPr>
            <p:cNvPr id="24" name="圆角矩形 6"/>
            <p:cNvSpPr/>
            <p:nvPr/>
          </p:nvSpPr>
          <p:spPr>
            <a:xfrm>
              <a:off x="446078" y="76964"/>
              <a:ext cx="7182885" cy="426206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223849" tIns="0" rIns="223849" bIns="0" numCol="1" spcCol="1270" anchor="ctr" anchorCtr="0">
              <a:noAutofit/>
            </a:bodyPr>
            <a:lstStyle/>
            <a:p>
              <a:pPr algn="ctr" defTabSz="1244600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800" b="1" dirty="0">
                  <a:solidFill>
                    <a:srgbClr val="663300"/>
                  </a:solidFill>
                </a:rPr>
                <a:t>张三</a:t>
              </a:r>
            </a:p>
          </p:txBody>
        </p:sp>
      </p:grpSp>
      <p:cxnSp>
        <p:nvCxnSpPr>
          <p:cNvPr id="26" name="直接连接符 25"/>
          <p:cNvCxnSpPr/>
          <p:nvPr/>
        </p:nvCxnSpPr>
        <p:spPr>
          <a:xfrm flipH="1">
            <a:off x="1979712" y="4889148"/>
            <a:ext cx="1066312" cy="556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4" idx="2"/>
          </p:cNvCxnSpPr>
          <p:nvPr/>
        </p:nvCxnSpPr>
        <p:spPr>
          <a:xfrm flipH="1">
            <a:off x="4311818" y="4889148"/>
            <a:ext cx="1" cy="533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endCxn id="18" idx="0"/>
          </p:cNvCxnSpPr>
          <p:nvPr/>
        </p:nvCxnSpPr>
        <p:spPr>
          <a:xfrm>
            <a:off x="5596933" y="4889148"/>
            <a:ext cx="1780274" cy="556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6983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115888"/>
            <a:ext cx="7355160" cy="911225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数据成员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69554"/>
            <a:ext cx="8362950" cy="381563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lang="zh-CN" altLang="en-GB" sz="2800" dirty="0" smtClean="0"/>
              <a:t>数据成员指类的对象所包含的数据，它们可以是常量和变量。例如：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class Date //</a:t>
            </a:r>
            <a:r>
              <a:rPr lang="zh-CN" altLang="en-US" sz="2400" dirty="0" smtClean="0"/>
              <a:t>类定义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{		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	private:</a:t>
            </a:r>
            <a:endParaRPr lang="zh-CN" altLang="en-US" sz="2400" dirty="0" smtClean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 smtClean="0"/>
              <a:t>		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year,month,day</a:t>
            </a:r>
            <a:r>
              <a:rPr lang="en-US" altLang="zh-CN" sz="2400" dirty="0" smtClean="0"/>
              <a:t>;  //</a:t>
            </a:r>
            <a:r>
              <a:rPr lang="zh-CN" altLang="en-US" sz="2400" dirty="0" smtClean="0">
                <a:solidFill>
                  <a:srgbClr val="FFC000"/>
                </a:solidFill>
              </a:rPr>
              <a:t>数据成员</a:t>
            </a:r>
            <a:r>
              <a:rPr lang="zh-CN" altLang="en-US" sz="2400" dirty="0" smtClean="0"/>
              <a:t>说明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smtClean="0"/>
              <a:t>};</a:t>
            </a:r>
            <a:endParaRPr lang="zh-CN" altLang="en-GB" sz="24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115888"/>
            <a:ext cx="7355160" cy="941387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成员函数</a:t>
            </a:r>
          </a:p>
        </p:txBody>
      </p:sp>
      <p:sp>
        <p:nvSpPr>
          <p:cNvPr id="12789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547238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2800" dirty="0" smtClean="0"/>
              <a:t>成员函数描述了对类定义中的数据成员所能实施的操作。</a:t>
            </a:r>
          </a:p>
          <a:p>
            <a:pPr eaLnBrk="1" hangingPunct="1">
              <a:defRPr/>
            </a:pPr>
            <a:r>
              <a:rPr lang="zh-CN" altLang="en-GB" sz="2800" dirty="0" smtClean="0"/>
              <a:t>成员函数的定义可以放在类定义中，例如：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{		...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    void f() {...} </a:t>
            </a:r>
            <a:r>
              <a:rPr lang="en-GB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GB" sz="2000" dirty="0" smtClean="0">
                <a:solidFill>
                  <a:srgbClr val="0000FF"/>
                </a:solidFill>
              </a:rPr>
              <a:t>建议编译器按内联函数处理。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};</a:t>
            </a:r>
          </a:p>
          <a:p>
            <a:pPr eaLnBrk="1" hangingPunct="1">
              <a:defRPr/>
            </a:pPr>
            <a:r>
              <a:rPr lang="zh-CN" altLang="en-GB" sz="2800" dirty="0" smtClean="0"/>
              <a:t>成员函数的定义也可以放在类定义外，例如：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{		...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    void f(); </a:t>
            </a:r>
            <a:r>
              <a:rPr lang="en-GB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GB" sz="2000" dirty="0" smtClean="0">
                <a:solidFill>
                  <a:srgbClr val="0000FF"/>
                </a:solidFill>
              </a:rPr>
              <a:t>声明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};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000" dirty="0" smtClean="0"/>
              <a:t>void </a:t>
            </a:r>
            <a:r>
              <a:rPr lang="en-US" altLang="zh-CN" sz="2000" dirty="0" smtClean="0">
                <a:solidFill>
                  <a:srgbClr val="FF9900"/>
                </a:solidFill>
              </a:rPr>
              <a:t>A::f() </a:t>
            </a:r>
            <a:r>
              <a:rPr lang="en-US" altLang="zh-CN" sz="2000" dirty="0" smtClean="0"/>
              <a:t>{ ... }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需要用类名受限，区别于全局函数。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398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mtClean="0"/>
              <a:t>例：一个日期类的定义</a:t>
            </a:r>
          </a:p>
        </p:txBody>
      </p:sp>
      <p:sp>
        <p:nvSpPr>
          <p:cNvPr id="1351683" name="Rectangle 3"/>
          <p:cNvSpPr>
            <a:spLocks noGrp="1" noChangeArrowheads="1"/>
          </p:cNvSpPr>
          <p:nvPr>
            <p:ph idx="1"/>
          </p:nvPr>
        </p:nvSpPr>
        <p:spPr>
          <a:xfrm>
            <a:off x="277813" y="1484313"/>
            <a:ext cx="8686800" cy="5257800"/>
          </a:xfrm>
        </p:spPr>
        <p:txBody>
          <a:bodyPr/>
          <a:lstStyle/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class Date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	public: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void set(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y,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m,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d)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成员函数</a:t>
            </a:r>
            <a:endParaRPr lang="zh-CN" altLang="en-GB" sz="2000" dirty="0" smtClean="0">
              <a:solidFill>
                <a:srgbClr val="0000FF"/>
              </a:solidFill>
            </a:endParaRP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GB" sz="2000" dirty="0" smtClean="0"/>
              <a:t>		</a:t>
            </a:r>
            <a:r>
              <a:rPr lang="en-GB" altLang="zh-CN" sz="2000" dirty="0" smtClean="0"/>
              <a:t>{	</a:t>
            </a:r>
            <a:r>
              <a:rPr lang="en-US" altLang="zh-CN" sz="2000" dirty="0" smtClean="0"/>
              <a:t>year = y;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month = m;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day = d;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}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bool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is_leap_year</a:t>
            </a:r>
            <a:r>
              <a:rPr lang="en-US" altLang="zh-CN" sz="2000" dirty="0" smtClean="0"/>
              <a:t>()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成员函数</a:t>
            </a:r>
            <a:endParaRPr lang="zh-CN" altLang="en-GB" sz="2000" dirty="0" smtClean="0">
              <a:solidFill>
                <a:srgbClr val="0000FF"/>
              </a:solidFill>
            </a:endParaRP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GB" sz="2000" dirty="0" smtClean="0"/>
              <a:t>		</a:t>
            </a:r>
            <a:r>
              <a:rPr lang="en-GB" altLang="zh-CN" sz="2000" dirty="0" smtClean="0"/>
              <a:t>{	return (year%4 == 0 &amp;&amp; year%100 != 0) || 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					(year%400==0);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}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</a:t>
            </a:r>
            <a:r>
              <a:rPr lang="en-US" altLang="zh-CN" sz="2000" dirty="0" smtClean="0"/>
              <a:t>void print()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成员函数</a:t>
            </a:r>
            <a:endParaRPr lang="zh-CN" altLang="en-GB" sz="2000" dirty="0" smtClean="0">
              <a:solidFill>
                <a:srgbClr val="0000FF"/>
              </a:solidFill>
            </a:endParaRP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GB" sz="2000" dirty="0" smtClean="0"/>
              <a:t>		</a:t>
            </a:r>
            <a:r>
              <a:rPr lang="en-GB" altLang="zh-CN" sz="2000" dirty="0" smtClean="0"/>
              <a:t>{	</a:t>
            </a:r>
            <a:r>
              <a:rPr lang="en-GB" altLang="zh-CN" sz="2000" dirty="0" err="1" smtClean="0"/>
              <a:t>cout</a:t>
            </a:r>
            <a:r>
              <a:rPr lang="en-GB" altLang="zh-CN" sz="2000" dirty="0" smtClean="0"/>
              <a:t> &lt;&lt; year &lt;&lt; "." &lt;&lt; month &lt;&lt; "." &lt;&lt;day;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}</a:t>
            </a:r>
            <a:endParaRPr lang="en-US" altLang="zh-CN" sz="2000" dirty="0" smtClean="0"/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private: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year,month,day</a:t>
            </a:r>
            <a:r>
              <a:rPr lang="en-US" altLang="zh-CN" sz="2000" dirty="0" smtClean="0"/>
              <a:t>;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数据成员</a:t>
            </a:r>
          </a:p>
          <a:p>
            <a:pPr defTabSz="630238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1" y="201613"/>
            <a:ext cx="7438281" cy="7794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 eaLnBrk="1" hangingPunct="1">
              <a:defRPr/>
            </a:pPr>
            <a:r>
              <a:rPr lang="zh-CN" altLang="en-GB" b="1" dirty="0" smtClean="0">
                <a:solidFill>
                  <a:srgbClr val="FF9900"/>
                </a:solidFill>
              </a:rPr>
              <a:t>类成员的访问控制</a:t>
            </a:r>
            <a:r>
              <a:rPr lang="zh-CN" altLang="en-US" b="1" dirty="0" smtClean="0">
                <a:solidFill>
                  <a:srgbClr val="FF9900"/>
                </a:solidFill>
              </a:rPr>
              <a:t> </a:t>
            </a:r>
          </a:p>
        </p:txBody>
      </p:sp>
      <p:sp>
        <p:nvSpPr>
          <p:cNvPr id="128102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578850" cy="5256931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sz="2800" dirty="0" smtClean="0"/>
              <a:t>在</a:t>
            </a:r>
            <a:r>
              <a:rPr lang="en-US" altLang="zh-CN" sz="2800" dirty="0" smtClean="0"/>
              <a:t>C++</a:t>
            </a:r>
            <a:r>
              <a:rPr lang="zh-CN" altLang="en-US" sz="2800" dirty="0" smtClean="0"/>
              <a:t>的类定义中</a:t>
            </a:r>
            <a:r>
              <a:rPr lang="zh-CN" altLang="en-GB" sz="2800" dirty="0" smtClean="0"/>
              <a:t>，</a:t>
            </a:r>
            <a:r>
              <a:rPr lang="zh-CN" altLang="en-US" sz="2800" dirty="0" smtClean="0"/>
              <a:t>可以用访问控制修饰符</a:t>
            </a:r>
            <a:r>
              <a:rPr lang="en-GB" altLang="zh-CN" sz="2800" dirty="0" smtClean="0">
                <a:solidFill>
                  <a:srgbClr val="FF9900"/>
                </a:solidFill>
              </a:rPr>
              <a:t>public</a:t>
            </a:r>
            <a:r>
              <a:rPr lang="zh-CN" altLang="en-GB" sz="2800" dirty="0" smtClean="0"/>
              <a:t>，</a:t>
            </a:r>
            <a:r>
              <a:rPr lang="en-GB" altLang="zh-CN" sz="2800" dirty="0" smtClean="0">
                <a:solidFill>
                  <a:srgbClr val="FF9900"/>
                </a:solidFill>
              </a:rPr>
              <a:t>private</a:t>
            </a:r>
            <a:r>
              <a:rPr lang="zh-CN" altLang="en-GB" sz="2800" dirty="0" smtClean="0"/>
              <a:t>或</a:t>
            </a:r>
            <a:r>
              <a:rPr lang="en-GB" altLang="zh-CN" sz="2800" dirty="0" smtClean="0">
                <a:solidFill>
                  <a:srgbClr val="FF9900"/>
                </a:solidFill>
              </a:rPr>
              <a:t>protected</a:t>
            </a:r>
            <a:r>
              <a:rPr lang="zh-CN" altLang="en-GB" sz="2800" dirty="0" smtClean="0"/>
              <a:t>来描述</a:t>
            </a:r>
            <a:r>
              <a:rPr lang="zh-CN" altLang="en-US" sz="2800" dirty="0" smtClean="0"/>
              <a:t>对类成员的访问限制。默认</a:t>
            </a:r>
            <a:r>
              <a:rPr lang="zh-CN" altLang="en-US" sz="2800" dirty="0"/>
              <a:t>访问控制是</a:t>
            </a:r>
            <a:r>
              <a:rPr lang="en-US" altLang="zh-CN" sz="2800" dirty="0" smtClean="0">
                <a:solidFill>
                  <a:srgbClr val="FF9900"/>
                </a:solidFill>
              </a:rPr>
              <a:t>private</a:t>
            </a:r>
            <a:r>
              <a:rPr lang="zh-CN" altLang="en-US" sz="2800" dirty="0" smtClean="0"/>
              <a:t>。 例如：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class A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{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</a:t>
            </a:r>
            <a:r>
              <a:rPr lang="en-GB" altLang="zh-CN" sz="2400" dirty="0" err="1" smtClean="0"/>
              <a:t>int</a:t>
            </a:r>
            <a:r>
              <a:rPr lang="en-GB" altLang="zh-CN" sz="2400" dirty="0" smtClean="0"/>
              <a:t> </a:t>
            </a:r>
            <a:r>
              <a:rPr lang="en-GB" altLang="zh-CN" sz="2400" dirty="0"/>
              <a:t>m; </a:t>
            </a:r>
            <a:r>
              <a:rPr lang="en-GB" altLang="zh-CN" sz="2400" dirty="0" smtClean="0"/>
              <a:t>//</a:t>
            </a:r>
            <a:r>
              <a:rPr lang="zh-CN" altLang="en-US" sz="2400" dirty="0" smtClean="0">
                <a:solidFill>
                  <a:srgbClr val="0000FF"/>
                </a:solidFill>
              </a:rPr>
              <a:t>默认为</a:t>
            </a:r>
            <a:r>
              <a:rPr lang="en-US" altLang="zh-CN" sz="2400" dirty="0" smtClean="0">
                <a:solidFill>
                  <a:srgbClr val="0000FF"/>
                </a:solidFill>
              </a:rPr>
              <a:t>private</a:t>
            </a:r>
            <a:r>
              <a:rPr lang="zh-CN" altLang="en-US" sz="2400" dirty="0" smtClean="0"/>
              <a:t>，</a:t>
            </a:r>
            <a:r>
              <a:rPr lang="zh-CN" altLang="en-GB" sz="2400" dirty="0" smtClean="0"/>
              <a:t>只能</a:t>
            </a:r>
            <a:r>
              <a:rPr lang="zh-CN" altLang="en-GB" sz="2400" dirty="0"/>
              <a:t>在本类和友元的代码中访问。</a:t>
            </a:r>
            <a:endParaRPr lang="en-GB" altLang="zh-CN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>
                <a:solidFill>
                  <a:schemeClr val="folHlink"/>
                </a:solidFill>
              </a:rPr>
              <a:t> </a:t>
            </a:r>
            <a:r>
              <a:rPr lang="en-GB" altLang="zh-CN" sz="2400" dirty="0" smtClean="0">
                <a:solidFill>
                  <a:schemeClr val="folHlink"/>
                </a:solidFill>
              </a:rPr>
              <a:t>  	</a:t>
            </a:r>
            <a:r>
              <a:rPr lang="en-US" altLang="zh-CN" sz="2400" dirty="0" smtClean="0">
                <a:solidFill>
                  <a:srgbClr val="FF9900"/>
                </a:solidFill>
              </a:rPr>
              <a:t>public</a:t>
            </a:r>
            <a:r>
              <a:rPr lang="en-US" altLang="zh-CN" sz="2400" dirty="0" smtClean="0"/>
              <a:t>: //</a:t>
            </a:r>
            <a:r>
              <a:rPr lang="zh-CN" altLang="en-GB" sz="2400" dirty="0" smtClean="0">
                <a:solidFill>
                  <a:srgbClr val="0000FF"/>
                </a:solidFill>
              </a:rPr>
              <a:t>访问不受限制</a:t>
            </a:r>
            <a:r>
              <a:rPr lang="zh-CN" altLang="en-GB" sz="2400" dirty="0" smtClean="0"/>
              <a:t>。</a:t>
            </a:r>
            <a:r>
              <a:rPr lang="zh-CN" altLang="en-US" sz="2400" dirty="0" smtClean="0"/>
              <a:t> </a:t>
            </a:r>
            <a:endParaRPr lang="en-GB" altLang="zh-CN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   void f();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</a:t>
            </a:r>
            <a:r>
              <a:rPr lang="en-GB" altLang="zh-CN" sz="2400" dirty="0" smtClean="0">
                <a:solidFill>
                  <a:srgbClr val="FF9900"/>
                </a:solidFill>
              </a:rPr>
              <a:t>private</a:t>
            </a:r>
            <a:r>
              <a:rPr lang="en-GB" altLang="zh-CN" sz="2400" dirty="0" smtClean="0"/>
              <a:t>: //</a:t>
            </a:r>
            <a:r>
              <a:rPr lang="zh-CN" altLang="en-GB" sz="2400" dirty="0" smtClean="0">
                <a:solidFill>
                  <a:srgbClr val="0000FF"/>
                </a:solidFill>
              </a:rPr>
              <a:t>只能在本类和友元的代码中访问</a:t>
            </a:r>
            <a:r>
              <a:rPr lang="zh-CN" altLang="en-GB" sz="2400" dirty="0" smtClean="0"/>
              <a:t>。</a:t>
            </a:r>
            <a:r>
              <a:rPr lang="zh-CN" altLang="en-US" sz="2400" dirty="0" smtClean="0"/>
              <a:t> </a:t>
            </a:r>
            <a:endParaRPr lang="zh-CN" altLang="en-GB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   </a:t>
            </a:r>
            <a:r>
              <a:rPr lang="en-GB" altLang="zh-CN" sz="2400" dirty="0" err="1" smtClean="0"/>
              <a:t>int</a:t>
            </a:r>
            <a:r>
              <a:rPr lang="en-GB" altLang="zh-CN" sz="2400" dirty="0" smtClean="0"/>
              <a:t> </a:t>
            </a:r>
            <a:r>
              <a:rPr lang="en-US" altLang="zh-CN" sz="2400" dirty="0" smtClean="0"/>
              <a:t>x,</a:t>
            </a:r>
            <a:r>
              <a:rPr lang="en-GB" altLang="zh-CN" sz="2400" dirty="0" smtClean="0"/>
              <a:t>y;</a:t>
            </a:r>
          </a:p>
          <a:p>
            <a:pPr lvl="1">
              <a:lnSpc>
                <a:spcPct val="110000"/>
              </a:lnSpc>
              <a:buNone/>
              <a:defRPr/>
            </a:pPr>
            <a:r>
              <a:rPr lang="en-GB" altLang="zh-CN" sz="2400" dirty="0" smtClean="0"/>
              <a:t>		</a:t>
            </a:r>
            <a:r>
              <a:rPr lang="en-GB" altLang="zh-CN" dirty="0"/>
              <a:t> </a:t>
            </a:r>
            <a:r>
              <a:rPr lang="en-GB" altLang="zh-CN" dirty="0" smtClean="0"/>
              <a:t>  void </a:t>
            </a:r>
            <a:r>
              <a:rPr lang="en-GB" altLang="zh-CN" sz="2400" dirty="0" smtClean="0"/>
              <a:t>g();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</a:t>
            </a:r>
            <a:r>
              <a:rPr lang="en-GB" altLang="zh-CN" sz="2400" dirty="0" smtClean="0">
                <a:solidFill>
                  <a:srgbClr val="FF9900"/>
                </a:solidFill>
              </a:rPr>
              <a:t>protected</a:t>
            </a:r>
            <a:r>
              <a:rPr lang="en-GB" altLang="zh-CN" sz="2400" dirty="0" smtClean="0"/>
              <a:t>: //</a:t>
            </a:r>
            <a:r>
              <a:rPr lang="zh-CN" altLang="en-GB" sz="2400" dirty="0" smtClean="0">
                <a:solidFill>
                  <a:srgbClr val="0000FF"/>
                </a:solidFill>
              </a:rPr>
              <a:t>只能在本类、派生类和友元的代码中访问</a:t>
            </a:r>
            <a:r>
              <a:rPr lang="zh-CN" altLang="en-GB" sz="2400" dirty="0" smtClean="0"/>
              <a:t>。</a:t>
            </a:r>
            <a:r>
              <a:rPr lang="zh-CN" altLang="en-US" sz="2400" dirty="0" smtClean="0"/>
              <a:t> </a:t>
            </a:r>
            <a:endParaRPr lang="en-GB" altLang="zh-CN" sz="2400" dirty="0" smtClean="0"/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	   </a:t>
            </a:r>
            <a:r>
              <a:rPr lang="en-GB" altLang="zh-CN" sz="2400" dirty="0" err="1" smtClean="0"/>
              <a:t>int</a:t>
            </a:r>
            <a:r>
              <a:rPr lang="en-GB" altLang="zh-CN" sz="2400" dirty="0" smtClean="0"/>
              <a:t> z;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		   void h();</a:t>
            </a:r>
          </a:p>
          <a:p>
            <a:pPr lvl="1" eaLnBrk="1" hangingPunct="1">
              <a:lnSpc>
                <a:spcPct val="110000"/>
              </a:lnSpc>
              <a:buFontTx/>
              <a:buNone/>
              <a:defRPr/>
            </a:pPr>
            <a:r>
              <a:rPr lang="en-GB" altLang="zh-CN" sz="2400" dirty="0" smtClean="0"/>
              <a:t>};</a:t>
            </a:r>
            <a:endParaRPr lang="en-US" altLang="zh-CN" sz="24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098" name="Rectangle 2"/>
          <p:cNvSpPr>
            <a:spLocks noGrp="1" noChangeArrowheads="1"/>
          </p:cNvSpPr>
          <p:nvPr>
            <p:ph idx="1"/>
          </p:nvPr>
        </p:nvSpPr>
        <p:spPr>
          <a:xfrm>
            <a:off x="539552" y="1412776"/>
            <a:ext cx="8435975" cy="5903912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GB" dirty="0" smtClean="0"/>
              <a:t>一般来说，类的</a:t>
            </a:r>
            <a:r>
              <a:rPr lang="zh-CN" altLang="en-GB" dirty="0" smtClean="0">
                <a:solidFill>
                  <a:srgbClr val="FF9900"/>
                </a:solidFill>
              </a:rPr>
              <a:t>数据成员</a:t>
            </a:r>
            <a:r>
              <a:rPr lang="zh-CN" altLang="en-GB" dirty="0" smtClean="0"/>
              <a:t>和</a:t>
            </a:r>
            <a:r>
              <a:rPr lang="zh-CN" altLang="en-US" dirty="0" smtClean="0"/>
              <a:t>在类的</a:t>
            </a:r>
            <a:r>
              <a:rPr lang="zh-CN" altLang="en-US" dirty="0" smtClean="0">
                <a:solidFill>
                  <a:srgbClr val="FF9900"/>
                </a:solidFill>
              </a:rPr>
              <a:t>内部使用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9900"/>
                </a:solidFill>
              </a:rPr>
              <a:t>成员函数</a:t>
            </a:r>
            <a:r>
              <a:rPr lang="zh-CN" altLang="en-GB" dirty="0" smtClean="0"/>
              <a:t>应该指定为</a:t>
            </a:r>
            <a:r>
              <a:rPr lang="en-US" altLang="zh-CN" dirty="0" smtClean="0"/>
              <a:t>private</a:t>
            </a:r>
            <a:r>
              <a:rPr lang="zh-CN" altLang="en-GB" dirty="0" smtClean="0"/>
              <a:t>，只有提供给外界使用的成员函数才指定为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/>
              <a:t>具有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访问控制的成员构成了</a:t>
            </a:r>
            <a:r>
              <a:rPr lang="zh-CN" altLang="en-GB" dirty="0" smtClean="0"/>
              <a:t>类与外界的一种</a:t>
            </a:r>
            <a:r>
              <a:rPr lang="zh-CN" altLang="en-GB" dirty="0" smtClean="0">
                <a:solidFill>
                  <a:srgbClr val="FF9900"/>
                </a:solidFill>
              </a:rPr>
              <a:t>接口</a:t>
            </a:r>
            <a:r>
              <a:rPr lang="zh-CN" altLang="en-GB" dirty="0" smtClean="0"/>
              <a:t>（</a:t>
            </a:r>
            <a:r>
              <a:rPr lang="en-US" altLang="zh-CN" dirty="0" smtClean="0"/>
              <a:t>interface</a:t>
            </a:r>
            <a:r>
              <a:rPr lang="zh-CN" altLang="en-US" dirty="0" smtClean="0"/>
              <a:t>）。操作一个类的对象时，只能通过访问对象类中的</a:t>
            </a:r>
            <a:r>
              <a:rPr lang="en-US" altLang="zh-CN" dirty="0" smtClean="0"/>
              <a:t>public</a:t>
            </a:r>
            <a:r>
              <a:rPr lang="zh-CN" altLang="en-US" dirty="0" smtClean="0"/>
              <a:t>成员来实现。 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 smtClean="0"/>
              <a:t>protected</a:t>
            </a:r>
            <a:r>
              <a:rPr lang="zh-CN" altLang="en-US" dirty="0" smtClean="0"/>
              <a:t>类成员访问控制具有特殊的作用（继承，在派生类中使用）。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0"/>
            <a:ext cx="7293248" cy="11398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 eaLnBrk="1" hangingPunct="1">
              <a:defRPr/>
            </a:pPr>
            <a:r>
              <a:rPr lang="zh-CN" altLang="en-GB" b="1" dirty="0" smtClean="0">
                <a:solidFill>
                  <a:srgbClr val="FF9900"/>
                </a:solidFill>
              </a:rPr>
              <a:t>对象的创建和标识</a:t>
            </a:r>
            <a:r>
              <a:rPr lang="zh-CN" altLang="en-US" b="1" dirty="0" smtClean="0">
                <a:solidFill>
                  <a:srgbClr val="FF9900"/>
                </a:solidFill>
              </a:rPr>
              <a:t> </a:t>
            </a:r>
          </a:p>
        </p:txBody>
      </p:sp>
      <p:sp>
        <p:nvSpPr>
          <p:cNvPr id="1081347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196975"/>
            <a:ext cx="8893175" cy="5661025"/>
          </a:xfrm>
        </p:spPr>
        <p:txBody>
          <a:bodyPr/>
          <a:lstStyle/>
          <a:p>
            <a:pPr defTabSz="741363" eaLnBrk="1" hangingPunct="1">
              <a:lnSpc>
                <a:spcPct val="90000"/>
              </a:lnSpc>
              <a:defRPr/>
            </a:pPr>
            <a:r>
              <a:rPr lang="zh-CN" altLang="en-GB" dirty="0" smtClean="0"/>
              <a:t>直接方式</a:t>
            </a:r>
          </a:p>
          <a:p>
            <a:pPr marL="885825" lvl="1" indent="-342900" defTabSz="741363"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zh-CN" altLang="en-GB" sz="2400" dirty="0" smtClean="0"/>
              <a:t>与普通变量的定义相同。例如：</a:t>
            </a:r>
          </a:p>
          <a:p>
            <a:pPr marL="1336675" lvl="2" defTabSz="741363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class A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{	public: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void f();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void g();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private: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		</a:t>
            </a:r>
            <a:r>
              <a:rPr lang="en-GB" altLang="zh-CN" sz="2000" dirty="0" err="1" smtClean="0"/>
              <a:t>int</a:t>
            </a:r>
            <a:r>
              <a:rPr lang="en-GB" altLang="zh-CN" sz="2000" dirty="0" smtClean="0"/>
              <a:t> </a:t>
            </a:r>
            <a:r>
              <a:rPr lang="en-GB" altLang="zh-CN" sz="2000" dirty="0" err="1" smtClean="0"/>
              <a:t>x,y</a:t>
            </a:r>
            <a:r>
              <a:rPr lang="en-GB" altLang="zh-CN" sz="2000" dirty="0" smtClean="0"/>
              <a:t>;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}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......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A a1;  //</a:t>
            </a:r>
            <a:r>
              <a:rPr lang="zh-CN" altLang="en-GB" sz="2000" dirty="0" smtClean="0"/>
              <a:t>创建一个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类的对象。</a:t>
            </a:r>
          </a:p>
          <a:p>
            <a:pPr marL="1336675" lvl="2" defTabSz="741363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altLang="zh-CN" sz="2000" dirty="0" smtClean="0"/>
              <a:t>A a2[100]; //</a:t>
            </a:r>
            <a:r>
              <a:rPr lang="zh-CN" altLang="en-GB" sz="2000" dirty="0" smtClean="0"/>
              <a:t>创建</a:t>
            </a:r>
            <a:r>
              <a:rPr lang="en-GB" altLang="zh-CN" sz="2000" dirty="0" smtClean="0"/>
              <a:t>100</a:t>
            </a:r>
            <a:r>
              <a:rPr lang="zh-CN" altLang="en-GB" sz="2000" dirty="0" smtClean="0"/>
              <a:t>个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类对象。</a:t>
            </a:r>
            <a:endParaRPr lang="en-US" altLang="zh-CN" dirty="0"/>
          </a:p>
          <a:p>
            <a:pPr marL="885825" lvl="1" indent="-342900" defTabSz="741363" eaLnBrk="1" hangingPunct="1">
              <a:lnSpc>
                <a:spcPct val="90000"/>
              </a:lnSpc>
              <a:spcBef>
                <a:spcPts val="3000"/>
              </a:spcBef>
              <a:buFont typeface="Wingdings" pitchFamily="2" charset="2"/>
              <a:buChar char="Ø"/>
              <a:defRPr/>
            </a:pPr>
            <a:r>
              <a:rPr lang="zh-CN" altLang="en-US" sz="2400" dirty="0" smtClean="0"/>
              <a:t>对象通过对象名来标识和访问。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0768"/>
            <a:ext cx="8518525" cy="5328591"/>
          </a:xfrm>
        </p:spPr>
        <p:txBody>
          <a:bodyPr>
            <a:normAutofit fontScale="92500" lnSpcReduction="20000"/>
          </a:bodyPr>
          <a:lstStyle/>
          <a:p>
            <a:pPr marL="609600" indent="-609600" eaLnBrk="1" hangingPunct="1">
              <a:lnSpc>
                <a:spcPct val="115000"/>
              </a:lnSpc>
              <a:defRPr/>
            </a:pPr>
            <a:r>
              <a:rPr lang="zh-CN" altLang="en-US" dirty="0" smtClean="0"/>
              <a:t>间接方式（动态对象）</a:t>
            </a:r>
          </a:p>
          <a:p>
            <a:pPr marL="990600" lvl="1" indent="-533400" eaLnBrk="1" hangingPunct="1">
              <a:lnSpc>
                <a:spcPct val="115000"/>
              </a:lnSpc>
              <a:defRPr/>
            </a:pPr>
            <a:r>
              <a:rPr lang="zh-CN" altLang="en-GB" dirty="0" smtClean="0"/>
              <a:t>在程序运行时刻，通过</a:t>
            </a:r>
            <a:r>
              <a:rPr lang="en-GB" altLang="zh-CN" dirty="0" smtClean="0">
                <a:solidFill>
                  <a:srgbClr val="FF9900"/>
                </a:solidFill>
              </a:rPr>
              <a:t>new</a:t>
            </a:r>
            <a:r>
              <a:rPr lang="zh-CN" altLang="en-GB" dirty="0" smtClean="0"/>
              <a:t>操作来创建对象</a:t>
            </a:r>
            <a:r>
              <a:rPr lang="zh-CN" altLang="en-US" dirty="0" smtClean="0"/>
              <a:t>，</a:t>
            </a:r>
            <a:r>
              <a:rPr lang="zh-CN" altLang="en-GB" dirty="0" smtClean="0"/>
              <a:t>用</a:t>
            </a:r>
            <a:r>
              <a:rPr lang="en-GB" altLang="zh-CN" dirty="0">
                <a:solidFill>
                  <a:srgbClr val="FF9900"/>
                </a:solidFill>
              </a:rPr>
              <a:t>delete</a:t>
            </a:r>
            <a:r>
              <a:rPr lang="zh-CN" altLang="en-GB" dirty="0"/>
              <a:t>操作来撤消（使之消亡）</a:t>
            </a:r>
            <a:r>
              <a:rPr lang="zh-CN" altLang="en-GB" dirty="0" smtClean="0"/>
              <a:t>。</a:t>
            </a:r>
          </a:p>
          <a:p>
            <a:pPr marL="990600" lvl="1" indent="-533400" eaLnBrk="1" hangingPunct="1">
              <a:lnSpc>
                <a:spcPct val="115000"/>
              </a:lnSpc>
              <a:defRPr/>
            </a:pPr>
            <a:r>
              <a:rPr lang="zh-CN" altLang="en-GB" dirty="0" smtClean="0"/>
              <a:t>动态对象通过指针来标识和访问。</a:t>
            </a:r>
            <a:endParaRPr lang="en-US" altLang="zh-CN" dirty="0" smtClean="0"/>
          </a:p>
          <a:p>
            <a:pPr marL="990600" lvl="1" indent="-533400" eaLnBrk="1" hangingPunct="1">
              <a:lnSpc>
                <a:spcPct val="115000"/>
              </a:lnSpc>
              <a:defRPr/>
            </a:pPr>
            <a:r>
              <a:rPr lang="zh-CN" altLang="en-US" dirty="0"/>
              <a:t>单个动态对象的创建与撤消</a:t>
            </a:r>
          </a:p>
          <a:p>
            <a:pPr marL="984250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A *p;</a:t>
            </a:r>
          </a:p>
          <a:p>
            <a:pPr marL="984250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p = new A;  // </a:t>
            </a:r>
            <a:r>
              <a:rPr lang="zh-CN" altLang="en-US" dirty="0"/>
              <a:t>创建一个</a:t>
            </a:r>
            <a:r>
              <a:rPr lang="en-US" altLang="zh-CN" dirty="0"/>
              <a:t>A</a:t>
            </a:r>
            <a:r>
              <a:rPr lang="zh-CN" altLang="en-US" dirty="0"/>
              <a:t>类的动态对象。</a:t>
            </a:r>
          </a:p>
          <a:p>
            <a:pPr marL="984250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… *p … //</a:t>
            </a:r>
            <a:r>
              <a:rPr lang="zh-CN" altLang="en-US" dirty="0"/>
              <a:t>通过</a:t>
            </a:r>
            <a:r>
              <a:rPr lang="en-US" altLang="zh-CN" dirty="0"/>
              <a:t>p</a:t>
            </a:r>
            <a:r>
              <a:rPr lang="zh-CN" altLang="en-US" dirty="0"/>
              <a:t>访问动态对象</a:t>
            </a:r>
          </a:p>
          <a:p>
            <a:pPr marL="984250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delete p;   // </a:t>
            </a:r>
            <a:r>
              <a:rPr lang="zh-CN" altLang="en-US" dirty="0"/>
              <a:t>撤消</a:t>
            </a:r>
            <a:r>
              <a:rPr lang="en-US" altLang="zh-CN" dirty="0"/>
              <a:t>p</a:t>
            </a:r>
            <a:r>
              <a:rPr lang="zh-CN" altLang="en-US" dirty="0"/>
              <a:t>所指向的动态对象。</a:t>
            </a:r>
          </a:p>
          <a:p>
            <a:pPr marL="990600" lvl="1" indent="-533400" eaLnBrk="1" hangingPunct="1">
              <a:lnSpc>
                <a:spcPct val="115000"/>
              </a:lnSpc>
              <a:defRPr/>
            </a:pPr>
            <a:r>
              <a:rPr lang="zh-CN" altLang="en-US" dirty="0"/>
              <a:t>动态对象数组的创建与撤消</a:t>
            </a:r>
          </a:p>
          <a:p>
            <a:pPr marL="989013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A </a:t>
            </a:r>
            <a:r>
              <a:rPr lang="en-US" altLang="zh-CN" dirty="0" smtClean="0"/>
              <a:t>*q;</a:t>
            </a:r>
            <a:endParaRPr lang="en-US" altLang="zh-CN" dirty="0"/>
          </a:p>
          <a:p>
            <a:pPr marL="989013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 smtClean="0"/>
              <a:t>q </a:t>
            </a:r>
            <a:r>
              <a:rPr lang="en-US" altLang="zh-CN" dirty="0"/>
              <a:t>= new A[100];   //</a:t>
            </a:r>
            <a:r>
              <a:rPr lang="zh-CN" altLang="en-US" dirty="0"/>
              <a:t>创建一个动态对象数组。</a:t>
            </a:r>
          </a:p>
          <a:p>
            <a:pPr marL="989013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...... //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q</a:t>
            </a:r>
            <a:r>
              <a:rPr lang="zh-CN" altLang="en-US" dirty="0" smtClean="0"/>
              <a:t>访问</a:t>
            </a:r>
            <a:r>
              <a:rPr lang="zh-CN" altLang="en-US" dirty="0"/>
              <a:t>动态对象数组</a:t>
            </a:r>
          </a:p>
          <a:p>
            <a:pPr marL="989013" lvl="2" indent="0" eaLnBrk="1" hangingPunct="1">
              <a:lnSpc>
                <a:spcPct val="115000"/>
              </a:lnSpc>
              <a:buNone/>
              <a:defRPr/>
            </a:pPr>
            <a:r>
              <a:rPr lang="en-US" altLang="zh-CN" dirty="0"/>
              <a:t>delete </a:t>
            </a:r>
            <a:r>
              <a:rPr lang="en-US" altLang="zh-CN" dirty="0" smtClean="0"/>
              <a:t>[]q;   </a:t>
            </a:r>
            <a:r>
              <a:rPr lang="en-US" altLang="zh-CN" dirty="0"/>
              <a:t>//</a:t>
            </a:r>
            <a:r>
              <a:rPr lang="zh-CN" altLang="en-US" dirty="0" smtClean="0"/>
              <a:t>撤消</a:t>
            </a:r>
            <a:r>
              <a:rPr lang="en-US" altLang="zh-CN" dirty="0" smtClean="0"/>
              <a:t>q</a:t>
            </a:r>
            <a:r>
              <a:rPr lang="zh-CN" altLang="en-US" dirty="0" smtClean="0"/>
              <a:t>所</a:t>
            </a:r>
            <a:r>
              <a:rPr lang="zh-CN" altLang="en-US" dirty="0"/>
              <a:t>指向的动态对象数组</a:t>
            </a:r>
            <a:r>
              <a:rPr lang="zh-CN" altLang="en-US" dirty="0" smtClean="0"/>
              <a:t>。</a:t>
            </a:r>
            <a:r>
              <a:rPr lang="zh-CN" altLang="en-GB" dirty="0" smtClean="0"/>
              <a:t> </a:t>
            </a:r>
            <a:endParaRPr lang="zh-CN" alt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15888"/>
            <a:ext cx="7571184" cy="94138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838200" indent="-838200" algn="l" eaLnBrk="1" hangingPunct="1">
              <a:defRPr/>
            </a:pPr>
            <a:r>
              <a:rPr lang="zh-CN" altLang="en-US" sz="4000" b="1" dirty="0" smtClean="0">
                <a:solidFill>
                  <a:srgbClr val="FF9900"/>
                </a:solidFill>
              </a:rPr>
              <a:t>对象的初始化</a:t>
            </a:r>
          </a:p>
        </p:txBody>
      </p:sp>
      <p:sp>
        <p:nvSpPr>
          <p:cNvPr id="108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413" y="1196975"/>
            <a:ext cx="8640762" cy="4824313"/>
          </a:xfrm>
          <a:noFill/>
          <a:ln>
            <a:noFill/>
          </a:ln>
          <a:effectLst/>
        </p:spPr>
        <p:txBody>
          <a:bodyPr/>
          <a:lstStyle/>
          <a:p>
            <a:pPr eaLnBrk="1" hangingPunct="1">
              <a:spcBef>
                <a:spcPct val="35000"/>
              </a:spcBef>
              <a:defRPr/>
            </a:pPr>
            <a:r>
              <a:rPr lang="zh-CN" altLang="en-GB" sz="2400" dirty="0" smtClean="0"/>
              <a:t>当一个对象被创建时，它将获得一块存储空间，该存储空间用于存储对象的数据成员。</a:t>
            </a:r>
            <a:endParaRPr lang="en-US" altLang="zh-CN" sz="2400" dirty="0" smtClean="0"/>
          </a:p>
          <a:p>
            <a:pPr eaLnBrk="1" hangingPunct="1">
              <a:spcBef>
                <a:spcPct val="35000"/>
              </a:spcBef>
              <a:defRPr/>
            </a:pPr>
            <a:r>
              <a:rPr lang="en-US" altLang="zh-CN" sz="2400" dirty="0" smtClean="0"/>
              <a:t>C++</a:t>
            </a:r>
            <a:r>
              <a:rPr lang="zh-CN" altLang="en-US" sz="2400" dirty="0" smtClean="0"/>
              <a:t>提供了一种对象初始化的机制：</a:t>
            </a:r>
            <a:r>
              <a:rPr lang="zh-CN" altLang="en-US" sz="2400" b="1" dirty="0" smtClean="0">
                <a:solidFill>
                  <a:srgbClr val="FF9900"/>
                </a:solidFill>
              </a:rPr>
              <a:t>构造函数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eaLnBrk="1" hangingPunct="1">
              <a:spcBef>
                <a:spcPct val="35000"/>
              </a:spcBef>
              <a:defRPr/>
            </a:pPr>
            <a:r>
              <a:rPr lang="zh-CN" altLang="en-US" sz="2400" dirty="0" smtClean="0"/>
              <a:t>构造函数是类的特殊成员函数，它的名字与</a:t>
            </a:r>
            <a:r>
              <a:rPr lang="zh-CN" altLang="en-GB" sz="2400" dirty="0" smtClean="0"/>
              <a:t>类名相同、无返回值类型。</a:t>
            </a:r>
            <a:r>
              <a:rPr lang="zh-CN" altLang="en-US" sz="2400" dirty="0" smtClean="0"/>
              <a:t>创建对象时，构造函数会自动被调用。</a:t>
            </a:r>
            <a:r>
              <a:rPr lang="zh-CN" altLang="en-GB" sz="2400" dirty="0" smtClean="0"/>
              <a:t>例如：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 smtClean="0"/>
              <a:t>class A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 smtClean="0"/>
              <a:t>{		</a:t>
            </a:r>
            <a:r>
              <a:rPr lang="en-GB" altLang="zh-CN" sz="2000" dirty="0" err="1" smtClean="0"/>
              <a:t>int</a:t>
            </a:r>
            <a:r>
              <a:rPr lang="en-GB" altLang="zh-CN" sz="2000" dirty="0" smtClean="0"/>
              <a:t> x;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 smtClean="0"/>
              <a:t>	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 smtClean="0"/>
              <a:t>		</a:t>
            </a:r>
            <a:r>
              <a:rPr lang="en-GB" altLang="zh-CN" sz="2000" dirty="0" smtClean="0">
                <a:solidFill>
                  <a:srgbClr val="FF9900"/>
                </a:solidFill>
              </a:rPr>
              <a:t>A() </a:t>
            </a:r>
            <a:r>
              <a:rPr lang="en-GB" altLang="zh-CN" sz="2000" dirty="0" smtClean="0"/>
              <a:t>{ x = 0; } </a:t>
            </a:r>
            <a:r>
              <a:rPr lang="en-GB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GB" sz="2000" dirty="0" smtClean="0">
                <a:solidFill>
                  <a:srgbClr val="0000FF"/>
                </a:solidFill>
              </a:rPr>
              <a:t>构造函数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GB" sz="2000" dirty="0" smtClean="0"/>
              <a:t>	</a:t>
            </a:r>
            <a:r>
              <a:rPr lang="en-GB" altLang="zh-CN" sz="2000" dirty="0" smtClean="0"/>
              <a:t>......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 smtClean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dirty="0" smtClean="0">
                <a:solidFill>
                  <a:srgbClr val="0000FF"/>
                </a:solidFill>
              </a:rPr>
              <a:t>例：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GB" altLang="zh-CN" sz="2000" dirty="0" smtClean="0">
                <a:solidFill>
                  <a:srgbClr val="0000FF"/>
                </a:solidFill>
              </a:rPr>
              <a:t>A </a:t>
            </a:r>
            <a:r>
              <a:rPr lang="en-GB" altLang="zh-CN" sz="2000" dirty="0" err="1" smtClean="0">
                <a:solidFill>
                  <a:srgbClr val="0000FF"/>
                </a:solidFill>
              </a:rPr>
              <a:t>a</a:t>
            </a:r>
            <a:r>
              <a:rPr lang="en-GB" altLang="zh-CN" sz="2000" dirty="0" smtClean="0">
                <a:solidFill>
                  <a:srgbClr val="0000FF"/>
                </a:solidFill>
              </a:rPr>
              <a:t>; //</a:t>
            </a:r>
            <a:r>
              <a:rPr lang="zh-CN" altLang="en-GB" sz="2000" dirty="0" smtClean="0">
                <a:solidFill>
                  <a:srgbClr val="0000FF"/>
                </a:solidFill>
              </a:rPr>
              <a:t>创建对象</a:t>
            </a:r>
            <a:r>
              <a:rPr lang="en-GB" altLang="zh-CN" sz="2000" dirty="0" smtClean="0">
                <a:solidFill>
                  <a:srgbClr val="0000FF"/>
                </a:solidFill>
              </a:rPr>
              <a:t>a</a:t>
            </a:r>
            <a:r>
              <a:rPr lang="zh-CN" altLang="en-GB" sz="2000" dirty="0" smtClean="0">
                <a:solidFill>
                  <a:srgbClr val="0000FF"/>
                </a:solidFill>
              </a:rPr>
              <a:t>：为</a:t>
            </a:r>
            <a:r>
              <a:rPr lang="en-GB" altLang="zh-CN" sz="2000" dirty="0" smtClean="0">
                <a:solidFill>
                  <a:srgbClr val="0000FF"/>
                </a:solidFill>
              </a:rPr>
              <a:t>a</a:t>
            </a:r>
            <a:r>
              <a:rPr lang="zh-CN" altLang="en-GB" sz="2000" dirty="0" smtClean="0">
                <a:solidFill>
                  <a:srgbClr val="0000FF"/>
                </a:solidFill>
              </a:rPr>
              <a:t>分配内存空间，然后调用</a:t>
            </a:r>
            <a:r>
              <a:rPr lang="en-GB" altLang="zh-CN" sz="2000" dirty="0" smtClean="0">
                <a:solidFill>
                  <a:srgbClr val="0000FF"/>
                </a:solidFill>
              </a:rPr>
              <a:t>a</a:t>
            </a:r>
            <a:r>
              <a:rPr lang="zh-CN" altLang="en-GB" sz="2000" dirty="0" smtClean="0">
                <a:solidFill>
                  <a:srgbClr val="0000FF"/>
                </a:solidFill>
              </a:rPr>
              <a:t>的构造函数</a:t>
            </a:r>
            <a:r>
              <a:rPr lang="en-GB" altLang="zh-CN" sz="2000" dirty="0" smtClean="0">
                <a:solidFill>
                  <a:srgbClr val="0000FF"/>
                </a:solidFill>
              </a:rPr>
              <a:t>A()</a:t>
            </a:r>
            <a:r>
              <a:rPr lang="zh-CN" altLang="en-GB" sz="2000" dirty="0" smtClean="0">
                <a:solidFill>
                  <a:srgbClr val="0000FF"/>
                </a:solidFill>
              </a:rPr>
              <a:t>。</a:t>
            </a:r>
            <a:endParaRPr lang="zh-CN" altLang="en-US" sz="2000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6287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构造函数最主要的最用：对象初始化</a:t>
            </a:r>
          </a:p>
          <a:p>
            <a:pPr marL="441325" lvl="1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）对多个函数进行赋值时，不需要重复的写实例名</a:t>
            </a:r>
          </a:p>
          <a:p>
            <a:pPr marL="441325" lvl="1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）可以保护用户在</a:t>
            </a:r>
            <a:r>
              <a:rPr lang="en-US" altLang="zh-CN" dirty="0"/>
              <a:t>new</a:t>
            </a:r>
            <a:r>
              <a:rPr lang="zh-CN" altLang="en-US" dirty="0"/>
              <a:t>一个对象时必须对某一个属性进行赋值</a:t>
            </a:r>
          </a:p>
          <a:p>
            <a:pPr marL="441325" lvl="1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）在创建对象时，对只读属性进行初始化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491921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115888"/>
            <a:ext cx="7643192" cy="8683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 eaLnBrk="1" hangingPunct="1">
              <a:defRPr/>
            </a:pPr>
            <a:r>
              <a:rPr lang="zh-CN" altLang="en-GB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对象的操作</a:t>
            </a:r>
            <a:r>
              <a:rPr lang="zh-CN" altLang="en-US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0772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353425" cy="561583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2400" dirty="0" smtClean="0"/>
              <a:t>对于创建的一个对象，需要通过调用对象类中定义的某个</a:t>
            </a:r>
            <a:r>
              <a:rPr lang="en-GB" altLang="zh-CN" sz="2400" dirty="0" smtClean="0"/>
              <a:t>public</a:t>
            </a:r>
            <a:r>
              <a:rPr lang="zh-CN" altLang="en-GB" sz="2400" dirty="0" smtClean="0"/>
              <a:t>成员函数</a:t>
            </a:r>
            <a:r>
              <a:rPr lang="zh-CN" altLang="en-US" sz="2400" dirty="0" smtClean="0"/>
              <a:t>来操作</a:t>
            </a:r>
            <a:r>
              <a:rPr lang="zh-CN" altLang="en-GB" sz="2400" dirty="0" smtClean="0"/>
              <a:t>。例如：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class A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{		</a:t>
            </a:r>
            <a:r>
              <a:rPr lang="en-GB" altLang="zh-CN" sz="2000" dirty="0" err="1" smtClean="0"/>
              <a:t>int</a:t>
            </a:r>
            <a:r>
              <a:rPr lang="en-GB" altLang="zh-CN" sz="2000" dirty="0" smtClean="0"/>
              <a:t> x;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	public: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		void f() { </a:t>
            </a:r>
            <a:r>
              <a:rPr lang="en-US" altLang="zh-CN" sz="2000" dirty="0" smtClean="0"/>
              <a:t>... x ... </a:t>
            </a:r>
            <a:r>
              <a:rPr lang="en-GB" altLang="zh-CN" sz="2000" dirty="0" smtClean="0"/>
              <a:t>};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};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err="1" smtClean="0"/>
              <a:t>int</a:t>
            </a:r>
            <a:r>
              <a:rPr lang="en-GB" altLang="zh-CN" sz="2000" dirty="0" smtClean="0"/>
              <a:t> main()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{	A </a:t>
            </a:r>
            <a:r>
              <a:rPr lang="en-GB" altLang="zh-CN" sz="2000" dirty="0" err="1" smtClean="0"/>
              <a:t>a</a:t>
            </a:r>
            <a:r>
              <a:rPr lang="en-GB" altLang="zh-CN" sz="2000" dirty="0" smtClean="0"/>
              <a:t>; 	//</a:t>
            </a:r>
            <a:r>
              <a:rPr lang="zh-CN" altLang="en-GB" sz="2000" dirty="0" smtClean="0"/>
              <a:t>创建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类的一个局部对象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。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GB" sz="2000" dirty="0" smtClean="0"/>
              <a:t>	</a:t>
            </a:r>
            <a:r>
              <a:rPr lang="en-GB" altLang="zh-CN" sz="2000" dirty="0" err="1" smtClean="0">
                <a:solidFill>
                  <a:srgbClr val="FFC000"/>
                </a:solidFill>
              </a:rPr>
              <a:t>a.f</a:t>
            </a:r>
            <a:r>
              <a:rPr lang="en-GB" altLang="zh-CN" sz="2000" dirty="0" smtClean="0">
                <a:solidFill>
                  <a:srgbClr val="FFC000"/>
                </a:solidFill>
              </a:rPr>
              <a:t>( ); </a:t>
            </a:r>
            <a:r>
              <a:rPr lang="en-GB" altLang="zh-CN" sz="2000" dirty="0" smtClean="0"/>
              <a:t>	//</a:t>
            </a:r>
            <a:r>
              <a:rPr lang="zh-CN" altLang="en-GB" sz="2000" dirty="0" smtClean="0"/>
              <a:t>调用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类的成员函数</a:t>
            </a:r>
            <a:r>
              <a:rPr lang="en-GB" altLang="zh-CN" sz="2000" dirty="0" smtClean="0"/>
              <a:t>f</a:t>
            </a:r>
            <a:r>
              <a:rPr lang="zh-CN" altLang="en-GB" sz="2000" dirty="0" smtClean="0"/>
              <a:t>对对象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进行操作。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GB" sz="2000" dirty="0" smtClean="0"/>
              <a:t>	</a:t>
            </a:r>
            <a:r>
              <a:rPr lang="en-GB" altLang="zh-CN" sz="2000" dirty="0" smtClean="0"/>
              <a:t>A *p=</a:t>
            </a:r>
            <a:r>
              <a:rPr lang="en-US" altLang="zh-CN" sz="2000" dirty="0" smtClean="0"/>
              <a:t>new A;	 </a:t>
            </a:r>
            <a:r>
              <a:rPr lang="en-GB" altLang="zh-CN" sz="2000" dirty="0" smtClean="0"/>
              <a:t>//</a:t>
            </a:r>
            <a:r>
              <a:rPr lang="zh-CN" altLang="en-GB" sz="2000" dirty="0" smtClean="0"/>
              <a:t>创建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类的一个动态对象，</a:t>
            </a:r>
            <a:r>
              <a:rPr lang="en-GB" altLang="zh-CN" sz="2000" dirty="0" smtClean="0"/>
              <a:t>p</a:t>
            </a:r>
            <a:r>
              <a:rPr lang="zh-CN" altLang="en-GB" sz="2000" dirty="0" smtClean="0"/>
              <a:t>指向之。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GB" sz="2000" dirty="0" smtClean="0"/>
              <a:t>	</a:t>
            </a:r>
            <a:r>
              <a:rPr lang="en-GB" altLang="zh-CN" sz="2000" dirty="0" smtClean="0">
                <a:solidFill>
                  <a:srgbClr val="FFC000"/>
                </a:solidFill>
              </a:rPr>
              <a:t>p-&gt;f( ); </a:t>
            </a:r>
            <a:r>
              <a:rPr lang="en-GB" altLang="zh-CN" sz="2000" dirty="0" smtClean="0"/>
              <a:t>	//</a:t>
            </a:r>
            <a:r>
              <a:rPr lang="zh-CN" altLang="en-GB" sz="2000" dirty="0" smtClean="0"/>
              <a:t>调用</a:t>
            </a:r>
            <a:r>
              <a:rPr lang="en-GB" altLang="zh-CN" sz="2000" dirty="0" smtClean="0"/>
              <a:t>A</a:t>
            </a:r>
            <a:r>
              <a:rPr lang="zh-CN" altLang="en-GB" sz="2000" dirty="0" smtClean="0"/>
              <a:t>类的成员函数</a:t>
            </a:r>
            <a:r>
              <a:rPr lang="en-GB" altLang="zh-CN" sz="2000" dirty="0" smtClean="0"/>
              <a:t>f</a:t>
            </a:r>
            <a:r>
              <a:rPr lang="zh-CN" altLang="en-GB" sz="2000" dirty="0" smtClean="0"/>
              <a:t>对</a:t>
            </a:r>
            <a:r>
              <a:rPr lang="en-GB" altLang="zh-CN" sz="2000" dirty="0" smtClean="0"/>
              <a:t>p</a:t>
            </a:r>
            <a:r>
              <a:rPr lang="zh-CN" altLang="en-GB" sz="2000" dirty="0" smtClean="0"/>
              <a:t>所指向的对象进行操作。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GB" sz="2000" dirty="0" smtClean="0"/>
              <a:t>	</a:t>
            </a:r>
            <a:r>
              <a:rPr lang="en-GB" altLang="zh-CN" sz="2000" dirty="0" smtClean="0"/>
              <a:t>delete p;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	return 0;</a:t>
            </a:r>
          </a:p>
          <a:p>
            <a:pPr lvl="1" eaLnBrk="1" hangingPunct="1">
              <a:buFontTx/>
              <a:buNone/>
              <a:defRPr/>
            </a:pPr>
            <a:r>
              <a:rPr lang="en-GB" altLang="zh-CN" sz="2000" dirty="0" smtClean="0"/>
              <a:t>}</a:t>
            </a:r>
            <a:endParaRPr lang="en-US" altLang="zh-CN" sz="2000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2" name="Rectangle 4"/>
          <p:cNvSpPr>
            <a:spLocks noGrp="1" noChangeArrowheads="1"/>
          </p:cNvSpPr>
          <p:nvPr>
            <p:ph type="title"/>
          </p:nvPr>
        </p:nvSpPr>
        <p:spPr>
          <a:xfrm>
            <a:off x="1187624" y="188913"/>
            <a:ext cx="7499176" cy="796925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对象消亡前的处理</a:t>
            </a:r>
            <a:endParaRPr lang="en-US" altLang="zh-CN" b="1" dirty="0">
              <a:solidFill>
                <a:srgbClr val="FF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1253" name="Rectangle 5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362950" cy="54006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在类中可以定义一个特殊的成员函数：</a:t>
            </a:r>
            <a:r>
              <a:rPr lang="zh-CN" altLang="en-US" sz="2400" dirty="0" smtClean="0">
                <a:solidFill>
                  <a:srgbClr val="FF9900"/>
                </a:solidFill>
              </a:rPr>
              <a:t>析构函数</a:t>
            </a:r>
            <a:r>
              <a:rPr lang="zh-CN" altLang="en-US" sz="2400" dirty="0" smtClean="0"/>
              <a:t>，</a:t>
            </a:r>
            <a:r>
              <a:rPr lang="zh-CN" altLang="en-GB" sz="2400" dirty="0" smtClean="0"/>
              <a:t>它的名字为“</a:t>
            </a:r>
            <a:r>
              <a:rPr lang="en-GB" altLang="zh-CN" sz="2400" dirty="0" smtClean="0">
                <a:solidFill>
                  <a:srgbClr val="FF9900"/>
                </a:solidFill>
              </a:rPr>
              <a:t>~&lt;</a:t>
            </a:r>
            <a:r>
              <a:rPr lang="zh-CN" altLang="en-GB" sz="2400" dirty="0" smtClean="0">
                <a:solidFill>
                  <a:srgbClr val="FF9900"/>
                </a:solidFill>
              </a:rPr>
              <a:t>类名</a:t>
            </a:r>
            <a:r>
              <a:rPr lang="en-GB" altLang="zh-CN" sz="2400" dirty="0" smtClean="0">
                <a:solidFill>
                  <a:srgbClr val="FF9900"/>
                </a:solidFill>
              </a:rPr>
              <a:t>&gt;</a:t>
            </a:r>
            <a:r>
              <a:rPr lang="en-GB" altLang="zh-CN" sz="2400" dirty="0" smtClean="0"/>
              <a:t>”</a:t>
            </a:r>
            <a:r>
              <a:rPr lang="zh-CN" altLang="en-GB" sz="2400" dirty="0" smtClean="0"/>
              <a:t>，</a:t>
            </a:r>
            <a:r>
              <a:rPr lang="zh-CN" altLang="en-US" sz="2400" dirty="0" smtClean="0"/>
              <a:t>没有返回类型、不带参数、不能被重载。例如：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class String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{     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len</a:t>
            </a:r>
            <a:r>
              <a:rPr lang="en-US" altLang="zh-CN" sz="1800" dirty="0" smtClean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        char *</a:t>
            </a:r>
            <a:r>
              <a:rPr lang="en-US" altLang="zh-CN" sz="1800" dirty="0" err="1" smtClean="0"/>
              <a:t>str</a:t>
            </a:r>
            <a:r>
              <a:rPr lang="en-US" altLang="zh-CN" sz="1800" dirty="0" smtClean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    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        String(char* s);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       </a:t>
            </a:r>
            <a:r>
              <a:rPr lang="en-US" altLang="zh-CN" sz="1800" dirty="0" smtClean="0">
                <a:solidFill>
                  <a:schemeClr val="accent1"/>
                </a:solidFill>
              </a:rPr>
              <a:t> </a:t>
            </a:r>
            <a:r>
              <a:rPr lang="en-US" altLang="zh-CN" sz="1800" dirty="0" smtClean="0">
                <a:solidFill>
                  <a:srgbClr val="FF9900"/>
                </a:solidFill>
              </a:rPr>
              <a:t>~String</a:t>
            </a:r>
            <a:r>
              <a:rPr lang="en-US" altLang="zh-CN" sz="1800" dirty="0" smtClean="0"/>
              <a:t>();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1800" dirty="0" smtClean="0"/>
              <a:t>}; 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一个对象消亡时，系统在收回它的内存空间之前，将会自动调用析构函数。</a:t>
            </a:r>
            <a:endParaRPr lang="en-US" altLang="zh-CN" sz="2400" dirty="0" smtClean="0"/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400" dirty="0" smtClean="0"/>
              <a:t>可以在析构函数中完成对象被删除前的一些清理工作（如：归还对象</a:t>
            </a:r>
            <a:r>
              <a:rPr lang="zh-CN" altLang="en-US" sz="2400" dirty="0" smtClean="0">
                <a:solidFill>
                  <a:srgbClr val="FFC000"/>
                </a:solidFill>
              </a:rPr>
              <a:t>额外</a:t>
            </a:r>
            <a:r>
              <a:rPr lang="zh-CN" altLang="en-US" sz="2400" dirty="0" smtClean="0"/>
              <a:t>申请的资源等）。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803" name="Rectangle 3"/>
          <p:cNvSpPr>
            <a:spLocks noGrp="1" noChangeArrowheads="1"/>
          </p:cNvSpPr>
          <p:nvPr>
            <p:ph idx="1"/>
          </p:nvPr>
        </p:nvSpPr>
        <p:spPr>
          <a:xfrm>
            <a:off x="913204" y="166952"/>
            <a:ext cx="8229600" cy="6669087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dirty="0" smtClean="0"/>
              <a:t>例子：</a:t>
            </a:r>
            <a:r>
              <a:rPr lang="en-US" altLang="zh-CN" sz="2000" dirty="0" smtClean="0"/>
              <a:t>class String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{   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len</a:t>
            </a:r>
            <a:r>
              <a:rPr lang="en-US" altLang="zh-CN" sz="2000" dirty="0" smtClean="0"/>
              <a:t>; </a:t>
            </a:r>
            <a:endParaRPr lang="en-US" altLang="zh-CN" sz="2000" dirty="0" smtClean="0">
              <a:solidFill>
                <a:srgbClr val="FFC000"/>
              </a:solidFill>
            </a:endParaRP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        char *</a:t>
            </a:r>
            <a:r>
              <a:rPr lang="en-US" altLang="zh-CN" sz="2000" dirty="0" err="1" smtClean="0"/>
              <a:t>str</a:t>
            </a:r>
            <a:r>
              <a:rPr lang="en-US" altLang="zh-CN" sz="2000" dirty="0" smtClean="0"/>
              <a:t>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    public: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        String(char* s)</a:t>
            </a:r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kumimoji="1" lang="en-US" altLang="zh-CN" dirty="0" smtClean="0"/>
              <a:t>{  </a:t>
            </a:r>
            <a:r>
              <a:rPr kumimoji="1" lang="en-US" altLang="zh-CN" dirty="0" err="1" smtClean="0"/>
              <a:t>len</a:t>
            </a:r>
            <a:r>
              <a:rPr kumimoji="1" lang="en-US" altLang="zh-CN" dirty="0" smtClean="0"/>
              <a:t> = </a:t>
            </a:r>
            <a:r>
              <a:rPr kumimoji="1" lang="en-US" altLang="zh-CN" dirty="0" err="1" smtClean="0"/>
              <a:t>strlen</a:t>
            </a:r>
            <a:r>
              <a:rPr kumimoji="1" lang="en-US" altLang="zh-CN" dirty="0" smtClean="0"/>
              <a:t>(s);</a:t>
            </a:r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kumimoji="1" lang="en-US" altLang="zh-CN" dirty="0" smtClean="0"/>
              <a:t>    </a:t>
            </a:r>
            <a:r>
              <a:rPr kumimoji="1" lang="en-US" altLang="zh-CN" dirty="0" err="1" smtClean="0"/>
              <a:t>str</a:t>
            </a:r>
            <a:r>
              <a:rPr kumimoji="1" lang="en-US" altLang="zh-CN" dirty="0" smtClean="0"/>
              <a:t> = </a:t>
            </a:r>
            <a:r>
              <a:rPr kumimoji="1" lang="en-US" altLang="zh-CN" dirty="0" smtClean="0">
                <a:solidFill>
                  <a:srgbClr val="0000FF"/>
                </a:solidFill>
              </a:rPr>
              <a:t>new char[len+1]; //</a:t>
            </a:r>
            <a:r>
              <a:rPr kumimoji="1" lang="zh-CN" altLang="en-US" dirty="0" smtClean="0">
                <a:solidFill>
                  <a:srgbClr val="0000FF"/>
                </a:solidFill>
              </a:rPr>
              <a:t>申请资源</a:t>
            </a:r>
            <a:endParaRPr kumimoji="1" lang="en-US" altLang="zh-CN" dirty="0" smtClean="0">
              <a:solidFill>
                <a:srgbClr val="0000FF"/>
              </a:solidFill>
            </a:endParaRPr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kumimoji="1" lang="en-US" altLang="zh-CN" dirty="0" smtClean="0"/>
              <a:t>    </a:t>
            </a:r>
            <a:r>
              <a:rPr kumimoji="1" lang="en-US" altLang="zh-CN" dirty="0" err="1" smtClean="0"/>
              <a:t>strcpy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str</a:t>
            </a:r>
            <a:r>
              <a:rPr kumimoji="1" lang="en-US" altLang="zh-CN" dirty="0" smtClean="0"/>
              <a:t>, s);</a:t>
            </a:r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kumimoji="1" lang="en-US" altLang="zh-CN" dirty="0" smtClean="0"/>
              <a:t>}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        ~String()</a:t>
            </a:r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dirty="0" smtClean="0"/>
              <a:t>{  </a:t>
            </a:r>
            <a:r>
              <a:rPr kumimoji="1" lang="en-US" altLang="zh-CN" dirty="0" smtClean="0">
                <a:solidFill>
                  <a:srgbClr val="0000FF"/>
                </a:solidFill>
              </a:rPr>
              <a:t>delete[  ] </a:t>
            </a:r>
            <a:r>
              <a:rPr kumimoji="1" lang="en-US" altLang="zh-CN" dirty="0" err="1" smtClean="0">
                <a:solidFill>
                  <a:srgbClr val="0000FF"/>
                </a:solidFill>
              </a:rPr>
              <a:t>str</a:t>
            </a:r>
            <a:r>
              <a:rPr kumimoji="1" lang="en-US" altLang="zh-CN" dirty="0" smtClean="0">
                <a:solidFill>
                  <a:srgbClr val="0000FF"/>
                </a:solidFill>
              </a:rPr>
              <a:t>; //</a:t>
            </a:r>
            <a:r>
              <a:rPr kumimoji="1" lang="zh-CN" altLang="en-US" dirty="0" smtClean="0">
                <a:solidFill>
                  <a:srgbClr val="0000FF"/>
                </a:solidFill>
              </a:rPr>
              <a:t>归还资源</a:t>
            </a:r>
            <a:endParaRPr kumimoji="1" lang="en-US" altLang="zh-CN" dirty="0" smtClean="0">
              <a:solidFill>
                <a:srgbClr val="0000FF"/>
              </a:solidFill>
            </a:endParaRPr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kumimoji="1" lang="en-US" altLang="zh-CN" dirty="0">
                <a:solidFill>
                  <a:schemeClr val="folHlink"/>
                </a:solidFill>
              </a:rPr>
              <a:t> </a:t>
            </a:r>
            <a:r>
              <a:rPr kumimoji="1" lang="en-US" altLang="zh-CN" dirty="0" smtClean="0">
                <a:solidFill>
                  <a:schemeClr val="folHlink"/>
                </a:solidFill>
              </a:rPr>
              <a:t> </a:t>
            </a:r>
            <a:r>
              <a:rPr kumimoji="1" lang="en-US" altLang="zh-CN" dirty="0" smtClean="0"/>
              <a:t>  </a:t>
            </a:r>
            <a:r>
              <a:rPr kumimoji="1" lang="en-US" altLang="zh-CN" dirty="0" err="1" smtClean="0"/>
              <a:t>str</a:t>
            </a:r>
            <a:r>
              <a:rPr kumimoji="1" lang="en-US" altLang="zh-CN" dirty="0" smtClean="0"/>
              <a:t> = NULL; </a:t>
            </a:r>
            <a:endParaRPr lang="en-US" altLang="zh-CN" dirty="0" smtClean="0"/>
          </a:p>
          <a:p>
            <a:pPr lvl="3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dirty="0" smtClean="0"/>
              <a:t>}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};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void f()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{  String s1("</a:t>
            </a:r>
            <a:r>
              <a:rPr lang="en-US" altLang="zh-CN" sz="2000" dirty="0" err="1" smtClean="0"/>
              <a:t>abcd</a:t>
            </a:r>
            <a:r>
              <a:rPr lang="en-US" altLang="zh-CN" sz="2000" dirty="0" smtClean="0"/>
              <a:t>");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调用</a:t>
            </a:r>
            <a:r>
              <a:rPr lang="en-US" altLang="zh-CN" sz="2000" dirty="0" smtClean="0">
                <a:solidFill>
                  <a:srgbClr val="0000FF"/>
                </a:solidFill>
              </a:rPr>
              <a:t>s1</a:t>
            </a:r>
            <a:r>
              <a:rPr lang="zh-CN" altLang="en-US" sz="2000" dirty="0" smtClean="0">
                <a:solidFill>
                  <a:srgbClr val="0000FF"/>
                </a:solidFill>
              </a:rPr>
              <a:t>的构造函数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...... 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 smtClean="0"/>
              <a:t>} </a:t>
            </a:r>
            <a:r>
              <a:rPr lang="en-US" altLang="zh-CN" sz="2000" dirty="0" smtClean="0">
                <a:solidFill>
                  <a:srgbClr val="0000FF"/>
                </a:solidFill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</a:rPr>
              <a:t>调用</a:t>
            </a:r>
            <a:r>
              <a:rPr lang="en-US" altLang="zh-CN" sz="2000" dirty="0" smtClean="0">
                <a:solidFill>
                  <a:srgbClr val="0000FF"/>
                </a:solidFill>
              </a:rPr>
              <a:t>s1</a:t>
            </a:r>
            <a:r>
              <a:rPr lang="zh-CN" altLang="en-US" sz="2000" dirty="0" smtClean="0">
                <a:solidFill>
                  <a:srgbClr val="0000FF"/>
                </a:solidFill>
              </a:rPr>
              <a:t>的析构函数</a:t>
            </a:r>
          </a:p>
          <a:p>
            <a:pPr eaLnBrk="1" hangingPunct="1">
              <a:defRPr/>
            </a:pPr>
            <a:r>
              <a:rPr lang="zh-CN" altLang="en-US" sz="2200" b="1" dirty="0" smtClean="0">
                <a:solidFill>
                  <a:srgbClr val="0000FF"/>
                </a:solidFill>
              </a:rPr>
              <a:t>注意</a:t>
            </a:r>
            <a:r>
              <a:rPr lang="zh-CN" altLang="en-US" sz="2200" dirty="0" smtClean="0">
                <a:solidFill>
                  <a:srgbClr val="0000FF"/>
                </a:solidFill>
              </a:rPr>
              <a:t>：</a:t>
            </a:r>
            <a:r>
              <a:rPr lang="zh-CN" altLang="en-US" sz="2200" dirty="0" smtClean="0"/>
              <a:t>系统为对象</a:t>
            </a:r>
            <a:r>
              <a:rPr lang="en-US" altLang="zh-CN" sz="2200" dirty="0" smtClean="0"/>
              <a:t>s1</a:t>
            </a:r>
            <a:r>
              <a:rPr lang="zh-CN" altLang="en-US" sz="2200" dirty="0" smtClean="0"/>
              <a:t>分配的内存空间只包含</a:t>
            </a:r>
            <a:r>
              <a:rPr lang="en-US" altLang="zh-CN" sz="2200" dirty="0" err="1" smtClean="0"/>
              <a:t>len</a:t>
            </a:r>
            <a:r>
              <a:rPr lang="zh-CN" altLang="en-US" sz="2200" dirty="0" smtClean="0"/>
              <a:t>和</a:t>
            </a:r>
            <a:r>
              <a:rPr lang="en-US" altLang="zh-CN" sz="2200" dirty="0" err="1" smtClean="0"/>
              <a:t>str</a:t>
            </a:r>
            <a:r>
              <a:rPr lang="zh-CN" altLang="en-US" sz="2200" dirty="0" smtClean="0"/>
              <a:t>（指针）本身所需的空间，</a:t>
            </a:r>
            <a:r>
              <a:rPr lang="en-US" altLang="zh-CN" sz="2200" dirty="0" err="1" smtClean="0"/>
              <a:t>str</a:t>
            </a:r>
            <a:r>
              <a:rPr lang="zh-CN" altLang="en-US" sz="2200" dirty="0" smtClean="0"/>
              <a:t>所指向的空间不由系统分配，而是由对象自己处理！</a:t>
            </a:r>
          </a:p>
        </p:txBody>
      </p:sp>
      <p:grpSp>
        <p:nvGrpSpPr>
          <p:cNvPr id="2" name="组合 8"/>
          <p:cNvGrpSpPr>
            <a:grpSpLocks/>
          </p:cNvGrpSpPr>
          <p:nvPr/>
        </p:nvGrpSpPr>
        <p:grpSpPr bwMode="auto">
          <a:xfrm>
            <a:off x="6156325" y="2636838"/>
            <a:ext cx="1655763" cy="1296987"/>
            <a:chOff x="5796136" y="1340768"/>
            <a:chExt cx="1656184" cy="1296144"/>
          </a:xfrm>
        </p:grpSpPr>
        <p:sp>
          <p:nvSpPr>
            <p:cNvPr id="43016" name="TextBox 2"/>
            <p:cNvSpPr txBox="1">
              <a:spLocks noChangeArrowheads="1"/>
            </p:cNvSpPr>
            <p:nvPr/>
          </p:nvSpPr>
          <p:spPr bwMode="auto">
            <a:xfrm>
              <a:off x="6819322" y="1340768"/>
              <a:ext cx="540670" cy="461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s1</a:t>
              </a:r>
              <a:endParaRPr lang="zh-CN" altLang="en-US"/>
            </a:p>
          </p:txBody>
        </p:sp>
        <p:sp>
          <p:nvSpPr>
            <p:cNvPr id="43017" name="矩形 3"/>
            <p:cNvSpPr>
              <a:spLocks noChangeArrowheads="1"/>
            </p:cNvSpPr>
            <p:nvPr/>
          </p:nvSpPr>
          <p:spPr bwMode="auto">
            <a:xfrm>
              <a:off x="6588224" y="1844824"/>
              <a:ext cx="864096" cy="792088"/>
            </a:xfrm>
            <a:prstGeom prst="rect">
              <a:avLst/>
            </a:prstGeom>
            <a:solidFill>
              <a:schemeClr val="accent1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cxnSp>
          <p:nvCxnSpPr>
            <p:cNvPr id="43018" name="直接连接符 5"/>
            <p:cNvCxnSpPr>
              <a:cxnSpLocks noChangeShapeType="1"/>
              <a:stCxn id="43017" idx="1"/>
              <a:endCxn id="43017" idx="3"/>
            </p:cNvCxnSpPr>
            <p:nvPr/>
          </p:nvCxnSpPr>
          <p:spPr bwMode="auto">
            <a:xfrm rot="10800000" flipH="1">
              <a:off x="6588224" y="2240868"/>
              <a:ext cx="864096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19" name="TextBox 6"/>
            <p:cNvSpPr txBox="1">
              <a:spLocks noChangeArrowheads="1"/>
            </p:cNvSpPr>
            <p:nvPr/>
          </p:nvSpPr>
          <p:spPr bwMode="auto">
            <a:xfrm>
              <a:off x="5796136" y="1804754"/>
              <a:ext cx="686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len:</a:t>
              </a:r>
              <a:endParaRPr lang="zh-CN" altLang="en-US" sz="2000"/>
            </a:p>
          </p:txBody>
        </p:sp>
        <p:sp>
          <p:nvSpPr>
            <p:cNvPr id="43020" name="TextBox 7"/>
            <p:cNvSpPr txBox="1">
              <a:spLocks noChangeArrowheads="1"/>
            </p:cNvSpPr>
            <p:nvPr/>
          </p:nvSpPr>
          <p:spPr bwMode="auto">
            <a:xfrm>
              <a:off x="5796136" y="2204864"/>
              <a:ext cx="6447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str:</a:t>
              </a:r>
              <a:endParaRPr lang="zh-CN" altLang="en-US" sz="2000"/>
            </a:p>
          </p:txBody>
        </p:sp>
      </p:grp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7248525" y="3141663"/>
            <a:ext cx="1716088" cy="792162"/>
            <a:chOff x="7248164" y="3140968"/>
            <a:chExt cx="1716324" cy="792088"/>
          </a:xfrm>
        </p:grpSpPr>
        <p:sp>
          <p:nvSpPr>
            <p:cNvPr id="43013" name="TextBox 9"/>
            <p:cNvSpPr txBox="1">
              <a:spLocks noChangeArrowheads="1"/>
            </p:cNvSpPr>
            <p:nvPr/>
          </p:nvSpPr>
          <p:spPr bwMode="auto">
            <a:xfrm>
              <a:off x="7248164" y="3140968"/>
              <a:ext cx="348220" cy="400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4</a:t>
              </a:r>
              <a:endParaRPr lang="zh-CN" altLang="en-US" sz="2000"/>
            </a:p>
          </p:txBody>
        </p:sp>
        <p:cxnSp>
          <p:nvCxnSpPr>
            <p:cNvPr id="43014" name="直接箭头连接符 11"/>
            <p:cNvCxnSpPr>
              <a:cxnSpLocks noChangeShapeType="1"/>
            </p:cNvCxnSpPr>
            <p:nvPr/>
          </p:nvCxnSpPr>
          <p:spPr bwMode="auto">
            <a:xfrm>
              <a:off x="7380312" y="3717032"/>
              <a:ext cx="72008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15" name="矩形 12"/>
            <p:cNvSpPr>
              <a:spLocks noChangeArrowheads="1"/>
            </p:cNvSpPr>
            <p:nvPr/>
          </p:nvSpPr>
          <p:spPr bwMode="auto">
            <a:xfrm>
              <a:off x="8172400" y="3573016"/>
              <a:ext cx="792088" cy="360040"/>
            </a:xfrm>
            <a:prstGeom prst="rect">
              <a:avLst/>
            </a:prstGeom>
            <a:solidFill>
              <a:srgbClr val="C00000"/>
            </a:solidFill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800"/>
                <a:t>abcd</a:t>
              </a:r>
              <a:endParaRPr lang="zh-CN" altLang="en-US" sz="180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8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68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68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en-US" altLang="zh-CN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 </a:t>
            </a: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有以下这样</a:t>
            </a:r>
            <a:r>
              <a:rPr lang="en-US" altLang="zh-CN" sz="2000" dirty="0"/>
              <a:t>3</a:t>
            </a:r>
            <a:r>
              <a:rPr lang="zh-CN" altLang="en-US" sz="2000" dirty="0"/>
              <a:t>个求加法的函数：</a:t>
            </a:r>
            <a:endParaRPr lang="en-US" altLang="zh-CN" sz="20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1800" dirty="0" err="1" smtClean="0">
                <a:solidFill>
                  <a:srgbClr val="FF9900"/>
                </a:solidFill>
              </a:rPr>
              <a:t>int</a:t>
            </a:r>
            <a:r>
              <a:rPr lang="en-US" altLang="zh-CN" sz="1800" dirty="0" smtClean="0">
                <a:solidFill>
                  <a:srgbClr val="FF9900"/>
                </a:solidFill>
              </a:rPr>
              <a:t> </a:t>
            </a:r>
            <a:r>
              <a:rPr lang="en-US" altLang="zh-CN" sz="1800" dirty="0"/>
              <a:t>Add(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x,int</a:t>
            </a:r>
            <a:r>
              <a:rPr lang="en-US" altLang="zh-CN" sz="1800" dirty="0"/>
              <a:t> y)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 return </a:t>
            </a:r>
            <a:r>
              <a:rPr lang="en-US" altLang="zh-CN" sz="1800" dirty="0" err="1"/>
              <a:t>x+y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 smtClean="0"/>
              <a:t>}</a:t>
            </a:r>
          </a:p>
          <a:p>
            <a:pPr>
              <a:buFont typeface="Wingdings" pitchFamily="2" charset="2"/>
              <a:buChar char="Ø"/>
            </a:pPr>
            <a:endParaRPr lang="en-US" altLang="zh-CN" sz="1800" dirty="0"/>
          </a:p>
          <a:p>
            <a:pPr marL="447675" lvl="1" indent="-447675">
              <a:buClr>
                <a:schemeClr val="accent1"/>
              </a:buClr>
              <a:buSzPct val="70000"/>
              <a:buFont typeface="Wingdings" pitchFamily="2" charset="2"/>
              <a:buChar char="Ø"/>
            </a:pPr>
            <a:r>
              <a:rPr lang="en-US" altLang="zh-CN" sz="1800" dirty="0">
                <a:solidFill>
                  <a:srgbClr val="FF9900"/>
                </a:solidFill>
                <a:cs typeface="+mn-cs"/>
              </a:rPr>
              <a:t>double</a:t>
            </a:r>
            <a:r>
              <a:rPr lang="en-US" altLang="zh-CN" sz="1800" dirty="0">
                <a:cs typeface="+mn-cs"/>
              </a:rPr>
              <a:t> Add(double </a:t>
            </a:r>
            <a:r>
              <a:rPr lang="en-US" altLang="zh-CN" sz="1800" dirty="0" err="1">
                <a:cs typeface="+mn-cs"/>
              </a:rPr>
              <a:t>x,double</a:t>
            </a:r>
            <a:r>
              <a:rPr lang="en-US" altLang="zh-CN" sz="1800" dirty="0">
                <a:cs typeface="+mn-cs"/>
              </a:rPr>
              <a:t> y)</a:t>
            </a:r>
            <a:br>
              <a:rPr lang="en-US" altLang="zh-CN" sz="1800" dirty="0">
                <a:cs typeface="+mn-cs"/>
              </a:rPr>
            </a:br>
            <a:r>
              <a:rPr lang="en-US" altLang="zh-CN" sz="1800" dirty="0">
                <a:cs typeface="+mn-cs"/>
              </a:rPr>
              <a:t>{</a:t>
            </a:r>
            <a:br>
              <a:rPr lang="en-US" altLang="zh-CN" sz="1800" dirty="0">
                <a:cs typeface="+mn-cs"/>
              </a:rPr>
            </a:br>
            <a:r>
              <a:rPr lang="en-US" altLang="zh-CN" sz="1800" dirty="0">
                <a:cs typeface="+mn-cs"/>
              </a:rPr>
              <a:t> return </a:t>
            </a:r>
            <a:r>
              <a:rPr lang="en-US" altLang="zh-CN" sz="1800" dirty="0" err="1">
                <a:cs typeface="+mn-cs"/>
              </a:rPr>
              <a:t>x+y</a:t>
            </a:r>
            <a:r>
              <a:rPr lang="en-US" altLang="zh-CN" sz="1800" dirty="0">
                <a:cs typeface="+mn-cs"/>
              </a:rPr>
              <a:t>;</a:t>
            </a:r>
            <a:br>
              <a:rPr lang="en-US" altLang="zh-CN" sz="1800" dirty="0">
                <a:cs typeface="+mn-cs"/>
              </a:rPr>
            </a:br>
            <a:r>
              <a:rPr lang="en-US" altLang="zh-CN" sz="1800" dirty="0">
                <a:cs typeface="+mn-cs"/>
              </a:rPr>
              <a:t>}</a:t>
            </a:r>
          </a:p>
          <a:p>
            <a:pPr>
              <a:buFont typeface="Wingdings" pitchFamily="2" charset="2"/>
              <a:buChar char="Ø"/>
            </a:pPr>
            <a:endParaRPr lang="en-US" altLang="zh-CN" sz="1800" dirty="0"/>
          </a:p>
          <a:p>
            <a:pPr>
              <a:buFont typeface="Wingdings" pitchFamily="2" charset="2"/>
              <a:buChar char="Ø"/>
            </a:pPr>
            <a:r>
              <a:rPr lang="en-US" altLang="zh-CN" sz="1800" dirty="0">
                <a:solidFill>
                  <a:srgbClr val="FF9900"/>
                </a:solidFill>
              </a:rPr>
              <a:t>long</a:t>
            </a:r>
            <a:r>
              <a:rPr lang="en-US" altLang="zh-CN" sz="1800" dirty="0"/>
              <a:t> Add(long </a:t>
            </a:r>
            <a:r>
              <a:rPr lang="en-US" altLang="zh-CN" sz="1800" dirty="0" err="1"/>
              <a:t>x,long</a:t>
            </a:r>
            <a:r>
              <a:rPr lang="en-US" altLang="zh-CN" sz="1800" dirty="0"/>
              <a:t> y)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 return </a:t>
            </a:r>
            <a:r>
              <a:rPr lang="en-US" altLang="zh-CN" sz="1800" dirty="0" err="1"/>
              <a:t>x+y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</a:p>
          <a:p>
            <a:r>
              <a:rPr lang="zh-CN" altLang="en-US" sz="2000" dirty="0">
                <a:solidFill>
                  <a:srgbClr val="0000FF"/>
                </a:solidFill>
              </a:rPr>
              <a:t>因为参数类型和返回值类型不一样，所以是</a:t>
            </a:r>
            <a:r>
              <a:rPr lang="en-US" altLang="zh-CN" sz="2000" dirty="0">
                <a:solidFill>
                  <a:srgbClr val="0000FF"/>
                </a:solidFill>
              </a:rPr>
              <a:t>3</a:t>
            </a:r>
            <a:r>
              <a:rPr lang="zh-CN" altLang="en-US" sz="2000" dirty="0">
                <a:solidFill>
                  <a:srgbClr val="0000FF"/>
                </a:solidFill>
              </a:rPr>
              <a:t>个完全不同的函数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610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zh-CN" altLang="en-US" dirty="0"/>
              <a:t>的</a:t>
            </a:r>
            <a:r>
              <a:rPr lang="zh-CN" altLang="en-US" dirty="0" smtClean="0"/>
              <a:t>模板可以</a:t>
            </a:r>
            <a:r>
              <a:rPr lang="zh-CN" altLang="en-US" dirty="0"/>
              <a:t>实现类型的</a:t>
            </a:r>
            <a:r>
              <a:rPr lang="zh-CN" altLang="en-US" dirty="0" smtClean="0"/>
              <a:t>参数化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0000FF"/>
                </a:solidFill>
              </a:rPr>
              <a:t>把类型定义为参数</a:t>
            </a:r>
            <a:r>
              <a:rPr lang="en-US" altLang="zh-CN" dirty="0"/>
              <a:t>)</a:t>
            </a:r>
            <a:r>
              <a:rPr lang="zh-CN" altLang="en-US" dirty="0"/>
              <a:t>，从而实现了真正的</a:t>
            </a:r>
            <a:r>
              <a:rPr lang="zh-CN" altLang="en-US" dirty="0">
                <a:solidFill>
                  <a:srgbClr val="FF9900"/>
                </a:solidFill>
              </a:rPr>
              <a:t>代码可重用</a:t>
            </a:r>
            <a:r>
              <a:rPr lang="zh-CN" altLang="en-US" dirty="0" smtClean="0">
                <a:solidFill>
                  <a:srgbClr val="FF9900"/>
                </a:solidFill>
              </a:rPr>
              <a:t>性。</a:t>
            </a:r>
            <a:endParaRPr lang="en-US" altLang="zh-CN" dirty="0"/>
          </a:p>
          <a:p>
            <a:r>
              <a:rPr lang="en-US" altLang="zh-CN" dirty="0" smtClean="0"/>
              <a:t>C</a:t>
            </a:r>
            <a:r>
              <a:rPr lang="en-US" altLang="zh-CN" dirty="0"/>
              <a:t>++</a:t>
            </a:r>
            <a:r>
              <a:rPr lang="zh-CN" altLang="en-US" dirty="0"/>
              <a:t>中</a:t>
            </a:r>
            <a:r>
              <a:rPr lang="zh-CN" altLang="en-US" dirty="0" smtClean="0"/>
              <a:t>的模板</a:t>
            </a:r>
            <a:r>
              <a:rPr lang="zh-CN" altLang="en-US" dirty="0"/>
              <a:t>可分为</a:t>
            </a:r>
            <a:r>
              <a:rPr lang="zh-CN" altLang="en-US" dirty="0">
                <a:solidFill>
                  <a:srgbClr val="FF9900"/>
                </a:solidFill>
              </a:rPr>
              <a:t>类模板（</a:t>
            </a:r>
            <a:r>
              <a:rPr lang="en-US" altLang="zh-CN" dirty="0">
                <a:solidFill>
                  <a:srgbClr val="FF9900"/>
                </a:solidFill>
              </a:rPr>
              <a:t>class template</a:t>
            </a:r>
            <a:r>
              <a:rPr lang="zh-CN" altLang="en-US" dirty="0">
                <a:solidFill>
                  <a:srgbClr val="FF9900"/>
                </a:solidFill>
              </a:rPr>
              <a:t>）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9900"/>
                </a:solidFill>
              </a:rPr>
              <a:t>函数模板（</a:t>
            </a:r>
            <a:r>
              <a:rPr lang="en-US" altLang="zh-CN" dirty="0">
                <a:solidFill>
                  <a:srgbClr val="FF9900"/>
                </a:solidFill>
              </a:rPr>
              <a:t>function </a:t>
            </a:r>
            <a:r>
              <a:rPr lang="en-US" altLang="zh-CN" dirty="0" err="1">
                <a:solidFill>
                  <a:srgbClr val="FF9900"/>
                </a:solidFill>
              </a:rPr>
              <a:t>temlpate</a:t>
            </a:r>
            <a:r>
              <a:rPr lang="zh-CN" altLang="en-US" dirty="0">
                <a:solidFill>
                  <a:srgbClr val="FF9900"/>
                </a:solidFill>
              </a:rPr>
              <a:t>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435898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4744"/>
            <a:ext cx="8142287" cy="4392612"/>
          </a:xfrm>
        </p:spPr>
        <p:txBody>
          <a:bodyPr/>
          <a:lstStyle/>
          <a:p>
            <a:pPr>
              <a:spcBef>
                <a:spcPts val="3000"/>
              </a:spcBef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FF9900"/>
                </a:solidFill>
              </a:rPr>
              <a:t>函数模板</a:t>
            </a:r>
            <a:r>
              <a:rPr lang="zh-CN" altLang="en-US" sz="2400" dirty="0"/>
              <a:t>就是建立一个通用的函数，其参数类型和返回类型不具体指定，用一个虚拟的类型来代表。函数模板的声明格式</a:t>
            </a:r>
            <a:r>
              <a:rPr lang="zh-CN" altLang="en-US" sz="2400" dirty="0" smtClean="0"/>
              <a:t>：</a:t>
            </a:r>
            <a:endParaRPr lang="zh-CN" altLang="en-US" sz="3600" dirty="0"/>
          </a:p>
          <a:p>
            <a:pPr marL="854075" lvl="2" indent="0">
              <a:spcBef>
                <a:spcPts val="600"/>
              </a:spcBef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Template &lt;</a:t>
            </a:r>
            <a:r>
              <a:rPr lang="en-US" altLang="zh-CN" dirty="0" err="1">
                <a:solidFill>
                  <a:srgbClr val="0000FF"/>
                </a:solidFill>
              </a:rPr>
              <a:t>typename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类型参数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zh-CN" altLang="en-US" dirty="0">
                <a:solidFill>
                  <a:srgbClr val="0000FF"/>
                </a:solidFill>
              </a:rPr>
              <a:t>返回类型 函数名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模板形参表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{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 </a:t>
            </a:r>
            <a:r>
              <a:rPr lang="zh-CN" altLang="en-US" dirty="0">
                <a:solidFill>
                  <a:srgbClr val="0000FF"/>
                </a:solidFill>
              </a:rPr>
              <a:t>函数体</a:t>
            </a:r>
            <a:br>
              <a:rPr lang="zh-CN" altLang="en-US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}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854075" lvl="2" indent="0">
              <a:spcBef>
                <a:spcPts val="600"/>
              </a:spcBef>
              <a:buNone/>
            </a:pPr>
            <a:r>
              <a:rPr lang="zh-CN" altLang="en-US" dirty="0" smtClean="0"/>
              <a:t>或</a:t>
            </a:r>
            <a:endParaRPr lang="en-US" altLang="zh-CN" dirty="0" smtClean="0"/>
          </a:p>
          <a:p>
            <a:pPr marL="854075" lvl="2" indent="0">
              <a:spcBef>
                <a:spcPts val="600"/>
              </a:spcBef>
              <a:buNone/>
            </a:pPr>
            <a:r>
              <a:rPr lang="en-US" altLang="zh-CN" dirty="0" smtClean="0">
                <a:solidFill>
                  <a:srgbClr val="0000FF"/>
                </a:solidFill>
              </a:rPr>
              <a:t>Template &lt;class </a:t>
            </a:r>
            <a:r>
              <a:rPr lang="zh-CN" altLang="en-US" dirty="0">
                <a:solidFill>
                  <a:srgbClr val="0000FF"/>
                </a:solidFill>
              </a:rPr>
              <a:t>类型参数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zh-CN" altLang="en-US" dirty="0">
                <a:solidFill>
                  <a:srgbClr val="0000FF"/>
                </a:solidFill>
              </a:rPr>
              <a:t>返回类型 函数名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模板形参表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{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 </a:t>
            </a:r>
            <a:r>
              <a:rPr lang="zh-CN" altLang="en-US" dirty="0">
                <a:solidFill>
                  <a:srgbClr val="0000FF"/>
                </a:solidFill>
              </a:rPr>
              <a:t>函数体</a:t>
            </a:r>
            <a:br>
              <a:rPr lang="zh-CN" altLang="en-US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</a:rPr>
              <a:t>}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lvl="1">
              <a:buFont typeface="Wingdings" pitchFamily="2" charset="2"/>
              <a:buChar char="p"/>
            </a:pPr>
            <a:r>
              <a:rPr lang="zh-CN" altLang="en-US" sz="1800" dirty="0"/>
              <a:t>注</a:t>
            </a:r>
            <a:r>
              <a:rPr lang="zh-CN" altLang="en-US" sz="1800" dirty="0" smtClean="0"/>
              <a:t>：</a:t>
            </a:r>
            <a:r>
              <a:rPr lang="en-US" altLang="zh-CN" sz="1800" dirty="0" err="1"/>
              <a:t>typename</a:t>
            </a:r>
            <a:r>
              <a:rPr lang="zh-CN" altLang="en-US" sz="1800" dirty="0"/>
              <a:t>和</a:t>
            </a:r>
            <a:r>
              <a:rPr lang="en-US" altLang="zh-CN" sz="1800" dirty="0"/>
              <a:t>class</a:t>
            </a:r>
            <a:r>
              <a:rPr lang="zh-CN" altLang="en-US" sz="1800" dirty="0"/>
              <a:t>关键字作用都是用来表示它们之后的参数是一个类型的参数。只不过</a:t>
            </a:r>
            <a:r>
              <a:rPr lang="en-US" altLang="zh-CN" sz="1800" dirty="0"/>
              <a:t>class</a:t>
            </a:r>
            <a:r>
              <a:rPr lang="zh-CN" altLang="en-US" sz="1800" dirty="0"/>
              <a:t>是早期</a:t>
            </a:r>
            <a:r>
              <a:rPr lang="en-US" altLang="zh-CN" sz="1800" dirty="0"/>
              <a:t>C++</a:t>
            </a:r>
            <a:r>
              <a:rPr lang="zh-CN" altLang="en-US" sz="1800" dirty="0"/>
              <a:t>版本中所使用的，后来为了不与</a:t>
            </a:r>
            <a:br>
              <a:rPr lang="zh-CN" altLang="en-US" sz="1800" dirty="0"/>
            </a:br>
            <a:r>
              <a:rPr lang="zh-CN" altLang="en-US" sz="1800" dirty="0"/>
              <a:t>类产生混淆，所以增加个关键字</a:t>
            </a:r>
            <a:r>
              <a:rPr lang="en-US" altLang="zh-CN" sz="1800" dirty="0" err="1"/>
              <a:t>typename</a:t>
            </a:r>
            <a:r>
              <a:rPr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0147797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-36512" y="1196752"/>
            <a:ext cx="964907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/>
              <a:t>template &lt;</a:t>
            </a:r>
            <a:r>
              <a:rPr lang="en-US" altLang="zh-CN" sz="1800" dirty="0" err="1"/>
              <a:t>typename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0000FF"/>
                </a:solidFill>
              </a:rPr>
              <a:t>T</a:t>
            </a:r>
            <a:r>
              <a:rPr lang="en-US" altLang="zh-CN" sz="1800" dirty="0"/>
              <a:t>&gt;//</a:t>
            </a:r>
            <a:r>
              <a:rPr lang="zh-CN" altLang="en-US" sz="1800" dirty="0"/>
              <a:t>加法函数模板</a:t>
            </a:r>
            <a:br>
              <a:rPr lang="zh-CN" altLang="en-US" sz="1800" dirty="0"/>
            </a:br>
            <a:r>
              <a:rPr lang="en-US" altLang="zh-CN" sz="1800" dirty="0"/>
              <a:t>T Add(</a:t>
            </a:r>
            <a:r>
              <a:rPr lang="en-US" altLang="zh-CN" sz="1800" dirty="0">
                <a:solidFill>
                  <a:srgbClr val="0000FF"/>
                </a:solidFill>
              </a:rPr>
              <a:t>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x,</a:t>
            </a:r>
            <a:r>
              <a:rPr lang="en-US" altLang="zh-CN" sz="1800" dirty="0" err="1">
                <a:solidFill>
                  <a:srgbClr val="0000FF"/>
                </a:solidFill>
              </a:rPr>
              <a:t>T</a:t>
            </a:r>
            <a:r>
              <a:rPr lang="en-US" altLang="zh-CN" sz="1800" dirty="0"/>
              <a:t> y)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 return </a:t>
            </a:r>
            <a:r>
              <a:rPr lang="en-US" altLang="zh-CN" sz="1800" dirty="0" err="1"/>
              <a:t>x+y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</a:p>
          <a:p>
            <a:r>
              <a:rPr lang="en-US" altLang="zh-CN" sz="1800" dirty="0"/>
              <a:t> </a:t>
            </a:r>
          </a:p>
          <a:p>
            <a:r>
              <a:rPr lang="en-US" altLang="zh-CN" sz="1800" dirty="0" err="1"/>
              <a:t>int</a:t>
            </a:r>
            <a:r>
              <a:rPr lang="en-US" altLang="zh-CN" sz="1800" dirty="0"/>
              <a:t> main()</a:t>
            </a:r>
            <a:br>
              <a:rPr lang="en-US" altLang="zh-CN" sz="1800" dirty="0"/>
            </a:br>
            <a:r>
              <a:rPr lang="en-US" altLang="zh-CN" sz="1800" dirty="0" smtClean="0"/>
              <a:t>{</a:t>
            </a:r>
            <a:r>
              <a:rPr lang="en-US" altLang="zh-CN" sz="1800" dirty="0"/>
              <a:t> </a:t>
            </a:r>
            <a:br>
              <a:rPr lang="en-US" altLang="zh-CN" sz="1800" dirty="0"/>
            </a:br>
            <a:r>
              <a:rPr lang="en-US" altLang="zh-CN" sz="1800" dirty="0" smtClean="0"/>
              <a:t> 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x=10,y=10;</a:t>
            </a:r>
            <a:br>
              <a:rPr lang="en-US" altLang="zh-CN" sz="1800" dirty="0" smtClean="0"/>
            </a:br>
            <a:r>
              <a:rPr lang="en-US" altLang="zh-CN" sz="1800" dirty="0" smtClean="0"/>
              <a:t> </a:t>
            </a:r>
            <a:r>
              <a:rPr lang="en-US" altLang="zh-CN" sz="1800" dirty="0" err="1" smtClean="0"/>
              <a:t>std</a:t>
            </a:r>
            <a:r>
              <a:rPr lang="en-US" altLang="zh-CN" sz="1800" dirty="0" smtClean="0"/>
              <a:t>::</a:t>
            </a:r>
            <a:r>
              <a:rPr lang="en-US" altLang="zh-CN" sz="1800" dirty="0" err="1" smtClean="0"/>
              <a:t>cout</a:t>
            </a:r>
            <a:r>
              <a:rPr lang="en-US" altLang="zh-CN" sz="1800" dirty="0" smtClean="0"/>
              <a:t>&lt;&lt;Add(</a:t>
            </a:r>
            <a:r>
              <a:rPr lang="en-US" altLang="zh-CN" sz="1800" dirty="0" err="1" smtClean="0"/>
              <a:t>x,y</a:t>
            </a:r>
            <a:r>
              <a:rPr lang="en-US" altLang="zh-CN" sz="1800" dirty="0" smtClean="0"/>
              <a:t>)&lt;&lt;</a:t>
            </a:r>
            <a:r>
              <a:rPr lang="en-US" altLang="zh-CN" sz="1800" dirty="0" err="1" smtClean="0"/>
              <a:t>std</a:t>
            </a:r>
            <a:r>
              <a:rPr lang="en-US" altLang="zh-CN" sz="1800" dirty="0" smtClean="0"/>
              <a:t>::</a:t>
            </a:r>
            <a:r>
              <a:rPr lang="en-US" altLang="zh-CN" sz="1800" dirty="0" err="1" smtClean="0"/>
              <a:t>endl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相当于调用函数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Add(</a:t>
            </a:r>
            <a:r>
              <a:rPr lang="en-US" altLang="zh-CN" sz="1800" dirty="0" err="1" smtClean="0"/>
              <a:t>int,int</a:t>
            </a:r>
            <a:r>
              <a:rPr lang="en-US" altLang="zh-CN" sz="1800" dirty="0" smtClean="0"/>
              <a:t>)</a:t>
            </a:r>
            <a:br>
              <a:rPr lang="en-US" altLang="zh-CN" sz="1800" dirty="0" smtClean="0"/>
            </a:br>
            <a:r>
              <a:rPr lang="en-US" altLang="zh-CN" sz="1800" dirty="0" smtClean="0"/>
              <a:t> </a:t>
            </a:r>
            <a:br>
              <a:rPr lang="en-US" altLang="zh-CN" sz="1800" dirty="0" smtClean="0"/>
            </a:br>
            <a:r>
              <a:rPr lang="en-US" altLang="zh-CN" sz="1800" dirty="0" smtClean="0"/>
              <a:t> double x1=10.10,y1=10.10;</a:t>
            </a:r>
            <a:br>
              <a:rPr lang="en-US" altLang="zh-CN" sz="1800" dirty="0" smtClean="0"/>
            </a:br>
            <a:r>
              <a:rPr lang="en-US" altLang="zh-CN" sz="1800" dirty="0" smtClean="0"/>
              <a:t> </a:t>
            </a:r>
            <a:r>
              <a:rPr lang="en-US" altLang="zh-CN" sz="1800" dirty="0" err="1" smtClean="0"/>
              <a:t>std</a:t>
            </a:r>
            <a:r>
              <a:rPr lang="en-US" altLang="zh-CN" sz="1800" dirty="0" smtClean="0"/>
              <a:t>::</a:t>
            </a:r>
            <a:r>
              <a:rPr lang="en-US" altLang="zh-CN" sz="1800" dirty="0" err="1" smtClean="0"/>
              <a:t>cout</a:t>
            </a:r>
            <a:r>
              <a:rPr lang="en-US" altLang="zh-CN" sz="1800" dirty="0" smtClean="0"/>
              <a:t>&lt;&lt;Add(x1,y1)&lt;&lt;</a:t>
            </a:r>
            <a:r>
              <a:rPr lang="en-US" altLang="zh-CN" sz="1800" dirty="0" err="1" smtClean="0"/>
              <a:t>std</a:t>
            </a:r>
            <a:r>
              <a:rPr lang="en-US" altLang="zh-CN" sz="1800" dirty="0" smtClean="0"/>
              <a:t>::</a:t>
            </a:r>
            <a:r>
              <a:rPr lang="en-US" altLang="zh-CN" sz="1800" dirty="0" err="1" smtClean="0"/>
              <a:t>endl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相当于调用函数</a:t>
            </a:r>
            <a:r>
              <a:rPr lang="en-US" altLang="zh-CN" sz="1800" dirty="0" smtClean="0"/>
              <a:t>double  Add(</a:t>
            </a:r>
            <a:r>
              <a:rPr lang="en-US" altLang="zh-CN" sz="1800" dirty="0" err="1" smtClean="0"/>
              <a:t>double,double</a:t>
            </a:r>
            <a:r>
              <a:rPr lang="en-US" altLang="zh-CN" sz="1800" dirty="0" smtClean="0"/>
              <a:t>)</a:t>
            </a:r>
            <a:br>
              <a:rPr lang="en-US" altLang="zh-CN" sz="1800" dirty="0" smtClean="0"/>
            </a:br>
            <a:r>
              <a:rPr lang="en-US" altLang="zh-CN" sz="1800" dirty="0" smtClean="0"/>
              <a:t> </a:t>
            </a:r>
            <a:br>
              <a:rPr lang="en-US" altLang="zh-CN" sz="1800" dirty="0" smtClean="0"/>
            </a:br>
            <a:r>
              <a:rPr lang="en-US" altLang="zh-CN" sz="1800" dirty="0" smtClean="0"/>
              <a:t> long x2=9999,y2=9999;</a:t>
            </a:r>
            <a:br>
              <a:rPr lang="en-US" altLang="zh-CN" sz="1800" dirty="0" smtClean="0"/>
            </a:br>
            <a:r>
              <a:rPr lang="en-US" altLang="zh-CN" sz="1800" dirty="0" smtClean="0"/>
              <a:t> </a:t>
            </a:r>
            <a:r>
              <a:rPr lang="en-US" altLang="zh-CN" sz="1800" dirty="0" err="1" smtClean="0"/>
              <a:t>std</a:t>
            </a:r>
            <a:r>
              <a:rPr lang="en-US" altLang="zh-CN" sz="1800" dirty="0" smtClean="0"/>
              <a:t>::</a:t>
            </a:r>
            <a:r>
              <a:rPr lang="en-US" altLang="zh-CN" sz="1800" dirty="0" err="1" smtClean="0"/>
              <a:t>cout</a:t>
            </a:r>
            <a:r>
              <a:rPr lang="en-US" altLang="zh-CN" sz="1800" dirty="0" smtClean="0"/>
              <a:t>&lt;&lt;Add(x2,y2)&lt;&lt;</a:t>
            </a:r>
            <a:r>
              <a:rPr lang="en-US" altLang="zh-CN" sz="1800" dirty="0" err="1" smtClean="0"/>
              <a:t>std</a:t>
            </a:r>
            <a:r>
              <a:rPr lang="en-US" altLang="zh-CN" sz="1800" dirty="0" smtClean="0"/>
              <a:t>::</a:t>
            </a:r>
            <a:r>
              <a:rPr lang="en-US" altLang="zh-CN" sz="1800" dirty="0" err="1" smtClean="0"/>
              <a:t>endl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相当于调用函数</a:t>
            </a:r>
            <a:r>
              <a:rPr lang="en-US" altLang="zh-CN" sz="1800" dirty="0" smtClean="0"/>
              <a:t>long Add(</a:t>
            </a:r>
            <a:r>
              <a:rPr lang="en-US" altLang="zh-CN" sz="1800" dirty="0" err="1" smtClean="0"/>
              <a:t>long,long</a:t>
            </a:r>
            <a:r>
              <a:rPr lang="en-US" altLang="zh-CN" sz="1800" dirty="0" smtClean="0"/>
              <a:t>)</a:t>
            </a:r>
            <a:br>
              <a:rPr lang="en-US" altLang="zh-CN" sz="1800" dirty="0" smtClean="0"/>
            </a:br>
            <a:r>
              <a:rPr lang="en-US" altLang="zh-CN" sz="1800" dirty="0" smtClean="0"/>
              <a:t> </a:t>
            </a:r>
            <a:br>
              <a:rPr lang="en-US" altLang="zh-CN" sz="1800" dirty="0" smtClean="0"/>
            </a:br>
            <a:r>
              <a:rPr lang="en-US" altLang="zh-CN" sz="1800" dirty="0" smtClean="0"/>
              <a:t> return0;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106991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9" y="1196752"/>
            <a:ext cx="8460432" cy="5472608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sz="3200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</a:t>
            </a:r>
            <a:r>
              <a:rPr lang="zh-CN" altLang="en-US" sz="32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/>
              <a:t>template</a:t>
            </a:r>
            <a:r>
              <a:rPr lang="zh-CN" altLang="en-US" sz="1600" b="1" dirty="0"/>
              <a:t>　类型形参表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/>
              <a:t>class </a:t>
            </a:r>
            <a:r>
              <a:rPr lang="zh-CN" altLang="en-US" sz="1600" b="1" dirty="0"/>
              <a:t>类名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       类说明体；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｝；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CN" sz="16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 smtClean="0"/>
              <a:t>template </a:t>
            </a:r>
            <a:r>
              <a:rPr lang="zh-CN" altLang="en-US" sz="1600" b="1" dirty="0"/>
              <a:t>类型形参表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返回类型　　类名　类型名表：：成员函数１（形参表）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              成员函数定义体；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｝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返回类型　　类名　类型名表：：成员函数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（形参表）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              成员函数定义体；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｝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/>
              <a:t>……</a:t>
            </a:r>
            <a:endParaRPr lang="zh-CN" alt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返回类型　　类名　类型名表：：成员函数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（形参表）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              成员函数定义体；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1600" b="1" dirty="0"/>
              <a:t>｝</a:t>
            </a:r>
          </a:p>
          <a:p>
            <a:pPr marL="0" indent="0">
              <a:spcBef>
                <a:spcPts val="0"/>
              </a:spcBef>
              <a:buNone/>
            </a:pP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1095010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dirty="0"/>
              <a:t>template &lt;class</a:t>
            </a:r>
            <a:r>
              <a:rPr lang="en-US" altLang="zh-CN" sz="1800" dirty="0">
                <a:solidFill>
                  <a:srgbClr val="0000FF"/>
                </a:solidFill>
              </a:rPr>
              <a:t> T</a:t>
            </a:r>
            <a:r>
              <a:rPr lang="en-US" altLang="zh-CN" sz="1800" dirty="0"/>
              <a:t>&gt;</a:t>
            </a:r>
            <a:br>
              <a:rPr lang="en-US" altLang="zh-CN" sz="1800" dirty="0"/>
            </a:br>
            <a:r>
              <a:rPr lang="en-US" altLang="zh-CN" sz="1800" dirty="0"/>
              <a:t>class array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int</a:t>
            </a:r>
            <a:r>
              <a:rPr lang="en-US" altLang="zh-CN" sz="1800" dirty="0"/>
              <a:t> size;</a:t>
            </a:r>
            <a:br>
              <a:rPr lang="en-US" altLang="zh-CN" sz="1800" dirty="0"/>
            </a:br>
            <a:r>
              <a:rPr lang="en-US" altLang="zh-CN" sz="1800" dirty="0" smtClean="0"/>
              <a:t>	</a:t>
            </a:r>
            <a:r>
              <a:rPr lang="en-US" altLang="zh-CN" sz="1800" dirty="0" smtClean="0">
                <a:solidFill>
                  <a:srgbClr val="0000FF"/>
                </a:solidFill>
              </a:rPr>
              <a:t>T</a:t>
            </a:r>
            <a:r>
              <a:rPr lang="en-US" altLang="zh-CN" sz="1800" dirty="0"/>
              <a:t> *</a:t>
            </a:r>
            <a:r>
              <a:rPr lang="en-US" altLang="zh-CN" sz="1800" dirty="0" err="1"/>
              <a:t>aptr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 smtClean="0"/>
              <a:t>	public</a:t>
            </a:r>
            <a:r>
              <a:rPr lang="en-US" altLang="zh-CN" sz="1800" dirty="0"/>
              <a:t>:</a:t>
            </a:r>
            <a:br>
              <a:rPr lang="en-US" altLang="zh-CN" sz="1800" dirty="0"/>
            </a:br>
            <a:r>
              <a:rPr lang="en-US" altLang="zh-CN" sz="1800" dirty="0" smtClean="0"/>
              <a:t>	        	array(</a:t>
            </a:r>
            <a:r>
              <a:rPr lang="en-US" altLang="zh-CN" sz="1800" dirty="0" err="1" smtClean="0"/>
              <a:t>int</a:t>
            </a:r>
            <a:r>
              <a:rPr lang="en-US" altLang="zh-CN" sz="1800" dirty="0"/>
              <a:t> slots =1)</a:t>
            </a:r>
            <a:br>
              <a:rPr lang="en-US" altLang="zh-CN" sz="1800" dirty="0"/>
            </a:br>
            <a:r>
              <a:rPr lang="en-US" altLang="zh-CN" sz="1800" dirty="0" smtClean="0"/>
              <a:t>		{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 smtClean="0"/>
              <a:t>		size</a:t>
            </a:r>
            <a:r>
              <a:rPr lang="en-US" altLang="zh-CN" sz="1800" dirty="0"/>
              <a:t> = slots;</a:t>
            </a:r>
            <a:br>
              <a:rPr lang="en-US" altLang="zh-CN" sz="1800" dirty="0"/>
            </a:br>
            <a:r>
              <a:rPr lang="en-US" altLang="zh-CN" sz="1800" dirty="0" smtClean="0"/>
              <a:t>		</a:t>
            </a:r>
            <a:r>
              <a:rPr lang="en-US" altLang="zh-CN" sz="1800" dirty="0" err="1" smtClean="0"/>
              <a:t>aptr</a:t>
            </a:r>
            <a:r>
              <a:rPr lang="en-US" altLang="zh-CN" sz="1800" dirty="0"/>
              <a:t> =new </a:t>
            </a:r>
            <a:r>
              <a:rPr lang="en-US" altLang="zh-CN" sz="1800" dirty="0">
                <a:solidFill>
                  <a:srgbClr val="0000FF"/>
                </a:solidFill>
              </a:rPr>
              <a:t>T</a:t>
            </a:r>
            <a:r>
              <a:rPr lang="en-US" altLang="zh-CN" sz="1800" dirty="0"/>
              <a:t>[slots]; </a:t>
            </a:r>
            <a:r>
              <a:rPr lang="en-US" altLang="zh-CN" sz="1800" dirty="0">
                <a:solidFill>
                  <a:srgbClr val="0000FF"/>
                </a:solidFill>
              </a:rPr>
              <a:t>// </a:t>
            </a:r>
            <a:r>
              <a:rPr lang="zh-CN" altLang="en-US" sz="1800" dirty="0">
                <a:solidFill>
                  <a:srgbClr val="0000FF"/>
                </a:solidFill>
              </a:rPr>
              <a:t>为数组分配内在空间</a:t>
            </a:r>
            <a:br>
              <a:rPr lang="zh-CN" altLang="en-US" sz="1800" dirty="0">
                <a:solidFill>
                  <a:srgbClr val="0000FF"/>
                </a:solidFill>
              </a:rPr>
            </a:br>
            <a:r>
              <a:rPr lang="en-US" altLang="zh-CN" sz="1800" dirty="0" smtClean="0"/>
              <a:t>		}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 smtClean="0"/>
              <a:t>		void</a:t>
            </a:r>
            <a:r>
              <a:rPr lang="en-US" altLang="zh-CN" sz="1800" dirty="0"/>
              <a:t> </a:t>
            </a:r>
            <a:r>
              <a:rPr lang="en-US" altLang="zh-CN" sz="1800" dirty="0" err="1"/>
              <a:t>fill_array</a:t>
            </a:r>
            <a:r>
              <a:rPr lang="en-US" altLang="zh-CN" sz="1800" dirty="0"/>
              <a:t>();</a:t>
            </a:r>
            <a:br>
              <a:rPr lang="en-US" altLang="zh-CN" sz="1800" dirty="0"/>
            </a:br>
            <a:r>
              <a:rPr lang="en-US" altLang="zh-CN" sz="1800" dirty="0" smtClean="0"/>
              <a:t>		void</a:t>
            </a:r>
            <a:r>
              <a:rPr lang="en-US" altLang="zh-CN" sz="1800" dirty="0"/>
              <a:t> </a:t>
            </a:r>
            <a:r>
              <a:rPr lang="en-US" altLang="zh-CN" sz="1800" dirty="0" err="1"/>
              <a:t>disp_array</a:t>
            </a:r>
            <a:r>
              <a:rPr lang="en-US" altLang="zh-CN" sz="1800" dirty="0"/>
              <a:t>();</a:t>
            </a:r>
            <a:br>
              <a:rPr lang="en-US" altLang="zh-CN" sz="1800" dirty="0"/>
            </a:br>
            <a:r>
              <a:rPr lang="en-US" altLang="zh-CN" sz="1800" dirty="0" smtClean="0"/>
              <a:t>		~</a:t>
            </a:r>
            <a:r>
              <a:rPr lang="en-US" altLang="zh-CN" sz="1800" dirty="0"/>
              <a:t> array()</a:t>
            </a:r>
            <a:br>
              <a:rPr lang="en-US" altLang="zh-CN" sz="1800" dirty="0"/>
            </a:br>
            <a:r>
              <a:rPr lang="en-US" altLang="zh-CN" sz="1800" dirty="0" smtClean="0"/>
              <a:t>		{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 smtClean="0"/>
              <a:t>			delete [ ]</a:t>
            </a:r>
            <a:r>
              <a:rPr lang="en-US" altLang="zh-CN" sz="1800" dirty="0" err="1"/>
              <a:t>aptr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 smtClean="0"/>
              <a:t>		}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};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9220906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/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友元</a:t>
            </a:r>
            <a:r>
              <a:rPr lang="zh-CN" altLang="en-US" b="1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68760"/>
            <a:ext cx="8142287" cy="43926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定义：</a:t>
            </a:r>
            <a:r>
              <a:rPr lang="zh-CN" altLang="en-US" b="1" dirty="0">
                <a:solidFill>
                  <a:srgbClr val="0000FF"/>
                </a:solidFill>
              </a:rPr>
              <a:t>允许一个类将对其非公有成员的访问权授予指定的类或函数（分别是友元类和友元函数</a:t>
            </a:r>
            <a:r>
              <a:rPr lang="zh-CN" altLang="en-US" b="1" dirty="0" smtClean="0">
                <a:solidFill>
                  <a:srgbClr val="0000FF"/>
                </a:solidFill>
              </a:rPr>
              <a:t>）。</a:t>
            </a:r>
            <a:endParaRPr lang="en-US" altLang="zh-CN" b="1" dirty="0" smtClean="0"/>
          </a:p>
          <a:p>
            <a:pPr marL="0" indent="0">
              <a:buNone/>
            </a:pPr>
            <a:r>
              <a:rPr lang="zh-CN" altLang="en-US" dirty="0" smtClean="0"/>
              <a:t>（友</a:t>
            </a:r>
            <a:r>
              <a:rPr lang="zh-CN" altLang="en-US" dirty="0"/>
              <a:t>元函数和友元类统称为友元，友元的作用是提高程序的运行效率，但也牺牲了类的封装性</a:t>
            </a:r>
            <a:r>
              <a:rPr lang="zh-CN" altLang="en-US" dirty="0" smtClean="0"/>
              <a:t>。）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两个性质：</a:t>
            </a:r>
            <a:endParaRPr lang="zh-CN" altLang="en-US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、不具有传递性。</a:t>
            </a:r>
          </a:p>
          <a:p>
            <a:pPr marL="0" indent="-457200">
              <a:buNone/>
            </a:pPr>
            <a:r>
              <a:rPr lang="zh-CN" altLang="en-US" sz="2400" dirty="0"/>
              <a:t>     即：假设</a:t>
            </a:r>
            <a:r>
              <a:rPr lang="en-US" altLang="zh-CN" sz="2400" dirty="0"/>
              <a:t>B</a:t>
            </a:r>
            <a:r>
              <a:rPr lang="zh-CN" altLang="en-US" sz="2400" dirty="0"/>
              <a:t>是</a:t>
            </a:r>
            <a:r>
              <a:rPr lang="en-US" altLang="zh-CN" sz="2400" dirty="0"/>
              <a:t>A</a:t>
            </a:r>
            <a:r>
              <a:rPr lang="zh-CN" altLang="en-US" sz="2400" dirty="0"/>
              <a:t>的友元类，</a:t>
            </a:r>
            <a:r>
              <a:rPr lang="en-US" altLang="zh-CN" sz="2400" dirty="0"/>
              <a:t>C</a:t>
            </a:r>
            <a:r>
              <a:rPr lang="zh-CN" altLang="en-US" sz="2400" dirty="0"/>
              <a:t>是</a:t>
            </a:r>
            <a:r>
              <a:rPr lang="en-US" altLang="zh-CN" sz="2400" dirty="0"/>
              <a:t>B</a:t>
            </a:r>
            <a:r>
              <a:rPr lang="zh-CN" altLang="en-US" sz="2400" dirty="0"/>
              <a:t>的友元函数，那么</a:t>
            </a:r>
            <a:r>
              <a:rPr lang="en-US" altLang="zh-CN" sz="2400" dirty="0"/>
              <a:t>C</a:t>
            </a:r>
            <a:r>
              <a:rPr lang="zh-CN" altLang="en-US" sz="2400" dirty="0"/>
              <a:t>不能直接访问</a:t>
            </a:r>
            <a:r>
              <a:rPr lang="en-US" altLang="zh-CN" sz="2400" dirty="0"/>
              <a:t>A</a:t>
            </a:r>
            <a:r>
              <a:rPr lang="zh-CN" altLang="en-US" sz="2400" dirty="0"/>
              <a:t>的私有成员。</a:t>
            </a:r>
          </a:p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、不具有继承性。</a:t>
            </a:r>
          </a:p>
          <a:p>
            <a:pPr marL="0" indent="0">
              <a:buNone/>
            </a:pPr>
            <a:r>
              <a:rPr lang="zh-CN" altLang="en-US" sz="2400" dirty="0"/>
              <a:t>     即：假设</a:t>
            </a:r>
            <a:r>
              <a:rPr lang="en-US" altLang="zh-CN" sz="2400" dirty="0"/>
              <a:t>B</a:t>
            </a:r>
            <a:r>
              <a:rPr lang="zh-CN" altLang="en-US" sz="2400" dirty="0"/>
              <a:t>是基类</a:t>
            </a:r>
            <a:r>
              <a:rPr lang="en-US" altLang="zh-CN" sz="2400" dirty="0"/>
              <a:t>A</a:t>
            </a:r>
            <a:r>
              <a:rPr lang="zh-CN" altLang="en-US" sz="2400" dirty="0"/>
              <a:t>的友元函数，</a:t>
            </a:r>
            <a:r>
              <a:rPr lang="en-US" altLang="zh-CN" sz="2400" dirty="0"/>
              <a:t>C</a:t>
            </a:r>
            <a:r>
              <a:rPr lang="zh-CN" altLang="en-US" sz="2400" dirty="0"/>
              <a:t>是</a:t>
            </a:r>
            <a:r>
              <a:rPr lang="en-US" altLang="zh-CN" sz="2400" dirty="0"/>
              <a:t>A</a:t>
            </a:r>
            <a:r>
              <a:rPr lang="zh-CN" altLang="en-US" sz="2400" dirty="0"/>
              <a:t>的继承类，那么</a:t>
            </a:r>
            <a:r>
              <a:rPr lang="en-US" altLang="zh-CN" sz="2400" dirty="0"/>
              <a:t>B</a:t>
            </a:r>
            <a:r>
              <a:rPr lang="zh-CN" altLang="en-US" sz="2400" dirty="0"/>
              <a:t>不能直接访问</a:t>
            </a:r>
            <a:r>
              <a:rPr lang="en-US" altLang="zh-CN" sz="2400" dirty="0"/>
              <a:t>C</a:t>
            </a:r>
            <a:r>
              <a:rPr lang="zh-CN" altLang="en-US" sz="2400" dirty="0"/>
              <a:t>的私有成员。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62880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/>
              <a:t> </a:t>
            </a:r>
            <a:r>
              <a:rPr lang="en-US" altLang="zh-CN" sz="1800" dirty="0"/>
              <a:t>// </a:t>
            </a:r>
            <a:r>
              <a:rPr lang="zh-CN" altLang="en-US" sz="1800" dirty="0"/>
              <a:t>如果派生类想要将自己成员的访问权授予其基类的友元</a:t>
            </a:r>
            <a:r>
              <a:rPr lang="en-US" altLang="zh-CN" sz="1800" dirty="0"/>
              <a:t>,</a:t>
            </a:r>
            <a:r>
              <a:rPr lang="zh-CN" altLang="en-US" sz="1800" dirty="0"/>
              <a:t>派生类必须显式地这样声明友元。                    </a:t>
            </a:r>
            <a:r>
              <a:rPr lang="en-US" altLang="zh-CN" sz="1800" dirty="0"/>
              <a:t>//</a:t>
            </a:r>
            <a:r>
              <a:rPr lang="zh-CN" altLang="en-US" sz="1800" dirty="0"/>
              <a:t>基类的友元对从该基类派生的类型没有特殊访问权限。</a:t>
            </a:r>
            <a:br>
              <a:rPr lang="zh-CN" altLang="en-US" sz="1800" dirty="0"/>
            </a:br>
            <a:r>
              <a:rPr lang="en-US" altLang="zh-CN" sz="1800" dirty="0"/>
              <a:t>class A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    friend class C;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  <a:br>
              <a:rPr lang="en-US" altLang="zh-CN" sz="1800" dirty="0"/>
            </a:br>
            <a:r>
              <a:rPr lang="en-US" altLang="zh-CN" sz="1800" dirty="0"/>
              <a:t>class B : public A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   </a:t>
            </a:r>
            <a:r>
              <a:rPr lang="en-US" altLang="zh-CN" sz="1800" dirty="0">
                <a:solidFill>
                  <a:srgbClr val="0000FF"/>
                </a:solidFill>
              </a:rPr>
              <a:t> </a:t>
            </a:r>
            <a:r>
              <a:rPr lang="en-US" altLang="zh-CN" sz="1800" b="1" dirty="0">
                <a:solidFill>
                  <a:srgbClr val="0000FF"/>
                </a:solidFill>
              </a:rPr>
              <a:t>friend class C;             //friend </a:t>
            </a:r>
            <a:r>
              <a:rPr lang="zh-CN" altLang="en-US" sz="1800" b="1" dirty="0">
                <a:solidFill>
                  <a:srgbClr val="0000FF"/>
                </a:solidFill>
              </a:rPr>
              <a:t>无法继承</a:t>
            </a:r>
            <a:r>
              <a:rPr lang="zh-CN" altLang="en-US" sz="1800" dirty="0">
                <a:solidFill>
                  <a:srgbClr val="0000FF"/>
                </a:solidFill>
              </a:rPr>
              <a:t/>
            </a:r>
            <a:br>
              <a:rPr lang="zh-CN" altLang="en-US" sz="1800" dirty="0">
                <a:solidFill>
                  <a:srgbClr val="0000FF"/>
                </a:solidFill>
              </a:rPr>
            </a:br>
            <a:r>
              <a:rPr lang="en-US" altLang="zh-CN" sz="1800" dirty="0"/>
              <a:t>}</a:t>
            </a:r>
            <a:br>
              <a:rPr lang="en-US" altLang="zh-CN" sz="1800" dirty="0"/>
            </a:b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class C</a:t>
            </a:r>
            <a:br>
              <a:rPr lang="en-US" altLang="zh-CN" sz="1800" dirty="0"/>
            </a:br>
            <a:r>
              <a:rPr lang="en-US" altLang="zh-CN" sz="1800" dirty="0"/>
              <a:t>{</a:t>
            </a:r>
            <a:br>
              <a:rPr lang="en-US" altLang="zh-CN" sz="1800" dirty="0"/>
            </a:br>
            <a:r>
              <a:rPr lang="en-US" altLang="zh-CN" sz="1800" dirty="0"/>
              <a:t>    </a:t>
            </a:r>
            <a:br>
              <a:rPr lang="en-US" altLang="zh-CN" sz="1800" dirty="0"/>
            </a:br>
            <a:r>
              <a:rPr lang="en-US" altLang="zh-CN" sz="1800" dirty="0" smtClean="0"/>
              <a:t>}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37555841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142287" cy="5112568"/>
          </a:xfrm>
        </p:spPr>
        <p:txBody>
          <a:bodyPr/>
          <a:lstStyle/>
          <a:p>
            <a:r>
              <a:rPr lang="en-US" altLang="zh-CN" sz="2000" dirty="0"/>
              <a:t>// </a:t>
            </a:r>
            <a:r>
              <a:rPr lang="zh-CN" altLang="en-US" sz="2000" dirty="0"/>
              <a:t>同样</a:t>
            </a:r>
            <a:r>
              <a:rPr lang="en-US" altLang="zh-CN" sz="2000" dirty="0"/>
              <a:t>,</a:t>
            </a:r>
            <a:r>
              <a:rPr lang="zh-CN" altLang="en-US" sz="2000" dirty="0"/>
              <a:t>如果基类和派生类都需要访问另一个类</a:t>
            </a:r>
            <a:r>
              <a:rPr lang="en-US" altLang="zh-CN" sz="2000" dirty="0"/>
              <a:t>,</a:t>
            </a:r>
            <a:r>
              <a:rPr lang="zh-CN" altLang="en-US" sz="2000" dirty="0"/>
              <a:t>则那个类必须特地将访问权限授予基类和每一个派生类</a:t>
            </a:r>
            <a:r>
              <a:rPr lang="en-US" altLang="zh-CN" sz="2000" dirty="0"/>
              <a:t>. </a:t>
            </a:r>
            <a:br>
              <a:rPr lang="en-US" altLang="zh-CN" sz="2000" dirty="0"/>
            </a:br>
            <a:r>
              <a:rPr lang="en-US" altLang="zh-CN" sz="2000" dirty="0"/>
              <a:t>class A</a:t>
            </a:r>
            <a:br>
              <a:rPr lang="en-US" altLang="zh-CN" sz="2000" dirty="0"/>
            </a:br>
            <a:r>
              <a:rPr lang="en-US" altLang="zh-CN" sz="2000" dirty="0"/>
              <a:t>{</a:t>
            </a:r>
            <a:br>
              <a:rPr lang="en-US" altLang="zh-CN" sz="2000" dirty="0"/>
            </a:b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/>
              <a:t>}</a:t>
            </a:r>
            <a:br>
              <a:rPr lang="en-US" altLang="zh-CN" sz="2000" dirty="0"/>
            </a:br>
            <a:r>
              <a:rPr lang="en-US" altLang="zh-CN" sz="2000" dirty="0"/>
              <a:t>class B : public A</a:t>
            </a:r>
            <a:br>
              <a:rPr lang="en-US" altLang="zh-CN" sz="2000" dirty="0"/>
            </a:br>
            <a:r>
              <a:rPr lang="en-US" altLang="zh-CN" sz="2000" dirty="0"/>
              <a:t>{</a:t>
            </a:r>
            <a:br>
              <a:rPr lang="en-US" altLang="zh-CN" sz="2000" dirty="0"/>
            </a:b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/>
              <a:t>}</a:t>
            </a:r>
            <a:br>
              <a:rPr lang="en-US" altLang="zh-CN" sz="2000" dirty="0"/>
            </a:b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/>
              <a:t>class C</a:t>
            </a:r>
            <a:br>
              <a:rPr lang="en-US" altLang="zh-CN" sz="2000" dirty="0"/>
            </a:br>
            <a:r>
              <a:rPr lang="en-US" altLang="zh-CN" sz="2000" dirty="0"/>
              <a:t>{</a:t>
            </a:r>
            <a:br>
              <a:rPr lang="en-US" altLang="zh-CN" sz="2000" dirty="0"/>
            </a:br>
            <a:r>
              <a:rPr lang="en-US" altLang="zh-CN" sz="2000" dirty="0"/>
              <a:t>    </a:t>
            </a:r>
            <a:r>
              <a:rPr lang="en-US" altLang="zh-CN" sz="2000" dirty="0">
                <a:solidFill>
                  <a:srgbClr val="0000FF"/>
                </a:solidFill>
              </a:rPr>
              <a:t>friend class A;</a:t>
            </a:r>
            <a:br>
              <a:rPr lang="en-US" altLang="zh-CN" sz="2000" dirty="0">
                <a:solidFill>
                  <a:srgbClr val="0000FF"/>
                </a:solidFill>
              </a:rPr>
            </a:br>
            <a:r>
              <a:rPr lang="en-US" altLang="zh-CN" sz="2000" dirty="0">
                <a:solidFill>
                  <a:srgbClr val="0000FF"/>
                </a:solidFill>
              </a:rPr>
              <a:t>    friend class B;</a:t>
            </a:r>
            <a:br>
              <a:rPr lang="en-US" altLang="zh-CN" sz="2000" dirty="0">
                <a:solidFill>
                  <a:srgbClr val="0000FF"/>
                </a:solidFill>
              </a:rPr>
            </a:br>
            <a:r>
              <a:rPr lang="en-US" altLang="zh-CN" sz="2000" dirty="0"/>
              <a:t>}</a:t>
            </a:r>
          </a:p>
          <a:p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4380893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/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类的继承特性</a:t>
            </a:r>
          </a:p>
        </p:txBody>
      </p:sp>
      <p:pic>
        <p:nvPicPr>
          <p:cNvPr id="1026" name="Picture 2" descr="414x1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96952"/>
            <a:ext cx="3943350" cy="18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51520" y="1340768"/>
            <a:ext cx="8568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zh-CN" altLang="en-US" dirty="0">
                <a:solidFill>
                  <a:srgbClr val="FF9900"/>
                </a:solidFill>
              </a:rPr>
              <a:t>类的继承</a:t>
            </a:r>
            <a:r>
              <a:rPr lang="zh-CN" altLang="en-US" dirty="0" smtClean="0">
                <a:solidFill>
                  <a:srgbClr val="FF9900"/>
                </a:solidFill>
              </a:rPr>
              <a:t>特性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c++</a:t>
            </a:r>
            <a:r>
              <a:rPr lang="zh-CN" altLang="en-US" dirty="0" smtClean="0"/>
              <a:t>的一个非常重要的</a:t>
            </a:r>
            <a:r>
              <a:rPr lang="zh-CN" altLang="en-US" dirty="0"/>
              <a:t>机制</a:t>
            </a:r>
            <a:r>
              <a:rPr lang="zh-CN" altLang="en-US" dirty="0" smtClean="0"/>
              <a:t>，</a:t>
            </a:r>
            <a:r>
              <a:rPr lang="zh-CN" altLang="en-US" dirty="0" smtClean="0">
                <a:solidFill>
                  <a:srgbClr val="FF9900"/>
                </a:solidFill>
              </a:rPr>
              <a:t>继承</a:t>
            </a:r>
            <a:r>
              <a:rPr lang="zh-CN" altLang="en-US" dirty="0">
                <a:solidFill>
                  <a:srgbClr val="FF9900"/>
                </a:solidFill>
              </a:rPr>
              <a:t>特性</a:t>
            </a:r>
            <a:r>
              <a:rPr lang="zh-CN" altLang="en-US" dirty="0"/>
              <a:t>可以使一个新类获得其父类的操作和数据结构</a:t>
            </a:r>
            <a:r>
              <a:rPr lang="zh-CN" altLang="en-US" dirty="0" smtClean="0"/>
              <a:t>，程序员</a:t>
            </a:r>
            <a:r>
              <a:rPr lang="zh-CN" altLang="en-US" dirty="0"/>
              <a:t>只需在新类中</a:t>
            </a:r>
            <a:r>
              <a:rPr lang="zh-CN" altLang="en-US" dirty="0" smtClean="0"/>
              <a:t>增加原有</a:t>
            </a:r>
            <a:r>
              <a:rPr lang="zh-CN" altLang="en-US" dirty="0"/>
              <a:t>类中没有的成分。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例：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7504" y="5229200"/>
            <a:ext cx="8928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交通工具是一</a:t>
            </a:r>
            <a:r>
              <a:rPr lang="zh-CN" altLang="en-US" dirty="0" smtClean="0"/>
              <a:t>个</a:t>
            </a:r>
            <a:r>
              <a:rPr lang="zh-CN" altLang="en-US" dirty="0" smtClean="0">
                <a:solidFill>
                  <a:srgbClr val="FF9900"/>
                </a:solidFill>
              </a:rPr>
              <a:t>基类</a:t>
            </a:r>
            <a:r>
              <a:rPr lang="zh-CN" altLang="en-US" dirty="0" smtClean="0"/>
              <a:t>（也</a:t>
            </a:r>
            <a:r>
              <a:rPr lang="zh-CN" altLang="en-US" dirty="0"/>
              <a:t>称做</a:t>
            </a:r>
            <a:r>
              <a:rPr lang="zh-CN" altLang="en-US" dirty="0">
                <a:solidFill>
                  <a:srgbClr val="FF9900"/>
                </a:solidFill>
              </a:rPr>
              <a:t>父</a:t>
            </a:r>
            <a:r>
              <a:rPr lang="zh-CN" altLang="en-US" dirty="0" smtClean="0">
                <a:solidFill>
                  <a:srgbClr val="FF9900"/>
                </a:solidFill>
              </a:rPr>
              <a:t>类</a:t>
            </a:r>
            <a:r>
              <a:rPr lang="zh-CN" altLang="en-US" dirty="0" smtClean="0"/>
              <a:t>），</a:t>
            </a:r>
            <a:r>
              <a:rPr lang="zh-CN" altLang="en-US" dirty="0"/>
              <a:t>飞机类和汽车类就是交通工具类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FF9900"/>
                </a:solidFill>
              </a:rPr>
              <a:t>派生类</a:t>
            </a:r>
            <a:r>
              <a:rPr lang="zh-CN" altLang="en-US" dirty="0" smtClean="0"/>
              <a:t>（也称做</a:t>
            </a:r>
            <a:r>
              <a:rPr lang="zh-CN" altLang="en-US" dirty="0">
                <a:solidFill>
                  <a:srgbClr val="FF9900"/>
                </a:solidFill>
              </a:rPr>
              <a:t>子</a:t>
            </a:r>
            <a:r>
              <a:rPr lang="zh-CN" altLang="en-US" dirty="0" smtClean="0">
                <a:solidFill>
                  <a:srgbClr val="FF9900"/>
                </a:solidFill>
              </a:rPr>
              <a:t>类</a:t>
            </a:r>
            <a:r>
              <a:rPr lang="zh-CN" altLang="en-US" dirty="0" smtClean="0"/>
              <a:t>）</a:t>
            </a:r>
            <a:r>
              <a:rPr lang="zh-CN" altLang="en-US" dirty="0"/>
              <a:t>。以此类推，层层递增，这种子类</a:t>
            </a:r>
            <a:r>
              <a:rPr lang="zh-CN" altLang="en-US" dirty="0" smtClean="0"/>
              <a:t>获父</a:t>
            </a:r>
            <a:r>
              <a:rPr lang="zh-CN" altLang="en-US" dirty="0"/>
              <a:t>类特性的概念就是</a:t>
            </a:r>
            <a:r>
              <a:rPr lang="zh-CN" altLang="en-US" dirty="0">
                <a:solidFill>
                  <a:srgbClr val="FF9900"/>
                </a:solidFill>
              </a:rPr>
              <a:t>继承</a:t>
            </a:r>
            <a:r>
              <a:rPr lang="zh-CN" altLang="en-US" dirty="0" smtClean="0"/>
              <a:t>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391949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2060847"/>
            <a:ext cx="8142287" cy="381607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#include </a:t>
            </a:r>
            <a:r>
              <a:rPr lang="en-US" altLang="zh-CN" sz="1600" dirty="0" smtClean="0"/>
              <a:t>&lt;</a:t>
            </a:r>
            <a:r>
              <a:rPr lang="en-US" altLang="zh-CN" sz="1600" dirty="0" err="1" smtClean="0"/>
              <a:t>iostream</a:t>
            </a:r>
            <a:r>
              <a:rPr lang="en-US" altLang="zh-CN" sz="1600" dirty="0" smtClean="0"/>
              <a:t>&gt; 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Using namespace </a:t>
            </a:r>
            <a:r>
              <a:rPr lang="en-US" altLang="zh-CN" sz="1600" dirty="0" err="1" smtClean="0"/>
              <a:t>std</a:t>
            </a:r>
            <a:r>
              <a:rPr lang="en-US" altLang="zh-CN" sz="1600" dirty="0"/>
              <a:t>; </a:t>
            </a:r>
          </a:p>
          <a:p>
            <a:pPr marL="0" indent="0">
              <a:buNone/>
            </a:pPr>
            <a:r>
              <a:rPr lang="en-US" altLang="zh-CN" sz="1600" dirty="0" smtClean="0"/>
              <a:t>class Vehicle 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{ </a:t>
            </a:r>
            <a:r>
              <a:rPr lang="en-US" altLang="zh-CN" sz="1600" dirty="0" smtClean="0"/>
              <a:t>public: </a:t>
            </a:r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void </a:t>
            </a:r>
            <a:r>
              <a:rPr lang="en-US" altLang="zh-CN" sz="1600" dirty="0" err="1" smtClean="0"/>
              <a:t>EditSC</a:t>
            </a:r>
            <a:r>
              <a:rPr lang="en-US" altLang="zh-CN" sz="1600" dirty="0" smtClean="0"/>
              <a:t>(float speed,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total</a:t>
            </a:r>
            <a:r>
              <a:rPr lang="en-US" altLang="zh-CN" sz="1600" dirty="0"/>
              <a:t>); </a:t>
            </a:r>
          </a:p>
          <a:p>
            <a:pPr marL="0" indent="0">
              <a:buNone/>
            </a:pPr>
            <a:r>
              <a:rPr lang="en-US" altLang="zh-CN" sz="1600" dirty="0" smtClean="0"/>
              <a:t>  protected: 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float speed; //</a:t>
            </a:r>
            <a:r>
              <a:rPr lang="zh-CN" altLang="en-US" sz="1600" dirty="0" smtClean="0"/>
              <a:t>速度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total; //</a:t>
            </a:r>
            <a:r>
              <a:rPr lang="zh-CN" altLang="en-US" sz="1600" dirty="0" smtClean="0"/>
              <a:t>最大</a:t>
            </a:r>
            <a:r>
              <a:rPr lang="zh-CN" altLang="en-US" sz="1600" dirty="0"/>
              <a:t>载人量</a:t>
            </a:r>
          </a:p>
          <a:p>
            <a:pPr marL="0" indent="0">
              <a:buNone/>
            </a:pPr>
            <a:r>
              <a:rPr lang="en-US" altLang="zh-CN" sz="1600" dirty="0"/>
              <a:t>}; </a:t>
            </a:r>
          </a:p>
          <a:p>
            <a:pPr marL="0" indent="0">
              <a:buNone/>
            </a:pPr>
            <a:r>
              <a:rPr lang="en-US" altLang="zh-CN" sz="1600" dirty="0" smtClean="0"/>
              <a:t>void Vehicle</a:t>
            </a:r>
            <a:r>
              <a:rPr lang="en-US" altLang="zh-CN" sz="1600" dirty="0"/>
              <a:t>::</a:t>
            </a:r>
            <a:r>
              <a:rPr lang="en-US" altLang="zh-CN" sz="1600" dirty="0" err="1" smtClean="0"/>
              <a:t>EditSC</a:t>
            </a:r>
            <a:r>
              <a:rPr lang="en-US" altLang="zh-CN" sz="1600" dirty="0" smtClean="0"/>
              <a:t>(float speed,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total</a:t>
            </a:r>
            <a:r>
              <a:rPr lang="en-US" altLang="zh-CN" sz="1600" dirty="0"/>
              <a:t>) </a:t>
            </a:r>
          </a:p>
          <a:p>
            <a:pPr marL="0" indent="0">
              <a:buNone/>
            </a:pPr>
            <a:r>
              <a:rPr lang="en-US" altLang="zh-CN" sz="1600" dirty="0"/>
              <a:t>{ </a:t>
            </a:r>
            <a:r>
              <a:rPr lang="en-US" altLang="zh-CN" sz="1600" dirty="0" smtClean="0"/>
              <a:t>    Vehicle</a:t>
            </a:r>
            <a:r>
              <a:rPr lang="en-US" altLang="zh-CN" sz="1600" dirty="0"/>
              <a:t>::speed </a:t>
            </a:r>
            <a:r>
              <a:rPr lang="en-US" altLang="zh-CN" sz="1600" dirty="0" smtClean="0"/>
              <a:t>=speed</a:t>
            </a:r>
            <a:r>
              <a:rPr lang="en-US" altLang="zh-CN" sz="1600" dirty="0"/>
              <a:t>; </a:t>
            </a:r>
          </a:p>
          <a:p>
            <a:pPr marL="0" indent="0">
              <a:buNone/>
            </a:pPr>
            <a:r>
              <a:rPr lang="en-US" altLang="zh-CN" sz="1600" dirty="0" smtClean="0"/>
              <a:t>      Vehicle</a:t>
            </a:r>
            <a:r>
              <a:rPr lang="en-US" altLang="zh-CN" sz="1600" dirty="0"/>
              <a:t>::total </a:t>
            </a:r>
            <a:r>
              <a:rPr lang="en-US" altLang="zh-CN" sz="1600" dirty="0" smtClean="0"/>
              <a:t>=total</a:t>
            </a:r>
            <a:r>
              <a:rPr lang="en-US" altLang="zh-CN" sz="1600" dirty="0"/>
              <a:t>; </a:t>
            </a:r>
          </a:p>
          <a:p>
            <a:pPr marL="0" indent="0">
              <a:buNone/>
            </a:pPr>
            <a:r>
              <a:rPr lang="en-US" altLang="zh-CN" sz="1600" dirty="0"/>
              <a:t>} </a:t>
            </a:r>
          </a:p>
          <a:p>
            <a:pPr marL="0" indent="0">
              <a:buNone/>
            </a:pPr>
            <a:endParaRPr lang="zh-CN" altLang="en-US" sz="16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9512" y="1268760"/>
            <a:ext cx="5616575" cy="576262"/>
          </a:xfrm>
        </p:spPr>
        <p:txBody>
          <a:bodyPr/>
          <a:lstStyle/>
          <a:p>
            <a:pPr algn="l"/>
            <a:r>
              <a:rPr lang="zh-CN" altLang="en-US" sz="2800" dirty="0" smtClean="0">
                <a:solidFill>
                  <a:srgbClr val="0000FF"/>
                </a:solidFill>
              </a:rPr>
              <a:t>例：基类 </a:t>
            </a:r>
            <a:r>
              <a:rPr lang="en-US" altLang="zh-CN" sz="2800" dirty="0" smtClean="0">
                <a:solidFill>
                  <a:srgbClr val="0000FF"/>
                </a:solidFill>
              </a:rPr>
              <a:t>Vehicle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83415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467544" y="1484784"/>
            <a:ext cx="8142287" cy="52565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smtClean="0"/>
              <a:t>class </a:t>
            </a:r>
            <a:r>
              <a:rPr lang="en-US" altLang="zh-CN" sz="1800" dirty="0" err="1" smtClean="0"/>
              <a:t>Car:public</a:t>
            </a:r>
            <a:r>
              <a:rPr lang="en-US" altLang="zh-CN" sz="1800" dirty="0" smtClean="0"/>
              <a:t> Vehicle  //Car</a:t>
            </a:r>
            <a:r>
              <a:rPr lang="zh-CN" altLang="en-US" sz="1800" dirty="0" smtClean="0"/>
              <a:t>类继承</a:t>
            </a:r>
            <a:r>
              <a:rPr lang="en-US" altLang="zh-CN" sz="1800" dirty="0" smtClean="0"/>
              <a:t>Vehicle</a:t>
            </a:r>
            <a:r>
              <a:rPr lang="zh-CN" altLang="en-US" sz="1800" dirty="0" smtClean="0"/>
              <a:t>的</a:t>
            </a:r>
            <a:r>
              <a:rPr lang="zh-CN" altLang="en-US" sz="1800" dirty="0"/>
              <a:t>特性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Car</a:t>
            </a:r>
            <a:r>
              <a:rPr lang="zh-CN" altLang="en-US" sz="1800" dirty="0" smtClean="0"/>
              <a:t>类是</a:t>
            </a:r>
            <a:r>
              <a:rPr lang="en-US" altLang="zh-CN" sz="1800" dirty="0" smtClean="0"/>
              <a:t>Vehicle</a:t>
            </a:r>
            <a:r>
              <a:rPr lang="zh-CN" altLang="en-US" sz="1800" dirty="0" smtClean="0"/>
              <a:t>的派生类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{  public: </a:t>
            </a:r>
          </a:p>
          <a:p>
            <a:pPr marL="0" indent="0">
              <a:buNone/>
            </a:pPr>
            <a:r>
              <a:rPr lang="en-US" altLang="zh-CN" sz="1800" dirty="0" smtClean="0"/>
              <a:t>       Car( ) { </a:t>
            </a:r>
            <a:r>
              <a:rPr lang="en-US" altLang="zh-CN" sz="1800" dirty="0" err="1" smtClean="0"/>
              <a:t>aird</a:t>
            </a:r>
            <a:r>
              <a:rPr lang="en-US" altLang="zh-CN" sz="1800" dirty="0" smtClean="0"/>
              <a:t>=0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}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smtClean="0"/>
              <a:t>   protected: </a:t>
            </a:r>
          </a:p>
          <a:p>
            <a:pPr marL="0" indent="0">
              <a:buNone/>
            </a:pP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intaird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排量</a:t>
            </a:r>
            <a:r>
              <a:rPr lang="en-US" altLang="zh-CN" sz="1800" dirty="0" smtClean="0"/>
              <a:t>};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smtClean="0"/>
              <a:t>class </a:t>
            </a:r>
            <a:r>
              <a:rPr lang="en-US" altLang="zh-CN" sz="1800" dirty="0" err="1" smtClean="0"/>
              <a:t>Plane:public</a:t>
            </a:r>
            <a:r>
              <a:rPr lang="en-US" altLang="zh-CN" sz="1800" dirty="0" smtClean="0"/>
              <a:t> Vehicle </a:t>
            </a:r>
          </a:p>
          <a:p>
            <a:pPr marL="0" indent="0">
              <a:buNone/>
            </a:pPr>
            <a:r>
              <a:rPr lang="en-US" altLang="zh-CN" sz="1800" dirty="0" smtClean="0"/>
              <a:t>{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smtClean="0"/>
              <a:t>   protected: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floatwingspan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翼展</a:t>
            </a:r>
            <a:endParaRPr lang="zh-CN" altLang="en-US" sz="1800" dirty="0"/>
          </a:p>
          <a:p>
            <a:pPr marL="0" indent="0">
              <a:buNone/>
            </a:pPr>
            <a:r>
              <a:rPr lang="en-US" altLang="zh-CN" sz="1800" dirty="0"/>
              <a:t>}; </a:t>
            </a:r>
          </a:p>
          <a:p>
            <a:pPr marL="0" indent="0">
              <a:buNone/>
            </a:pPr>
            <a:r>
              <a:rPr lang="en-US" altLang="zh-CN" sz="1800" dirty="0" smtClean="0"/>
              <a:t>void main( )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{ </a:t>
            </a:r>
          </a:p>
          <a:p>
            <a:pPr marL="0" indent="0">
              <a:buNone/>
            </a:pPr>
            <a:r>
              <a:rPr lang="en-US" altLang="zh-CN" sz="1800" dirty="0" smtClean="0"/>
              <a:t>       Car </a:t>
            </a:r>
            <a:r>
              <a:rPr lang="en-US" altLang="zh-CN" sz="1800" dirty="0"/>
              <a:t>a; </a:t>
            </a:r>
          </a:p>
          <a:p>
            <a:pPr marL="0" indent="0">
              <a:buNone/>
            </a:pP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a.EditSC</a:t>
            </a:r>
            <a:r>
              <a:rPr lang="en-US" altLang="zh-CN" sz="1800" dirty="0" smtClean="0"/>
              <a:t>(150,4</a:t>
            </a:r>
            <a:r>
              <a:rPr lang="en-US" altLang="zh-CN" sz="1800" dirty="0"/>
              <a:t>); </a:t>
            </a:r>
          </a:p>
          <a:p>
            <a:pPr marL="0" indent="0">
              <a:buNone/>
            </a:pP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cin.get</a:t>
            </a:r>
            <a:r>
              <a:rPr lang="en-US" altLang="zh-CN" sz="1800" dirty="0" smtClean="0"/>
              <a:t>( ); 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} 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 algn="l">
              <a:buClr>
                <a:srgbClr val="FF9900"/>
              </a:buClr>
              <a:buSzPct val="80000"/>
              <a:buNone/>
            </a:pPr>
            <a:endParaRPr lang="zh-CN" altLang="en-US" sz="1800" dirty="0"/>
          </a:p>
        </p:txBody>
      </p:sp>
      <p:sp>
        <p:nvSpPr>
          <p:cNvPr id="5" name="标题 3"/>
          <p:cNvSpPr txBox="1">
            <a:spLocks/>
          </p:cNvSpPr>
          <p:nvPr/>
        </p:nvSpPr>
        <p:spPr bwMode="auto">
          <a:xfrm>
            <a:off x="179512" y="1026070"/>
            <a:ext cx="943304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/>
            <a:r>
              <a:rPr lang="zh-CN" altLang="en-US" sz="2800" dirty="0" smtClean="0">
                <a:solidFill>
                  <a:srgbClr val="0000FF"/>
                </a:solidFill>
              </a:rPr>
              <a:t>例：派生类 </a:t>
            </a:r>
            <a:r>
              <a:rPr lang="en-US" altLang="zh-CN" sz="2800" dirty="0" smtClean="0">
                <a:solidFill>
                  <a:srgbClr val="0000FF"/>
                </a:solidFill>
              </a:rPr>
              <a:t>Car() </a:t>
            </a:r>
            <a:r>
              <a:rPr lang="zh-CN" altLang="en-US" sz="1600" dirty="0" smtClean="0">
                <a:solidFill>
                  <a:srgbClr val="FF9900"/>
                </a:solidFill>
              </a:rPr>
              <a:t>派生</a:t>
            </a:r>
            <a:r>
              <a:rPr lang="zh-CN" altLang="en-US" sz="1600" dirty="0">
                <a:solidFill>
                  <a:srgbClr val="FF9900"/>
                </a:solidFill>
              </a:rPr>
              <a:t>类的定义可以在类名称后加冒号</a:t>
            </a:r>
            <a:r>
              <a:rPr lang="en-US" altLang="zh-CN" sz="1600" dirty="0">
                <a:solidFill>
                  <a:srgbClr val="FF9900"/>
                </a:solidFill>
              </a:rPr>
              <a:t>public</a:t>
            </a:r>
            <a:r>
              <a:rPr lang="zh-CN" altLang="en-US" sz="1600" dirty="0">
                <a:solidFill>
                  <a:srgbClr val="FF9900"/>
                </a:solidFill>
              </a:rPr>
              <a:t>空格加基类名称进行定义</a:t>
            </a:r>
            <a:r>
              <a:rPr lang="zh-CN" altLang="en-US" sz="1600" dirty="0" smtClean="0">
                <a:solidFill>
                  <a:srgbClr val="FF9900"/>
                </a:solidFill>
              </a:rPr>
              <a:t>。</a:t>
            </a:r>
            <a:endParaRPr lang="zh-CN" altLang="en-US" sz="28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09155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基类和派生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单继承</a:t>
            </a:r>
            <a:r>
              <a:rPr lang="zh-CN" altLang="en-US" dirty="0"/>
              <a:t>：</a:t>
            </a:r>
            <a:r>
              <a:rPr lang="en-US" altLang="zh-CN" dirty="0"/>
              <a:t>class </a:t>
            </a:r>
            <a:r>
              <a:rPr lang="en-US" altLang="zh-CN" dirty="0" err="1"/>
              <a:t>classB:public</a:t>
            </a:r>
            <a:r>
              <a:rPr lang="en-US" altLang="zh-CN" dirty="0"/>
              <a:t> </a:t>
            </a:r>
            <a:r>
              <a:rPr lang="en-US" altLang="zh-CN" dirty="0" err="1"/>
              <a:t>classA</a:t>
            </a:r>
            <a:r>
              <a:rPr lang="en-US" altLang="zh-CN" dirty="0"/>
              <a:t> {sentence;};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多继承</a:t>
            </a:r>
            <a:r>
              <a:rPr lang="zh-CN" altLang="en-US" dirty="0"/>
              <a:t>：</a:t>
            </a:r>
            <a:r>
              <a:rPr lang="en-US" altLang="zh-CN" dirty="0"/>
              <a:t>class </a:t>
            </a:r>
            <a:r>
              <a:rPr lang="en-US" altLang="zh-CN" dirty="0" err="1"/>
              <a:t>classC:public</a:t>
            </a:r>
            <a:r>
              <a:rPr lang="en-US" altLang="zh-CN" dirty="0"/>
              <a:t> class1,</a:t>
            </a:r>
          </a:p>
          <a:p>
            <a:pPr marL="0" indent="0">
              <a:buNone/>
            </a:pPr>
            <a:r>
              <a:rPr lang="zh-CN" altLang="en-US" dirty="0"/>
              <a:t>　　　　　　　　　　 </a:t>
            </a:r>
            <a:r>
              <a:rPr lang="en-US" altLang="zh-CN" dirty="0"/>
              <a:t>public class2,...</a:t>
            </a:r>
          </a:p>
          <a:p>
            <a:pPr marL="0" indent="0">
              <a:buNone/>
            </a:pPr>
            <a:r>
              <a:rPr lang="zh-CN" altLang="en-US" dirty="0"/>
              <a:t>　　      </a:t>
            </a:r>
            <a:r>
              <a:rPr lang="en-US" altLang="zh-CN" dirty="0"/>
              <a:t>{ sentences....;};</a:t>
            </a:r>
          </a:p>
          <a:p>
            <a:endParaRPr lang="en-US" altLang="zh-CN" dirty="0" smtClean="0"/>
          </a:p>
          <a:p>
            <a:r>
              <a:rPr lang="en-US" altLang="zh-CN" dirty="0" smtClean="0">
                <a:latin typeface="+mn-ea"/>
              </a:rPr>
              <a:t>&lt;</a:t>
            </a:r>
            <a:r>
              <a:rPr lang="zh-CN" altLang="en-US" dirty="0">
                <a:latin typeface="+mn-ea"/>
              </a:rPr>
              <a:t>继承方式</a:t>
            </a:r>
            <a:r>
              <a:rPr lang="en-US" altLang="zh-CN" dirty="0">
                <a:latin typeface="+mn-ea"/>
              </a:rPr>
              <a:t>&gt;</a:t>
            </a:r>
            <a:r>
              <a:rPr lang="zh-CN" altLang="en-US" dirty="0">
                <a:latin typeface="+mn-ea"/>
              </a:rPr>
              <a:t>可以有三种：公有继承方式</a:t>
            </a:r>
            <a:r>
              <a:rPr lang="en-US" altLang="zh-CN" dirty="0">
                <a:latin typeface="+mn-ea"/>
              </a:rPr>
              <a:t>public</a:t>
            </a:r>
            <a:r>
              <a:rPr lang="zh-CN" altLang="en-US" dirty="0">
                <a:latin typeface="+mn-ea"/>
              </a:rPr>
              <a:t>、保护继承方式</a:t>
            </a:r>
            <a:r>
              <a:rPr lang="en-US" altLang="zh-CN" dirty="0">
                <a:latin typeface="+mn-ea"/>
              </a:rPr>
              <a:t>protected</a:t>
            </a:r>
            <a:r>
              <a:rPr lang="zh-CN" altLang="en-US" dirty="0">
                <a:latin typeface="+mn-ea"/>
              </a:rPr>
              <a:t>及默认的私有继承方式</a:t>
            </a:r>
            <a:r>
              <a:rPr lang="en-US" altLang="zh-CN" dirty="0">
                <a:latin typeface="+mn-ea"/>
              </a:rPr>
              <a:t>private</a:t>
            </a:r>
            <a:r>
              <a:rPr lang="zh-CN" altLang="en-US" dirty="0">
                <a:latin typeface="+mn-ea"/>
              </a:rPr>
              <a:t>。</a:t>
            </a:r>
            <a:r>
              <a:rPr lang="en-US" altLang="zh-CN" dirty="0">
                <a:latin typeface="+mn-ea"/>
              </a:rPr>
              <a:t>&lt;</a:t>
            </a:r>
            <a:r>
              <a:rPr lang="zh-CN" altLang="en-US" dirty="0">
                <a:latin typeface="+mn-ea"/>
              </a:rPr>
              <a:t>继承方式</a:t>
            </a:r>
            <a:r>
              <a:rPr lang="en-US" altLang="zh-CN" dirty="0">
                <a:latin typeface="+mn-ea"/>
              </a:rPr>
              <a:t>&gt;</a:t>
            </a:r>
            <a:r>
              <a:rPr lang="zh-CN" altLang="en-US" dirty="0">
                <a:latin typeface="+mn-ea"/>
              </a:rPr>
              <a:t>默认时的继承方式是默认的</a:t>
            </a:r>
            <a:r>
              <a:rPr lang="en-US" altLang="zh-CN" dirty="0">
                <a:latin typeface="+mn-ea"/>
              </a:rPr>
              <a:t>private</a:t>
            </a:r>
            <a:r>
              <a:rPr lang="zh-CN" altLang="en-US" dirty="0">
                <a:latin typeface="+mn-ea"/>
              </a:rPr>
              <a:t>。 </a:t>
            </a:r>
          </a:p>
          <a:p>
            <a:pPr marL="0" indent="0">
              <a:buNone/>
            </a:pPr>
            <a:r>
              <a:rPr lang="zh-CN" altLang="en-US" dirty="0"/>
              <a:t> 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58757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公有</a:t>
            </a:r>
            <a:r>
              <a:rPr lang="zh-CN" altLang="en-US" sz="2000" dirty="0"/>
              <a:t>继承（</a:t>
            </a:r>
            <a:r>
              <a:rPr lang="en-US" altLang="zh-CN" sz="2000" dirty="0"/>
              <a:t>public</a:t>
            </a:r>
            <a:r>
              <a:rPr lang="zh-CN" altLang="en-US" sz="2000" dirty="0" smtClean="0"/>
              <a:t>）</a:t>
            </a: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  派生类定义时通过关键字</a:t>
            </a:r>
            <a:r>
              <a:rPr lang="en-US" altLang="zh-CN" sz="2000" dirty="0"/>
              <a:t>public</a:t>
            </a:r>
            <a:r>
              <a:rPr lang="zh-CN" altLang="en-US" sz="2000" dirty="0"/>
              <a:t>指定公有的继承方式。 基类的公开成员还是公开的，包含的还是保护的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0" indent="0">
              <a:buNone/>
            </a:pPr>
            <a:endParaRPr lang="zh-CN" altLang="en-US" sz="2000" dirty="0"/>
          </a:p>
          <a:p>
            <a:r>
              <a:rPr lang="zh-CN" altLang="en-US" sz="2000" dirty="0" smtClean="0"/>
              <a:t>保护</a:t>
            </a:r>
            <a:r>
              <a:rPr lang="zh-CN" altLang="en-US" sz="2000" dirty="0"/>
              <a:t>继承（</a:t>
            </a:r>
            <a:r>
              <a:rPr lang="en-US" altLang="zh-CN" sz="2000" dirty="0" smtClean="0"/>
              <a:t>protected</a:t>
            </a:r>
            <a:r>
              <a:rPr lang="zh-CN" altLang="en-US" sz="2000" dirty="0" smtClean="0"/>
              <a:t>）</a:t>
            </a: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 smtClean="0"/>
              <a:t>在</a:t>
            </a:r>
            <a:r>
              <a:rPr lang="zh-CN" altLang="en-US" sz="2000" dirty="0"/>
              <a:t>保护继承方式中，基类的公有成员和保护成员作为派生类的成员时，都成为派生类的保护成员，只能被此派生类的派生类或友元访问，而基类中的私有成员仍然是私有的。</a:t>
            </a:r>
          </a:p>
          <a:p>
            <a:endParaRPr lang="zh-CN" altLang="en-US" sz="2000" dirty="0"/>
          </a:p>
          <a:p>
            <a:r>
              <a:rPr lang="zh-CN" altLang="en-US" sz="2000" dirty="0" smtClean="0"/>
              <a:t>私有</a:t>
            </a:r>
            <a:r>
              <a:rPr lang="zh-CN" altLang="en-US" sz="2000" dirty="0"/>
              <a:t>继承（</a:t>
            </a:r>
            <a:r>
              <a:rPr lang="en-US" altLang="zh-CN" sz="2000" dirty="0"/>
              <a:t>private</a:t>
            </a:r>
            <a:r>
              <a:rPr lang="zh-CN" altLang="en-US" sz="2000" dirty="0"/>
              <a:t>）</a:t>
            </a:r>
          </a:p>
          <a:p>
            <a:pPr marL="0" indent="0">
              <a:buNone/>
            </a:pPr>
            <a:r>
              <a:rPr lang="zh-CN" altLang="en-US" sz="2000" dirty="0" smtClean="0"/>
              <a:t>在</a:t>
            </a:r>
            <a:r>
              <a:rPr lang="zh-CN" altLang="en-US" sz="2000" dirty="0"/>
              <a:t>私有继承方式中，基类的公有成员和保护成员作为派生类的成员时，它们都成为派生类的私有成员，只能被派生类的友元访问，不能再往下继承了，而基类中的私有成员仍然是私有的。</a:t>
            </a:r>
          </a:p>
          <a:p>
            <a:pPr marL="0" indent="0">
              <a:buNone/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7446208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南京大学 - 棕绿色 - 主题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Axis">
  <a:themeElements>
    <a:clrScheme name="1_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1_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xis 8">
    <a:dk1>
      <a:srgbClr val="292929"/>
    </a:dk1>
    <a:lt1>
      <a:srgbClr val="FFFFFF"/>
    </a:lt1>
    <a:dk2>
      <a:srgbClr val="000000"/>
    </a:dk2>
    <a:lt2>
      <a:srgbClr val="808080"/>
    </a:lt2>
    <a:accent1>
      <a:srgbClr val="CC9900"/>
    </a:accent1>
    <a:accent2>
      <a:srgbClr val="CCCC99"/>
    </a:accent2>
    <a:accent3>
      <a:srgbClr val="FFFFFF"/>
    </a:accent3>
    <a:accent4>
      <a:srgbClr val="212121"/>
    </a:accent4>
    <a:accent5>
      <a:srgbClr val="E2CAAA"/>
    </a:accent5>
    <a:accent6>
      <a:srgbClr val="B9B98A"/>
    </a:accent6>
    <a:hlink>
      <a:srgbClr val="999933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南京大学 - 棕绿色 - 主题</Template>
  <TotalTime>26139</TotalTime>
  <Words>1652</Words>
  <Application>Microsoft Office PowerPoint</Application>
  <PresentationFormat>全屏显示(4:3)</PresentationFormat>
  <Paragraphs>287</Paragraphs>
  <Slides>30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宋体</vt:lpstr>
      <vt:lpstr>微软雅黑</vt:lpstr>
      <vt:lpstr>Arial</vt:lpstr>
      <vt:lpstr>Times New Roman</vt:lpstr>
      <vt:lpstr>Verdana</vt:lpstr>
      <vt:lpstr>Wingdings</vt:lpstr>
      <vt:lpstr>南京大学 - 棕绿色 - 主题</vt:lpstr>
      <vt:lpstr>1_Axis</vt:lpstr>
      <vt:lpstr>C++  中的对象与类、继承和派生 </vt:lpstr>
      <vt:lpstr>面向对象程序设计的基础</vt:lpstr>
      <vt:lpstr>C++中的数据抽象</vt:lpstr>
      <vt:lpstr>PowerPoint 演示文稿</vt:lpstr>
      <vt:lpstr>数据成员</vt:lpstr>
      <vt:lpstr>成员函数</vt:lpstr>
      <vt:lpstr>例：一个日期类的定义</vt:lpstr>
      <vt:lpstr>类成员的访问控制 </vt:lpstr>
      <vt:lpstr>PowerPoint 演示文稿</vt:lpstr>
      <vt:lpstr>对象的创建和标识 </vt:lpstr>
      <vt:lpstr>PowerPoint 演示文稿</vt:lpstr>
      <vt:lpstr>对象的初始化</vt:lpstr>
      <vt:lpstr>PowerPoint 演示文稿</vt:lpstr>
      <vt:lpstr>对象的操作 </vt:lpstr>
      <vt:lpstr>对象消亡前的处理</vt:lpstr>
      <vt:lpstr>PowerPoint 演示文稿</vt:lpstr>
      <vt:lpstr>C++ 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友元函数</vt:lpstr>
      <vt:lpstr>PowerPoint 演示文稿</vt:lpstr>
      <vt:lpstr>PowerPoint 演示文稿</vt:lpstr>
      <vt:lpstr> 类的继承特性</vt:lpstr>
      <vt:lpstr>例：基类 Vehicle</vt:lpstr>
      <vt:lpstr>PowerPoint 演示文稿</vt:lpstr>
      <vt:lpstr>基类和派生类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zjs</dc:creator>
  <cp:lastModifiedBy>姜远</cp:lastModifiedBy>
  <cp:revision>299</cp:revision>
  <dcterms:created xsi:type="dcterms:W3CDTF">1999-05-22T12:40:20Z</dcterms:created>
  <dcterms:modified xsi:type="dcterms:W3CDTF">2017-09-13T18:50:11Z</dcterms:modified>
</cp:coreProperties>
</file>