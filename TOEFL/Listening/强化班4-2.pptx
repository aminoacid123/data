
<file path=[Content_Types].xml><?xml version="1.0" encoding="utf-8"?>
<Types xmlns="http://schemas.openxmlformats.org/package/2006/content-types">
  <Default Extension="png" ContentType="image/png"/>
  <Default Extension="m4a" ContentType="audio/unknown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75" r:id="rId4"/>
    <p:sldId id="259" r:id="rId5"/>
    <p:sldId id="277" r:id="rId6"/>
    <p:sldId id="288" r:id="rId7"/>
    <p:sldId id="290" r:id="rId8"/>
    <p:sldId id="264" r:id="rId9"/>
    <p:sldId id="266" r:id="rId10"/>
    <p:sldId id="267" r:id="rId11"/>
    <p:sldId id="283" r:id="rId12"/>
    <p:sldId id="284" r:id="rId13"/>
    <p:sldId id="285" r:id="rId14"/>
    <p:sldId id="268" r:id="rId15"/>
    <p:sldId id="269" r:id="rId16"/>
    <p:sldId id="286" r:id="rId17"/>
    <p:sldId id="289" r:id="rId18"/>
    <p:sldId id="271" r:id="rId19"/>
    <p:sldId id="27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60"/>
  </p:normalViewPr>
  <p:slideViewPr>
    <p:cSldViewPr snapToGrid="0">
      <p:cViewPr>
        <p:scale>
          <a:sx n="75" d="100"/>
          <a:sy n="75" d="100"/>
        </p:scale>
        <p:origin x="-7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9A3F2-BE0B-418E-A9EA-746ED9403051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BA0C8-BD3C-46FF-B49D-9594623EC9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4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33-3</a:t>
            </a:r>
            <a:r>
              <a:rPr lang="en-US" altLang="zh-CN" baseline="0" smtClean="0"/>
              <a:t> 35-4 37-4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BA0C8-BD3C-46FF-B49D-9594623EC95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340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80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155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65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38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46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PA_图片 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7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PA_图片 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903231" y="6268722"/>
            <a:ext cx="2281475" cy="400110"/>
            <a:chOff x="1222792" y="6288230"/>
            <a:chExt cx="2281475" cy="400110"/>
          </a:xfrm>
        </p:grpSpPr>
        <p:grpSp>
          <p:nvGrpSpPr>
            <p:cNvPr id="7" name="组合 6"/>
            <p:cNvGrpSpPr/>
            <p:nvPr/>
          </p:nvGrpSpPr>
          <p:grpSpPr>
            <a:xfrm>
              <a:off x="1222792" y="6323168"/>
              <a:ext cx="330234" cy="330234"/>
              <a:chOff x="600501" y="6250675"/>
              <a:chExt cx="468985" cy="468985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00501" y="6250675"/>
                <a:ext cx="316585" cy="316585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752901" y="6403075"/>
                <a:ext cx="316585" cy="316585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628111" y="6288230"/>
              <a:ext cx="1876156" cy="400110"/>
            </a:xfrm>
            <a:prstGeom prst="rect">
              <a:avLst/>
            </a:prstGeom>
            <a:solidFill>
              <a:schemeClr val="bg1">
                <a:lumMod val="95000"/>
                <a:alpha val="63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lgDashDot"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    小</a:t>
              </a:r>
              <a:r>
                <a:rPr lang="en-US" altLang="zh-CN" sz="2000" b="1" dirty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Little</a:t>
              </a:r>
              <a:endParaRPr lang="zh-CN" altLang="en-US" sz="2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763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80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03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99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34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4ED2D-03AC-4D59-A55C-8EF6EB0DD4EB}" type="datetimeFigureOut">
              <a:rPr lang="zh-CN" altLang="en-US" smtClean="0"/>
              <a:t>2018/11/3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72052-BF91-478A-A603-5B2C213FC4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73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media" Target="../media/media1.m4a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2.png"/><Relationship Id="rId5" Type="http://schemas.openxmlformats.org/officeDocument/2006/relationships/tags" Target="../tags/tag7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6.xml"/><Relationship Id="rId9" Type="http://schemas.openxmlformats.org/officeDocument/2006/relationships/audio" Target="../media/media1.m4a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9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</a:t>
            </a:r>
            <a:endParaRPr lang="zh-CN" altLang="en-US" dirty="0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_矩形 18"/>
          <p:cNvSpPr/>
          <p:nvPr>
            <p:custDataLst>
              <p:tags r:id="rId6"/>
            </p:custDataLst>
          </p:nvPr>
        </p:nvSpPr>
        <p:spPr>
          <a:xfrm>
            <a:off x="2449412" y="2510306"/>
            <a:ext cx="757130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7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托福听力</a:t>
            </a:r>
            <a:r>
              <a:rPr lang="zh-CN" altLang="en-US" sz="72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考点解读</a:t>
            </a:r>
            <a:endParaRPr lang="zh-CN" altLang="en-US" sz="72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PA_矩形 19"/>
          <p:cNvSpPr/>
          <p:nvPr>
            <p:custDataLst>
              <p:tags r:id="rId7"/>
            </p:custDataLst>
          </p:nvPr>
        </p:nvSpPr>
        <p:spPr>
          <a:xfrm>
            <a:off x="9337721" y="4745192"/>
            <a:ext cx="157293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altLang="zh-CN" sz="20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——VOL.2</a:t>
            </a:r>
          </a:p>
          <a:p>
            <a:pPr algn="r"/>
            <a:r>
              <a:rPr lang="en-US" altLang="zh-CN" sz="20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By</a:t>
            </a:r>
            <a:r>
              <a:rPr lang="zh-CN" altLang="en-US" sz="20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：马孟宇</a:t>
            </a:r>
            <a:endParaRPr lang="zh-CN" altLang="en-US" sz="20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橙光原创音乐,小旭音乐 - 小粉丝的日常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>
                  <p14:fade in="1000"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459055" y="696845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6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00"/>
                            </p:stCondLst>
                            <p:childTnLst>
                              <p:par>
                                <p:cTn id="31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numSld="99">
                <p:cTn id="3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 animBg="1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_矩形 18"/>
          <p:cNvSpPr/>
          <p:nvPr>
            <p:custDataLst>
              <p:tags r:id="rId6"/>
            </p:custDataLst>
          </p:nvPr>
        </p:nvSpPr>
        <p:spPr>
          <a:xfrm>
            <a:off x="1387908" y="1111240"/>
            <a:ext cx="389377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0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CONTENTS</a:t>
            </a:r>
            <a:r>
              <a:rPr lang="en-US" altLang="zh-CN" sz="40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.</a:t>
            </a:r>
            <a:endParaRPr lang="zh-CN" altLang="en-US" sz="40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90655" y="2327564"/>
            <a:ext cx="3186545" cy="587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3815943" y="2332868"/>
            <a:ext cx="5134713" cy="1015664"/>
            <a:chOff x="3856887" y="2087204"/>
            <a:chExt cx="5134713" cy="1015664"/>
          </a:xfrm>
        </p:grpSpPr>
        <p:sp>
          <p:nvSpPr>
            <p:cNvPr id="9" name="矩形 8"/>
            <p:cNvSpPr/>
            <p:nvPr/>
          </p:nvSpPr>
          <p:spPr>
            <a:xfrm>
              <a:off x="3856887" y="2087205"/>
              <a:ext cx="574196" cy="1015663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6000" b="1" cap="none" spc="0" dirty="0" smtClean="0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pattFill prst="narHorz">
                    <a:fgClr>
                      <a:schemeClr val="accent3"/>
                    </a:fgClr>
                    <a:bgClr>
                      <a:schemeClr val="accent3">
                        <a:lumMod val="40000"/>
                        <a:lumOff val="60000"/>
                      </a:schemeClr>
                    </a:bgClr>
                  </a:patt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</a:rPr>
                <a:t>1</a:t>
              </a:r>
              <a:endParaRPr lang="zh-CN" altLang="en-US" sz="6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4444937" y="2087204"/>
              <a:ext cx="4546663" cy="923330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en-US" sz="5400" b="1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对比</a:t>
              </a:r>
              <a:r>
                <a:rPr lang="en-US" altLang="zh-CN" sz="5400" b="1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&amp;</a:t>
              </a:r>
              <a:r>
                <a:rPr lang="zh-CN" altLang="en-US" sz="5400" b="1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类比</a:t>
              </a:r>
              <a:endParaRPr lang="zh-CN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822870" y="3160958"/>
            <a:ext cx="5113932" cy="1015663"/>
            <a:chOff x="3863814" y="2915294"/>
            <a:chExt cx="5113932" cy="1015663"/>
          </a:xfrm>
        </p:grpSpPr>
        <p:sp>
          <p:nvSpPr>
            <p:cNvPr id="18" name="矩形 17"/>
            <p:cNvSpPr/>
            <p:nvPr/>
          </p:nvSpPr>
          <p:spPr>
            <a:xfrm>
              <a:off x="3863814" y="2915294"/>
              <a:ext cx="574196" cy="1015663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6000" b="1" cap="none" spc="0" dirty="0" smtClean="0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pattFill prst="narHorz">
                    <a:fgClr>
                      <a:schemeClr val="accent3"/>
                    </a:fgClr>
                    <a:bgClr>
                      <a:schemeClr val="accent3">
                        <a:lumMod val="40000"/>
                        <a:lumOff val="60000"/>
                      </a:schemeClr>
                    </a:bgClr>
                  </a:patt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</a:rPr>
                <a:t>2</a:t>
              </a:r>
              <a:endParaRPr lang="zh-CN" altLang="en-US" sz="6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431083" y="2960007"/>
              <a:ext cx="4546663" cy="923330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en-US" sz="5400" b="1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强调</a:t>
              </a:r>
              <a:endParaRPr lang="zh-CN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829797" y="3989047"/>
            <a:ext cx="5120859" cy="1015663"/>
            <a:chOff x="3870741" y="3743383"/>
            <a:chExt cx="5120859" cy="1015663"/>
          </a:xfrm>
        </p:grpSpPr>
        <p:sp>
          <p:nvSpPr>
            <p:cNvPr id="21" name="矩形 20"/>
            <p:cNvSpPr/>
            <p:nvPr/>
          </p:nvSpPr>
          <p:spPr>
            <a:xfrm>
              <a:off x="3870741" y="3743383"/>
              <a:ext cx="574196" cy="1015663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6000" b="1" cap="none" spc="0" dirty="0" smtClean="0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pattFill prst="narHorz">
                    <a:fgClr>
                      <a:schemeClr val="accent3"/>
                    </a:fgClr>
                    <a:bgClr>
                      <a:schemeClr val="accent3">
                        <a:lumMod val="40000"/>
                        <a:lumOff val="60000"/>
                      </a:schemeClr>
                    </a:bgClr>
                  </a:patt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</a:rPr>
                <a:t>3</a:t>
              </a:r>
              <a:endParaRPr lang="zh-CN" altLang="en-US" sz="6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444937" y="3791003"/>
              <a:ext cx="4546663" cy="923330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en-US" sz="5400" b="1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因果</a:t>
              </a:r>
              <a:r>
                <a:rPr lang="en-US" altLang="zh-CN" sz="5400" b="1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&amp;</a:t>
              </a:r>
              <a:r>
                <a:rPr lang="zh-CN" altLang="en-US" sz="5400" b="1" dirty="0" smtClean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</a:rPr>
                <a:t>转折</a:t>
              </a:r>
              <a:endParaRPr lang="zh-CN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170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56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24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25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26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7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2800"/>
                                </p:stCondLst>
                                <p:childTnLst>
                                  <p:par>
                                    <p:cTn id="29" presetID="2" presetClass="entr" presetSubtype="8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3800"/>
                                </p:stCondLst>
                                <p:childTnLst>
                                  <p:par>
                                    <p:cTn id="34" presetID="2" presetClass="entr" presetSubtype="8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6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800"/>
                                </p:stCondLst>
                                <p:childTnLst>
                                  <p:par>
                                    <p:cTn id="39" presetID="2" presetClass="entr" presetSubtype="8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1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4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56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24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25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26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7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2800"/>
                                </p:stCondLst>
                                <p:childTnLst>
                                  <p:par>
                                    <p:cTn id="29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3800"/>
                                </p:stCondLst>
                                <p:childTnLst>
                                  <p:par>
                                    <p:cTn id="34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800"/>
                                </p:stCondLst>
                                <p:childTnLst>
                                  <p:par>
                                    <p:cTn id="39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19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_矩形 18"/>
          <p:cNvSpPr/>
          <p:nvPr>
            <p:custDataLst>
              <p:tags r:id="rId6"/>
            </p:custDataLst>
          </p:nvPr>
        </p:nvSpPr>
        <p:spPr>
          <a:xfrm>
            <a:off x="1509584" y="2809106"/>
            <a:ext cx="887775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PART  1 · </a:t>
            </a:r>
            <a:r>
              <a:rPr lang="zh-CN" altLang="en-US" sz="72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对比类比</a:t>
            </a:r>
            <a:endParaRPr lang="zh-CN" altLang="en-US" sz="72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90655" y="2327564"/>
            <a:ext cx="3186545" cy="587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148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650690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1. 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对比</a:t>
            </a:r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&amp;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类比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PA_文本框 2"/>
          <p:cNvSpPr txBox="1"/>
          <p:nvPr>
            <p:custDataLst>
              <p:tags r:id="rId7"/>
            </p:custDataLst>
          </p:nvPr>
        </p:nvSpPr>
        <p:spPr>
          <a:xfrm>
            <a:off x="1387906" y="2194342"/>
            <a:ext cx="96483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对比：不同的事物之间，或者同一事物的不同方面，形成明显的反差。</a:t>
            </a:r>
            <a:endParaRPr lang="en-US" altLang="zh-CN" sz="3200" b="1" dirty="0" smtClean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zh-CN" altLang="en-US" sz="3200" b="1" dirty="0" smtClean="0">
                <a:ln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例：郭敬明拍辣鸡电影的能力和写好书的能力 </a:t>
            </a:r>
            <a:endParaRPr lang="en-US" altLang="zh-CN" sz="3200" b="1" dirty="0">
              <a:ln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PA_文本框 2"/>
          <p:cNvSpPr txBox="1"/>
          <p:nvPr>
            <p:custDataLst>
              <p:tags r:id="rId8"/>
            </p:custDataLst>
          </p:nvPr>
        </p:nvSpPr>
        <p:spPr>
          <a:xfrm>
            <a:off x="1387907" y="4309407"/>
            <a:ext cx="9648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类比：两个具有相同性质的不同事物进行比较</a:t>
            </a:r>
            <a:endParaRPr lang="en-US" altLang="zh-CN" sz="3200" b="1" dirty="0" smtClean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zh-CN" altLang="en-US" sz="3200" b="1" dirty="0" smtClean="0">
                <a:ln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例：小时代和爵迹都是逻辑清晰、结构合理的好电影</a:t>
            </a:r>
            <a:endParaRPr lang="en-US" altLang="zh-CN" sz="3200" b="1" dirty="0">
              <a:ln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728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9" grpId="0"/>
      <p:bldP spid="3" grpId="0"/>
      <p:bldP spid="3" grpId="1"/>
      <p:bldP spid="10" grpId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37429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37429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650690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1. 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对比</a:t>
            </a:r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&amp;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类比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PA_文本框 2"/>
          <p:cNvSpPr txBox="1"/>
          <p:nvPr>
            <p:custDataLst>
              <p:tags r:id="rId7"/>
            </p:custDataLst>
          </p:nvPr>
        </p:nvSpPr>
        <p:spPr>
          <a:xfrm>
            <a:off x="1387909" y="2188939"/>
            <a:ext cx="9648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对比类比均是组织结构题的典型考点</a:t>
            </a:r>
            <a:endParaRPr lang="en-US" altLang="zh-CN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7909" y="3048532"/>
            <a:ext cx="9309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无论是对比还是类比，均有一个强调的论点细节。这个论点细节大概率就会出现在选项中作为判断正确选项的依据。我们假设这个围绕着文章主旨的论点细节为</a:t>
            </a:r>
            <a:r>
              <a:rPr lang="en-US" altLang="zh-CN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</a:t>
            </a:r>
            <a:r>
              <a:rPr lang="zh-CN" altLang="en-US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，与之相对应提及的对比或类比内容为</a:t>
            </a:r>
            <a:r>
              <a:rPr lang="en-US" altLang="zh-CN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B</a:t>
            </a:r>
            <a:r>
              <a:rPr lang="zh-CN" altLang="en-US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，那么组织结构题出题形式一般如下：</a:t>
            </a:r>
          </a:p>
        </p:txBody>
      </p:sp>
      <p:sp>
        <p:nvSpPr>
          <p:cNvPr id="13" name="PA_文本框 2"/>
          <p:cNvSpPr txBox="1"/>
          <p:nvPr>
            <p:custDataLst>
              <p:tags r:id="rId8"/>
            </p:custDataLst>
          </p:nvPr>
        </p:nvSpPr>
        <p:spPr>
          <a:xfrm>
            <a:off x="1387909" y="4898578"/>
            <a:ext cx="9648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Why does the professor mention B</a:t>
            </a:r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？</a:t>
            </a:r>
            <a:endParaRPr lang="en-US" altLang="zh-CN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027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3" grpId="0"/>
      <p:bldP spid="1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37429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37429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650690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1. 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对比</a:t>
            </a:r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&amp;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类比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PA_文本框 2"/>
          <p:cNvSpPr txBox="1"/>
          <p:nvPr>
            <p:custDataLst>
              <p:tags r:id="rId7"/>
            </p:custDataLst>
          </p:nvPr>
        </p:nvSpPr>
        <p:spPr>
          <a:xfrm>
            <a:off x="1387909" y="2188939"/>
            <a:ext cx="9648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信号词</a:t>
            </a:r>
            <a:endParaRPr lang="en-US" altLang="zh-CN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7909" y="3075528"/>
            <a:ext cx="96483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对比：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compare 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to, different from…, unlike…, (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not) as 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… as, in contrast to, while, whereas, nevertheless, instead, conversely, alternatively, on the contrary, differ (different) from, rather than, in fact, meanwhile</a:t>
            </a:r>
            <a:endParaRPr lang="zh-CN" altLang="en-US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6609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37429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37429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650690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1. 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对比</a:t>
            </a:r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&amp;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类比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PA_文本框 2"/>
          <p:cNvSpPr txBox="1"/>
          <p:nvPr>
            <p:custDataLst>
              <p:tags r:id="rId7"/>
            </p:custDataLst>
          </p:nvPr>
        </p:nvSpPr>
        <p:spPr>
          <a:xfrm>
            <a:off x="1387909" y="2188939"/>
            <a:ext cx="9648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信号词</a:t>
            </a:r>
            <a:endParaRPr lang="en-US" altLang="zh-CN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7909" y="3075528"/>
            <a:ext cx="9648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类比：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or, vice, versus, versa, as well as, either or, in the same way, equally, similarly, like, just like, likewise, not only but also, more than</a:t>
            </a:r>
            <a:endParaRPr lang="zh-CN" altLang="en-US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322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_矩形 18"/>
          <p:cNvSpPr/>
          <p:nvPr>
            <p:custDataLst>
              <p:tags r:id="rId6"/>
            </p:custDataLst>
          </p:nvPr>
        </p:nvSpPr>
        <p:spPr>
          <a:xfrm>
            <a:off x="2432913" y="2809106"/>
            <a:ext cx="703109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PART  2 · </a:t>
            </a:r>
            <a:r>
              <a:rPr lang="zh-CN" altLang="en-US" sz="72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强调</a:t>
            </a:r>
            <a:endParaRPr lang="zh-CN" altLang="en-US" sz="72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90655" y="2327564"/>
            <a:ext cx="3186545" cy="587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876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453521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2.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强调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PA_文本框 2"/>
          <p:cNvSpPr txBox="1"/>
          <p:nvPr>
            <p:custDataLst>
              <p:tags r:id="rId7"/>
            </p:custDataLst>
          </p:nvPr>
        </p:nvSpPr>
        <p:spPr>
          <a:xfrm>
            <a:off x="1491887" y="2600572"/>
            <a:ext cx="9226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语义上的强调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91884" y="4114512"/>
            <a:ext cx="8807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语气上的强调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75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17086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17086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576632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2.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语义强调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1387909" y="1942237"/>
            <a:ext cx="4428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程度副词    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1387909" y="2622738"/>
            <a:ext cx="89752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definitely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, 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extremely, especially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, 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obviously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, absolutely, positively, surprisingly, 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indeed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, in any case, 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unquestionably, without 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doubt</a:t>
            </a:r>
            <a:endParaRPr lang="zh-CN" altLang="en-US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1387909" y="4142534"/>
            <a:ext cx="4428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强调形容词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1387908" y="4787927"/>
            <a:ext cx="89752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special, make sure, indeed, important, particular, peculiar, interesting, significant</a:t>
            </a:r>
            <a:endParaRPr lang="zh-CN" altLang="en-US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967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9" grpId="0"/>
      <p:bldP spid="19" grpId="1"/>
      <p:bldP spid="20" grpId="0"/>
      <p:bldP spid="20" grpId="1"/>
      <p:bldP spid="21" grpId="0"/>
      <p:bldP spid="2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17086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17086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576632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2.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语义强调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1387909" y="1942237"/>
            <a:ext cx="4428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限定性词汇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1387909" y="2622738"/>
            <a:ext cx="89752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o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nly, just, single, sole, hardly, never, not necessarily, part of  </a:t>
            </a:r>
            <a:endParaRPr lang="zh-CN" altLang="en-US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1387909" y="3977434"/>
            <a:ext cx="4428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比较级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/</a:t>
            </a:r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最高级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1387909" y="4585881"/>
            <a:ext cx="89752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-</a:t>
            </a:r>
            <a:r>
              <a:rPr lang="en-US" altLang="zh-CN" sz="2800" b="1" dirty="0" err="1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er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 -</a:t>
            </a:r>
            <a:r>
              <a:rPr lang="en-US" altLang="zh-CN" sz="2800" b="1" dirty="0" err="1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est</a:t>
            </a:r>
            <a:endParaRPr lang="en-US" altLang="zh-CN" sz="2800" b="1" dirty="0" smtClean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more, most, mostly, major, minor, maximum, minimum	</a:t>
            </a:r>
            <a:endParaRPr lang="zh-CN" altLang="en-US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372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9" grpId="0"/>
      <p:bldP spid="19" grpId="1"/>
      <p:bldP spid="20" grpId="0"/>
      <p:bldP spid="20" grpId="1"/>
      <p:bldP spid="21" grpId="0"/>
      <p:bldP spid="2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17086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17086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576632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2.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语义强调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1387909" y="1942237"/>
            <a:ext cx="4428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重复出现强调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1387909" y="2622738"/>
            <a:ext cx="89752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And you need to figure out: </a:t>
            </a:r>
            <a:r>
              <a:rPr lang="en-US" altLang="zh-CN" sz="2800" b="1" dirty="0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Which media 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you should advertise through? </a:t>
            </a:r>
            <a:r>
              <a:rPr lang="en-US" altLang="zh-CN" sz="2800" b="1" dirty="0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Which media 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will reach your intended audience, your market? So, you do research, trying to determine </a:t>
            </a:r>
            <a:r>
              <a:rPr lang="en-US" altLang="zh-CN" sz="2800" b="1" dirty="0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which media 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will reach the most potential customers for the lowest cost.</a:t>
            </a:r>
            <a:endParaRPr lang="zh-CN" altLang="en-US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8957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9" grpId="0"/>
      <p:bldP spid="1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17086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17086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576632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2.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语气强调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1387909" y="2061517"/>
            <a:ext cx="4428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Stress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1387909" y="3263037"/>
            <a:ext cx="4428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Pause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387909" y="4643592"/>
            <a:ext cx="4428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Tone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127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_矩形 18"/>
          <p:cNvSpPr/>
          <p:nvPr>
            <p:custDataLst>
              <p:tags r:id="rId6"/>
            </p:custDataLst>
          </p:nvPr>
        </p:nvSpPr>
        <p:spPr>
          <a:xfrm>
            <a:off x="1111238" y="2809106"/>
            <a:ext cx="967444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PART  3 · </a:t>
            </a:r>
            <a:r>
              <a:rPr lang="zh-CN" altLang="en-US" sz="72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因果</a:t>
            </a:r>
            <a:r>
              <a:rPr lang="en-US" altLang="zh-CN" sz="72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&amp;</a:t>
            </a:r>
            <a:r>
              <a:rPr lang="zh-CN" altLang="en-US" sz="7200" b="1" cap="none" spc="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转折</a:t>
            </a:r>
            <a:endParaRPr lang="zh-CN" altLang="en-US" sz="72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90655" y="2327564"/>
            <a:ext cx="3186545" cy="587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710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8" y="1111240"/>
            <a:ext cx="651149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3.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因果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PA_文本框 2"/>
          <p:cNvSpPr txBox="1"/>
          <p:nvPr>
            <p:custDataLst>
              <p:tags r:id="rId7"/>
            </p:custDataLst>
          </p:nvPr>
        </p:nvSpPr>
        <p:spPr>
          <a:xfrm>
            <a:off x="1387908" y="2079625"/>
            <a:ext cx="9582432" cy="1569660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因果逻辑分为原因和结果两部分，但这不是考察的重点，考察的重点是逻辑关系，即谁能够说明谁，根据什么信息能够得出什么结论。</a:t>
            </a:r>
          </a:p>
        </p:txBody>
      </p:sp>
      <p:sp>
        <p:nvSpPr>
          <p:cNvPr id="10" name="PA_文本框 2"/>
          <p:cNvSpPr txBox="1"/>
          <p:nvPr>
            <p:custDataLst>
              <p:tags r:id="rId8"/>
            </p:custDataLst>
          </p:nvPr>
        </p:nvSpPr>
        <p:spPr>
          <a:xfrm>
            <a:off x="1387908" y="3807962"/>
            <a:ext cx="9582432" cy="2062103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记住两点：</a:t>
            </a:r>
            <a:endParaRPr lang="en-US" altLang="zh-CN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1.</a:t>
            </a:r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直接</a:t>
            </a:r>
            <a:r>
              <a:rPr lang="zh-CN" altLang="en-US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原因为根本原因服务，在选项当中找不到文章提到的直接原因就去思考问题出现的根本</a:t>
            </a:r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原因。</a:t>
            </a:r>
            <a:endParaRPr lang="en-US" altLang="zh-CN" sz="3200" b="1" dirty="0" smtClean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2.</a:t>
            </a:r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分析选项时不要</a:t>
            </a:r>
            <a:r>
              <a:rPr lang="zh-CN" altLang="en-US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过度</a:t>
            </a:r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推断，也不要主观填补信息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7245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9" grpId="0"/>
      <p:bldP spid="3" grpId="0"/>
      <p:bldP spid="3" grpId="1"/>
      <p:bldP spid="10" grpId="0"/>
      <p:bldP spid="1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8" y="1111240"/>
            <a:ext cx="651149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3.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因果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PA_文本框 2"/>
          <p:cNvSpPr txBox="1"/>
          <p:nvPr>
            <p:custDataLst>
              <p:tags r:id="rId7"/>
            </p:custDataLst>
          </p:nvPr>
        </p:nvSpPr>
        <p:spPr>
          <a:xfrm>
            <a:off x="1387908" y="2087205"/>
            <a:ext cx="10042092" cy="3539430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latinLnBrk="1"/>
            <a:r>
              <a:rPr lang="zh-CN" altLang="en-US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原因类：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Because/because of/due 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to/for</a:t>
            </a:r>
          </a:p>
          <a:p>
            <a:pPr latinLnBrk="1"/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/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since/the reason is /that is why/by </a:t>
            </a:r>
            <a:endParaRPr lang="en-US" altLang="zh-CN" sz="3200" b="1" dirty="0" smtClean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latinLnBrk="1"/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reason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 of/owing to /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as/owing to/initiate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 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from/derive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 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from/arise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 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from/originate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 </a:t>
            </a:r>
            <a:endParaRPr lang="en-US" altLang="zh-CN" sz="3200" b="1" dirty="0" smtClean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latinLnBrk="1"/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from/in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 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that/on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 account 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of/be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 attributed to</a:t>
            </a:r>
          </a:p>
          <a:p>
            <a:endParaRPr lang="zh-CN" altLang="en-US" sz="3200" b="1" dirty="0">
              <a:ln/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996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8" y="1111240"/>
            <a:ext cx="651149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3.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因果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PA_文本框 2"/>
          <p:cNvSpPr txBox="1"/>
          <p:nvPr>
            <p:custDataLst>
              <p:tags r:id="rId7"/>
            </p:custDataLst>
          </p:nvPr>
        </p:nvSpPr>
        <p:spPr>
          <a:xfrm>
            <a:off x="1387908" y="2087205"/>
            <a:ext cx="9582432" cy="3046988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latinLnBrk="1"/>
            <a:r>
              <a:rPr lang="zh-CN" altLang="en-US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结果类：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so that/consequently/hence/thereby/therefore/hereby/accordingly/</a:t>
            </a:r>
          </a:p>
          <a:p>
            <a:pPr latinLnBrk="1"/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as</a:t>
            </a:r>
            <a:r>
              <a:rPr lang="en-US" altLang="zh-CN" sz="32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 a </a:t>
            </a:r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result/bring about/account for/</a:t>
            </a:r>
          </a:p>
          <a:p>
            <a:pPr latinLnBrk="1"/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contribute to /lead to/spark/prompt/</a:t>
            </a:r>
          </a:p>
          <a:p>
            <a:pPr latinLnBrk="1"/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be responsible to/stimulate/facilitate/</a:t>
            </a:r>
          </a:p>
          <a:p>
            <a:pPr latinLnBrk="1"/>
            <a:r>
              <a:rPr lang="en-US" altLang="zh-CN" sz="32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render/spur/motivate</a:t>
            </a:r>
            <a:endParaRPr lang="zh-CN" altLang="en-US" sz="32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889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453521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3.  </a:t>
            </a:r>
            <a:r>
              <a:rPr lang="zh-CN" altLang="en-US" sz="4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转折</a:t>
            </a:r>
          </a:p>
        </p:txBody>
      </p:sp>
      <p:sp>
        <p:nvSpPr>
          <p:cNvPr id="3" name="PA_文本框 2"/>
          <p:cNvSpPr txBox="1"/>
          <p:nvPr>
            <p:custDataLst>
              <p:tags r:id="rId7"/>
            </p:custDataLst>
          </p:nvPr>
        </p:nvSpPr>
        <p:spPr>
          <a:xfrm>
            <a:off x="1606186" y="2280603"/>
            <a:ext cx="88586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转折一定要关注重点，在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 but B</a:t>
            </a:r>
            <a:r>
              <a:rPr lang="zh-CN" altLang="en-US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的结构中，托福听力一定会更加强调对于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B</a:t>
            </a:r>
            <a:r>
              <a:rPr lang="zh-CN" altLang="en-US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的考察</a:t>
            </a:r>
            <a:endParaRPr lang="en-US" altLang="zh-CN" sz="2800" b="1" dirty="0" smtClean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latinLnBrk="1"/>
            <a:endParaRPr lang="en-US" altLang="zh-CN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latinLnBrk="1"/>
            <a:r>
              <a:rPr lang="zh-CN" altLang="en-US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但是这不意味着可以完全抛弃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</a:t>
            </a:r>
            <a:r>
              <a:rPr lang="zh-CN" altLang="en-US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的内容，一般来说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</a:t>
            </a:r>
            <a:r>
              <a:rPr lang="zh-CN" altLang="en-US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的内容不会是正确答案，但是会是干扰项，所以能够精确地分析</a:t>
            </a:r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AB</a:t>
            </a:r>
            <a:r>
              <a:rPr lang="zh-CN" altLang="en-US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两者的前后关系也很重要</a:t>
            </a:r>
            <a:endParaRPr lang="en-US" altLang="zh-CN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5393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4"/>
          <p:cNvSpPr/>
          <p:nvPr>
            <p:custDataLst>
              <p:tags r:id="rId1"/>
            </p:custDataLst>
          </p:nvPr>
        </p:nvSpPr>
        <p:spPr>
          <a:xfrm>
            <a:off x="903231" y="751284"/>
            <a:ext cx="10404144" cy="5343683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7"/>
          <p:cNvCxnSpPr/>
          <p:nvPr>
            <p:custDataLst>
              <p:tags r:id="rId2"/>
            </p:custDataLst>
          </p:nvPr>
        </p:nvCxnSpPr>
        <p:spPr>
          <a:xfrm flipV="1">
            <a:off x="917086" y="751284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A_直接连接符 10"/>
          <p:cNvCxnSpPr>
            <a:stCxn id="5" idx="0"/>
          </p:cNvCxnSpPr>
          <p:nvPr>
            <p:custDataLst>
              <p:tags r:id="rId3"/>
            </p:custDataLst>
          </p:nvPr>
        </p:nvCxnSpPr>
        <p:spPr>
          <a:xfrm flipH="1">
            <a:off x="903231" y="751284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A_直接连接符 15"/>
          <p:cNvCxnSpPr/>
          <p:nvPr>
            <p:custDataLst>
              <p:tags r:id="rId4"/>
            </p:custDataLst>
          </p:nvPr>
        </p:nvCxnSpPr>
        <p:spPr>
          <a:xfrm rot="10800000" flipV="1">
            <a:off x="11293520" y="3409271"/>
            <a:ext cx="0" cy="2671842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6"/>
          <p:cNvCxnSpPr/>
          <p:nvPr>
            <p:custDataLst>
              <p:tags r:id="rId5"/>
            </p:custDataLst>
          </p:nvPr>
        </p:nvCxnSpPr>
        <p:spPr>
          <a:xfrm rot="10800000" flipH="1">
            <a:off x="6105303" y="6081113"/>
            <a:ext cx="5202072" cy="0"/>
          </a:xfrm>
          <a:prstGeom prst="line">
            <a:avLst/>
          </a:prstGeom>
          <a:ln w="412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A_矩形 18"/>
          <p:cNvSpPr/>
          <p:nvPr>
            <p:custDataLst>
              <p:tags r:id="rId6"/>
            </p:custDataLst>
          </p:nvPr>
        </p:nvSpPr>
        <p:spPr>
          <a:xfrm>
            <a:off x="1387909" y="1111240"/>
            <a:ext cx="453521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CN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PART 3.  </a:t>
            </a:r>
            <a:r>
              <a:rPr lang="zh-CN" altLang="en-US" sz="4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转折</a:t>
            </a:r>
            <a:endParaRPr lang="zh-CN" altLang="en-U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3" name="文本框 3"/>
          <p:cNvSpPr txBox="1"/>
          <p:nvPr/>
        </p:nvSpPr>
        <p:spPr>
          <a:xfrm>
            <a:off x="1387909" y="2515184"/>
            <a:ext cx="92800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But/ however/ nevertheless/ while/ yet/ unless/ except for/ actually/ in fact/ To tell you the truth/ practically/ virtually/ as a matter of fact</a:t>
            </a:r>
            <a:r>
              <a:rPr lang="en-US" altLang="zh-CN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	</a:t>
            </a:r>
            <a:endParaRPr lang="zh-CN" altLang="en-US" sz="28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223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本次主题字体~">
      <a:majorFont>
        <a:latin typeface="Verdana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636</Words>
  <Application>Microsoft Office PowerPoint</Application>
  <PresentationFormat>自定义</PresentationFormat>
  <Paragraphs>74</Paragraphs>
  <Slides>19</Slides>
  <Notes>1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Lee Little</dc:creator>
  <cp:lastModifiedBy>hp</cp:lastModifiedBy>
  <cp:revision>126</cp:revision>
  <dcterms:created xsi:type="dcterms:W3CDTF">2017-01-18T08:10:49Z</dcterms:created>
  <dcterms:modified xsi:type="dcterms:W3CDTF">2018-11-03T02:10:07Z</dcterms:modified>
</cp:coreProperties>
</file>