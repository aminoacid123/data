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5" r:id="rId10"/>
    <p:sldId id="267" r:id="rId11"/>
    <p:sldId id="269" r:id="rId12"/>
    <p:sldId id="268" r:id="rId13"/>
    <p:sldId id="270" r:id="rId14"/>
    <p:sldId id="271" r:id="rId15"/>
    <p:sldId id="274" r:id="rId16"/>
    <p:sldId id="275" r:id="rId17"/>
    <p:sldId id="276" r:id="rId18"/>
    <p:sldId id="277" r:id="rId19"/>
    <p:sldId id="278" r:id="rId20"/>
    <p:sldId id="280" r:id="rId21"/>
    <p:sldId id="279" r:id="rId2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149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l">
              <a:defRPr sz="4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685800" y="3602038"/>
            <a:ext cx="77724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F035130E-40FC-4093-A101-E6AEB9DF76BF}" type="datetimeFigureOut">
              <a:rPr lang="zh-CN" altLang="en-US" smtClean="0"/>
              <a:t>2018/1/5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48A3B87-398B-41F3-AA81-905BBBDFF657}" type="slidenum">
              <a:rPr lang="zh-CN" altLang="en-US" smtClean="0"/>
              <a:t>‹#›</a:t>
            </a:fld>
            <a:endParaRPr lang="zh-CN" altLang="en-US"/>
          </a:p>
        </p:txBody>
      </p:sp>
    </p:spTree>
    <p:extLst>
      <p:ext uri="{BB962C8B-B14F-4D97-AF65-F5344CB8AC3E}">
        <p14:creationId xmlns:p14="http://schemas.microsoft.com/office/powerpoint/2010/main" val="293278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035130E-40FC-4093-A101-E6AEB9DF76BF}" type="datetimeFigureOut">
              <a:rPr lang="zh-CN" altLang="en-US" smtClean="0"/>
              <a:t>2018/1/5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48A3B87-398B-41F3-AA81-905BBBDFF657}" type="slidenum">
              <a:rPr lang="zh-CN" altLang="en-US" smtClean="0"/>
              <a:t>‹#›</a:t>
            </a:fld>
            <a:endParaRPr lang="zh-CN" altLang="en-US"/>
          </a:p>
        </p:txBody>
      </p:sp>
    </p:spTree>
    <p:extLst>
      <p:ext uri="{BB962C8B-B14F-4D97-AF65-F5344CB8AC3E}">
        <p14:creationId xmlns:p14="http://schemas.microsoft.com/office/powerpoint/2010/main" val="1743462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normAutofit/>
          </a:bodyPr>
          <a:lstStyle>
            <a:lvl1pPr>
              <a:defRPr sz="4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F035130E-40FC-4093-A101-E6AEB9DF76BF}" type="datetimeFigureOut">
              <a:rPr lang="zh-CN" altLang="en-US" smtClean="0"/>
              <a:t>2018/1/5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48A3B87-398B-41F3-AA81-905BBBDFF657}" type="slidenum">
              <a:rPr lang="zh-CN" altLang="en-US" smtClean="0"/>
              <a:t>‹#›</a:t>
            </a:fld>
            <a:endParaRPr lang="zh-CN" altLang="en-US"/>
          </a:p>
        </p:txBody>
      </p:sp>
    </p:spTree>
    <p:extLst>
      <p:ext uri="{BB962C8B-B14F-4D97-AF65-F5344CB8AC3E}">
        <p14:creationId xmlns:p14="http://schemas.microsoft.com/office/powerpoint/2010/main" val="3769800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F035130E-40FC-4093-A101-E6AEB9DF76BF}" type="datetimeFigureOut">
              <a:rPr lang="zh-CN" altLang="en-US" smtClean="0"/>
              <a:t>2018/1/5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48A3B87-398B-41F3-AA81-905BBBDFF657}" type="slidenum">
              <a:rPr lang="zh-CN" altLang="en-US" smtClean="0"/>
              <a:t>‹#›</a:t>
            </a:fld>
            <a:endParaRPr lang="zh-CN" altLang="en-US"/>
          </a:p>
        </p:txBody>
      </p:sp>
    </p:spTree>
    <p:extLst>
      <p:ext uri="{BB962C8B-B14F-4D97-AF65-F5344CB8AC3E}">
        <p14:creationId xmlns:p14="http://schemas.microsoft.com/office/powerpoint/2010/main" val="2818879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F035130E-40FC-4093-A101-E6AEB9DF76BF}" type="datetimeFigureOut">
              <a:rPr lang="zh-CN" altLang="en-US" smtClean="0"/>
              <a:t>2018/1/5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48A3B87-398B-41F3-AA81-905BBBDFF657}" type="slidenum">
              <a:rPr lang="zh-CN" altLang="en-US" smtClean="0"/>
              <a:t>‹#›</a:t>
            </a:fld>
            <a:endParaRPr lang="zh-CN" altLang="en-US"/>
          </a:p>
        </p:txBody>
      </p:sp>
    </p:spTree>
    <p:extLst>
      <p:ext uri="{BB962C8B-B14F-4D97-AF65-F5344CB8AC3E}">
        <p14:creationId xmlns:p14="http://schemas.microsoft.com/office/powerpoint/2010/main" val="173760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F035130E-40FC-4093-A101-E6AEB9DF76BF}" type="datetimeFigureOut">
              <a:rPr lang="zh-CN" altLang="en-US" smtClean="0"/>
              <a:t>2018/1/5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48A3B87-398B-41F3-AA81-905BBBDFF657}" type="slidenum">
              <a:rPr lang="zh-CN" altLang="en-US" smtClean="0"/>
              <a:t>‹#›</a:t>
            </a:fld>
            <a:endParaRPr lang="zh-CN" altLang="en-US"/>
          </a:p>
        </p:txBody>
      </p:sp>
    </p:spTree>
    <p:extLst>
      <p:ext uri="{BB962C8B-B14F-4D97-AF65-F5344CB8AC3E}">
        <p14:creationId xmlns:p14="http://schemas.microsoft.com/office/powerpoint/2010/main" val="1023257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35130E-40FC-4093-A101-E6AEB9DF76BF}" type="datetimeFigureOut">
              <a:rPr lang="zh-CN" altLang="en-US" smtClean="0"/>
              <a:t>2018/1/5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48A3B87-398B-41F3-AA81-905BBBDFF657}" type="slidenum">
              <a:rPr lang="zh-CN" altLang="en-US" smtClean="0"/>
              <a:t>‹#›</a:t>
            </a:fld>
            <a:endParaRPr lang="zh-CN" altLang="en-US"/>
          </a:p>
        </p:txBody>
      </p:sp>
    </p:spTree>
    <p:extLst>
      <p:ext uri="{BB962C8B-B14F-4D97-AF65-F5344CB8AC3E}">
        <p14:creationId xmlns:p14="http://schemas.microsoft.com/office/powerpoint/2010/main" val="3669223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F035130E-40FC-4093-A101-E6AEB9DF76BF}" type="datetimeFigureOut">
              <a:rPr lang="zh-CN" altLang="en-US" smtClean="0"/>
              <a:t>2018/1/5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48A3B87-398B-41F3-AA81-905BBBDFF657}" type="slidenum">
              <a:rPr lang="zh-CN" altLang="en-US" smtClean="0"/>
              <a:t>‹#›</a:t>
            </a:fld>
            <a:endParaRPr lang="zh-CN" altLang="en-US"/>
          </a:p>
        </p:txBody>
      </p:sp>
    </p:spTree>
    <p:extLst>
      <p:ext uri="{BB962C8B-B14F-4D97-AF65-F5344CB8AC3E}">
        <p14:creationId xmlns:p14="http://schemas.microsoft.com/office/powerpoint/2010/main" val="2175005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F035130E-40FC-4093-A101-E6AEB9DF76BF}" type="datetimeFigureOut">
              <a:rPr lang="zh-CN" altLang="en-US" smtClean="0"/>
              <a:t>2018/1/5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48A3B87-398B-41F3-AA81-905BBBDFF657}" type="slidenum">
              <a:rPr lang="zh-CN" altLang="en-US" smtClean="0"/>
              <a:t>‹#›</a:t>
            </a:fld>
            <a:endParaRPr lang="zh-CN" altLang="en-US"/>
          </a:p>
        </p:txBody>
      </p:sp>
    </p:spTree>
    <p:extLst>
      <p:ext uri="{BB962C8B-B14F-4D97-AF65-F5344CB8AC3E}">
        <p14:creationId xmlns:p14="http://schemas.microsoft.com/office/powerpoint/2010/main" val="3325834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035130E-40FC-4093-A101-E6AEB9DF76BF}" type="datetimeFigureOut">
              <a:rPr lang="zh-CN" altLang="en-US" smtClean="0"/>
              <a:t>2018/1/5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48A3B87-398B-41F3-AA81-905BBBDFF657}" type="slidenum">
              <a:rPr lang="zh-CN" altLang="en-US" smtClean="0"/>
              <a:t>‹#›</a:t>
            </a:fld>
            <a:endParaRPr lang="zh-CN" altLang="en-US"/>
          </a:p>
        </p:txBody>
      </p:sp>
    </p:spTree>
    <p:extLst>
      <p:ext uri="{BB962C8B-B14F-4D97-AF65-F5344CB8AC3E}">
        <p14:creationId xmlns:p14="http://schemas.microsoft.com/office/powerpoint/2010/main" val="42417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035130E-40FC-4093-A101-E6AEB9DF76BF}" type="datetimeFigureOut">
              <a:rPr lang="zh-CN" altLang="en-US" smtClean="0"/>
              <a:t>2018/1/5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48A3B87-398B-41F3-AA81-905BBBDFF657}" type="slidenum">
              <a:rPr lang="zh-CN" altLang="en-US" smtClean="0"/>
              <a:t>‹#›</a:t>
            </a:fld>
            <a:endParaRPr lang="zh-CN" altLang="en-US"/>
          </a:p>
        </p:txBody>
      </p:sp>
    </p:spTree>
    <p:extLst>
      <p:ext uri="{BB962C8B-B14F-4D97-AF65-F5344CB8AC3E}">
        <p14:creationId xmlns:p14="http://schemas.microsoft.com/office/powerpoint/2010/main" val="3282963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895927"/>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628650" y="1182255"/>
            <a:ext cx="7886700" cy="4994708"/>
          </a:xfrm>
          <a:prstGeom prst="rect">
            <a:avLst/>
          </a:prstGeom>
        </p:spPr>
        <p:txBody>
          <a:bodyPr vert="horz" lIns="91440" tIns="45720" rIns="91440" bIns="45720" rtlCol="0">
            <a:normAutofit/>
          </a:body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2"/>
          </p:nvPr>
        </p:nvSpPr>
        <p:spPr>
          <a:xfrm>
            <a:off x="0" y="6481040"/>
            <a:ext cx="2057400" cy="365125"/>
          </a:xfrm>
          <a:prstGeom prst="rect">
            <a:avLst/>
          </a:prstGeom>
        </p:spPr>
        <p:txBody>
          <a:bodyPr vert="horz" lIns="91440" tIns="45720" rIns="91440" bIns="45720" rtlCol="0" anchor="ctr"/>
          <a:lstStyle>
            <a:lvl1pPr algn="l">
              <a:defRPr sz="1200">
                <a:solidFill>
                  <a:schemeClr val="tx1"/>
                </a:solidFill>
                <a:latin typeface="微软雅黑" panose="020B0503020204020204" pitchFamily="34" charset="-122"/>
                <a:ea typeface="微软雅黑" panose="020B0503020204020204" pitchFamily="34" charset="-122"/>
              </a:defRPr>
            </a:lvl1pPr>
          </a:lstStyle>
          <a:p>
            <a:fld id="{F035130E-40FC-4093-A101-E6AEB9DF76BF}" type="datetimeFigureOut">
              <a:rPr lang="zh-CN" altLang="en-US" smtClean="0"/>
              <a:t>2018/1/5</a:t>
            </a:fld>
            <a:endParaRPr lang="zh-CN" altLang="en-US"/>
          </a:p>
        </p:txBody>
      </p:sp>
      <p:sp>
        <p:nvSpPr>
          <p:cNvPr id="5" name="Footer Placeholder 4"/>
          <p:cNvSpPr>
            <a:spLocks noGrp="1"/>
          </p:cNvSpPr>
          <p:nvPr>
            <p:ph type="ftr" sz="quarter" idx="3"/>
          </p:nvPr>
        </p:nvSpPr>
        <p:spPr>
          <a:xfrm>
            <a:off x="3028950" y="6481042"/>
            <a:ext cx="3086100" cy="365125"/>
          </a:xfrm>
          <a:prstGeom prst="rect">
            <a:avLst/>
          </a:prstGeom>
        </p:spPr>
        <p:txBody>
          <a:bodyPr vert="horz" lIns="91440" tIns="45720" rIns="91440" bIns="45720" rtlCol="0" anchor="ctr"/>
          <a:lstStyle>
            <a:lvl1pPr algn="ctr">
              <a:defRPr sz="1200">
                <a:solidFill>
                  <a:schemeClr val="tx1"/>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7086600" y="6481041"/>
            <a:ext cx="2057400" cy="365125"/>
          </a:xfrm>
          <a:prstGeom prst="rect">
            <a:avLst/>
          </a:prstGeom>
        </p:spPr>
        <p:txBody>
          <a:bodyPr vert="horz" lIns="91440" tIns="45720" rIns="91440" bIns="45720" rtlCol="0" anchor="ctr"/>
          <a:lstStyle>
            <a:lvl1pPr algn="r">
              <a:defRPr sz="1200">
                <a:solidFill>
                  <a:schemeClr val="tx1"/>
                </a:solidFill>
                <a:latin typeface="微软雅黑" panose="020B0503020204020204" pitchFamily="34" charset="-122"/>
                <a:ea typeface="微软雅黑" panose="020B0503020204020204" pitchFamily="34" charset="-122"/>
              </a:defRPr>
            </a:lvl1pPr>
          </a:lstStyle>
          <a:p>
            <a:fld id="{048A3B87-398B-41F3-AA81-905BBBDFF657}" type="slidenum">
              <a:rPr lang="zh-CN" altLang="en-US" smtClean="0"/>
              <a:t>‹#›</a:t>
            </a:fld>
            <a:endParaRPr lang="zh-CN" altLang="en-US"/>
          </a:p>
        </p:txBody>
      </p:sp>
    </p:spTree>
    <p:extLst>
      <p:ext uri="{BB962C8B-B14F-4D97-AF65-F5344CB8AC3E}">
        <p14:creationId xmlns:p14="http://schemas.microsoft.com/office/powerpoint/2010/main" val="347175648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0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8.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C58C1F7F-C481-490A-8F09-7358FD747AF0}"/>
              </a:ext>
            </a:extLst>
          </p:cNvPr>
          <p:cNvSpPr txBox="1">
            <a:spLocks/>
          </p:cNvSpPr>
          <p:nvPr/>
        </p:nvSpPr>
        <p:spPr>
          <a:xfrm>
            <a:off x="685800" y="997970"/>
            <a:ext cx="6858000" cy="1526569"/>
          </a:xfrm>
          <a:prstGeom prst="rect">
            <a:avLst/>
          </a:prstGeom>
        </p:spPr>
        <p:txBody>
          <a:bodyPr vert="horz" lIns="91440" tIns="45720" rIns="91440" bIns="45720" rtlCol="0" anchor="b">
            <a:normAutofit/>
          </a:bodyPr>
          <a:lstStyle>
            <a:lvl1pPr algn="l" defTabSz="685800" rtl="0" eaLnBrk="1" latinLnBrk="0" hangingPunct="1">
              <a:lnSpc>
                <a:spcPct val="90000"/>
              </a:lnSpc>
              <a:spcBef>
                <a:spcPct val="0"/>
              </a:spcBef>
              <a:buNone/>
              <a:defRPr sz="30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a:t>计算机系统基础</a:t>
            </a:r>
            <a:r>
              <a:rPr lang="en-US" altLang="zh-CN" sz="2000" dirty="0"/>
              <a:t/>
            </a:r>
            <a:br>
              <a:rPr lang="en-US" altLang="zh-CN" sz="2000" dirty="0"/>
            </a:br>
            <a:r>
              <a:rPr lang="en-US" altLang="zh-CN" sz="2000" dirty="0"/>
              <a:t>Programming Assignment</a:t>
            </a:r>
            <a:endParaRPr lang="zh-CN" altLang="en-US" sz="2000" dirty="0"/>
          </a:p>
        </p:txBody>
      </p:sp>
      <p:sp>
        <p:nvSpPr>
          <p:cNvPr id="5" name="标题 1">
            <a:extLst>
              <a:ext uri="{FF2B5EF4-FFF2-40B4-BE49-F238E27FC236}">
                <a16:creationId xmlns:a16="http://schemas.microsoft.com/office/drawing/2014/main" id="{60DF77EB-A9EA-4B0F-8E5F-366D8CA9575A}"/>
              </a:ext>
            </a:extLst>
          </p:cNvPr>
          <p:cNvSpPr>
            <a:spLocks noGrp="1"/>
          </p:cNvSpPr>
          <p:nvPr>
            <p:ph type="ctrTitle"/>
          </p:nvPr>
        </p:nvSpPr>
        <p:spPr>
          <a:xfrm>
            <a:off x="685800" y="2502389"/>
            <a:ext cx="7772400" cy="1319841"/>
          </a:xfrm>
        </p:spPr>
        <p:txBody>
          <a:bodyPr>
            <a:noAutofit/>
          </a:bodyPr>
          <a:lstStyle/>
          <a:p>
            <a:r>
              <a:rPr lang="en-US" altLang="zh-CN" sz="3000" dirty="0"/>
              <a:t>PA </a:t>
            </a:r>
            <a:r>
              <a:rPr lang="en-US" altLang="zh-CN" sz="3000" dirty="0" smtClean="0"/>
              <a:t>4 </a:t>
            </a:r>
            <a:r>
              <a:rPr lang="zh-CN" altLang="en-US" sz="3000" dirty="0" smtClean="0"/>
              <a:t>异常、中断与</a:t>
            </a:r>
            <a:r>
              <a:rPr lang="en-US" altLang="zh-CN" sz="3000" dirty="0" smtClean="0"/>
              <a:t>I/O</a:t>
            </a:r>
            <a:r>
              <a:rPr lang="en-US" altLang="zh-CN" sz="3000" dirty="0"/>
              <a:t/>
            </a:r>
            <a:br>
              <a:rPr lang="en-US" altLang="zh-CN" sz="3000" dirty="0"/>
            </a:br>
            <a:r>
              <a:rPr lang="en-US" altLang="zh-CN" sz="3000" dirty="0"/>
              <a:t>                  ——PA </a:t>
            </a:r>
            <a:r>
              <a:rPr lang="en-US" altLang="zh-CN" sz="3000" dirty="0" smtClean="0"/>
              <a:t>4-2 </a:t>
            </a:r>
            <a:r>
              <a:rPr lang="zh-CN" altLang="en-US" sz="3000" dirty="0" smtClean="0"/>
              <a:t>外设与</a:t>
            </a:r>
            <a:r>
              <a:rPr lang="en-US" altLang="zh-CN" sz="3000" dirty="0" smtClean="0"/>
              <a:t>I/O</a:t>
            </a:r>
            <a:endParaRPr lang="zh-CN" altLang="en-US" sz="3000" dirty="0"/>
          </a:p>
        </p:txBody>
      </p:sp>
      <p:sp>
        <p:nvSpPr>
          <p:cNvPr id="6" name="副标题 2">
            <a:extLst>
              <a:ext uri="{FF2B5EF4-FFF2-40B4-BE49-F238E27FC236}">
                <a16:creationId xmlns:a16="http://schemas.microsoft.com/office/drawing/2014/main" id="{6F3C7610-A9FA-429D-AFB4-F43A2A3296B8}"/>
              </a:ext>
            </a:extLst>
          </p:cNvPr>
          <p:cNvSpPr>
            <a:spLocks noGrp="1"/>
          </p:cNvSpPr>
          <p:nvPr>
            <p:ph type="subTitle" idx="1"/>
          </p:nvPr>
        </p:nvSpPr>
        <p:spPr>
          <a:xfrm>
            <a:off x="685800" y="3968150"/>
            <a:ext cx="7772400" cy="1289649"/>
          </a:xfrm>
        </p:spPr>
        <p:txBody>
          <a:bodyPr/>
          <a:lstStyle/>
          <a:p>
            <a:pPr algn="r"/>
            <a:r>
              <a:rPr lang="en-US" altLang="zh-CN" dirty="0"/>
              <a:t>2017</a:t>
            </a:r>
            <a:r>
              <a:rPr lang="zh-CN" altLang="en-US" dirty="0"/>
              <a:t>年</a:t>
            </a:r>
            <a:r>
              <a:rPr lang="en-US" altLang="zh-CN" dirty="0" smtClean="0"/>
              <a:t>1</a:t>
            </a:r>
            <a:r>
              <a:rPr lang="zh-CN" altLang="en-US" dirty="0" smtClean="0"/>
              <a:t>月</a:t>
            </a:r>
            <a:r>
              <a:rPr lang="en-US" altLang="zh-CN" dirty="0" smtClean="0"/>
              <a:t>5</a:t>
            </a:r>
            <a:r>
              <a:rPr lang="zh-CN" altLang="en-US" dirty="0" smtClean="0"/>
              <a:t>日</a:t>
            </a:r>
            <a:endParaRPr lang="zh-CN" altLang="en-US" dirty="0"/>
          </a:p>
        </p:txBody>
      </p:sp>
    </p:spTree>
    <p:extLst>
      <p:ext uri="{BB962C8B-B14F-4D97-AF65-F5344CB8AC3E}">
        <p14:creationId xmlns:p14="http://schemas.microsoft.com/office/powerpoint/2010/main" val="3629661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阿拉蕾 戳”的图片搜索结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5343" y="769803"/>
            <a:ext cx="2970875" cy="3343293"/>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2895599" y="3170258"/>
            <a:ext cx="4359819" cy="3124442"/>
          </a:xfrm>
          <a:prstGeom prst="rect">
            <a:avLst/>
          </a:prstGeom>
        </p:spPr>
      </p:pic>
      <p:sp>
        <p:nvSpPr>
          <p:cNvPr id="7" name="云形标注 6"/>
          <p:cNvSpPr/>
          <p:nvPr/>
        </p:nvSpPr>
        <p:spPr>
          <a:xfrm>
            <a:off x="592753" y="980249"/>
            <a:ext cx="4360248" cy="2223968"/>
          </a:xfrm>
          <a:prstGeom prst="cloudCallout">
            <a:avLst>
              <a:gd name="adj1" fmla="val 30857"/>
              <a:gd name="adj2" fmla="val 68698"/>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smtClean="0"/>
              <a:t>前情提要</a:t>
            </a:r>
            <a:endParaRPr lang="zh-CN" altLang="en-US" dirty="0"/>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93764" y="1444022"/>
            <a:ext cx="958226" cy="997427"/>
          </a:xfrm>
          <a:prstGeom prst="rect">
            <a:avLst/>
          </a:prstGeom>
        </p:spPr>
      </p:pic>
      <p:pic>
        <p:nvPicPr>
          <p:cNvPr id="5" name="图片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0692" y="1464435"/>
            <a:ext cx="1013323" cy="1045420"/>
          </a:xfrm>
          <a:prstGeom prst="rect">
            <a:avLst/>
          </a:prstGeom>
        </p:spPr>
      </p:pic>
      <p:pic>
        <p:nvPicPr>
          <p:cNvPr id="8" name="图片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324332" y="1373275"/>
            <a:ext cx="1087624" cy="1087624"/>
          </a:xfrm>
          <a:prstGeom prst="rect">
            <a:avLst/>
          </a:prstGeom>
        </p:spPr>
      </p:pic>
      <p:sp>
        <p:nvSpPr>
          <p:cNvPr id="9" name="文本框 8"/>
          <p:cNvSpPr txBox="1"/>
          <p:nvPr/>
        </p:nvSpPr>
        <p:spPr>
          <a:xfrm>
            <a:off x="6380988" y="4454811"/>
            <a:ext cx="2453717" cy="646331"/>
          </a:xfrm>
          <a:prstGeom prst="rect">
            <a:avLst/>
          </a:prstGeom>
          <a:noFill/>
        </p:spPr>
        <p:txBody>
          <a:bodyPr wrap="square" rtlCol="0">
            <a:spAutoFit/>
          </a:bodyPr>
          <a:lstStyle/>
          <a:p>
            <a:r>
              <a:rPr lang="zh-CN" altLang="en-US" dirty="0" smtClean="0"/>
              <a:t>使用</a:t>
            </a:r>
            <a:r>
              <a:rPr lang="en-US" altLang="zh-CN" dirty="0" smtClean="0"/>
              <a:t>PA 4-1</a:t>
            </a:r>
            <a:r>
              <a:rPr lang="zh-CN" altLang="en-US" dirty="0" smtClean="0"/>
              <a:t>构建的“中断之棍”戳它还能有反应</a:t>
            </a:r>
            <a:endParaRPr lang="zh-CN" altLang="en-US" dirty="0"/>
          </a:p>
        </p:txBody>
      </p:sp>
      <p:sp>
        <p:nvSpPr>
          <p:cNvPr id="12" name="文本框 11"/>
          <p:cNvSpPr txBox="1"/>
          <p:nvPr/>
        </p:nvSpPr>
        <p:spPr>
          <a:xfrm>
            <a:off x="753815" y="3374432"/>
            <a:ext cx="2453717" cy="1477328"/>
          </a:xfrm>
          <a:prstGeom prst="rect">
            <a:avLst/>
          </a:prstGeom>
          <a:noFill/>
        </p:spPr>
        <p:txBody>
          <a:bodyPr wrap="square" rtlCol="0">
            <a:spAutoFit/>
          </a:bodyPr>
          <a:lstStyle/>
          <a:p>
            <a:r>
              <a:rPr lang="en-US" altLang="zh-CN" dirty="0" smtClean="0"/>
              <a:t>PA 1 ~ PA 3</a:t>
            </a:r>
            <a:r>
              <a:rPr lang="zh-CN" altLang="en-US" dirty="0" smtClean="0"/>
              <a:t>构建的由</a:t>
            </a:r>
            <a:r>
              <a:rPr lang="en-US" altLang="zh-CN" dirty="0" smtClean="0"/>
              <a:t>CPU</a:t>
            </a:r>
            <a:r>
              <a:rPr lang="zh-CN" altLang="en-US" dirty="0" smtClean="0"/>
              <a:t>和内存构成的计算机，配合</a:t>
            </a:r>
            <a:r>
              <a:rPr lang="en-US" altLang="zh-CN" dirty="0" smtClean="0"/>
              <a:t>Kernel</a:t>
            </a:r>
            <a:r>
              <a:rPr lang="zh-CN" altLang="en-US" dirty="0" smtClean="0"/>
              <a:t>的支持，已经拥有了超强的运算和管理能力</a:t>
            </a:r>
            <a:endParaRPr lang="zh-CN" altLang="en-US" dirty="0"/>
          </a:p>
        </p:txBody>
      </p:sp>
    </p:spTree>
    <p:extLst>
      <p:ext uri="{BB962C8B-B14F-4D97-AF65-F5344CB8AC3E}">
        <p14:creationId xmlns:p14="http://schemas.microsoft.com/office/powerpoint/2010/main" val="1763864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962275" y="2560900"/>
            <a:ext cx="4248150" cy="4220900"/>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3" name="矩形 12"/>
          <p:cNvSpPr/>
          <p:nvPr/>
        </p:nvSpPr>
        <p:spPr>
          <a:xfrm>
            <a:off x="3219450" y="2828925"/>
            <a:ext cx="3733800" cy="3733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smtClean="0"/>
              <a:t>前情提要</a:t>
            </a:r>
            <a:endParaRPr lang="zh-CN" altLang="en-US" dirty="0"/>
          </a:p>
        </p:txBody>
      </p:sp>
      <p:sp>
        <p:nvSpPr>
          <p:cNvPr id="3" name="文本框 2"/>
          <p:cNvSpPr txBox="1"/>
          <p:nvPr/>
        </p:nvSpPr>
        <p:spPr>
          <a:xfrm>
            <a:off x="1430293" y="1257300"/>
            <a:ext cx="5356269" cy="954107"/>
          </a:xfrm>
          <a:prstGeom prst="rect">
            <a:avLst/>
          </a:prstGeom>
          <a:noFill/>
        </p:spPr>
        <p:txBody>
          <a:bodyPr wrap="square" rtlCol="0">
            <a:spAutoFit/>
          </a:bodyPr>
          <a:lstStyle/>
          <a:p>
            <a:r>
              <a:rPr lang="zh-CN" altLang="en-US" sz="2800" dirty="0" smtClean="0"/>
              <a:t>但是！缺少输入和输出的能力，基本上还是封闭在机箱的内部。</a:t>
            </a:r>
            <a:endParaRPr lang="zh-CN" altLang="en-US" sz="2800" dirty="0"/>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2895599" y="3170258"/>
            <a:ext cx="4359819" cy="3124442"/>
          </a:xfrm>
          <a:prstGeom prst="rect">
            <a:avLst/>
          </a:prstGeom>
        </p:spPr>
      </p:pic>
    </p:spTree>
    <p:extLst>
      <p:ext uri="{BB962C8B-B14F-4D97-AF65-F5344CB8AC3E}">
        <p14:creationId xmlns:p14="http://schemas.microsoft.com/office/powerpoint/2010/main" val="3741208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962275" y="2560900"/>
            <a:ext cx="4248150" cy="4220900"/>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3" name="矩形 12"/>
          <p:cNvSpPr/>
          <p:nvPr/>
        </p:nvSpPr>
        <p:spPr>
          <a:xfrm>
            <a:off x="3219450" y="2828925"/>
            <a:ext cx="3733800" cy="3733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smtClean="0"/>
              <a:t>PA 4-2</a:t>
            </a:r>
            <a:r>
              <a:rPr lang="zh-CN" altLang="en-US" dirty="0" smtClean="0"/>
              <a:t>的任务</a:t>
            </a:r>
            <a:endParaRPr lang="zh-CN" altLang="en-US" dirty="0"/>
          </a:p>
        </p:txBody>
      </p:sp>
      <p:sp>
        <p:nvSpPr>
          <p:cNvPr id="3" name="文本框 2"/>
          <p:cNvSpPr txBox="1"/>
          <p:nvPr/>
        </p:nvSpPr>
        <p:spPr>
          <a:xfrm>
            <a:off x="1430293" y="1257300"/>
            <a:ext cx="6813595" cy="954107"/>
          </a:xfrm>
          <a:prstGeom prst="rect">
            <a:avLst/>
          </a:prstGeom>
          <a:noFill/>
        </p:spPr>
        <p:txBody>
          <a:bodyPr wrap="square" rtlCol="0">
            <a:spAutoFit/>
          </a:bodyPr>
          <a:lstStyle/>
          <a:p>
            <a:r>
              <a:rPr lang="zh-CN" altLang="en-US" sz="2800" dirty="0" smtClean="0"/>
              <a:t>为它接上眼睛和嘴巴，完成实现一台现代计算机的“最后的拼图”。</a:t>
            </a:r>
            <a:endParaRPr lang="zh-CN" altLang="en-US" sz="2800" dirty="0"/>
          </a:p>
        </p:txBody>
      </p:sp>
      <p:pic>
        <p:nvPicPr>
          <p:cNvPr id="15" name="图片 14"/>
          <p:cNvPicPr>
            <a:picLocks noChangeAspect="1"/>
          </p:cNvPicPr>
          <p:nvPr/>
        </p:nvPicPr>
        <p:blipFill rotWithShape="1">
          <a:blip r:embed="rId2">
            <a:extLst>
              <a:ext uri="{28A0092B-C50C-407E-A947-70E740481C1C}">
                <a14:useLocalDpi xmlns:a14="http://schemas.microsoft.com/office/drawing/2010/main" val="0"/>
              </a:ext>
            </a:extLst>
          </a:blip>
          <a:srcRect l="16871" r="18898"/>
          <a:stretch/>
        </p:blipFill>
        <p:spPr>
          <a:xfrm flipH="1">
            <a:off x="3719511" y="3170258"/>
            <a:ext cx="2800351" cy="3124442"/>
          </a:xfrm>
          <a:prstGeom prst="rect">
            <a:avLst/>
          </a:prstGeom>
        </p:spPr>
      </p:pic>
      <p:pic>
        <p:nvPicPr>
          <p:cNvPr id="3074" name="Picture 2" descr="https://timgsa.baidu.com/timg?image&amp;quality=80&amp;size=b9999_10000&amp;sec=1515653061&amp;di=f38f2dbb8d9a1ab42bcf591cadbe6599&amp;imgtype=jpg&amp;er=1&amp;src=http%3A%2F%2Fghr-japan.greater.jp%2Fproductsimage%2F1086794n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6625" y="5901435"/>
            <a:ext cx="1935853" cy="786529"/>
          </a:xfrm>
          <a:prstGeom prst="rect">
            <a:avLst/>
          </a:prstGeom>
          <a:noFill/>
          <a:extLst>
            <a:ext uri="{909E8E84-426E-40DD-AFC4-6F175D3DCCD1}">
              <a14:hiddenFill xmlns:a14="http://schemas.microsoft.com/office/drawing/2010/main">
                <a:solidFill>
                  <a:srgbClr val="FFFFFF"/>
                </a:solidFill>
              </a14:hiddenFill>
            </a:ext>
          </a:extLst>
        </p:spPr>
      </p:pic>
      <p:cxnSp>
        <p:nvCxnSpPr>
          <p:cNvPr id="5" name="肘形连接符 4"/>
          <p:cNvCxnSpPr>
            <a:stCxn id="3074" idx="0"/>
            <a:endCxn id="15" idx="3"/>
          </p:cNvCxnSpPr>
          <p:nvPr/>
        </p:nvCxnSpPr>
        <p:spPr>
          <a:xfrm rot="5400000" flipH="1" flipV="1">
            <a:off x="1907553" y="4089478"/>
            <a:ext cx="1168956" cy="2454959"/>
          </a:xfrm>
          <a:prstGeom prst="bentConnector2">
            <a:avLst/>
          </a:prstGeom>
          <a:ln w="38100">
            <a:solidFill>
              <a:srgbClr val="C00000"/>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pic>
        <p:nvPicPr>
          <p:cNvPr id="3076" name="Picture 4" descr="https://timgsa.baidu.com/timg?image&amp;quality=80&amp;size=b9999_10000&amp;sec=1515058462462&amp;di=112597d052c25150114ea41868a5938c&amp;imgtype=0&amp;src=http%3A%2F%2Foss.huangye88.net%2Flive%2Fuser%2F1760137%2F1461634479059590900-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31" y="2560900"/>
            <a:ext cx="2697413" cy="1882795"/>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肘形连接符 15"/>
          <p:cNvCxnSpPr>
            <a:stCxn id="15" idx="0"/>
            <a:endCxn id="3076" idx="3"/>
          </p:cNvCxnSpPr>
          <p:nvPr/>
        </p:nvCxnSpPr>
        <p:spPr>
          <a:xfrm rot="16200000" flipH="1" flipV="1">
            <a:off x="3749945" y="2132557"/>
            <a:ext cx="332040" cy="2407442"/>
          </a:xfrm>
          <a:prstGeom prst="bentConnector4">
            <a:avLst>
              <a:gd name="adj1" fmla="val -68847"/>
              <a:gd name="adj2" fmla="val 63254"/>
            </a:avLst>
          </a:prstGeom>
          <a:ln w="38100">
            <a:solidFill>
              <a:schemeClr val="accent4">
                <a:lumMod val="75000"/>
              </a:schemeClr>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pic>
        <p:nvPicPr>
          <p:cNvPr id="3080" name="Picture 8" descr="https://timgsa.baidu.com/timg?image&amp;quality=80&amp;size=b9999_10000&amp;sec=1515058658898&amp;di=3442e2ae48f724c723158c1d4e4fd295&amp;imgtype=0&amp;src=http%3A%2F%2Fwww.udaxia.com%2Fuploads%2Fallimg%2F140507%2F3-14050G40635A5.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1382" y="2628900"/>
            <a:ext cx="1592618" cy="1287746"/>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肘形连接符 24"/>
          <p:cNvCxnSpPr>
            <a:stCxn id="15" idx="1"/>
            <a:endCxn id="3080" idx="2"/>
          </p:cNvCxnSpPr>
          <p:nvPr/>
        </p:nvCxnSpPr>
        <p:spPr>
          <a:xfrm flipV="1">
            <a:off x="6519862" y="3916646"/>
            <a:ext cx="1827829" cy="815833"/>
          </a:xfrm>
          <a:prstGeom prst="bentConnector2">
            <a:avLst/>
          </a:prstGeom>
          <a:ln w="38100">
            <a:solidFill>
              <a:srgbClr val="00B05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3818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外设与</a:t>
            </a:r>
            <a:r>
              <a:rPr lang="en-US" altLang="zh-CN" dirty="0" smtClean="0"/>
              <a:t>I/O</a:t>
            </a:r>
            <a:endParaRPr lang="zh-CN" altLang="en-US" dirty="0"/>
          </a:p>
        </p:txBody>
      </p:sp>
      <p:sp>
        <p:nvSpPr>
          <p:cNvPr id="3" name="内容占位符 2"/>
          <p:cNvSpPr>
            <a:spLocks noGrp="1"/>
          </p:cNvSpPr>
          <p:nvPr>
            <p:ph idx="1"/>
          </p:nvPr>
        </p:nvSpPr>
        <p:spPr>
          <a:xfrm>
            <a:off x="628650" y="1182255"/>
            <a:ext cx="7886700" cy="1103745"/>
          </a:xfrm>
        </p:spPr>
        <p:txBody>
          <a:bodyPr/>
          <a:lstStyle/>
          <a:p>
            <a:r>
              <a:rPr lang="en-US" altLang="zh-CN" dirty="0" smtClean="0"/>
              <a:t>CPU</a:t>
            </a:r>
            <a:r>
              <a:rPr lang="zh-CN" altLang="en-US" dirty="0" smtClean="0"/>
              <a:t>如何向外设进行输入输出？</a:t>
            </a:r>
            <a:endParaRPr lang="en-US" altLang="zh-CN" dirty="0" smtClean="0"/>
          </a:p>
          <a:p>
            <a:pPr lvl="1"/>
            <a:r>
              <a:rPr lang="zh-CN" altLang="en-US" dirty="0" smtClean="0">
                <a:solidFill>
                  <a:srgbClr val="FF0000"/>
                </a:solidFill>
              </a:rPr>
              <a:t>方式</a:t>
            </a:r>
            <a:r>
              <a:rPr lang="en-US" altLang="zh-CN" dirty="0" smtClean="0">
                <a:solidFill>
                  <a:srgbClr val="FF0000"/>
                </a:solidFill>
              </a:rPr>
              <a:t>1</a:t>
            </a:r>
            <a:r>
              <a:rPr lang="zh-CN" altLang="en-US" dirty="0" smtClean="0">
                <a:solidFill>
                  <a:srgbClr val="FF0000"/>
                </a:solidFill>
              </a:rPr>
              <a:t>：端口</a:t>
            </a:r>
            <a:r>
              <a:rPr lang="zh-CN" altLang="en-US" dirty="0">
                <a:solidFill>
                  <a:srgbClr val="FF0000"/>
                </a:solidFill>
              </a:rPr>
              <a:t>映射</a:t>
            </a:r>
            <a:r>
              <a:rPr lang="en-US" altLang="zh-CN" dirty="0">
                <a:solidFill>
                  <a:srgbClr val="FF0000"/>
                </a:solidFill>
              </a:rPr>
              <a:t>I/O(port-mapped I/O)</a:t>
            </a:r>
            <a:endParaRPr lang="zh-CN" altLang="en-US" dirty="0">
              <a:solidFill>
                <a:srgbClr val="FF0000"/>
              </a:solidFill>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642" y="2853722"/>
            <a:ext cx="1998471" cy="2080228"/>
          </a:xfrm>
          <a:prstGeom prst="rect">
            <a:avLst/>
          </a:prstGeom>
        </p:spPr>
      </p:pic>
      <p:sp>
        <p:nvSpPr>
          <p:cNvPr id="5" name="文本框 4"/>
          <p:cNvSpPr txBox="1"/>
          <p:nvPr/>
        </p:nvSpPr>
        <p:spPr>
          <a:xfrm>
            <a:off x="1252219" y="4933950"/>
            <a:ext cx="704039" cy="461665"/>
          </a:xfrm>
          <a:prstGeom prst="rect">
            <a:avLst/>
          </a:prstGeom>
          <a:noFill/>
        </p:spPr>
        <p:txBody>
          <a:bodyPr wrap="none" rtlCol="0">
            <a:spAutoFit/>
          </a:bodyPr>
          <a:lstStyle/>
          <a:p>
            <a:r>
              <a:rPr lang="en-US" altLang="zh-CN" sz="2400" i="1" dirty="0" smtClean="0"/>
              <a:t>CPU</a:t>
            </a:r>
            <a:endParaRPr lang="zh-CN" altLang="en-US" sz="2400" i="1" dirty="0"/>
          </a:p>
        </p:txBody>
      </p:sp>
      <p:pic>
        <p:nvPicPr>
          <p:cNvPr id="4098" name="Picture 2" descr="https://timgsa.baidu.com/timg?image&amp;quality=80&amp;size=b9999_10000&amp;sec=1515075884824&amp;di=634e8449a2eb053dca6c7e00f82d3842&amp;imgtype=0&amp;src=http%3A%2F%2Fpic.58pic.com%2F58pic%2F15%2F48%2F79%2F49458PICeyH_1024.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32627" y="3348588"/>
            <a:ext cx="1684163" cy="10904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s://timgsa.baidu.com/timg?image&amp;quality=80&amp;size=b9999_10000&amp;sec=1515653061&amp;di=f38f2dbb8d9a1ab42bcf591cadbe6599&amp;imgtype=jpg&amp;er=1&amp;src=http%3A%2F%2Fghr-japan.greater.jp%2Fproductsimage%2F1086794n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40968" y="2460457"/>
            <a:ext cx="1935853" cy="786529"/>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肘形连接符 9"/>
          <p:cNvCxnSpPr>
            <a:stCxn id="4098" idx="3"/>
            <a:endCxn id="7" idx="0"/>
          </p:cNvCxnSpPr>
          <p:nvPr/>
        </p:nvCxnSpPr>
        <p:spPr>
          <a:xfrm flipV="1">
            <a:off x="5116790" y="2460457"/>
            <a:ext cx="2592105" cy="1433379"/>
          </a:xfrm>
          <a:prstGeom prst="bentConnector4">
            <a:avLst>
              <a:gd name="adj1" fmla="val 30340"/>
              <a:gd name="adj2" fmla="val 115948"/>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6882615" y="1830579"/>
            <a:ext cx="1096775" cy="369332"/>
          </a:xfrm>
          <a:prstGeom prst="rect">
            <a:avLst/>
          </a:prstGeom>
          <a:noFill/>
        </p:spPr>
        <p:txBody>
          <a:bodyPr wrap="none" rtlCol="0">
            <a:spAutoFit/>
          </a:bodyPr>
          <a:lstStyle/>
          <a:p>
            <a:r>
              <a:rPr lang="en-US" altLang="zh-CN" dirty="0" smtClean="0"/>
              <a:t>0x60</a:t>
            </a:r>
            <a:r>
              <a:rPr lang="zh-CN" altLang="en-US" dirty="0" smtClean="0"/>
              <a:t>号线</a:t>
            </a:r>
            <a:endParaRPr lang="zh-CN" altLang="en-US" dirty="0"/>
          </a:p>
        </p:txBody>
      </p:sp>
      <p:pic>
        <p:nvPicPr>
          <p:cNvPr id="13" name="Picture 8" descr="https://timgsa.baidu.com/timg?image&amp;quality=80&amp;size=b9999_10000&amp;sec=1515058658898&amp;di=3442e2ae48f724c723158c1d4e4fd295&amp;imgtype=0&amp;src=http%3A%2F%2Fwww.udaxia.com%2Fuploads%2Fallimg%2F140507%2F3-14050G40635A5.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83081" y="4639129"/>
            <a:ext cx="1592618" cy="1287746"/>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肘形连接符 13"/>
          <p:cNvCxnSpPr>
            <a:stCxn id="4098" idx="3"/>
            <a:endCxn id="13" idx="0"/>
          </p:cNvCxnSpPr>
          <p:nvPr/>
        </p:nvCxnSpPr>
        <p:spPr>
          <a:xfrm>
            <a:off x="5116790" y="3893836"/>
            <a:ext cx="2862600" cy="745293"/>
          </a:xfrm>
          <a:prstGeom prst="bentConnector2">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6412842" y="3481198"/>
            <a:ext cx="1202573" cy="369332"/>
          </a:xfrm>
          <a:prstGeom prst="rect">
            <a:avLst/>
          </a:prstGeom>
          <a:noFill/>
        </p:spPr>
        <p:txBody>
          <a:bodyPr wrap="none" rtlCol="0">
            <a:spAutoFit/>
          </a:bodyPr>
          <a:lstStyle/>
          <a:p>
            <a:r>
              <a:rPr lang="en-US" altLang="zh-CN" dirty="0" smtClean="0"/>
              <a:t>0x1F0</a:t>
            </a:r>
            <a:r>
              <a:rPr lang="zh-CN" altLang="en-US" dirty="0" smtClean="0"/>
              <a:t>号线</a:t>
            </a:r>
            <a:endParaRPr lang="zh-CN" altLang="en-US" dirty="0"/>
          </a:p>
        </p:txBody>
      </p:sp>
      <p:pic>
        <p:nvPicPr>
          <p:cNvPr id="4100" name="Picture 4" descr="https://timgsa.baidu.com/timg?image&amp;quality=80&amp;size=b9999_10000&amp;sec=1515076270910&amp;di=fa6809862066f3e8d7f6378ba37e5224&amp;imgtype=0&amp;src=http%3A%2F%2Fwww.waveshare.net%2Fphoto%2FaccBoard%2FMAX3232-RS232-Board%2FMAX3232-RS232-Board-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290809" y="5283002"/>
            <a:ext cx="1965986" cy="147449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肘形连接符 19"/>
          <p:cNvCxnSpPr>
            <a:stCxn id="4098" idx="3"/>
            <a:endCxn id="4100" idx="0"/>
          </p:cNvCxnSpPr>
          <p:nvPr/>
        </p:nvCxnSpPr>
        <p:spPr>
          <a:xfrm>
            <a:off x="5116790" y="3893836"/>
            <a:ext cx="1157012" cy="1389166"/>
          </a:xfrm>
          <a:prstGeom prst="bentConnector2">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5094009" y="4729004"/>
            <a:ext cx="1202573" cy="369332"/>
          </a:xfrm>
          <a:prstGeom prst="rect">
            <a:avLst/>
          </a:prstGeom>
          <a:noFill/>
        </p:spPr>
        <p:txBody>
          <a:bodyPr wrap="none" rtlCol="0">
            <a:spAutoFit/>
          </a:bodyPr>
          <a:lstStyle/>
          <a:p>
            <a:r>
              <a:rPr lang="en-US" altLang="zh-CN" dirty="0" smtClean="0"/>
              <a:t>0x3F8</a:t>
            </a:r>
            <a:r>
              <a:rPr lang="zh-CN" altLang="en-US" dirty="0" smtClean="0"/>
              <a:t>号线</a:t>
            </a:r>
            <a:endParaRPr lang="zh-CN" altLang="en-US" dirty="0"/>
          </a:p>
        </p:txBody>
      </p:sp>
      <p:sp>
        <p:nvSpPr>
          <p:cNvPr id="25" name="文本框 24"/>
          <p:cNvSpPr txBox="1"/>
          <p:nvPr/>
        </p:nvSpPr>
        <p:spPr>
          <a:xfrm>
            <a:off x="3666789" y="2649989"/>
            <a:ext cx="1569660" cy="646331"/>
          </a:xfrm>
          <a:prstGeom prst="rect">
            <a:avLst/>
          </a:prstGeom>
          <a:noFill/>
        </p:spPr>
        <p:txBody>
          <a:bodyPr wrap="none" rtlCol="0">
            <a:spAutoFit/>
          </a:bodyPr>
          <a:lstStyle/>
          <a:p>
            <a:pPr algn="ctr"/>
            <a:r>
              <a:rPr lang="en-US" altLang="zh-CN" i="1" dirty="0" smtClean="0"/>
              <a:t>I/O</a:t>
            </a:r>
            <a:r>
              <a:rPr lang="zh-CN" altLang="en-US" i="1" dirty="0" smtClean="0"/>
              <a:t>桥接器</a:t>
            </a:r>
            <a:endParaRPr lang="en-US" altLang="zh-CN" i="1" dirty="0" smtClean="0"/>
          </a:p>
          <a:p>
            <a:pPr algn="ctr"/>
            <a:r>
              <a:rPr lang="zh-CN" altLang="en-US" i="1" dirty="0" smtClean="0"/>
              <a:t>（南桥芯片）</a:t>
            </a:r>
            <a:endParaRPr lang="zh-CN" altLang="en-US" i="1" dirty="0"/>
          </a:p>
        </p:txBody>
      </p:sp>
      <p:sp>
        <p:nvSpPr>
          <p:cNvPr id="26" name="左右箭头 25"/>
          <p:cNvSpPr/>
          <p:nvPr/>
        </p:nvSpPr>
        <p:spPr>
          <a:xfrm>
            <a:off x="2609946" y="3698955"/>
            <a:ext cx="716816" cy="194881"/>
          </a:xfrm>
          <a:prstGeom prst="lef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212750" y="5657671"/>
            <a:ext cx="4061958" cy="1200329"/>
          </a:xfrm>
          <a:prstGeom prst="rect">
            <a:avLst/>
          </a:prstGeom>
          <a:noFill/>
        </p:spPr>
        <p:txBody>
          <a:bodyPr wrap="square" rtlCol="0">
            <a:spAutoFit/>
          </a:bodyPr>
          <a:lstStyle/>
          <a:p>
            <a:r>
              <a:rPr lang="zh-CN" altLang="en-US" dirty="0" smtClean="0"/>
              <a:t>将外设的数据、状态、控制寄存器称为</a:t>
            </a:r>
            <a:r>
              <a:rPr lang="en-US" altLang="zh-CN" dirty="0" smtClean="0"/>
              <a:t>I/O</a:t>
            </a:r>
            <a:r>
              <a:rPr lang="zh-CN" altLang="en-US" dirty="0" smtClean="0"/>
              <a:t>端口；对端口进行编号；</a:t>
            </a:r>
            <a:r>
              <a:rPr lang="en-US" altLang="zh-CN" dirty="0" smtClean="0"/>
              <a:t>CPU</a:t>
            </a:r>
            <a:r>
              <a:rPr lang="zh-CN" altLang="en-US" dirty="0" smtClean="0"/>
              <a:t>使用</a:t>
            </a:r>
            <a:r>
              <a:rPr lang="en-US" altLang="zh-CN" dirty="0" smtClean="0"/>
              <a:t>in</a:t>
            </a:r>
            <a:r>
              <a:rPr lang="zh-CN" altLang="en-US" dirty="0" smtClean="0"/>
              <a:t>与</a:t>
            </a:r>
            <a:r>
              <a:rPr lang="en-US" altLang="zh-CN" dirty="0" smtClean="0"/>
              <a:t>out</a:t>
            </a:r>
            <a:r>
              <a:rPr lang="zh-CN" altLang="en-US" dirty="0" smtClean="0"/>
              <a:t>指令同端口间通过按编号“打电话”的方式通信</a:t>
            </a:r>
            <a:endParaRPr lang="zh-CN" altLang="en-US" dirty="0"/>
          </a:p>
        </p:txBody>
      </p:sp>
    </p:spTree>
    <p:extLst>
      <p:ext uri="{BB962C8B-B14F-4D97-AF65-F5344CB8AC3E}">
        <p14:creationId xmlns:p14="http://schemas.microsoft.com/office/powerpoint/2010/main" val="3987352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外设与</a:t>
            </a:r>
            <a:r>
              <a:rPr lang="en-US" altLang="zh-CN" dirty="0"/>
              <a:t>I/O</a:t>
            </a:r>
            <a:endParaRPr lang="zh-CN" altLang="en-US" dirty="0"/>
          </a:p>
        </p:txBody>
      </p:sp>
      <p:sp>
        <p:nvSpPr>
          <p:cNvPr id="4" name="内容占位符 2"/>
          <p:cNvSpPr>
            <a:spLocks noGrp="1"/>
          </p:cNvSpPr>
          <p:nvPr>
            <p:ph idx="1"/>
          </p:nvPr>
        </p:nvSpPr>
        <p:spPr>
          <a:xfrm>
            <a:off x="628650" y="1182255"/>
            <a:ext cx="7886700" cy="1103745"/>
          </a:xfrm>
        </p:spPr>
        <p:txBody>
          <a:bodyPr/>
          <a:lstStyle/>
          <a:p>
            <a:r>
              <a:rPr lang="en-US" altLang="zh-CN" dirty="0" smtClean="0"/>
              <a:t>CPU</a:t>
            </a:r>
            <a:r>
              <a:rPr lang="zh-CN" altLang="en-US" dirty="0" smtClean="0"/>
              <a:t>如何向外设进行输入输出？</a:t>
            </a:r>
            <a:endParaRPr lang="en-US" altLang="zh-CN" dirty="0" smtClean="0"/>
          </a:p>
          <a:p>
            <a:pPr lvl="1"/>
            <a:r>
              <a:rPr lang="zh-CN" altLang="en-US" dirty="0" smtClean="0"/>
              <a:t>方式</a:t>
            </a:r>
            <a:r>
              <a:rPr lang="en-US" altLang="zh-CN" dirty="0" smtClean="0"/>
              <a:t>1</a:t>
            </a:r>
            <a:r>
              <a:rPr lang="zh-CN" altLang="en-US" dirty="0" smtClean="0"/>
              <a:t>：端口</a:t>
            </a:r>
            <a:r>
              <a:rPr lang="zh-CN" altLang="en-US" dirty="0"/>
              <a:t>映射</a:t>
            </a:r>
            <a:r>
              <a:rPr lang="en-US" altLang="zh-CN" dirty="0"/>
              <a:t>I/O(port-mapped I/O)</a:t>
            </a:r>
            <a:endParaRPr lang="zh-CN" altLang="en-US" dirty="0"/>
          </a:p>
        </p:txBody>
      </p:sp>
      <p:sp>
        <p:nvSpPr>
          <p:cNvPr id="6" name="矩形 5"/>
          <p:cNvSpPr/>
          <p:nvPr/>
        </p:nvSpPr>
        <p:spPr>
          <a:xfrm>
            <a:off x="133661" y="2924418"/>
            <a:ext cx="5913325" cy="3323987"/>
          </a:xfrm>
          <a:prstGeom prst="rect">
            <a:avLst/>
          </a:prstGeom>
          <a:ln w="12700">
            <a:solidFill>
              <a:schemeClr val="tx1"/>
            </a:solidFill>
            <a:prstDash val="dash"/>
          </a:ln>
        </p:spPr>
        <p:txBody>
          <a:bodyPr wrap="square">
            <a:spAutoFit/>
          </a:bodyPr>
          <a:lstStyle/>
          <a:p>
            <a:r>
              <a:rPr lang="en-US" altLang="zh-CN" sz="1400" dirty="0">
                <a:latin typeface="MS Gothic" panose="020B0609070205080204" pitchFamily="49" charset="-128"/>
                <a:ea typeface="MS Gothic" panose="020B0609070205080204" pitchFamily="49" charset="-128"/>
              </a:rPr>
              <a:t>#define </a:t>
            </a:r>
            <a:r>
              <a:rPr lang="en-US" altLang="zh-CN" sz="1400" dirty="0">
                <a:solidFill>
                  <a:srgbClr val="C00000"/>
                </a:solidFill>
                <a:latin typeface="MS Gothic" panose="020B0609070205080204" pitchFamily="49" charset="-128"/>
                <a:ea typeface="MS Gothic" panose="020B0609070205080204" pitchFamily="49" charset="-128"/>
              </a:rPr>
              <a:t>IO_PORT_SPACE 65536</a:t>
            </a:r>
          </a:p>
          <a:p>
            <a:r>
              <a:rPr lang="zh-CN" altLang="en-US" sz="1400" dirty="0" smtClean="0">
                <a:latin typeface="MS Gothic" panose="020B0609070205080204" pitchFamily="49" charset="-128"/>
                <a:ea typeface="MS Gothic" panose="020B0609070205080204" pitchFamily="49" charset="-128"/>
              </a:rPr>
              <a:t>static </a:t>
            </a:r>
            <a:r>
              <a:rPr lang="zh-CN" altLang="en-US" sz="1400" dirty="0">
                <a:latin typeface="MS Gothic" panose="020B0609070205080204" pitchFamily="49" charset="-128"/>
                <a:ea typeface="MS Gothic" panose="020B0609070205080204" pitchFamily="49" charset="-128"/>
              </a:rPr>
              <a:t>uint8_t io_port[</a:t>
            </a:r>
            <a:r>
              <a:rPr lang="zh-CN" altLang="en-US" sz="1400" dirty="0">
                <a:solidFill>
                  <a:srgbClr val="C00000"/>
                </a:solidFill>
                <a:latin typeface="MS Gothic" panose="020B0609070205080204" pitchFamily="49" charset="-128"/>
                <a:ea typeface="MS Gothic" panose="020B0609070205080204" pitchFamily="49" charset="-128"/>
              </a:rPr>
              <a:t>IO_PORT_SPACE</a:t>
            </a:r>
            <a:r>
              <a:rPr lang="zh-CN" altLang="en-US" sz="1400" dirty="0">
                <a:latin typeface="MS Gothic" panose="020B0609070205080204" pitchFamily="49" charset="-128"/>
                <a:ea typeface="MS Gothic" panose="020B0609070205080204" pitchFamily="49" charset="-128"/>
              </a:rPr>
              <a:t>]</a:t>
            </a:r>
            <a:r>
              <a:rPr lang="zh-CN" altLang="en-US" sz="1400" dirty="0" smtClean="0">
                <a:latin typeface="MS Gothic" panose="020B0609070205080204" pitchFamily="49" charset="-128"/>
                <a:ea typeface="MS Gothic" panose="020B0609070205080204" pitchFamily="49" charset="-128"/>
              </a:rPr>
              <a:t>; </a:t>
            </a:r>
            <a:r>
              <a:rPr lang="en-US" altLang="zh-CN" sz="1400" dirty="0" smtClean="0">
                <a:solidFill>
                  <a:srgbClr val="00B050"/>
                </a:solidFill>
                <a:latin typeface="MS Gothic" panose="020B0609070205080204" pitchFamily="49" charset="-128"/>
                <a:ea typeface="MS Gothic" panose="020B0609070205080204" pitchFamily="49" charset="-128"/>
              </a:rPr>
              <a:t>// 65535</a:t>
            </a:r>
            <a:r>
              <a:rPr lang="zh-CN" altLang="en-US" sz="1400" dirty="0" smtClean="0">
                <a:solidFill>
                  <a:srgbClr val="00B050"/>
                </a:solidFill>
                <a:latin typeface="MS Gothic" panose="020B0609070205080204" pitchFamily="49" charset="-128"/>
                <a:ea typeface="MS Gothic" panose="020B0609070205080204" pitchFamily="49" charset="-128"/>
              </a:rPr>
              <a:t>个</a:t>
            </a:r>
            <a:r>
              <a:rPr lang="en-US" altLang="zh-CN" sz="1400" dirty="0" smtClean="0">
                <a:solidFill>
                  <a:srgbClr val="00B050"/>
                </a:solidFill>
                <a:latin typeface="MS Gothic" panose="020B0609070205080204" pitchFamily="49" charset="-128"/>
                <a:ea typeface="MS Gothic" panose="020B0609070205080204" pitchFamily="49" charset="-128"/>
              </a:rPr>
              <a:t>8</a:t>
            </a:r>
            <a:r>
              <a:rPr lang="zh-CN" altLang="en-US" sz="1400" dirty="0" smtClean="0">
                <a:solidFill>
                  <a:srgbClr val="00B050"/>
                </a:solidFill>
                <a:latin typeface="MS Gothic" panose="020B0609070205080204" pitchFamily="49" charset="-128"/>
                <a:ea typeface="MS Gothic" panose="020B0609070205080204" pitchFamily="49" charset="-128"/>
              </a:rPr>
              <a:t>位的</a:t>
            </a:r>
            <a:r>
              <a:rPr lang="en-US" altLang="zh-CN" sz="1400" dirty="0" smtClean="0">
                <a:solidFill>
                  <a:srgbClr val="00B050"/>
                </a:solidFill>
                <a:latin typeface="MS Gothic" panose="020B0609070205080204" pitchFamily="49" charset="-128"/>
                <a:ea typeface="MS Gothic" panose="020B0609070205080204" pitchFamily="49" charset="-128"/>
              </a:rPr>
              <a:t>I/O</a:t>
            </a:r>
            <a:r>
              <a:rPr lang="zh-CN" altLang="en-US" sz="1400" dirty="0" smtClean="0">
                <a:solidFill>
                  <a:srgbClr val="00B050"/>
                </a:solidFill>
                <a:latin typeface="MS Gothic" panose="020B0609070205080204" pitchFamily="49" charset="-128"/>
                <a:ea typeface="MS Gothic" panose="020B0609070205080204" pitchFamily="49" charset="-128"/>
              </a:rPr>
              <a:t>端口</a:t>
            </a:r>
            <a:endParaRPr lang="en-US" altLang="zh-CN" sz="1400" dirty="0" smtClean="0">
              <a:solidFill>
                <a:srgbClr val="00B050"/>
              </a:solidFill>
              <a:latin typeface="MS Gothic" panose="020B0609070205080204" pitchFamily="49" charset="-128"/>
              <a:ea typeface="MS Gothic" panose="020B0609070205080204" pitchFamily="49" charset="-128"/>
            </a:endParaRPr>
          </a:p>
          <a:p>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static </a:t>
            </a:r>
            <a:r>
              <a:rPr lang="en-US" altLang="zh-CN" sz="1400" dirty="0" err="1">
                <a:latin typeface="MS Gothic" panose="020B0609070205080204" pitchFamily="49" charset="-128"/>
                <a:ea typeface="MS Gothic" panose="020B0609070205080204" pitchFamily="49" charset="-128"/>
              </a:rPr>
              <a:t>struct</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pio_handler_map</a:t>
            </a:r>
            <a:r>
              <a:rPr lang="en-US" altLang="zh-CN" sz="1400" dirty="0">
                <a:latin typeface="MS Gothic" panose="020B0609070205080204" pitchFamily="49" charset="-128"/>
                <a:ea typeface="MS Gothic" panose="020B0609070205080204" pitchFamily="49" charset="-128"/>
              </a:rPr>
              <a:t> </a:t>
            </a:r>
            <a:r>
              <a:rPr lang="en-US" altLang="zh-CN" sz="1400" dirty="0" smtClean="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r>
              <a:rPr lang="en-US" altLang="zh-CN" sz="1400" dirty="0">
                <a:solidFill>
                  <a:srgbClr val="C00000"/>
                </a:solidFill>
                <a:latin typeface="MS Gothic" panose="020B0609070205080204" pitchFamily="49" charset="-128"/>
                <a:ea typeface="MS Gothic" panose="020B0609070205080204" pitchFamily="49" charset="-128"/>
              </a:rPr>
              <a:t>uint16_t port;</a:t>
            </a:r>
          </a:p>
          <a:p>
            <a:r>
              <a:rPr lang="en-US" altLang="zh-CN" sz="1400" dirty="0">
                <a:latin typeface="MS Gothic" panose="020B0609070205080204" pitchFamily="49" charset="-128"/>
                <a:ea typeface="MS Gothic" panose="020B0609070205080204" pitchFamily="49" charset="-128"/>
              </a:rPr>
              <a:t>        </a:t>
            </a:r>
            <a:r>
              <a:rPr lang="en-US" altLang="zh-CN" sz="1400" dirty="0" err="1">
                <a:solidFill>
                  <a:srgbClr val="7030A0"/>
                </a:solidFill>
                <a:latin typeface="MS Gothic" panose="020B0609070205080204" pitchFamily="49" charset="-128"/>
                <a:ea typeface="MS Gothic" panose="020B0609070205080204" pitchFamily="49" charset="-128"/>
              </a:rPr>
              <a:t>pio_handler</a:t>
            </a:r>
            <a:r>
              <a:rPr lang="en-US" altLang="zh-CN" sz="1400" dirty="0">
                <a:solidFill>
                  <a:srgbClr val="7030A0"/>
                </a:solidFill>
                <a:latin typeface="MS Gothic" panose="020B0609070205080204" pitchFamily="49" charset="-128"/>
                <a:ea typeface="MS Gothic" panose="020B0609070205080204" pitchFamily="49" charset="-128"/>
              </a:rPr>
              <a:t> handler;</a:t>
            </a:r>
          </a:p>
          <a:p>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pio_handler_table</a:t>
            </a:r>
            <a:r>
              <a:rPr lang="en-US" altLang="zh-CN" sz="1400" dirty="0">
                <a:latin typeface="MS Gothic" panose="020B0609070205080204" pitchFamily="49" charset="-128"/>
                <a:ea typeface="MS Gothic" panose="020B0609070205080204" pitchFamily="49" charset="-128"/>
              </a:rPr>
              <a:t> [] = { </a:t>
            </a:r>
            <a:r>
              <a:rPr lang="en-US" altLang="zh-CN" sz="1400" dirty="0" smtClean="0">
                <a:solidFill>
                  <a:srgbClr val="00B050"/>
                </a:solidFill>
                <a:latin typeface="MS Gothic" panose="020B0609070205080204" pitchFamily="49" charset="-128"/>
                <a:ea typeface="MS Gothic" panose="020B0609070205080204" pitchFamily="49" charset="-128"/>
              </a:rPr>
              <a:t> // </a:t>
            </a:r>
            <a:r>
              <a:rPr lang="zh-CN" altLang="en-US" sz="1400" dirty="0" smtClean="0">
                <a:solidFill>
                  <a:srgbClr val="00B050"/>
                </a:solidFill>
                <a:latin typeface="MS Gothic" panose="020B0609070205080204" pitchFamily="49" charset="-128"/>
                <a:ea typeface="MS Gothic" panose="020B0609070205080204" pitchFamily="49" charset="-128"/>
              </a:rPr>
              <a:t>端口映射表</a:t>
            </a:r>
            <a:endParaRPr lang="en-US" altLang="zh-CN" sz="1400" dirty="0">
              <a:solidFill>
                <a:srgbClr val="00B050"/>
              </a:solidFill>
              <a:latin typeface="MS Gothic" panose="020B0609070205080204" pitchFamily="49" charset="-128"/>
              <a:ea typeface="MS Gothic" panose="020B0609070205080204" pitchFamily="49" charset="-128"/>
            </a:endParaRPr>
          </a:p>
          <a:p>
            <a:pPr lvl="1"/>
            <a:r>
              <a:rPr lang="en-US" altLang="zh-CN" sz="1400" dirty="0" smtClean="0">
                <a:solidFill>
                  <a:srgbClr val="00B050"/>
                </a:solidFill>
                <a:latin typeface="MS Gothic" panose="020B0609070205080204" pitchFamily="49" charset="-128"/>
                <a:ea typeface="MS Gothic" panose="020B0609070205080204" pitchFamily="49" charset="-128"/>
              </a:rPr>
              <a:t>// </a:t>
            </a:r>
            <a:r>
              <a:rPr lang="zh-CN" altLang="en-US" sz="1400" dirty="0" smtClean="0">
                <a:solidFill>
                  <a:srgbClr val="00B050"/>
                </a:solidFill>
                <a:latin typeface="MS Gothic" panose="020B0609070205080204" pitchFamily="49" charset="-128"/>
                <a:ea typeface="MS Gothic" panose="020B0609070205080204" pitchFamily="49" charset="-128"/>
              </a:rPr>
              <a:t>格式 </a:t>
            </a:r>
            <a:r>
              <a:rPr lang="en-US" altLang="zh-CN" sz="1400" dirty="0" smtClean="0">
                <a:solidFill>
                  <a:srgbClr val="00B050"/>
                </a:solidFill>
                <a:latin typeface="MS Gothic" panose="020B0609070205080204" pitchFamily="49" charset="-128"/>
                <a:ea typeface="MS Gothic" panose="020B0609070205080204" pitchFamily="49" charset="-128"/>
              </a:rPr>
              <a:t>{</a:t>
            </a:r>
            <a:r>
              <a:rPr lang="en-US" altLang="zh-CN" sz="1400" dirty="0" smtClean="0">
                <a:solidFill>
                  <a:srgbClr val="C00000"/>
                </a:solidFill>
                <a:latin typeface="MS Gothic" panose="020B0609070205080204" pitchFamily="49" charset="-128"/>
                <a:ea typeface="MS Gothic" panose="020B0609070205080204" pitchFamily="49" charset="-128"/>
              </a:rPr>
              <a:t>port</a:t>
            </a:r>
            <a:r>
              <a:rPr lang="en-US" altLang="zh-CN" sz="1400" dirty="0" smtClean="0">
                <a:solidFill>
                  <a:srgbClr val="00B050"/>
                </a:solidFill>
                <a:latin typeface="MS Gothic" panose="020B0609070205080204" pitchFamily="49" charset="-128"/>
                <a:ea typeface="MS Gothic" panose="020B0609070205080204" pitchFamily="49" charset="-128"/>
              </a:rPr>
              <a:t>, </a:t>
            </a:r>
            <a:r>
              <a:rPr lang="en-US" altLang="zh-CN" sz="1400" dirty="0" smtClean="0">
                <a:solidFill>
                  <a:srgbClr val="7030A0"/>
                </a:solidFill>
                <a:latin typeface="MS Gothic" panose="020B0609070205080204" pitchFamily="49" charset="-128"/>
                <a:ea typeface="MS Gothic" panose="020B0609070205080204" pitchFamily="49" charset="-128"/>
              </a:rPr>
              <a:t>handler</a:t>
            </a:r>
            <a:r>
              <a:rPr lang="en-US" altLang="zh-CN" sz="1400" dirty="0" smtClean="0">
                <a:solidFill>
                  <a:srgbClr val="00B050"/>
                </a:solidFill>
                <a:latin typeface="MS Gothic" panose="020B0609070205080204" pitchFamily="49" charset="-128"/>
                <a:ea typeface="MS Gothic" panose="020B0609070205080204" pitchFamily="49" charset="-128"/>
              </a:rPr>
              <a:t>}</a:t>
            </a:r>
          </a:p>
          <a:p>
            <a:r>
              <a:rPr lang="en-US" altLang="zh-CN" sz="1400" dirty="0" smtClean="0">
                <a:latin typeface="MS Gothic" panose="020B0609070205080204" pitchFamily="49" charset="-128"/>
                <a:ea typeface="MS Gothic" panose="020B0609070205080204" pitchFamily="49" charset="-128"/>
              </a:rPr>
              <a:t>};</a:t>
            </a:r>
          </a:p>
          <a:p>
            <a:endParaRPr lang="en-US" altLang="zh-CN" sz="1400" dirty="0">
              <a:latin typeface="MS Gothic" panose="020B0609070205080204" pitchFamily="49" charset="-128"/>
              <a:ea typeface="MS Gothic" panose="020B0609070205080204" pitchFamily="49" charset="-128"/>
            </a:endParaRPr>
          </a:p>
          <a:p>
            <a:r>
              <a:rPr lang="en-US" altLang="zh-CN" sz="1400" dirty="0">
                <a:solidFill>
                  <a:srgbClr val="00B050"/>
                </a:solidFill>
                <a:latin typeface="MS Gothic" panose="020B0609070205080204" pitchFamily="49" charset="-128"/>
                <a:ea typeface="MS Gothic" panose="020B0609070205080204" pitchFamily="49" charset="-128"/>
              </a:rPr>
              <a:t>// called by the out </a:t>
            </a:r>
            <a:r>
              <a:rPr lang="en-US" altLang="zh-CN" sz="1400" dirty="0" smtClean="0">
                <a:solidFill>
                  <a:srgbClr val="00B050"/>
                </a:solidFill>
                <a:latin typeface="MS Gothic" panose="020B0609070205080204" pitchFamily="49" charset="-128"/>
                <a:ea typeface="MS Gothic" panose="020B0609070205080204" pitchFamily="49" charset="-128"/>
              </a:rPr>
              <a:t>instruction</a:t>
            </a:r>
            <a:r>
              <a:rPr lang="zh-CN" altLang="en-US" sz="1400" dirty="0" smtClean="0">
                <a:solidFill>
                  <a:srgbClr val="00B050"/>
                </a:solidFill>
                <a:latin typeface="MS Gothic" panose="020B0609070205080204" pitchFamily="49" charset="-128"/>
                <a:ea typeface="MS Gothic" panose="020B0609070205080204" pitchFamily="49" charset="-128"/>
              </a:rPr>
              <a:t>，写端口</a:t>
            </a:r>
            <a:endParaRPr lang="en-US" altLang="zh-CN" sz="1400" dirty="0">
              <a:solidFill>
                <a:srgbClr val="00B050"/>
              </a:solidFill>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void </a:t>
            </a:r>
            <a:r>
              <a:rPr lang="en-US" altLang="zh-CN" sz="1400" dirty="0" err="1">
                <a:latin typeface="MS Gothic" panose="020B0609070205080204" pitchFamily="49" charset="-128"/>
                <a:ea typeface="MS Gothic" panose="020B0609070205080204" pitchFamily="49" charset="-128"/>
              </a:rPr>
              <a:t>pio_write</a:t>
            </a:r>
            <a:r>
              <a:rPr lang="en-US" altLang="zh-CN" sz="1400" dirty="0">
                <a:latin typeface="MS Gothic" panose="020B0609070205080204" pitchFamily="49" charset="-128"/>
                <a:ea typeface="MS Gothic" panose="020B0609070205080204" pitchFamily="49" charset="-128"/>
              </a:rPr>
              <a:t>(uint16_t port, </a:t>
            </a:r>
            <a:r>
              <a:rPr lang="en-US" altLang="zh-CN" sz="1400" dirty="0" err="1">
                <a:latin typeface="MS Gothic" panose="020B0609070205080204" pitchFamily="49" charset="-128"/>
                <a:ea typeface="MS Gothic" panose="020B0609070205080204" pitchFamily="49" charset="-128"/>
              </a:rPr>
              <a:t>size_t</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len</a:t>
            </a:r>
            <a:r>
              <a:rPr lang="en-US" altLang="zh-CN" sz="1400" dirty="0">
                <a:latin typeface="MS Gothic" panose="020B0609070205080204" pitchFamily="49" charset="-128"/>
                <a:ea typeface="MS Gothic" panose="020B0609070205080204" pitchFamily="49" charset="-128"/>
              </a:rPr>
              <a:t>, uint32_t data</a:t>
            </a:r>
            <a:r>
              <a:rPr lang="en-US" altLang="zh-CN" sz="1400" dirty="0" smtClean="0">
                <a:latin typeface="MS Gothic" panose="020B0609070205080204" pitchFamily="49" charset="-128"/>
                <a:ea typeface="MS Gothic" panose="020B0609070205080204" pitchFamily="49" charset="-128"/>
              </a:rPr>
              <a:t>) {…}</a:t>
            </a:r>
          </a:p>
          <a:p>
            <a:endParaRPr lang="en-US" altLang="zh-CN" sz="1400" dirty="0">
              <a:latin typeface="MS Gothic" panose="020B0609070205080204" pitchFamily="49" charset="-128"/>
              <a:ea typeface="MS Gothic" panose="020B0609070205080204" pitchFamily="49" charset="-128"/>
            </a:endParaRPr>
          </a:p>
          <a:p>
            <a:r>
              <a:rPr lang="en-US" altLang="zh-CN" sz="1400" dirty="0">
                <a:solidFill>
                  <a:srgbClr val="00B050"/>
                </a:solidFill>
                <a:latin typeface="MS Gothic" panose="020B0609070205080204" pitchFamily="49" charset="-128"/>
                <a:ea typeface="MS Gothic" panose="020B0609070205080204" pitchFamily="49" charset="-128"/>
              </a:rPr>
              <a:t>// called by the in </a:t>
            </a:r>
            <a:r>
              <a:rPr lang="en-US" altLang="zh-CN" sz="1400" dirty="0" smtClean="0">
                <a:solidFill>
                  <a:srgbClr val="00B050"/>
                </a:solidFill>
                <a:latin typeface="MS Gothic" panose="020B0609070205080204" pitchFamily="49" charset="-128"/>
                <a:ea typeface="MS Gothic" panose="020B0609070205080204" pitchFamily="49" charset="-128"/>
              </a:rPr>
              <a:t>instruction</a:t>
            </a:r>
            <a:r>
              <a:rPr lang="zh-CN" altLang="en-US" sz="1400" dirty="0" smtClean="0">
                <a:solidFill>
                  <a:srgbClr val="00B050"/>
                </a:solidFill>
                <a:latin typeface="MS Gothic" panose="020B0609070205080204" pitchFamily="49" charset="-128"/>
                <a:ea typeface="MS Gothic" panose="020B0609070205080204" pitchFamily="49" charset="-128"/>
              </a:rPr>
              <a:t>，读端口</a:t>
            </a:r>
            <a:endParaRPr lang="en-US" altLang="zh-CN" sz="1400" dirty="0">
              <a:solidFill>
                <a:srgbClr val="00B050"/>
              </a:solidFill>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uint32_t </a:t>
            </a:r>
            <a:r>
              <a:rPr lang="en-US" altLang="zh-CN" sz="1400" dirty="0" err="1">
                <a:latin typeface="MS Gothic" panose="020B0609070205080204" pitchFamily="49" charset="-128"/>
                <a:ea typeface="MS Gothic" panose="020B0609070205080204" pitchFamily="49" charset="-128"/>
              </a:rPr>
              <a:t>pio_read</a:t>
            </a:r>
            <a:r>
              <a:rPr lang="en-US" altLang="zh-CN" sz="1400" dirty="0">
                <a:latin typeface="MS Gothic" panose="020B0609070205080204" pitchFamily="49" charset="-128"/>
                <a:ea typeface="MS Gothic" panose="020B0609070205080204" pitchFamily="49" charset="-128"/>
              </a:rPr>
              <a:t>(uint16_t port, </a:t>
            </a:r>
            <a:r>
              <a:rPr lang="en-US" altLang="zh-CN" sz="1400" dirty="0" err="1">
                <a:latin typeface="MS Gothic" panose="020B0609070205080204" pitchFamily="49" charset="-128"/>
                <a:ea typeface="MS Gothic" panose="020B0609070205080204" pitchFamily="49" charset="-128"/>
              </a:rPr>
              <a:t>size_t</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len</a:t>
            </a:r>
            <a:r>
              <a:rPr lang="en-US" altLang="zh-CN" sz="1400" dirty="0">
                <a:latin typeface="MS Gothic" panose="020B0609070205080204" pitchFamily="49" charset="-128"/>
                <a:ea typeface="MS Gothic" panose="020B0609070205080204" pitchFamily="49" charset="-128"/>
              </a:rPr>
              <a:t>) </a:t>
            </a:r>
            <a:r>
              <a:rPr lang="en-US" altLang="zh-CN" sz="1400" dirty="0" smtClean="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p:txBody>
      </p:sp>
      <p:sp>
        <p:nvSpPr>
          <p:cNvPr id="7" name="文本框 6"/>
          <p:cNvSpPr txBox="1"/>
          <p:nvPr/>
        </p:nvSpPr>
        <p:spPr>
          <a:xfrm>
            <a:off x="57461" y="2480928"/>
            <a:ext cx="2974532" cy="369332"/>
          </a:xfrm>
          <a:prstGeom prst="rect">
            <a:avLst/>
          </a:prstGeom>
          <a:noFill/>
        </p:spPr>
        <p:txBody>
          <a:bodyPr wrap="none" rtlCol="0">
            <a:spAutoFit/>
          </a:bodyPr>
          <a:lstStyle/>
          <a:p>
            <a:r>
              <a:rPr lang="en-US" altLang="zh-CN" i="1" dirty="0" err="1">
                <a:solidFill>
                  <a:srgbClr val="0070C0"/>
                </a:solidFill>
              </a:rPr>
              <a:t>n</a:t>
            </a:r>
            <a:r>
              <a:rPr lang="en-US" altLang="zh-CN" i="1" dirty="0" err="1" smtClean="0">
                <a:solidFill>
                  <a:srgbClr val="0070C0"/>
                </a:solidFill>
              </a:rPr>
              <a:t>emu</a:t>
            </a:r>
            <a:r>
              <a:rPr lang="en-US" altLang="zh-CN" i="1" dirty="0" smtClean="0">
                <a:solidFill>
                  <a:srgbClr val="0070C0"/>
                </a:solidFill>
              </a:rPr>
              <a:t>/</a:t>
            </a:r>
            <a:r>
              <a:rPr lang="en-US" altLang="zh-CN" i="1" dirty="0" err="1" smtClean="0">
                <a:solidFill>
                  <a:srgbClr val="0070C0"/>
                </a:solidFill>
              </a:rPr>
              <a:t>src</a:t>
            </a:r>
            <a:r>
              <a:rPr lang="en-US" altLang="zh-CN" i="1" dirty="0" smtClean="0">
                <a:solidFill>
                  <a:srgbClr val="0070C0"/>
                </a:solidFill>
              </a:rPr>
              <a:t>/device/</a:t>
            </a:r>
            <a:r>
              <a:rPr lang="en-US" altLang="zh-CN" i="1" dirty="0" err="1" smtClean="0">
                <a:solidFill>
                  <a:srgbClr val="0070C0"/>
                </a:solidFill>
              </a:rPr>
              <a:t>io</a:t>
            </a:r>
            <a:r>
              <a:rPr lang="en-US" altLang="zh-CN" i="1" dirty="0" smtClean="0">
                <a:solidFill>
                  <a:srgbClr val="0070C0"/>
                </a:solidFill>
              </a:rPr>
              <a:t>/</a:t>
            </a:r>
            <a:r>
              <a:rPr lang="en-US" altLang="zh-CN" i="1" dirty="0" err="1" smtClean="0">
                <a:solidFill>
                  <a:srgbClr val="0070C0"/>
                </a:solidFill>
              </a:rPr>
              <a:t>port_io.c</a:t>
            </a:r>
            <a:endParaRPr lang="zh-CN" altLang="en-US" i="1" dirty="0">
              <a:solidFill>
                <a:srgbClr val="0070C0"/>
              </a:solidFill>
            </a:endParaRPr>
          </a:p>
        </p:txBody>
      </p:sp>
    </p:spTree>
    <p:extLst>
      <p:ext uri="{BB962C8B-B14F-4D97-AF65-F5344CB8AC3E}">
        <p14:creationId xmlns:p14="http://schemas.microsoft.com/office/powerpoint/2010/main" val="4103583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外设与</a:t>
            </a:r>
            <a:r>
              <a:rPr lang="en-US" altLang="zh-CN" dirty="0"/>
              <a:t>I/O</a:t>
            </a:r>
            <a:endParaRPr lang="zh-CN" altLang="en-US" dirty="0"/>
          </a:p>
        </p:txBody>
      </p:sp>
      <p:sp>
        <p:nvSpPr>
          <p:cNvPr id="4" name="内容占位符 2"/>
          <p:cNvSpPr>
            <a:spLocks noGrp="1"/>
          </p:cNvSpPr>
          <p:nvPr>
            <p:ph idx="1"/>
          </p:nvPr>
        </p:nvSpPr>
        <p:spPr>
          <a:xfrm>
            <a:off x="628650" y="1182255"/>
            <a:ext cx="7886700" cy="1103745"/>
          </a:xfrm>
        </p:spPr>
        <p:txBody>
          <a:bodyPr/>
          <a:lstStyle/>
          <a:p>
            <a:r>
              <a:rPr lang="en-US" altLang="zh-CN" dirty="0" smtClean="0"/>
              <a:t>CPU</a:t>
            </a:r>
            <a:r>
              <a:rPr lang="zh-CN" altLang="en-US" dirty="0" smtClean="0"/>
              <a:t>如何向外设进行输入输出？</a:t>
            </a:r>
            <a:endParaRPr lang="en-US" altLang="zh-CN" dirty="0" smtClean="0"/>
          </a:p>
          <a:p>
            <a:pPr lvl="1"/>
            <a:r>
              <a:rPr lang="zh-CN" altLang="en-US" dirty="0" smtClean="0"/>
              <a:t>方式</a:t>
            </a:r>
            <a:r>
              <a:rPr lang="en-US" altLang="zh-CN" dirty="0" smtClean="0"/>
              <a:t>1</a:t>
            </a:r>
            <a:r>
              <a:rPr lang="zh-CN" altLang="en-US" dirty="0" smtClean="0"/>
              <a:t>：端口</a:t>
            </a:r>
            <a:r>
              <a:rPr lang="zh-CN" altLang="en-US" dirty="0"/>
              <a:t>映射</a:t>
            </a:r>
            <a:r>
              <a:rPr lang="en-US" altLang="zh-CN" dirty="0"/>
              <a:t>I/O(port-mapped I/O)</a:t>
            </a:r>
            <a:endParaRPr lang="zh-CN" altLang="en-US" dirty="0"/>
          </a:p>
        </p:txBody>
      </p:sp>
      <p:sp>
        <p:nvSpPr>
          <p:cNvPr id="6" name="矩形 5"/>
          <p:cNvSpPr/>
          <p:nvPr/>
        </p:nvSpPr>
        <p:spPr>
          <a:xfrm>
            <a:off x="133661" y="2924418"/>
            <a:ext cx="5913325" cy="3323987"/>
          </a:xfrm>
          <a:prstGeom prst="rect">
            <a:avLst/>
          </a:prstGeom>
          <a:ln w="12700">
            <a:solidFill>
              <a:schemeClr val="tx1"/>
            </a:solidFill>
            <a:prstDash val="dash"/>
          </a:ln>
        </p:spPr>
        <p:txBody>
          <a:bodyPr wrap="square">
            <a:spAutoFit/>
          </a:bodyPr>
          <a:lstStyle/>
          <a:p>
            <a:r>
              <a:rPr lang="en-US" altLang="zh-CN" sz="1400" dirty="0">
                <a:latin typeface="MS Gothic" panose="020B0609070205080204" pitchFamily="49" charset="-128"/>
                <a:ea typeface="MS Gothic" panose="020B0609070205080204" pitchFamily="49" charset="-128"/>
              </a:rPr>
              <a:t>#define </a:t>
            </a:r>
            <a:r>
              <a:rPr lang="en-US" altLang="zh-CN" sz="1400" dirty="0">
                <a:solidFill>
                  <a:srgbClr val="C00000"/>
                </a:solidFill>
                <a:latin typeface="MS Gothic" panose="020B0609070205080204" pitchFamily="49" charset="-128"/>
                <a:ea typeface="MS Gothic" panose="020B0609070205080204" pitchFamily="49" charset="-128"/>
              </a:rPr>
              <a:t>IO_PORT_SPACE 65536</a:t>
            </a:r>
          </a:p>
          <a:p>
            <a:r>
              <a:rPr lang="zh-CN" altLang="en-US" sz="1400" dirty="0" smtClean="0">
                <a:latin typeface="MS Gothic" panose="020B0609070205080204" pitchFamily="49" charset="-128"/>
                <a:ea typeface="MS Gothic" panose="020B0609070205080204" pitchFamily="49" charset="-128"/>
              </a:rPr>
              <a:t>static </a:t>
            </a:r>
            <a:r>
              <a:rPr lang="zh-CN" altLang="en-US" sz="1400" dirty="0">
                <a:latin typeface="MS Gothic" panose="020B0609070205080204" pitchFamily="49" charset="-128"/>
                <a:ea typeface="MS Gothic" panose="020B0609070205080204" pitchFamily="49" charset="-128"/>
              </a:rPr>
              <a:t>uint8_t io_port[</a:t>
            </a:r>
            <a:r>
              <a:rPr lang="zh-CN" altLang="en-US" sz="1400" dirty="0">
                <a:solidFill>
                  <a:srgbClr val="C00000"/>
                </a:solidFill>
                <a:latin typeface="MS Gothic" panose="020B0609070205080204" pitchFamily="49" charset="-128"/>
                <a:ea typeface="MS Gothic" panose="020B0609070205080204" pitchFamily="49" charset="-128"/>
              </a:rPr>
              <a:t>IO_PORT_SPACE</a:t>
            </a:r>
            <a:r>
              <a:rPr lang="zh-CN" altLang="en-US" sz="1400" dirty="0">
                <a:latin typeface="MS Gothic" panose="020B0609070205080204" pitchFamily="49" charset="-128"/>
                <a:ea typeface="MS Gothic" panose="020B0609070205080204" pitchFamily="49" charset="-128"/>
              </a:rPr>
              <a:t>]</a:t>
            </a:r>
            <a:r>
              <a:rPr lang="zh-CN" altLang="en-US" sz="1400" dirty="0" smtClean="0">
                <a:latin typeface="MS Gothic" panose="020B0609070205080204" pitchFamily="49" charset="-128"/>
                <a:ea typeface="MS Gothic" panose="020B0609070205080204" pitchFamily="49" charset="-128"/>
              </a:rPr>
              <a:t>; </a:t>
            </a:r>
            <a:r>
              <a:rPr lang="en-US" altLang="zh-CN" sz="1400" dirty="0" smtClean="0">
                <a:solidFill>
                  <a:srgbClr val="00B050"/>
                </a:solidFill>
                <a:latin typeface="MS Gothic" panose="020B0609070205080204" pitchFamily="49" charset="-128"/>
                <a:ea typeface="MS Gothic" panose="020B0609070205080204" pitchFamily="49" charset="-128"/>
              </a:rPr>
              <a:t>// 65535</a:t>
            </a:r>
            <a:r>
              <a:rPr lang="zh-CN" altLang="en-US" sz="1400" dirty="0" smtClean="0">
                <a:solidFill>
                  <a:srgbClr val="00B050"/>
                </a:solidFill>
                <a:latin typeface="MS Gothic" panose="020B0609070205080204" pitchFamily="49" charset="-128"/>
                <a:ea typeface="MS Gothic" panose="020B0609070205080204" pitchFamily="49" charset="-128"/>
              </a:rPr>
              <a:t>个</a:t>
            </a:r>
            <a:r>
              <a:rPr lang="en-US" altLang="zh-CN" sz="1400" dirty="0" smtClean="0">
                <a:solidFill>
                  <a:srgbClr val="00B050"/>
                </a:solidFill>
                <a:latin typeface="MS Gothic" panose="020B0609070205080204" pitchFamily="49" charset="-128"/>
                <a:ea typeface="MS Gothic" panose="020B0609070205080204" pitchFamily="49" charset="-128"/>
              </a:rPr>
              <a:t>8</a:t>
            </a:r>
            <a:r>
              <a:rPr lang="zh-CN" altLang="en-US" sz="1400" dirty="0" smtClean="0">
                <a:solidFill>
                  <a:srgbClr val="00B050"/>
                </a:solidFill>
                <a:latin typeface="MS Gothic" panose="020B0609070205080204" pitchFamily="49" charset="-128"/>
                <a:ea typeface="MS Gothic" panose="020B0609070205080204" pitchFamily="49" charset="-128"/>
              </a:rPr>
              <a:t>位的</a:t>
            </a:r>
            <a:r>
              <a:rPr lang="en-US" altLang="zh-CN" sz="1400" dirty="0" smtClean="0">
                <a:solidFill>
                  <a:srgbClr val="00B050"/>
                </a:solidFill>
                <a:latin typeface="MS Gothic" panose="020B0609070205080204" pitchFamily="49" charset="-128"/>
                <a:ea typeface="MS Gothic" panose="020B0609070205080204" pitchFamily="49" charset="-128"/>
              </a:rPr>
              <a:t>I/O</a:t>
            </a:r>
            <a:r>
              <a:rPr lang="zh-CN" altLang="en-US" sz="1400" dirty="0" smtClean="0">
                <a:solidFill>
                  <a:srgbClr val="00B050"/>
                </a:solidFill>
                <a:latin typeface="MS Gothic" panose="020B0609070205080204" pitchFamily="49" charset="-128"/>
                <a:ea typeface="MS Gothic" panose="020B0609070205080204" pitchFamily="49" charset="-128"/>
              </a:rPr>
              <a:t>端口</a:t>
            </a:r>
            <a:endParaRPr lang="en-US" altLang="zh-CN" sz="1400" dirty="0" smtClean="0">
              <a:solidFill>
                <a:srgbClr val="00B050"/>
              </a:solidFill>
              <a:latin typeface="MS Gothic" panose="020B0609070205080204" pitchFamily="49" charset="-128"/>
              <a:ea typeface="MS Gothic" panose="020B0609070205080204" pitchFamily="49" charset="-128"/>
            </a:endParaRPr>
          </a:p>
          <a:p>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static </a:t>
            </a:r>
            <a:r>
              <a:rPr lang="en-US" altLang="zh-CN" sz="1400" dirty="0" err="1">
                <a:latin typeface="MS Gothic" panose="020B0609070205080204" pitchFamily="49" charset="-128"/>
                <a:ea typeface="MS Gothic" panose="020B0609070205080204" pitchFamily="49" charset="-128"/>
              </a:rPr>
              <a:t>struct</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pio_handler_map</a:t>
            </a:r>
            <a:r>
              <a:rPr lang="en-US" altLang="zh-CN" sz="1400" dirty="0">
                <a:latin typeface="MS Gothic" panose="020B0609070205080204" pitchFamily="49" charset="-128"/>
                <a:ea typeface="MS Gothic" panose="020B0609070205080204" pitchFamily="49" charset="-128"/>
              </a:rPr>
              <a:t> </a:t>
            </a:r>
            <a:r>
              <a:rPr lang="en-US" altLang="zh-CN" sz="1400" dirty="0" smtClean="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r>
              <a:rPr lang="en-US" altLang="zh-CN" sz="1400" dirty="0">
                <a:solidFill>
                  <a:srgbClr val="C00000"/>
                </a:solidFill>
                <a:latin typeface="MS Gothic" panose="020B0609070205080204" pitchFamily="49" charset="-128"/>
                <a:ea typeface="MS Gothic" panose="020B0609070205080204" pitchFamily="49" charset="-128"/>
              </a:rPr>
              <a:t>uint16_t port;</a:t>
            </a:r>
          </a:p>
          <a:p>
            <a:r>
              <a:rPr lang="en-US" altLang="zh-CN" sz="1400" dirty="0">
                <a:latin typeface="MS Gothic" panose="020B0609070205080204" pitchFamily="49" charset="-128"/>
                <a:ea typeface="MS Gothic" panose="020B0609070205080204" pitchFamily="49" charset="-128"/>
              </a:rPr>
              <a:t>        </a:t>
            </a:r>
            <a:r>
              <a:rPr lang="en-US" altLang="zh-CN" sz="1400" dirty="0" err="1">
                <a:solidFill>
                  <a:srgbClr val="7030A0"/>
                </a:solidFill>
                <a:latin typeface="MS Gothic" panose="020B0609070205080204" pitchFamily="49" charset="-128"/>
                <a:ea typeface="MS Gothic" panose="020B0609070205080204" pitchFamily="49" charset="-128"/>
              </a:rPr>
              <a:t>pio_handler</a:t>
            </a:r>
            <a:r>
              <a:rPr lang="en-US" altLang="zh-CN" sz="1400" dirty="0">
                <a:solidFill>
                  <a:srgbClr val="7030A0"/>
                </a:solidFill>
                <a:latin typeface="MS Gothic" panose="020B0609070205080204" pitchFamily="49" charset="-128"/>
                <a:ea typeface="MS Gothic" panose="020B0609070205080204" pitchFamily="49" charset="-128"/>
              </a:rPr>
              <a:t> handler;</a:t>
            </a:r>
          </a:p>
          <a:p>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pio_handler_table</a:t>
            </a:r>
            <a:r>
              <a:rPr lang="en-US" altLang="zh-CN" sz="1400" dirty="0">
                <a:latin typeface="MS Gothic" panose="020B0609070205080204" pitchFamily="49" charset="-128"/>
                <a:ea typeface="MS Gothic" panose="020B0609070205080204" pitchFamily="49" charset="-128"/>
              </a:rPr>
              <a:t> [] = { </a:t>
            </a:r>
            <a:r>
              <a:rPr lang="en-US" altLang="zh-CN" sz="1400" dirty="0" smtClean="0">
                <a:solidFill>
                  <a:srgbClr val="00B050"/>
                </a:solidFill>
                <a:latin typeface="MS Gothic" panose="020B0609070205080204" pitchFamily="49" charset="-128"/>
                <a:ea typeface="MS Gothic" panose="020B0609070205080204" pitchFamily="49" charset="-128"/>
              </a:rPr>
              <a:t> // </a:t>
            </a:r>
            <a:r>
              <a:rPr lang="zh-CN" altLang="en-US" sz="1400" dirty="0" smtClean="0">
                <a:solidFill>
                  <a:srgbClr val="00B050"/>
                </a:solidFill>
                <a:latin typeface="MS Gothic" panose="020B0609070205080204" pitchFamily="49" charset="-128"/>
                <a:ea typeface="MS Gothic" panose="020B0609070205080204" pitchFamily="49" charset="-128"/>
              </a:rPr>
              <a:t>端口映射表</a:t>
            </a:r>
            <a:endParaRPr lang="en-US" altLang="zh-CN" sz="1400" dirty="0">
              <a:solidFill>
                <a:srgbClr val="00B050"/>
              </a:solidFill>
              <a:latin typeface="MS Gothic" panose="020B0609070205080204" pitchFamily="49" charset="-128"/>
              <a:ea typeface="MS Gothic" panose="020B0609070205080204" pitchFamily="49" charset="-128"/>
            </a:endParaRPr>
          </a:p>
          <a:p>
            <a:pPr lvl="1"/>
            <a:r>
              <a:rPr lang="en-US" altLang="zh-CN" sz="1400" dirty="0" smtClean="0">
                <a:solidFill>
                  <a:srgbClr val="00B050"/>
                </a:solidFill>
                <a:latin typeface="MS Gothic" panose="020B0609070205080204" pitchFamily="49" charset="-128"/>
                <a:ea typeface="MS Gothic" panose="020B0609070205080204" pitchFamily="49" charset="-128"/>
              </a:rPr>
              <a:t>// </a:t>
            </a:r>
            <a:r>
              <a:rPr lang="zh-CN" altLang="en-US" sz="1400" dirty="0" smtClean="0">
                <a:solidFill>
                  <a:srgbClr val="00B050"/>
                </a:solidFill>
                <a:latin typeface="MS Gothic" panose="020B0609070205080204" pitchFamily="49" charset="-128"/>
                <a:ea typeface="MS Gothic" panose="020B0609070205080204" pitchFamily="49" charset="-128"/>
              </a:rPr>
              <a:t>格式 </a:t>
            </a:r>
            <a:r>
              <a:rPr lang="en-US" altLang="zh-CN" sz="1400" dirty="0" smtClean="0">
                <a:solidFill>
                  <a:srgbClr val="00B050"/>
                </a:solidFill>
                <a:latin typeface="MS Gothic" panose="020B0609070205080204" pitchFamily="49" charset="-128"/>
                <a:ea typeface="MS Gothic" panose="020B0609070205080204" pitchFamily="49" charset="-128"/>
              </a:rPr>
              <a:t>{</a:t>
            </a:r>
            <a:r>
              <a:rPr lang="en-US" altLang="zh-CN" sz="1400" dirty="0" smtClean="0">
                <a:solidFill>
                  <a:srgbClr val="C00000"/>
                </a:solidFill>
                <a:latin typeface="MS Gothic" panose="020B0609070205080204" pitchFamily="49" charset="-128"/>
                <a:ea typeface="MS Gothic" panose="020B0609070205080204" pitchFamily="49" charset="-128"/>
              </a:rPr>
              <a:t>port</a:t>
            </a:r>
            <a:r>
              <a:rPr lang="en-US" altLang="zh-CN" sz="1400" dirty="0" smtClean="0">
                <a:solidFill>
                  <a:srgbClr val="00B050"/>
                </a:solidFill>
                <a:latin typeface="MS Gothic" panose="020B0609070205080204" pitchFamily="49" charset="-128"/>
                <a:ea typeface="MS Gothic" panose="020B0609070205080204" pitchFamily="49" charset="-128"/>
              </a:rPr>
              <a:t>, </a:t>
            </a:r>
            <a:r>
              <a:rPr lang="en-US" altLang="zh-CN" sz="1400" dirty="0" smtClean="0">
                <a:solidFill>
                  <a:srgbClr val="7030A0"/>
                </a:solidFill>
                <a:latin typeface="MS Gothic" panose="020B0609070205080204" pitchFamily="49" charset="-128"/>
                <a:ea typeface="MS Gothic" panose="020B0609070205080204" pitchFamily="49" charset="-128"/>
              </a:rPr>
              <a:t>handler</a:t>
            </a:r>
            <a:r>
              <a:rPr lang="en-US" altLang="zh-CN" sz="1400" dirty="0" smtClean="0">
                <a:solidFill>
                  <a:srgbClr val="00B050"/>
                </a:solidFill>
                <a:latin typeface="MS Gothic" panose="020B0609070205080204" pitchFamily="49" charset="-128"/>
                <a:ea typeface="MS Gothic" panose="020B0609070205080204" pitchFamily="49" charset="-128"/>
              </a:rPr>
              <a:t>}</a:t>
            </a:r>
          </a:p>
          <a:p>
            <a:r>
              <a:rPr lang="en-US" altLang="zh-CN" sz="1400" dirty="0" smtClean="0">
                <a:latin typeface="MS Gothic" panose="020B0609070205080204" pitchFamily="49" charset="-128"/>
                <a:ea typeface="MS Gothic" panose="020B0609070205080204" pitchFamily="49" charset="-128"/>
              </a:rPr>
              <a:t>};</a:t>
            </a:r>
          </a:p>
          <a:p>
            <a:endParaRPr lang="en-US" altLang="zh-CN" sz="1400" dirty="0">
              <a:latin typeface="MS Gothic" panose="020B0609070205080204" pitchFamily="49" charset="-128"/>
              <a:ea typeface="MS Gothic" panose="020B0609070205080204" pitchFamily="49" charset="-128"/>
            </a:endParaRPr>
          </a:p>
          <a:p>
            <a:r>
              <a:rPr lang="en-US" altLang="zh-CN" sz="1400" dirty="0">
                <a:solidFill>
                  <a:srgbClr val="00B050"/>
                </a:solidFill>
                <a:latin typeface="MS Gothic" panose="020B0609070205080204" pitchFamily="49" charset="-128"/>
                <a:ea typeface="MS Gothic" panose="020B0609070205080204" pitchFamily="49" charset="-128"/>
              </a:rPr>
              <a:t>// called by the out </a:t>
            </a:r>
            <a:r>
              <a:rPr lang="en-US" altLang="zh-CN" sz="1400" dirty="0" smtClean="0">
                <a:solidFill>
                  <a:srgbClr val="00B050"/>
                </a:solidFill>
                <a:latin typeface="MS Gothic" panose="020B0609070205080204" pitchFamily="49" charset="-128"/>
                <a:ea typeface="MS Gothic" panose="020B0609070205080204" pitchFamily="49" charset="-128"/>
              </a:rPr>
              <a:t>instruction</a:t>
            </a:r>
            <a:r>
              <a:rPr lang="zh-CN" altLang="en-US" sz="1400" dirty="0" smtClean="0">
                <a:solidFill>
                  <a:srgbClr val="00B050"/>
                </a:solidFill>
                <a:latin typeface="MS Gothic" panose="020B0609070205080204" pitchFamily="49" charset="-128"/>
                <a:ea typeface="MS Gothic" panose="020B0609070205080204" pitchFamily="49" charset="-128"/>
              </a:rPr>
              <a:t>，写端口</a:t>
            </a:r>
            <a:endParaRPr lang="en-US" altLang="zh-CN" sz="1400" dirty="0">
              <a:solidFill>
                <a:srgbClr val="00B050"/>
              </a:solidFill>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void </a:t>
            </a:r>
            <a:r>
              <a:rPr lang="en-US" altLang="zh-CN" sz="1400" dirty="0" err="1">
                <a:latin typeface="MS Gothic" panose="020B0609070205080204" pitchFamily="49" charset="-128"/>
                <a:ea typeface="MS Gothic" panose="020B0609070205080204" pitchFamily="49" charset="-128"/>
              </a:rPr>
              <a:t>pio_write</a:t>
            </a:r>
            <a:r>
              <a:rPr lang="en-US" altLang="zh-CN" sz="1400" dirty="0">
                <a:latin typeface="MS Gothic" panose="020B0609070205080204" pitchFamily="49" charset="-128"/>
                <a:ea typeface="MS Gothic" panose="020B0609070205080204" pitchFamily="49" charset="-128"/>
              </a:rPr>
              <a:t>(uint16_t </a:t>
            </a:r>
            <a:r>
              <a:rPr lang="en-US" altLang="zh-CN" sz="1400" dirty="0">
                <a:solidFill>
                  <a:srgbClr val="C00000"/>
                </a:solidFill>
                <a:latin typeface="MS Gothic" panose="020B0609070205080204" pitchFamily="49" charset="-128"/>
                <a:ea typeface="MS Gothic" panose="020B0609070205080204" pitchFamily="49" charset="-128"/>
              </a:rPr>
              <a:t>port</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size_t</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len</a:t>
            </a:r>
            <a:r>
              <a:rPr lang="en-US" altLang="zh-CN" sz="1400" dirty="0">
                <a:latin typeface="MS Gothic" panose="020B0609070205080204" pitchFamily="49" charset="-128"/>
                <a:ea typeface="MS Gothic" panose="020B0609070205080204" pitchFamily="49" charset="-128"/>
              </a:rPr>
              <a:t>, uint32_t data</a:t>
            </a:r>
            <a:r>
              <a:rPr lang="en-US" altLang="zh-CN" sz="1400" dirty="0" smtClean="0">
                <a:latin typeface="MS Gothic" panose="020B0609070205080204" pitchFamily="49" charset="-128"/>
                <a:ea typeface="MS Gothic" panose="020B0609070205080204" pitchFamily="49" charset="-128"/>
              </a:rPr>
              <a:t>) {…}</a:t>
            </a:r>
          </a:p>
          <a:p>
            <a:endParaRPr lang="en-US" altLang="zh-CN" sz="1400" dirty="0">
              <a:latin typeface="MS Gothic" panose="020B0609070205080204" pitchFamily="49" charset="-128"/>
              <a:ea typeface="MS Gothic" panose="020B0609070205080204" pitchFamily="49" charset="-128"/>
            </a:endParaRPr>
          </a:p>
          <a:p>
            <a:r>
              <a:rPr lang="en-US" altLang="zh-CN" sz="1400" dirty="0">
                <a:solidFill>
                  <a:srgbClr val="00B050"/>
                </a:solidFill>
                <a:latin typeface="MS Gothic" panose="020B0609070205080204" pitchFamily="49" charset="-128"/>
                <a:ea typeface="MS Gothic" panose="020B0609070205080204" pitchFamily="49" charset="-128"/>
              </a:rPr>
              <a:t>// called by the in </a:t>
            </a:r>
            <a:r>
              <a:rPr lang="en-US" altLang="zh-CN" sz="1400" dirty="0" smtClean="0">
                <a:solidFill>
                  <a:srgbClr val="00B050"/>
                </a:solidFill>
                <a:latin typeface="MS Gothic" panose="020B0609070205080204" pitchFamily="49" charset="-128"/>
                <a:ea typeface="MS Gothic" panose="020B0609070205080204" pitchFamily="49" charset="-128"/>
              </a:rPr>
              <a:t>instruction</a:t>
            </a:r>
            <a:r>
              <a:rPr lang="zh-CN" altLang="en-US" sz="1400" dirty="0" smtClean="0">
                <a:solidFill>
                  <a:srgbClr val="00B050"/>
                </a:solidFill>
                <a:latin typeface="MS Gothic" panose="020B0609070205080204" pitchFamily="49" charset="-128"/>
                <a:ea typeface="MS Gothic" panose="020B0609070205080204" pitchFamily="49" charset="-128"/>
              </a:rPr>
              <a:t>，读端口</a:t>
            </a:r>
            <a:endParaRPr lang="en-US" altLang="zh-CN" sz="1400" dirty="0">
              <a:solidFill>
                <a:srgbClr val="00B050"/>
              </a:solidFill>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uint32_t </a:t>
            </a:r>
            <a:r>
              <a:rPr lang="en-US" altLang="zh-CN" sz="1400" dirty="0" err="1">
                <a:latin typeface="MS Gothic" panose="020B0609070205080204" pitchFamily="49" charset="-128"/>
                <a:ea typeface="MS Gothic" panose="020B0609070205080204" pitchFamily="49" charset="-128"/>
              </a:rPr>
              <a:t>pio_read</a:t>
            </a:r>
            <a:r>
              <a:rPr lang="en-US" altLang="zh-CN" sz="1400" dirty="0">
                <a:latin typeface="MS Gothic" panose="020B0609070205080204" pitchFamily="49" charset="-128"/>
                <a:ea typeface="MS Gothic" panose="020B0609070205080204" pitchFamily="49" charset="-128"/>
              </a:rPr>
              <a:t>(uint16_t </a:t>
            </a:r>
            <a:r>
              <a:rPr lang="en-US" altLang="zh-CN" sz="1400" dirty="0">
                <a:solidFill>
                  <a:srgbClr val="C00000"/>
                </a:solidFill>
                <a:latin typeface="MS Gothic" panose="020B0609070205080204" pitchFamily="49" charset="-128"/>
                <a:ea typeface="MS Gothic" panose="020B0609070205080204" pitchFamily="49" charset="-128"/>
              </a:rPr>
              <a:t>port</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size_t</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len</a:t>
            </a:r>
            <a:r>
              <a:rPr lang="en-US" altLang="zh-CN" sz="1400" dirty="0">
                <a:latin typeface="MS Gothic" panose="020B0609070205080204" pitchFamily="49" charset="-128"/>
                <a:ea typeface="MS Gothic" panose="020B0609070205080204" pitchFamily="49" charset="-128"/>
              </a:rPr>
              <a:t>) </a:t>
            </a:r>
            <a:r>
              <a:rPr lang="en-US" altLang="zh-CN" sz="1400" dirty="0" smtClean="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p:txBody>
      </p:sp>
      <p:sp>
        <p:nvSpPr>
          <p:cNvPr id="7" name="文本框 6"/>
          <p:cNvSpPr txBox="1"/>
          <p:nvPr/>
        </p:nvSpPr>
        <p:spPr>
          <a:xfrm>
            <a:off x="57461" y="2480928"/>
            <a:ext cx="2974532" cy="369332"/>
          </a:xfrm>
          <a:prstGeom prst="rect">
            <a:avLst/>
          </a:prstGeom>
          <a:noFill/>
        </p:spPr>
        <p:txBody>
          <a:bodyPr wrap="none" rtlCol="0">
            <a:spAutoFit/>
          </a:bodyPr>
          <a:lstStyle/>
          <a:p>
            <a:r>
              <a:rPr lang="en-US" altLang="zh-CN" i="1" dirty="0" err="1">
                <a:solidFill>
                  <a:srgbClr val="0070C0"/>
                </a:solidFill>
              </a:rPr>
              <a:t>n</a:t>
            </a:r>
            <a:r>
              <a:rPr lang="en-US" altLang="zh-CN" i="1" dirty="0" err="1" smtClean="0">
                <a:solidFill>
                  <a:srgbClr val="0070C0"/>
                </a:solidFill>
              </a:rPr>
              <a:t>emu</a:t>
            </a:r>
            <a:r>
              <a:rPr lang="en-US" altLang="zh-CN" i="1" dirty="0" smtClean="0">
                <a:solidFill>
                  <a:srgbClr val="0070C0"/>
                </a:solidFill>
              </a:rPr>
              <a:t>/</a:t>
            </a:r>
            <a:r>
              <a:rPr lang="en-US" altLang="zh-CN" i="1" dirty="0" err="1" smtClean="0">
                <a:solidFill>
                  <a:srgbClr val="0070C0"/>
                </a:solidFill>
              </a:rPr>
              <a:t>src</a:t>
            </a:r>
            <a:r>
              <a:rPr lang="en-US" altLang="zh-CN" i="1" dirty="0" smtClean="0">
                <a:solidFill>
                  <a:srgbClr val="0070C0"/>
                </a:solidFill>
              </a:rPr>
              <a:t>/device/</a:t>
            </a:r>
            <a:r>
              <a:rPr lang="en-US" altLang="zh-CN" i="1" dirty="0" err="1" smtClean="0">
                <a:solidFill>
                  <a:srgbClr val="0070C0"/>
                </a:solidFill>
              </a:rPr>
              <a:t>io</a:t>
            </a:r>
            <a:r>
              <a:rPr lang="en-US" altLang="zh-CN" i="1" dirty="0" smtClean="0">
                <a:solidFill>
                  <a:srgbClr val="0070C0"/>
                </a:solidFill>
              </a:rPr>
              <a:t>/</a:t>
            </a:r>
            <a:r>
              <a:rPr lang="en-US" altLang="zh-CN" i="1" dirty="0" err="1" smtClean="0">
                <a:solidFill>
                  <a:srgbClr val="0070C0"/>
                </a:solidFill>
              </a:rPr>
              <a:t>port_io.c</a:t>
            </a:r>
            <a:endParaRPr lang="zh-CN" altLang="en-US" i="1" dirty="0">
              <a:solidFill>
                <a:srgbClr val="0070C0"/>
              </a:solidFill>
            </a:endParaRPr>
          </a:p>
        </p:txBody>
      </p:sp>
      <p:sp>
        <p:nvSpPr>
          <p:cNvPr id="8" name="矩形 7"/>
          <p:cNvSpPr/>
          <p:nvPr/>
        </p:nvSpPr>
        <p:spPr>
          <a:xfrm>
            <a:off x="6113818" y="2924418"/>
            <a:ext cx="2993423" cy="738664"/>
          </a:xfrm>
          <a:prstGeom prst="rect">
            <a:avLst/>
          </a:prstGeom>
          <a:ln w="12700">
            <a:solidFill>
              <a:schemeClr val="tx1"/>
            </a:solidFill>
            <a:prstDash val="dash"/>
          </a:ln>
        </p:spPr>
        <p:txBody>
          <a:bodyPr wrap="square">
            <a:spAutoFit/>
          </a:bodyPr>
          <a:lstStyle/>
          <a:p>
            <a:r>
              <a:rPr lang="en-US" altLang="zh-CN" sz="1400" dirty="0" err="1" smtClean="0">
                <a:solidFill>
                  <a:srgbClr val="7030A0"/>
                </a:solidFill>
                <a:latin typeface="MS Gothic" panose="020B0609070205080204" pitchFamily="49" charset="-128"/>
                <a:ea typeface="MS Gothic" panose="020B0609070205080204" pitchFamily="49" charset="-128"/>
              </a:rPr>
              <a:t>make_pio_handler</a:t>
            </a:r>
            <a:r>
              <a:rPr lang="en-US" altLang="zh-CN" sz="1400" dirty="0" smtClean="0">
                <a:solidFill>
                  <a:srgbClr val="7030A0"/>
                </a:solidFill>
                <a:latin typeface="MS Gothic" panose="020B0609070205080204" pitchFamily="49" charset="-128"/>
                <a:ea typeface="MS Gothic" panose="020B0609070205080204" pitchFamily="49" charset="-128"/>
              </a:rPr>
              <a:t>(</a:t>
            </a:r>
            <a:r>
              <a:rPr lang="en-US" altLang="zh-CN" sz="1400" dirty="0" err="1" smtClean="0">
                <a:solidFill>
                  <a:srgbClr val="7030A0"/>
                </a:solidFill>
                <a:latin typeface="MS Gothic" panose="020B0609070205080204" pitchFamily="49" charset="-128"/>
                <a:ea typeface="MS Gothic" panose="020B0609070205080204" pitchFamily="49" charset="-128"/>
              </a:rPr>
              <a:t>handler_xxx</a:t>
            </a:r>
            <a:r>
              <a:rPr lang="en-US" altLang="zh-CN" sz="1400" dirty="0" smtClean="0">
                <a:solidFill>
                  <a:srgbClr val="7030A0"/>
                </a:solidFill>
                <a:latin typeface="MS Gothic" panose="020B0609070205080204" pitchFamily="49" charset="-128"/>
                <a:ea typeface="MS Gothic" panose="020B0609070205080204" pitchFamily="49" charset="-128"/>
              </a:rPr>
              <a:t>) {</a:t>
            </a:r>
          </a:p>
          <a:p>
            <a:r>
              <a:rPr lang="en-US" altLang="zh-CN" sz="1400" dirty="0">
                <a:solidFill>
                  <a:srgbClr val="7030A0"/>
                </a:solidFill>
                <a:latin typeface="MS Gothic" panose="020B0609070205080204" pitchFamily="49" charset="-128"/>
                <a:ea typeface="MS Gothic" panose="020B0609070205080204" pitchFamily="49" charset="-128"/>
              </a:rPr>
              <a:t>	</a:t>
            </a:r>
            <a:r>
              <a:rPr lang="en-US" altLang="zh-CN" sz="1400" dirty="0" smtClean="0">
                <a:solidFill>
                  <a:srgbClr val="7030A0"/>
                </a:solidFill>
                <a:latin typeface="MS Gothic" panose="020B0609070205080204" pitchFamily="49" charset="-128"/>
                <a:ea typeface="MS Gothic" panose="020B0609070205080204" pitchFamily="49" charset="-128"/>
              </a:rPr>
              <a:t>…</a:t>
            </a:r>
          </a:p>
          <a:p>
            <a:r>
              <a:rPr lang="en-US" altLang="zh-CN" sz="1400" dirty="0" smtClean="0">
                <a:solidFill>
                  <a:srgbClr val="7030A0"/>
                </a:solidFill>
                <a:latin typeface="MS Gothic" panose="020B0609070205080204" pitchFamily="49" charset="-128"/>
                <a:ea typeface="MS Gothic" panose="020B0609070205080204" pitchFamily="49" charset="-128"/>
              </a:rPr>
              <a:t>}</a:t>
            </a:r>
            <a:endParaRPr lang="en-US" altLang="zh-CN" sz="1400" dirty="0">
              <a:solidFill>
                <a:srgbClr val="7030A0"/>
              </a:solidFill>
              <a:latin typeface="MS Gothic" panose="020B0609070205080204" pitchFamily="49" charset="-128"/>
              <a:ea typeface="MS Gothic" panose="020B0609070205080204" pitchFamily="49" charset="-128"/>
            </a:endParaRPr>
          </a:p>
        </p:txBody>
      </p:sp>
      <p:sp>
        <p:nvSpPr>
          <p:cNvPr id="9" name="文本框 8"/>
          <p:cNvSpPr txBox="1"/>
          <p:nvPr/>
        </p:nvSpPr>
        <p:spPr>
          <a:xfrm>
            <a:off x="6046986" y="2480928"/>
            <a:ext cx="2706318" cy="369332"/>
          </a:xfrm>
          <a:prstGeom prst="rect">
            <a:avLst/>
          </a:prstGeom>
          <a:noFill/>
        </p:spPr>
        <p:txBody>
          <a:bodyPr wrap="none" rtlCol="0">
            <a:spAutoFit/>
          </a:bodyPr>
          <a:lstStyle/>
          <a:p>
            <a:r>
              <a:rPr lang="en-US" altLang="zh-CN" i="1" dirty="0" err="1" smtClean="0">
                <a:solidFill>
                  <a:srgbClr val="0070C0"/>
                </a:solidFill>
              </a:rPr>
              <a:t>nemu</a:t>
            </a:r>
            <a:r>
              <a:rPr lang="en-US" altLang="zh-CN" i="1" dirty="0" smtClean="0">
                <a:solidFill>
                  <a:srgbClr val="0070C0"/>
                </a:solidFill>
              </a:rPr>
              <a:t>/</a:t>
            </a:r>
            <a:r>
              <a:rPr lang="en-US" altLang="zh-CN" i="1" dirty="0" err="1" smtClean="0">
                <a:solidFill>
                  <a:srgbClr val="0070C0"/>
                </a:solidFill>
              </a:rPr>
              <a:t>src</a:t>
            </a:r>
            <a:r>
              <a:rPr lang="en-US" altLang="zh-CN" i="1" dirty="0" smtClean="0">
                <a:solidFill>
                  <a:srgbClr val="0070C0"/>
                </a:solidFill>
              </a:rPr>
              <a:t>/device/dev/</a:t>
            </a:r>
            <a:r>
              <a:rPr lang="en-US" altLang="zh-CN" i="1" dirty="0" err="1" smtClean="0">
                <a:solidFill>
                  <a:srgbClr val="0070C0"/>
                </a:solidFill>
              </a:rPr>
              <a:t>xxx.c</a:t>
            </a:r>
            <a:endParaRPr lang="zh-CN" altLang="en-US" i="1" dirty="0">
              <a:solidFill>
                <a:srgbClr val="0070C0"/>
              </a:solidFill>
            </a:endParaRPr>
          </a:p>
        </p:txBody>
      </p:sp>
      <p:cxnSp>
        <p:nvCxnSpPr>
          <p:cNvPr id="11" name="直接箭头连接符 10"/>
          <p:cNvCxnSpPr/>
          <p:nvPr/>
        </p:nvCxnSpPr>
        <p:spPr>
          <a:xfrm flipV="1">
            <a:off x="2655895" y="3221077"/>
            <a:ext cx="3740310" cy="1365334"/>
          </a:xfrm>
          <a:prstGeom prst="straightConnector1">
            <a:avLst/>
          </a:prstGeom>
          <a:ln w="25400">
            <a:solidFill>
              <a:srgbClr val="7030A0"/>
            </a:solidFill>
            <a:tailEnd type="triangle" w="lg" len="lg"/>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3271622" y="4447911"/>
            <a:ext cx="2600755" cy="646331"/>
          </a:xfrm>
          <a:prstGeom prst="rect">
            <a:avLst/>
          </a:prstGeom>
          <a:noFill/>
        </p:spPr>
        <p:txBody>
          <a:bodyPr wrap="square" rtlCol="0">
            <a:spAutoFit/>
          </a:bodyPr>
          <a:lstStyle/>
          <a:p>
            <a:r>
              <a:rPr lang="zh-CN" altLang="en-US" dirty="0" smtClean="0">
                <a:solidFill>
                  <a:srgbClr val="C00000"/>
                </a:solidFill>
              </a:rPr>
              <a:t>访问（读</a:t>
            </a:r>
            <a:r>
              <a:rPr lang="en-US" altLang="zh-CN" dirty="0" smtClean="0">
                <a:solidFill>
                  <a:srgbClr val="C00000"/>
                </a:solidFill>
              </a:rPr>
              <a:t>/</a:t>
            </a:r>
            <a:r>
              <a:rPr lang="zh-CN" altLang="en-US" dirty="0" smtClean="0">
                <a:solidFill>
                  <a:srgbClr val="C00000"/>
                </a:solidFill>
              </a:rPr>
              <a:t>写）这个端口</a:t>
            </a:r>
            <a:r>
              <a:rPr lang="zh-CN" altLang="en-US" dirty="0" smtClean="0">
                <a:solidFill>
                  <a:srgbClr val="7030A0"/>
                </a:solidFill>
              </a:rPr>
              <a:t>，引起对</a:t>
            </a:r>
            <a:r>
              <a:rPr lang="en-US" altLang="zh-CN" dirty="0" smtClean="0">
                <a:solidFill>
                  <a:srgbClr val="7030A0"/>
                </a:solidFill>
              </a:rPr>
              <a:t>handler</a:t>
            </a:r>
            <a:r>
              <a:rPr lang="zh-CN" altLang="en-US" dirty="0" smtClean="0">
                <a:solidFill>
                  <a:srgbClr val="7030A0"/>
                </a:solidFill>
              </a:rPr>
              <a:t>的调用</a:t>
            </a:r>
            <a:endParaRPr lang="zh-CN" altLang="en-US" dirty="0">
              <a:solidFill>
                <a:srgbClr val="7030A0"/>
              </a:solidFill>
            </a:endParaRPr>
          </a:p>
        </p:txBody>
      </p:sp>
      <p:cxnSp>
        <p:nvCxnSpPr>
          <p:cNvPr id="10" name="直接箭头连接符 9"/>
          <p:cNvCxnSpPr/>
          <p:nvPr/>
        </p:nvCxnSpPr>
        <p:spPr>
          <a:xfrm flipH="1" flipV="1">
            <a:off x="1792040" y="4719039"/>
            <a:ext cx="680056" cy="634107"/>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flipV="1">
            <a:off x="1865560" y="4797086"/>
            <a:ext cx="891426" cy="1162597"/>
          </a:xfrm>
          <a:prstGeom prst="straightConnector1">
            <a:avLst/>
          </a:prstGeom>
          <a:ln w="25400">
            <a:solidFill>
              <a:srgbClr val="C00000"/>
            </a:solidFill>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2772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外设与</a:t>
            </a:r>
            <a:r>
              <a:rPr lang="en-US" altLang="zh-CN" dirty="0"/>
              <a:t>I/O</a:t>
            </a:r>
            <a:endParaRPr lang="zh-CN" altLang="en-US" dirty="0"/>
          </a:p>
        </p:txBody>
      </p:sp>
      <p:sp>
        <p:nvSpPr>
          <p:cNvPr id="4" name="内容占位符 2"/>
          <p:cNvSpPr>
            <a:spLocks noGrp="1"/>
          </p:cNvSpPr>
          <p:nvPr>
            <p:ph idx="1"/>
          </p:nvPr>
        </p:nvSpPr>
        <p:spPr>
          <a:xfrm>
            <a:off x="628650" y="1182255"/>
            <a:ext cx="7886700" cy="1103745"/>
          </a:xfrm>
        </p:spPr>
        <p:txBody>
          <a:bodyPr/>
          <a:lstStyle/>
          <a:p>
            <a:r>
              <a:rPr lang="en-US" altLang="zh-CN" dirty="0" smtClean="0"/>
              <a:t>CPU</a:t>
            </a:r>
            <a:r>
              <a:rPr lang="zh-CN" altLang="en-US" dirty="0" smtClean="0"/>
              <a:t>如何向外设进行输入输出？</a:t>
            </a:r>
            <a:endParaRPr lang="en-US" altLang="zh-CN" dirty="0" smtClean="0"/>
          </a:p>
          <a:p>
            <a:pPr lvl="1"/>
            <a:r>
              <a:rPr lang="zh-CN" altLang="en-US" dirty="0" smtClean="0"/>
              <a:t>方式</a:t>
            </a:r>
            <a:r>
              <a:rPr lang="en-US" altLang="zh-CN" dirty="0" smtClean="0"/>
              <a:t>1</a:t>
            </a:r>
            <a:r>
              <a:rPr lang="zh-CN" altLang="en-US" dirty="0" smtClean="0"/>
              <a:t>：端口</a:t>
            </a:r>
            <a:r>
              <a:rPr lang="zh-CN" altLang="en-US" dirty="0"/>
              <a:t>映射</a:t>
            </a:r>
            <a:r>
              <a:rPr lang="en-US" altLang="zh-CN" dirty="0"/>
              <a:t>I/O(port-mapped I/O)</a:t>
            </a:r>
            <a:endParaRPr lang="zh-CN" altLang="en-US" dirty="0"/>
          </a:p>
        </p:txBody>
      </p:sp>
      <p:sp>
        <p:nvSpPr>
          <p:cNvPr id="12" name="矩形 11"/>
          <p:cNvSpPr/>
          <p:nvPr/>
        </p:nvSpPr>
        <p:spPr>
          <a:xfrm>
            <a:off x="133661" y="2924418"/>
            <a:ext cx="5913325" cy="3323987"/>
          </a:xfrm>
          <a:prstGeom prst="rect">
            <a:avLst/>
          </a:prstGeom>
          <a:ln w="12700">
            <a:solidFill>
              <a:schemeClr val="tx1"/>
            </a:solidFill>
            <a:prstDash val="dash"/>
          </a:ln>
        </p:spPr>
        <p:txBody>
          <a:bodyPr wrap="square">
            <a:spAutoFit/>
          </a:bodyPr>
          <a:lstStyle/>
          <a:p>
            <a:r>
              <a:rPr lang="en-US" altLang="zh-CN" sz="1400" dirty="0">
                <a:latin typeface="MS Gothic" panose="020B0609070205080204" pitchFamily="49" charset="-128"/>
                <a:ea typeface="MS Gothic" panose="020B0609070205080204" pitchFamily="49" charset="-128"/>
              </a:rPr>
              <a:t>#define </a:t>
            </a:r>
            <a:r>
              <a:rPr lang="en-US" altLang="zh-CN" sz="1400" dirty="0">
                <a:solidFill>
                  <a:srgbClr val="C00000"/>
                </a:solidFill>
                <a:latin typeface="MS Gothic" panose="020B0609070205080204" pitchFamily="49" charset="-128"/>
                <a:ea typeface="MS Gothic" panose="020B0609070205080204" pitchFamily="49" charset="-128"/>
              </a:rPr>
              <a:t>IO_PORT_SPACE 65536</a:t>
            </a:r>
          </a:p>
          <a:p>
            <a:r>
              <a:rPr lang="zh-CN" altLang="en-US" sz="1400" dirty="0" smtClean="0">
                <a:latin typeface="MS Gothic" panose="020B0609070205080204" pitchFamily="49" charset="-128"/>
                <a:ea typeface="MS Gothic" panose="020B0609070205080204" pitchFamily="49" charset="-128"/>
              </a:rPr>
              <a:t>static </a:t>
            </a:r>
            <a:r>
              <a:rPr lang="zh-CN" altLang="en-US" sz="1400" dirty="0">
                <a:latin typeface="MS Gothic" panose="020B0609070205080204" pitchFamily="49" charset="-128"/>
                <a:ea typeface="MS Gothic" panose="020B0609070205080204" pitchFamily="49" charset="-128"/>
              </a:rPr>
              <a:t>uint8_t io_port[</a:t>
            </a:r>
            <a:r>
              <a:rPr lang="zh-CN" altLang="en-US" sz="1400" dirty="0">
                <a:solidFill>
                  <a:srgbClr val="C00000"/>
                </a:solidFill>
                <a:latin typeface="MS Gothic" panose="020B0609070205080204" pitchFamily="49" charset="-128"/>
                <a:ea typeface="MS Gothic" panose="020B0609070205080204" pitchFamily="49" charset="-128"/>
              </a:rPr>
              <a:t>IO_PORT_SPACE</a:t>
            </a:r>
            <a:r>
              <a:rPr lang="zh-CN" altLang="en-US" sz="1400" dirty="0">
                <a:latin typeface="MS Gothic" panose="020B0609070205080204" pitchFamily="49" charset="-128"/>
                <a:ea typeface="MS Gothic" panose="020B0609070205080204" pitchFamily="49" charset="-128"/>
              </a:rPr>
              <a:t>]</a:t>
            </a:r>
            <a:r>
              <a:rPr lang="zh-CN" altLang="en-US" sz="1400" dirty="0" smtClean="0">
                <a:latin typeface="MS Gothic" panose="020B0609070205080204" pitchFamily="49" charset="-128"/>
                <a:ea typeface="MS Gothic" panose="020B0609070205080204" pitchFamily="49" charset="-128"/>
              </a:rPr>
              <a:t>; </a:t>
            </a:r>
            <a:r>
              <a:rPr lang="en-US" altLang="zh-CN" sz="1400" dirty="0" smtClean="0">
                <a:solidFill>
                  <a:srgbClr val="00B050"/>
                </a:solidFill>
                <a:latin typeface="MS Gothic" panose="020B0609070205080204" pitchFamily="49" charset="-128"/>
                <a:ea typeface="MS Gothic" panose="020B0609070205080204" pitchFamily="49" charset="-128"/>
              </a:rPr>
              <a:t>// 65535</a:t>
            </a:r>
            <a:r>
              <a:rPr lang="zh-CN" altLang="en-US" sz="1400" dirty="0" smtClean="0">
                <a:solidFill>
                  <a:srgbClr val="00B050"/>
                </a:solidFill>
                <a:latin typeface="MS Gothic" panose="020B0609070205080204" pitchFamily="49" charset="-128"/>
                <a:ea typeface="MS Gothic" panose="020B0609070205080204" pitchFamily="49" charset="-128"/>
              </a:rPr>
              <a:t>个</a:t>
            </a:r>
            <a:r>
              <a:rPr lang="en-US" altLang="zh-CN" sz="1400" dirty="0" smtClean="0">
                <a:solidFill>
                  <a:srgbClr val="00B050"/>
                </a:solidFill>
                <a:latin typeface="MS Gothic" panose="020B0609070205080204" pitchFamily="49" charset="-128"/>
                <a:ea typeface="MS Gothic" panose="020B0609070205080204" pitchFamily="49" charset="-128"/>
              </a:rPr>
              <a:t>8</a:t>
            </a:r>
            <a:r>
              <a:rPr lang="zh-CN" altLang="en-US" sz="1400" dirty="0" smtClean="0">
                <a:solidFill>
                  <a:srgbClr val="00B050"/>
                </a:solidFill>
                <a:latin typeface="MS Gothic" panose="020B0609070205080204" pitchFamily="49" charset="-128"/>
                <a:ea typeface="MS Gothic" panose="020B0609070205080204" pitchFamily="49" charset="-128"/>
              </a:rPr>
              <a:t>位的</a:t>
            </a:r>
            <a:r>
              <a:rPr lang="en-US" altLang="zh-CN" sz="1400" dirty="0" smtClean="0">
                <a:solidFill>
                  <a:srgbClr val="00B050"/>
                </a:solidFill>
                <a:latin typeface="MS Gothic" panose="020B0609070205080204" pitchFamily="49" charset="-128"/>
                <a:ea typeface="MS Gothic" panose="020B0609070205080204" pitchFamily="49" charset="-128"/>
              </a:rPr>
              <a:t>I/O</a:t>
            </a:r>
            <a:r>
              <a:rPr lang="zh-CN" altLang="en-US" sz="1400" dirty="0" smtClean="0">
                <a:solidFill>
                  <a:srgbClr val="00B050"/>
                </a:solidFill>
                <a:latin typeface="MS Gothic" panose="020B0609070205080204" pitchFamily="49" charset="-128"/>
                <a:ea typeface="MS Gothic" panose="020B0609070205080204" pitchFamily="49" charset="-128"/>
              </a:rPr>
              <a:t>端口</a:t>
            </a:r>
            <a:endParaRPr lang="en-US" altLang="zh-CN" sz="1400" dirty="0" smtClean="0">
              <a:solidFill>
                <a:srgbClr val="00B050"/>
              </a:solidFill>
              <a:latin typeface="MS Gothic" panose="020B0609070205080204" pitchFamily="49" charset="-128"/>
              <a:ea typeface="MS Gothic" panose="020B0609070205080204" pitchFamily="49" charset="-128"/>
            </a:endParaRPr>
          </a:p>
          <a:p>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static </a:t>
            </a:r>
            <a:r>
              <a:rPr lang="en-US" altLang="zh-CN" sz="1400" dirty="0" err="1">
                <a:latin typeface="MS Gothic" panose="020B0609070205080204" pitchFamily="49" charset="-128"/>
                <a:ea typeface="MS Gothic" panose="020B0609070205080204" pitchFamily="49" charset="-128"/>
              </a:rPr>
              <a:t>struct</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pio_handler_map</a:t>
            </a:r>
            <a:r>
              <a:rPr lang="en-US" altLang="zh-CN" sz="1400" dirty="0">
                <a:latin typeface="MS Gothic" panose="020B0609070205080204" pitchFamily="49" charset="-128"/>
                <a:ea typeface="MS Gothic" panose="020B0609070205080204" pitchFamily="49" charset="-128"/>
              </a:rPr>
              <a:t> </a:t>
            </a:r>
            <a:r>
              <a:rPr lang="en-US" altLang="zh-CN" sz="1400" dirty="0" smtClean="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r>
              <a:rPr lang="en-US" altLang="zh-CN" sz="1400" dirty="0">
                <a:solidFill>
                  <a:srgbClr val="C00000"/>
                </a:solidFill>
                <a:latin typeface="MS Gothic" panose="020B0609070205080204" pitchFamily="49" charset="-128"/>
                <a:ea typeface="MS Gothic" panose="020B0609070205080204" pitchFamily="49" charset="-128"/>
              </a:rPr>
              <a:t>uint16_t port;</a:t>
            </a:r>
          </a:p>
          <a:p>
            <a:r>
              <a:rPr lang="en-US" altLang="zh-CN" sz="1400" dirty="0">
                <a:latin typeface="MS Gothic" panose="020B0609070205080204" pitchFamily="49" charset="-128"/>
                <a:ea typeface="MS Gothic" panose="020B0609070205080204" pitchFamily="49" charset="-128"/>
              </a:rPr>
              <a:t>        </a:t>
            </a:r>
            <a:r>
              <a:rPr lang="en-US" altLang="zh-CN" sz="1400" dirty="0" err="1">
                <a:solidFill>
                  <a:srgbClr val="7030A0"/>
                </a:solidFill>
                <a:latin typeface="MS Gothic" panose="020B0609070205080204" pitchFamily="49" charset="-128"/>
                <a:ea typeface="MS Gothic" panose="020B0609070205080204" pitchFamily="49" charset="-128"/>
              </a:rPr>
              <a:t>pio_handler</a:t>
            </a:r>
            <a:r>
              <a:rPr lang="en-US" altLang="zh-CN" sz="1400" dirty="0">
                <a:solidFill>
                  <a:srgbClr val="7030A0"/>
                </a:solidFill>
                <a:latin typeface="MS Gothic" panose="020B0609070205080204" pitchFamily="49" charset="-128"/>
                <a:ea typeface="MS Gothic" panose="020B0609070205080204" pitchFamily="49" charset="-128"/>
              </a:rPr>
              <a:t> handler;</a:t>
            </a:r>
          </a:p>
          <a:p>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pio_handler_table</a:t>
            </a:r>
            <a:r>
              <a:rPr lang="en-US" altLang="zh-CN" sz="1400" dirty="0">
                <a:latin typeface="MS Gothic" panose="020B0609070205080204" pitchFamily="49" charset="-128"/>
                <a:ea typeface="MS Gothic" panose="020B0609070205080204" pitchFamily="49" charset="-128"/>
              </a:rPr>
              <a:t> [] = { </a:t>
            </a:r>
            <a:r>
              <a:rPr lang="en-US" altLang="zh-CN" sz="1400" dirty="0" smtClean="0">
                <a:solidFill>
                  <a:srgbClr val="00B050"/>
                </a:solidFill>
                <a:latin typeface="MS Gothic" panose="020B0609070205080204" pitchFamily="49" charset="-128"/>
                <a:ea typeface="MS Gothic" panose="020B0609070205080204" pitchFamily="49" charset="-128"/>
              </a:rPr>
              <a:t> // </a:t>
            </a:r>
            <a:r>
              <a:rPr lang="zh-CN" altLang="en-US" sz="1400" dirty="0" smtClean="0">
                <a:solidFill>
                  <a:srgbClr val="00B050"/>
                </a:solidFill>
                <a:latin typeface="MS Gothic" panose="020B0609070205080204" pitchFamily="49" charset="-128"/>
                <a:ea typeface="MS Gothic" panose="020B0609070205080204" pitchFamily="49" charset="-128"/>
              </a:rPr>
              <a:t>端口映射表</a:t>
            </a:r>
            <a:endParaRPr lang="en-US" altLang="zh-CN" sz="1400" dirty="0">
              <a:solidFill>
                <a:srgbClr val="00B050"/>
              </a:solidFill>
              <a:latin typeface="MS Gothic" panose="020B0609070205080204" pitchFamily="49" charset="-128"/>
              <a:ea typeface="MS Gothic" panose="020B0609070205080204" pitchFamily="49" charset="-128"/>
            </a:endParaRPr>
          </a:p>
          <a:p>
            <a:pPr lvl="1"/>
            <a:r>
              <a:rPr lang="en-US" altLang="zh-CN" sz="1400" dirty="0" smtClean="0">
                <a:solidFill>
                  <a:srgbClr val="00B050"/>
                </a:solidFill>
                <a:latin typeface="MS Gothic" panose="020B0609070205080204" pitchFamily="49" charset="-128"/>
                <a:ea typeface="MS Gothic" panose="020B0609070205080204" pitchFamily="49" charset="-128"/>
              </a:rPr>
              <a:t>// </a:t>
            </a:r>
            <a:r>
              <a:rPr lang="zh-CN" altLang="en-US" sz="1400" dirty="0" smtClean="0">
                <a:solidFill>
                  <a:srgbClr val="00B050"/>
                </a:solidFill>
                <a:latin typeface="MS Gothic" panose="020B0609070205080204" pitchFamily="49" charset="-128"/>
                <a:ea typeface="MS Gothic" panose="020B0609070205080204" pitchFamily="49" charset="-128"/>
              </a:rPr>
              <a:t>格式 </a:t>
            </a:r>
            <a:r>
              <a:rPr lang="en-US" altLang="zh-CN" sz="1400" dirty="0" smtClean="0">
                <a:solidFill>
                  <a:srgbClr val="00B050"/>
                </a:solidFill>
                <a:latin typeface="MS Gothic" panose="020B0609070205080204" pitchFamily="49" charset="-128"/>
                <a:ea typeface="MS Gothic" panose="020B0609070205080204" pitchFamily="49" charset="-128"/>
              </a:rPr>
              <a:t>{</a:t>
            </a:r>
            <a:r>
              <a:rPr lang="en-US" altLang="zh-CN" sz="1400" dirty="0" smtClean="0">
                <a:solidFill>
                  <a:srgbClr val="C00000"/>
                </a:solidFill>
                <a:latin typeface="MS Gothic" panose="020B0609070205080204" pitchFamily="49" charset="-128"/>
                <a:ea typeface="MS Gothic" panose="020B0609070205080204" pitchFamily="49" charset="-128"/>
              </a:rPr>
              <a:t>port</a:t>
            </a:r>
            <a:r>
              <a:rPr lang="en-US" altLang="zh-CN" sz="1400" dirty="0" smtClean="0">
                <a:solidFill>
                  <a:srgbClr val="00B050"/>
                </a:solidFill>
                <a:latin typeface="MS Gothic" panose="020B0609070205080204" pitchFamily="49" charset="-128"/>
                <a:ea typeface="MS Gothic" panose="020B0609070205080204" pitchFamily="49" charset="-128"/>
              </a:rPr>
              <a:t>, </a:t>
            </a:r>
            <a:r>
              <a:rPr lang="en-US" altLang="zh-CN" sz="1400" dirty="0" smtClean="0">
                <a:solidFill>
                  <a:srgbClr val="7030A0"/>
                </a:solidFill>
                <a:latin typeface="MS Gothic" panose="020B0609070205080204" pitchFamily="49" charset="-128"/>
                <a:ea typeface="MS Gothic" panose="020B0609070205080204" pitchFamily="49" charset="-128"/>
              </a:rPr>
              <a:t>handler</a:t>
            </a:r>
            <a:r>
              <a:rPr lang="en-US" altLang="zh-CN" sz="1400" dirty="0" smtClean="0">
                <a:solidFill>
                  <a:srgbClr val="00B050"/>
                </a:solidFill>
                <a:latin typeface="MS Gothic" panose="020B0609070205080204" pitchFamily="49" charset="-128"/>
                <a:ea typeface="MS Gothic" panose="020B0609070205080204" pitchFamily="49" charset="-128"/>
              </a:rPr>
              <a:t>}</a:t>
            </a:r>
          </a:p>
          <a:p>
            <a:r>
              <a:rPr lang="en-US" altLang="zh-CN" sz="1400" dirty="0" smtClean="0">
                <a:latin typeface="MS Gothic" panose="020B0609070205080204" pitchFamily="49" charset="-128"/>
                <a:ea typeface="MS Gothic" panose="020B0609070205080204" pitchFamily="49" charset="-128"/>
              </a:rPr>
              <a:t>};</a:t>
            </a:r>
          </a:p>
          <a:p>
            <a:endParaRPr lang="en-US" altLang="zh-CN" sz="1400" dirty="0">
              <a:latin typeface="MS Gothic" panose="020B0609070205080204" pitchFamily="49" charset="-128"/>
              <a:ea typeface="MS Gothic" panose="020B0609070205080204" pitchFamily="49" charset="-128"/>
            </a:endParaRPr>
          </a:p>
          <a:p>
            <a:r>
              <a:rPr lang="en-US" altLang="zh-CN" sz="1400" dirty="0">
                <a:solidFill>
                  <a:srgbClr val="00B050"/>
                </a:solidFill>
                <a:latin typeface="MS Gothic" panose="020B0609070205080204" pitchFamily="49" charset="-128"/>
                <a:ea typeface="MS Gothic" panose="020B0609070205080204" pitchFamily="49" charset="-128"/>
              </a:rPr>
              <a:t>// called by the out </a:t>
            </a:r>
            <a:r>
              <a:rPr lang="en-US" altLang="zh-CN" sz="1400" dirty="0" smtClean="0">
                <a:solidFill>
                  <a:srgbClr val="00B050"/>
                </a:solidFill>
                <a:latin typeface="MS Gothic" panose="020B0609070205080204" pitchFamily="49" charset="-128"/>
                <a:ea typeface="MS Gothic" panose="020B0609070205080204" pitchFamily="49" charset="-128"/>
              </a:rPr>
              <a:t>instruction</a:t>
            </a:r>
            <a:r>
              <a:rPr lang="zh-CN" altLang="en-US" sz="1400" dirty="0" smtClean="0">
                <a:solidFill>
                  <a:srgbClr val="00B050"/>
                </a:solidFill>
                <a:latin typeface="MS Gothic" panose="020B0609070205080204" pitchFamily="49" charset="-128"/>
                <a:ea typeface="MS Gothic" panose="020B0609070205080204" pitchFamily="49" charset="-128"/>
              </a:rPr>
              <a:t>，写端口</a:t>
            </a:r>
            <a:endParaRPr lang="en-US" altLang="zh-CN" sz="1400" dirty="0">
              <a:solidFill>
                <a:srgbClr val="00B050"/>
              </a:solidFill>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void </a:t>
            </a:r>
            <a:r>
              <a:rPr lang="en-US" altLang="zh-CN" sz="1400" dirty="0" err="1">
                <a:latin typeface="MS Gothic" panose="020B0609070205080204" pitchFamily="49" charset="-128"/>
                <a:ea typeface="MS Gothic" panose="020B0609070205080204" pitchFamily="49" charset="-128"/>
              </a:rPr>
              <a:t>pio_write</a:t>
            </a:r>
            <a:r>
              <a:rPr lang="en-US" altLang="zh-CN" sz="1400" dirty="0">
                <a:latin typeface="MS Gothic" panose="020B0609070205080204" pitchFamily="49" charset="-128"/>
                <a:ea typeface="MS Gothic" panose="020B0609070205080204" pitchFamily="49" charset="-128"/>
              </a:rPr>
              <a:t>(uint16_t </a:t>
            </a:r>
            <a:r>
              <a:rPr lang="en-US" altLang="zh-CN" sz="1400" dirty="0">
                <a:solidFill>
                  <a:srgbClr val="C00000"/>
                </a:solidFill>
                <a:latin typeface="MS Gothic" panose="020B0609070205080204" pitchFamily="49" charset="-128"/>
                <a:ea typeface="MS Gothic" panose="020B0609070205080204" pitchFamily="49" charset="-128"/>
              </a:rPr>
              <a:t>port</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size_t</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len</a:t>
            </a:r>
            <a:r>
              <a:rPr lang="en-US" altLang="zh-CN" sz="1400" dirty="0">
                <a:latin typeface="MS Gothic" panose="020B0609070205080204" pitchFamily="49" charset="-128"/>
                <a:ea typeface="MS Gothic" panose="020B0609070205080204" pitchFamily="49" charset="-128"/>
              </a:rPr>
              <a:t>, uint32_t data</a:t>
            </a:r>
            <a:r>
              <a:rPr lang="en-US" altLang="zh-CN" sz="1400" dirty="0" smtClean="0">
                <a:latin typeface="MS Gothic" panose="020B0609070205080204" pitchFamily="49" charset="-128"/>
                <a:ea typeface="MS Gothic" panose="020B0609070205080204" pitchFamily="49" charset="-128"/>
              </a:rPr>
              <a:t>) {…}</a:t>
            </a:r>
          </a:p>
          <a:p>
            <a:endParaRPr lang="en-US" altLang="zh-CN" sz="1400" dirty="0">
              <a:latin typeface="MS Gothic" panose="020B0609070205080204" pitchFamily="49" charset="-128"/>
              <a:ea typeface="MS Gothic" panose="020B0609070205080204" pitchFamily="49" charset="-128"/>
            </a:endParaRPr>
          </a:p>
          <a:p>
            <a:r>
              <a:rPr lang="en-US" altLang="zh-CN" sz="1400" dirty="0">
                <a:solidFill>
                  <a:srgbClr val="00B050"/>
                </a:solidFill>
                <a:latin typeface="MS Gothic" panose="020B0609070205080204" pitchFamily="49" charset="-128"/>
                <a:ea typeface="MS Gothic" panose="020B0609070205080204" pitchFamily="49" charset="-128"/>
              </a:rPr>
              <a:t>// called by the in </a:t>
            </a:r>
            <a:r>
              <a:rPr lang="en-US" altLang="zh-CN" sz="1400" dirty="0" smtClean="0">
                <a:solidFill>
                  <a:srgbClr val="00B050"/>
                </a:solidFill>
                <a:latin typeface="MS Gothic" panose="020B0609070205080204" pitchFamily="49" charset="-128"/>
                <a:ea typeface="MS Gothic" panose="020B0609070205080204" pitchFamily="49" charset="-128"/>
              </a:rPr>
              <a:t>instruction</a:t>
            </a:r>
            <a:r>
              <a:rPr lang="zh-CN" altLang="en-US" sz="1400" dirty="0" smtClean="0">
                <a:solidFill>
                  <a:srgbClr val="00B050"/>
                </a:solidFill>
                <a:latin typeface="MS Gothic" panose="020B0609070205080204" pitchFamily="49" charset="-128"/>
                <a:ea typeface="MS Gothic" panose="020B0609070205080204" pitchFamily="49" charset="-128"/>
              </a:rPr>
              <a:t>，读端口</a:t>
            </a:r>
            <a:endParaRPr lang="en-US" altLang="zh-CN" sz="1400" dirty="0">
              <a:solidFill>
                <a:srgbClr val="00B050"/>
              </a:solidFill>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uint32_t </a:t>
            </a:r>
            <a:r>
              <a:rPr lang="en-US" altLang="zh-CN" sz="1400" dirty="0" err="1">
                <a:latin typeface="MS Gothic" panose="020B0609070205080204" pitchFamily="49" charset="-128"/>
                <a:ea typeface="MS Gothic" panose="020B0609070205080204" pitchFamily="49" charset="-128"/>
              </a:rPr>
              <a:t>pio_read</a:t>
            </a:r>
            <a:r>
              <a:rPr lang="en-US" altLang="zh-CN" sz="1400" dirty="0">
                <a:latin typeface="MS Gothic" panose="020B0609070205080204" pitchFamily="49" charset="-128"/>
                <a:ea typeface="MS Gothic" panose="020B0609070205080204" pitchFamily="49" charset="-128"/>
              </a:rPr>
              <a:t>(uint16_t </a:t>
            </a:r>
            <a:r>
              <a:rPr lang="en-US" altLang="zh-CN" sz="1400" dirty="0">
                <a:solidFill>
                  <a:srgbClr val="C00000"/>
                </a:solidFill>
                <a:latin typeface="MS Gothic" panose="020B0609070205080204" pitchFamily="49" charset="-128"/>
                <a:ea typeface="MS Gothic" panose="020B0609070205080204" pitchFamily="49" charset="-128"/>
              </a:rPr>
              <a:t>port</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size_t</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len</a:t>
            </a:r>
            <a:r>
              <a:rPr lang="en-US" altLang="zh-CN" sz="1400" dirty="0">
                <a:latin typeface="MS Gothic" panose="020B0609070205080204" pitchFamily="49" charset="-128"/>
                <a:ea typeface="MS Gothic" panose="020B0609070205080204" pitchFamily="49" charset="-128"/>
              </a:rPr>
              <a:t>) </a:t>
            </a:r>
            <a:r>
              <a:rPr lang="en-US" altLang="zh-CN" sz="1400" dirty="0" smtClean="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p:txBody>
      </p:sp>
      <p:sp>
        <p:nvSpPr>
          <p:cNvPr id="13" name="文本框 12"/>
          <p:cNvSpPr txBox="1"/>
          <p:nvPr/>
        </p:nvSpPr>
        <p:spPr>
          <a:xfrm>
            <a:off x="57461" y="2480928"/>
            <a:ext cx="2974532" cy="369332"/>
          </a:xfrm>
          <a:prstGeom prst="rect">
            <a:avLst/>
          </a:prstGeom>
          <a:noFill/>
        </p:spPr>
        <p:txBody>
          <a:bodyPr wrap="none" rtlCol="0">
            <a:spAutoFit/>
          </a:bodyPr>
          <a:lstStyle/>
          <a:p>
            <a:r>
              <a:rPr lang="en-US" altLang="zh-CN" i="1" dirty="0" err="1">
                <a:solidFill>
                  <a:srgbClr val="0070C0"/>
                </a:solidFill>
              </a:rPr>
              <a:t>n</a:t>
            </a:r>
            <a:r>
              <a:rPr lang="en-US" altLang="zh-CN" i="1" dirty="0" err="1" smtClean="0">
                <a:solidFill>
                  <a:srgbClr val="0070C0"/>
                </a:solidFill>
              </a:rPr>
              <a:t>emu</a:t>
            </a:r>
            <a:r>
              <a:rPr lang="en-US" altLang="zh-CN" i="1" dirty="0" smtClean="0">
                <a:solidFill>
                  <a:srgbClr val="0070C0"/>
                </a:solidFill>
              </a:rPr>
              <a:t>/</a:t>
            </a:r>
            <a:r>
              <a:rPr lang="en-US" altLang="zh-CN" i="1" dirty="0" err="1" smtClean="0">
                <a:solidFill>
                  <a:srgbClr val="0070C0"/>
                </a:solidFill>
              </a:rPr>
              <a:t>src</a:t>
            </a:r>
            <a:r>
              <a:rPr lang="en-US" altLang="zh-CN" i="1" dirty="0" smtClean="0">
                <a:solidFill>
                  <a:srgbClr val="0070C0"/>
                </a:solidFill>
              </a:rPr>
              <a:t>/device/</a:t>
            </a:r>
            <a:r>
              <a:rPr lang="en-US" altLang="zh-CN" i="1" dirty="0" err="1" smtClean="0">
                <a:solidFill>
                  <a:srgbClr val="0070C0"/>
                </a:solidFill>
              </a:rPr>
              <a:t>io</a:t>
            </a:r>
            <a:r>
              <a:rPr lang="en-US" altLang="zh-CN" i="1" dirty="0" smtClean="0">
                <a:solidFill>
                  <a:srgbClr val="0070C0"/>
                </a:solidFill>
              </a:rPr>
              <a:t>/</a:t>
            </a:r>
            <a:r>
              <a:rPr lang="en-US" altLang="zh-CN" i="1" dirty="0" err="1" smtClean="0">
                <a:solidFill>
                  <a:srgbClr val="0070C0"/>
                </a:solidFill>
              </a:rPr>
              <a:t>port_io.c</a:t>
            </a:r>
            <a:endParaRPr lang="zh-CN" altLang="en-US" i="1" dirty="0">
              <a:solidFill>
                <a:srgbClr val="0070C0"/>
              </a:solidFill>
            </a:endParaRPr>
          </a:p>
        </p:txBody>
      </p:sp>
      <p:sp>
        <p:nvSpPr>
          <p:cNvPr id="14" name="矩形 13"/>
          <p:cNvSpPr/>
          <p:nvPr/>
        </p:nvSpPr>
        <p:spPr>
          <a:xfrm>
            <a:off x="6113818" y="2924418"/>
            <a:ext cx="2993423" cy="738664"/>
          </a:xfrm>
          <a:prstGeom prst="rect">
            <a:avLst/>
          </a:prstGeom>
          <a:ln w="12700">
            <a:solidFill>
              <a:schemeClr val="tx1"/>
            </a:solidFill>
            <a:prstDash val="dash"/>
          </a:ln>
        </p:spPr>
        <p:txBody>
          <a:bodyPr wrap="square">
            <a:spAutoFit/>
          </a:bodyPr>
          <a:lstStyle/>
          <a:p>
            <a:r>
              <a:rPr lang="en-US" altLang="zh-CN" sz="1400" dirty="0" err="1" smtClean="0">
                <a:solidFill>
                  <a:srgbClr val="7030A0"/>
                </a:solidFill>
                <a:latin typeface="MS Gothic" panose="020B0609070205080204" pitchFamily="49" charset="-128"/>
                <a:ea typeface="MS Gothic" panose="020B0609070205080204" pitchFamily="49" charset="-128"/>
              </a:rPr>
              <a:t>make_pio_handler</a:t>
            </a:r>
            <a:r>
              <a:rPr lang="en-US" altLang="zh-CN" sz="1400" dirty="0" smtClean="0">
                <a:solidFill>
                  <a:srgbClr val="7030A0"/>
                </a:solidFill>
                <a:latin typeface="MS Gothic" panose="020B0609070205080204" pitchFamily="49" charset="-128"/>
                <a:ea typeface="MS Gothic" panose="020B0609070205080204" pitchFamily="49" charset="-128"/>
              </a:rPr>
              <a:t>(</a:t>
            </a:r>
            <a:r>
              <a:rPr lang="en-US" altLang="zh-CN" sz="1400" dirty="0" err="1" smtClean="0">
                <a:solidFill>
                  <a:srgbClr val="7030A0"/>
                </a:solidFill>
                <a:latin typeface="MS Gothic" panose="020B0609070205080204" pitchFamily="49" charset="-128"/>
                <a:ea typeface="MS Gothic" panose="020B0609070205080204" pitchFamily="49" charset="-128"/>
              </a:rPr>
              <a:t>handler_xxx</a:t>
            </a:r>
            <a:r>
              <a:rPr lang="en-US" altLang="zh-CN" sz="1400" dirty="0" smtClean="0">
                <a:solidFill>
                  <a:srgbClr val="7030A0"/>
                </a:solidFill>
                <a:latin typeface="MS Gothic" panose="020B0609070205080204" pitchFamily="49" charset="-128"/>
                <a:ea typeface="MS Gothic" panose="020B0609070205080204" pitchFamily="49" charset="-128"/>
              </a:rPr>
              <a:t>) {</a:t>
            </a:r>
          </a:p>
          <a:p>
            <a:r>
              <a:rPr lang="en-US" altLang="zh-CN" sz="1400" dirty="0">
                <a:solidFill>
                  <a:srgbClr val="7030A0"/>
                </a:solidFill>
                <a:latin typeface="MS Gothic" panose="020B0609070205080204" pitchFamily="49" charset="-128"/>
                <a:ea typeface="MS Gothic" panose="020B0609070205080204" pitchFamily="49" charset="-128"/>
              </a:rPr>
              <a:t>	</a:t>
            </a:r>
            <a:r>
              <a:rPr lang="en-US" altLang="zh-CN" sz="1400" dirty="0" smtClean="0">
                <a:solidFill>
                  <a:srgbClr val="7030A0"/>
                </a:solidFill>
                <a:latin typeface="MS Gothic" panose="020B0609070205080204" pitchFamily="49" charset="-128"/>
                <a:ea typeface="MS Gothic" panose="020B0609070205080204" pitchFamily="49" charset="-128"/>
              </a:rPr>
              <a:t>…</a:t>
            </a:r>
          </a:p>
          <a:p>
            <a:r>
              <a:rPr lang="en-US" altLang="zh-CN" sz="1400" dirty="0" smtClean="0">
                <a:solidFill>
                  <a:srgbClr val="7030A0"/>
                </a:solidFill>
                <a:latin typeface="MS Gothic" panose="020B0609070205080204" pitchFamily="49" charset="-128"/>
                <a:ea typeface="MS Gothic" panose="020B0609070205080204" pitchFamily="49" charset="-128"/>
              </a:rPr>
              <a:t>}</a:t>
            </a:r>
            <a:endParaRPr lang="en-US" altLang="zh-CN" sz="1400" dirty="0">
              <a:solidFill>
                <a:srgbClr val="7030A0"/>
              </a:solidFill>
              <a:latin typeface="MS Gothic" panose="020B0609070205080204" pitchFamily="49" charset="-128"/>
              <a:ea typeface="MS Gothic" panose="020B0609070205080204" pitchFamily="49" charset="-128"/>
            </a:endParaRPr>
          </a:p>
        </p:txBody>
      </p:sp>
      <p:sp>
        <p:nvSpPr>
          <p:cNvPr id="15" name="文本框 14"/>
          <p:cNvSpPr txBox="1"/>
          <p:nvPr/>
        </p:nvSpPr>
        <p:spPr>
          <a:xfrm>
            <a:off x="6046986" y="2480928"/>
            <a:ext cx="2706318" cy="369332"/>
          </a:xfrm>
          <a:prstGeom prst="rect">
            <a:avLst/>
          </a:prstGeom>
          <a:noFill/>
        </p:spPr>
        <p:txBody>
          <a:bodyPr wrap="none" rtlCol="0">
            <a:spAutoFit/>
          </a:bodyPr>
          <a:lstStyle/>
          <a:p>
            <a:r>
              <a:rPr lang="en-US" altLang="zh-CN" i="1" dirty="0" err="1" smtClean="0">
                <a:solidFill>
                  <a:srgbClr val="0070C0"/>
                </a:solidFill>
              </a:rPr>
              <a:t>nemu</a:t>
            </a:r>
            <a:r>
              <a:rPr lang="en-US" altLang="zh-CN" i="1" dirty="0" smtClean="0">
                <a:solidFill>
                  <a:srgbClr val="0070C0"/>
                </a:solidFill>
              </a:rPr>
              <a:t>/</a:t>
            </a:r>
            <a:r>
              <a:rPr lang="en-US" altLang="zh-CN" i="1" dirty="0" err="1" smtClean="0">
                <a:solidFill>
                  <a:srgbClr val="0070C0"/>
                </a:solidFill>
              </a:rPr>
              <a:t>src</a:t>
            </a:r>
            <a:r>
              <a:rPr lang="en-US" altLang="zh-CN" i="1" dirty="0" smtClean="0">
                <a:solidFill>
                  <a:srgbClr val="0070C0"/>
                </a:solidFill>
              </a:rPr>
              <a:t>/device/dev/</a:t>
            </a:r>
            <a:r>
              <a:rPr lang="en-US" altLang="zh-CN" i="1" dirty="0" err="1" smtClean="0">
                <a:solidFill>
                  <a:srgbClr val="0070C0"/>
                </a:solidFill>
              </a:rPr>
              <a:t>xxx.c</a:t>
            </a:r>
            <a:endParaRPr lang="zh-CN" altLang="en-US" i="1" dirty="0">
              <a:solidFill>
                <a:srgbClr val="0070C0"/>
              </a:solidFill>
            </a:endParaRPr>
          </a:p>
        </p:txBody>
      </p:sp>
      <p:cxnSp>
        <p:nvCxnSpPr>
          <p:cNvPr id="16" name="直接箭头连接符 15"/>
          <p:cNvCxnSpPr/>
          <p:nvPr/>
        </p:nvCxnSpPr>
        <p:spPr>
          <a:xfrm flipV="1">
            <a:off x="2655895" y="3221077"/>
            <a:ext cx="3740310" cy="1365334"/>
          </a:xfrm>
          <a:prstGeom prst="straightConnector1">
            <a:avLst/>
          </a:prstGeom>
          <a:ln w="25400">
            <a:solidFill>
              <a:srgbClr val="7030A0"/>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3271622" y="4447911"/>
            <a:ext cx="2600755" cy="646331"/>
          </a:xfrm>
          <a:prstGeom prst="rect">
            <a:avLst/>
          </a:prstGeom>
          <a:noFill/>
        </p:spPr>
        <p:txBody>
          <a:bodyPr wrap="square" rtlCol="0">
            <a:spAutoFit/>
          </a:bodyPr>
          <a:lstStyle/>
          <a:p>
            <a:r>
              <a:rPr lang="zh-CN" altLang="en-US" dirty="0" smtClean="0">
                <a:solidFill>
                  <a:srgbClr val="C00000"/>
                </a:solidFill>
              </a:rPr>
              <a:t>访问（读</a:t>
            </a:r>
            <a:r>
              <a:rPr lang="en-US" altLang="zh-CN" dirty="0" smtClean="0">
                <a:solidFill>
                  <a:srgbClr val="C00000"/>
                </a:solidFill>
              </a:rPr>
              <a:t>/</a:t>
            </a:r>
            <a:r>
              <a:rPr lang="zh-CN" altLang="en-US" dirty="0" smtClean="0">
                <a:solidFill>
                  <a:srgbClr val="C00000"/>
                </a:solidFill>
              </a:rPr>
              <a:t>写）这个端口</a:t>
            </a:r>
            <a:r>
              <a:rPr lang="zh-CN" altLang="en-US" dirty="0" smtClean="0">
                <a:solidFill>
                  <a:srgbClr val="7030A0"/>
                </a:solidFill>
              </a:rPr>
              <a:t>，引起对</a:t>
            </a:r>
            <a:r>
              <a:rPr lang="en-US" altLang="zh-CN" dirty="0" smtClean="0">
                <a:solidFill>
                  <a:srgbClr val="7030A0"/>
                </a:solidFill>
              </a:rPr>
              <a:t>handler</a:t>
            </a:r>
            <a:r>
              <a:rPr lang="zh-CN" altLang="en-US" dirty="0" smtClean="0">
                <a:solidFill>
                  <a:srgbClr val="7030A0"/>
                </a:solidFill>
              </a:rPr>
              <a:t>的调用</a:t>
            </a:r>
            <a:endParaRPr lang="zh-CN" altLang="en-US" dirty="0">
              <a:solidFill>
                <a:srgbClr val="7030A0"/>
              </a:solidFill>
            </a:endParaRPr>
          </a:p>
        </p:txBody>
      </p:sp>
      <p:cxnSp>
        <p:nvCxnSpPr>
          <p:cNvPr id="18" name="直接箭头连接符 17"/>
          <p:cNvCxnSpPr/>
          <p:nvPr/>
        </p:nvCxnSpPr>
        <p:spPr>
          <a:xfrm flipH="1" flipV="1">
            <a:off x="1792040" y="4719039"/>
            <a:ext cx="680056" cy="634107"/>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flipV="1">
            <a:off x="1865560" y="4797086"/>
            <a:ext cx="891426" cy="1162597"/>
          </a:xfrm>
          <a:prstGeom prst="straightConnector1">
            <a:avLst/>
          </a:prstGeom>
          <a:ln w="25400">
            <a:solidFill>
              <a:srgbClr val="C00000"/>
            </a:solidFill>
            <a:tailEnd type="none" w="lg" len="lg"/>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6451343" y="1310008"/>
            <a:ext cx="2692657" cy="1200329"/>
          </a:xfrm>
          <a:prstGeom prst="rect">
            <a:avLst/>
          </a:prstGeom>
          <a:noFill/>
        </p:spPr>
        <p:txBody>
          <a:bodyPr wrap="square" rtlCol="0">
            <a:spAutoFit/>
          </a:bodyPr>
          <a:lstStyle/>
          <a:p>
            <a:r>
              <a:rPr lang="zh-CN" altLang="en-US" dirty="0" smtClean="0"/>
              <a:t>设备制造商可以约定一些协议，如：我占用哪几个端口，端口写</a:t>
            </a:r>
            <a:r>
              <a:rPr lang="en-US" altLang="zh-CN" dirty="0" smtClean="0"/>
              <a:t>0</a:t>
            </a:r>
            <a:r>
              <a:rPr lang="zh-CN" altLang="en-US" dirty="0" smtClean="0"/>
              <a:t>我就读，端口写</a:t>
            </a:r>
            <a:r>
              <a:rPr lang="en-US" altLang="zh-CN" dirty="0" smtClean="0"/>
              <a:t>1</a:t>
            </a:r>
            <a:r>
              <a:rPr lang="zh-CN" altLang="en-US" dirty="0" smtClean="0"/>
              <a:t>我就写</a:t>
            </a:r>
            <a:r>
              <a:rPr lang="en-US" altLang="zh-CN" dirty="0" smtClean="0"/>
              <a:t>……</a:t>
            </a:r>
            <a:endParaRPr lang="zh-CN" altLang="en-US" dirty="0"/>
          </a:p>
        </p:txBody>
      </p:sp>
    </p:spTree>
    <p:extLst>
      <p:ext uri="{BB962C8B-B14F-4D97-AF65-F5344CB8AC3E}">
        <p14:creationId xmlns:p14="http://schemas.microsoft.com/office/powerpoint/2010/main" val="1933295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外设与</a:t>
            </a:r>
            <a:r>
              <a:rPr lang="en-US" altLang="zh-CN" dirty="0"/>
              <a:t>I/O</a:t>
            </a:r>
            <a:endParaRPr lang="zh-CN" altLang="en-US" dirty="0"/>
          </a:p>
        </p:txBody>
      </p:sp>
      <p:sp>
        <p:nvSpPr>
          <p:cNvPr id="4" name="内容占位符 2"/>
          <p:cNvSpPr>
            <a:spLocks noGrp="1"/>
          </p:cNvSpPr>
          <p:nvPr>
            <p:ph idx="1"/>
          </p:nvPr>
        </p:nvSpPr>
        <p:spPr>
          <a:xfrm>
            <a:off x="628650" y="1182255"/>
            <a:ext cx="7886700" cy="1103745"/>
          </a:xfrm>
        </p:spPr>
        <p:txBody>
          <a:bodyPr/>
          <a:lstStyle/>
          <a:p>
            <a:r>
              <a:rPr lang="en-US" altLang="zh-CN" dirty="0" smtClean="0"/>
              <a:t>CPU</a:t>
            </a:r>
            <a:r>
              <a:rPr lang="zh-CN" altLang="en-US" dirty="0" smtClean="0"/>
              <a:t>如何向外设进行输入输出？</a:t>
            </a:r>
            <a:endParaRPr lang="en-US" altLang="zh-CN" dirty="0" smtClean="0"/>
          </a:p>
          <a:p>
            <a:pPr lvl="1"/>
            <a:r>
              <a:rPr lang="zh-CN" altLang="en-US" dirty="0" smtClean="0"/>
              <a:t>方式</a:t>
            </a:r>
            <a:r>
              <a:rPr lang="en-US" altLang="zh-CN" dirty="0" smtClean="0"/>
              <a:t>1</a:t>
            </a:r>
            <a:r>
              <a:rPr lang="zh-CN" altLang="en-US" dirty="0" smtClean="0"/>
              <a:t>：端口</a:t>
            </a:r>
            <a:r>
              <a:rPr lang="zh-CN" altLang="en-US" dirty="0"/>
              <a:t>映射</a:t>
            </a:r>
            <a:r>
              <a:rPr lang="en-US" altLang="zh-CN" dirty="0"/>
              <a:t>I/O(port-mapped I/O)</a:t>
            </a:r>
            <a:endParaRPr lang="zh-CN" altLang="en-US" dirty="0"/>
          </a:p>
        </p:txBody>
      </p:sp>
      <p:sp>
        <p:nvSpPr>
          <p:cNvPr id="5" name="文本框 4"/>
          <p:cNvSpPr txBox="1"/>
          <p:nvPr/>
        </p:nvSpPr>
        <p:spPr>
          <a:xfrm>
            <a:off x="6451343" y="1310008"/>
            <a:ext cx="2692657" cy="1200329"/>
          </a:xfrm>
          <a:prstGeom prst="rect">
            <a:avLst/>
          </a:prstGeom>
          <a:noFill/>
        </p:spPr>
        <p:txBody>
          <a:bodyPr wrap="square" rtlCol="0">
            <a:spAutoFit/>
          </a:bodyPr>
          <a:lstStyle/>
          <a:p>
            <a:r>
              <a:rPr lang="zh-CN" altLang="en-US" dirty="0" smtClean="0"/>
              <a:t>设备制造商可以约定一些协议，如：我占用哪几个端口，端口写</a:t>
            </a:r>
            <a:r>
              <a:rPr lang="en-US" altLang="zh-CN" dirty="0" smtClean="0"/>
              <a:t>0</a:t>
            </a:r>
            <a:r>
              <a:rPr lang="zh-CN" altLang="en-US" dirty="0" smtClean="0"/>
              <a:t>我就读，端口写</a:t>
            </a:r>
            <a:r>
              <a:rPr lang="en-US" altLang="zh-CN" dirty="0" smtClean="0"/>
              <a:t>1</a:t>
            </a:r>
            <a:r>
              <a:rPr lang="zh-CN" altLang="en-US" dirty="0" smtClean="0"/>
              <a:t>我就写</a:t>
            </a:r>
            <a:r>
              <a:rPr lang="en-US" altLang="zh-CN" dirty="0" smtClean="0"/>
              <a:t>……</a:t>
            </a:r>
            <a:endParaRPr lang="zh-CN" altLang="en-US" dirty="0"/>
          </a:p>
        </p:txBody>
      </p:sp>
      <p:sp>
        <p:nvSpPr>
          <p:cNvPr id="12" name="矩形 11"/>
          <p:cNvSpPr/>
          <p:nvPr/>
        </p:nvSpPr>
        <p:spPr>
          <a:xfrm>
            <a:off x="133661" y="2924418"/>
            <a:ext cx="5913325" cy="3323987"/>
          </a:xfrm>
          <a:prstGeom prst="rect">
            <a:avLst/>
          </a:prstGeom>
          <a:ln w="12700">
            <a:solidFill>
              <a:schemeClr val="tx1"/>
            </a:solidFill>
            <a:prstDash val="dash"/>
          </a:ln>
        </p:spPr>
        <p:txBody>
          <a:bodyPr wrap="square">
            <a:spAutoFit/>
          </a:bodyPr>
          <a:lstStyle/>
          <a:p>
            <a:r>
              <a:rPr lang="en-US" altLang="zh-CN" sz="1400" dirty="0">
                <a:latin typeface="MS Gothic" panose="020B0609070205080204" pitchFamily="49" charset="-128"/>
                <a:ea typeface="MS Gothic" panose="020B0609070205080204" pitchFamily="49" charset="-128"/>
              </a:rPr>
              <a:t>#define </a:t>
            </a:r>
            <a:r>
              <a:rPr lang="en-US" altLang="zh-CN" sz="1400" dirty="0">
                <a:solidFill>
                  <a:srgbClr val="C00000"/>
                </a:solidFill>
                <a:latin typeface="MS Gothic" panose="020B0609070205080204" pitchFamily="49" charset="-128"/>
                <a:ea typeface="MS Gothic" panose="020B0609070205080204" pitchFamily="49" charset="-128"/>
              </a:rPr>
              <a:t>IO_PORT_SPACE 65536</a:t>
            </a:r>
          </a:p>
          <a:p>
            <a:r>
              <a:rPr lang="zh-CN" altLang="en-US" sz="1400" dirty="0" smtClean="0">
                <a:latin typeface="MS Gothic" panose="020B0609070205080204" pitchFamily="49" charset="-128"/>
                <a:ea typeface="MS Gothic" panose="020B0609070205080204" pitchFamily="49" charset="-128"/>
              </a:rPr>
              <a:t>static </a:t>
            </a:r>
            <a:r>
              <a:rPr lang="zh-CN" altLang="en-US" sz="1400" dirty="0">
                <a:latin typeface="MS Gothic" panose="020B0609070205080204" pitchFamily="49" charset="-128"/>
                <a:ea typeface="MS Gothic" panose="020B0609070205080204" pitchFamily="49" charset="-128"/>
              </a:rPr>
              <a:t>uint8_t io_port[</a:t>
            </a:r>
            <a:r>
              <a:rPr lang="zh-CN" altLang="en-US" sz="1400" dirty="0">
                <a:solidFill>
                  <a:srgbClr val="C00000"/>
                </a:solidFill>
                <a:latin typeface="MS Gothic" panose="020B0609070205080204" pitchFamily="49" charset="-128"/>
                <a:ea typeface="MS Gothic" panose="020B0609070205080204" pitchFamily="49" charset="-128"/>
              </a:rPr>
              <a:t>IO_PORT_SPACE</a:t>
            </a:r>
            <a:r>
              <a:rPr lang="zh-CN" altLang="en-US" sz="1400" dirty="0">
                <a:latin typeface="MS Gothic" panose="020B0609070205080204" pitchFamily="49" charset="-128"/>
                <a:ea typeface="MS Gothic" panose="020B0609070205080204" pitchFamily="49" charset="-128"/>
              </a:rPr>
              <a:t>]</a:t>
            </a:r>
            <a:r>
              <a:rPr lang="zh-CN" altLang="en-US" sz="1400" dirty="0" smtClean="0">
                <a:latin typeface="MS Gothic" panose="020B0609070205080204" pitchFamily="49" charset="-128"/>
                <a:ea typeface="MS Gothic" panose="020B0609070205080204" pitchFamily="49" charset="-128"/>
              </a:rPr>
              <a:t>; </a:t>
            </a:r>
            <a:r>
              <a:rPr lang="en-US" altLang="zh-CN" sz="1400" dirty="0" smtClean="0">
                <a:solidFill>
                  <a:srgbClr val="00B050"/>
                </a:solidFill>
                <a:latin typeface="MS Gothic" panose="020B0609070205080204" pitchFamily="49" charset="-128"/>
                <a:ea typeface="MS Gothic" panose="020B0609070205080204" pitchFamily="49" charset="-128"/>
              </a:rPr>
              <a:t>// 65535</a:t>
            </a:r>
            <a:r>
              <a:rPr lang="zh-CN" altLang="en-US" sz="1400" dirty="0" smtClean="0">
                <a:solidFill>
                  <a:srgbClr val="00B050"/>
                </a:solidFill>
                <a:latin typeface="MS Gothic" panose="020B0609070205080204" pitchFamily="49" charset="-128"/>
                <a:ea typeface="MS Gothic" panose="020B0609070205080204" pitchFamily="49" charset="-128"/>
              </a:rPr>
              <a:t>个</a:t>
            </a:r>
            <a:r>
              <a:rPr lang="en-US" altLang="zh-CN" sz="1400" dirty="0" smtClean="0">
                <a:solidFill>
                  <a:srgbClr val="00B050"/>
                </a:solidFill>
                <a:latin typeface="MS Gothic" panose="020B0609070205080204" pitchFamily="49" charset="-128"/>
                <a:ea typeface="MS Gothic" panose="020B0609070205080204" pitchFamily="49" charset="-128"/>
              </a:rPr>
              <a:t>8</a:t>
            </a:r>
            <a:r>
              <a:rPr lang="zh-CN" altLang="en-US" sz="1400" dirty="0" smtClean="0">
                <a:solidFill>
                  <a:srgbClr val="00B050"/>
                </a:solidFill>
                <a:latin typeface="MS Gothic" panose="020B0609070205080204" pitchFamily="49" charset="-128"/>
                <a:ea typeface="MS Gothic" panose="020B0609070205080204" pitchFamily="49" charset="-128"/>
              </a:rPr>
              <a:t>位的</a:t>
            </a:r>
            <a:r>
              <a:rPr lang="en-US" altLang="zh-CN" sz="1400" dirty="0" smtClean="0">
                <a:solidFill>
                  <a:srgbClr val="00B050"/>
                </a:solidFill>
                <a:latin typeface="MS Gothic" panose="020B0609070205080204" pitchFamily="49" charset="-128"/>
                <a:ea typeface="MS Gothic" panose="020B0609070205080204" pitchFamily="49" charset="-128"/>
              </a:rPr>
              <a:t>I/O</a:t>
            </a:r>
            <a:r>
              <a:rPr lang="zh-CN" altLang="en-US" sz="1400" dirty="0" smtClean="0">
                <a:solidFill>
                  <a:srgbClr val="00B050"/>
                </a:solidFill>
                <a:latin typeface="MS Gothic" panose="020B0609070205080204" pitchFamily="49" charset="-128"/>
                <a:ea typeface="MS Gothic" panose="020B0609070205080204" pitchFamily="49" charset="-128"/>
              </a:rPr>
              <a:t>端口</a:t>
            </a:r>
            <a:endParaRPr lang="en-US" altLang="zh-CN" sz="1400" dirty="0" smtClean="0">
              <a:solidFill>
                <a:srgbClr val="00B050"/>
              </a:solidFill>
              <a:latin typeface="MS Gothic" panose="020B0609070205080204" pitchFamily="49" charset="-128"/>
              <a:ea typeface="MS Gothic" panose="020B0609070205080204" pitchFamily="49" charset="-128"/>
            </a:endParaRPr>
          </a:p>
          <a:p>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static </a:t>
            </a:r>
            <a:r>
              <a:rPr lang="en-US" altLang="zh-CN" sz="1400" dirty="0" err="1">
                <a:latin typeface="MS Gothic" panose="020B0609070205080204" pitchFamily="49" charset="-128"/>
                <a:ea typeface="MS Gothic" panose="020B0609070205080204" pitchFamily="49" charset="-128"/>
              </a:rPr>
              <a:t>struct</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pio_handler_map</a:t>
            </a:r>
            <a:r>
              <a:rPr lang="en-US" altLang="zh-CN" sz="1400" dirty="0">
                <a:latin typeface="MS Gothic" panose="020B0609070205080204" pitchFamily="49" charset="-128"/>
                <a:ea typeface="MS Gothic" panose="020B0609070205080204" pitchFamily="49" charset="-128"/>
              </a:rPr>
              <a:t> </a:t>
            </a:r>
            <a:r>
              <a:rPr lang="en-US" altLang="zh-CN" sz="1400" dirty="0" smtClean="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r>
              <a:rPr lang="en-US" altLang="zh-CN" sz="1400" dirty="0">
                <a:solidFill>
                  <a:srgbClr val="C00000"/>
                </a:solidFill>
                <a:latin typeface="MS Gothic" panose="020B0609070205080204" pitchFamily="49" charset="-128"/>
                <a:ea typeface="MS Gothic" panose="020B0609070205080204" pitchFamily="49" charset="-128"/>
              </a:rPr>
              <a:t>uint16_t port;</a:t>
            </a:r>
          </a:p>
          <a:p>
            <a:r>
              <a:rPr lang="en-US" altLang="zh-CN" sz="1400" dirty="0">
                <a:latin typeface="MS Gothic" panose="020B0609070205080204" pitchFamily="49" charset="-128"/>
                <a:ea typeface="MS Gothic" panose="020B0609070205080204" pitchFamily="49" charset="-128"/>
              </a:rPr>
              <a:t>        </a:t>
            </a:r>
            <a:r>
              <a:rPr lang="en-US" altLang="zh-CN" sz="1400" dirty="0" err="1">
                <a:solidFill>
                  <a:srgbClr val="7030A0"/>
                </a:solidFill>
                <a:latin typeface="MS Gothic" panose="020B0609070205080204" pitchFamily="49" charset="-128"/>
                <a:ea typeface="MS Gothic" panose="020B0609070205080204" pitchFamily="49" charset="-128"/>
              </a:rPr>
              <a:t>pio_handler</a:t>
            </a:r>
            <a:r>
              <a:rPr lang="en-US" altLang="zh-CN" sz="1400" dirty="0">
                <a:solidFill>
                  <a:srgbClr val="7030A0"/>
                </a:solidFill>
                <a:latin typeface="MS Gothic" panose="020B0609070205080204" pitchFamily="49" charset="-128"/>
                <a:ea typeface="MS Gothic" panose="020B0609070205080204" pitchFamily="49" charset="-128"/>
              </a:rPr>
              <a:t> handler;</a:t>
            </a:r>
          </a:p>
          <a:p>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pio_handler_table</a:t>
            </a:r>
            <a:r>
              <a:rPr lang="en-US" altLang="zh-CN" sz="1400" dirty="0">
                <a:latin typeface="MS Gothic" panose="020B0609070205080204" pitchFamily="49" charset="-128"/>
                <a:ea typeface="MS Gothic" panose="020B0609070205080204" pitchFamily="49" charset="-128"/>
              </a:rPr>
              <a:t> [] = { </a:t>
            </a:r>
            <a:r>
              <a:rPr lang="en-US" altLang="zh-CN" sz="1400" dirty="0" smtClean="0">
                <a:solidFill>
                  <a:srgbClr val="00B050"/>
                </a:solidFill>
                <a:latin typeface="MS Gothic" panose="020B0609070205080204" pitchFamily="49" charset="-128"/>
                <a:ea typeface="MS Gothic" panose="020B0609070205080204" pitchFamily="49" charset="-128"/>
              </a:rPr>
              <a:t> // </a:t>
            </a:r>
            <a:r>
              <a:rPr lang="zh-CN" altLang="en-US" sz="1400" dirty="0" smtClean="0">
                <a:solidFill>
                  <a:srgbClr val="00B050"/>
                </a:solidFill>
                <a:latin typeface="MS Gothic" panose="020B0609070205080204" pitchFamily="49" charset="-128"/>
                <a:ea typeface="MS Gothic" panose="020B0609070205080204" pitchFamily="49" charset="-128"/>
              </a:rPr>
              <a:t>端口映射表</a:t>
            </a:r>
            <a:endParaRPr lang="en-US" altLang="zh-CN" sz="1400" dirty="0">
              <a:solidFill>
                <a:srgbClr val="00B050"/>
              </a:solidFill>
              <a:latin typeface="MS Gothic" panose="020B0609070205080204" pitchFamily="49" charset="-128"/>
              <a:ea typeface="MS Gothic" panose="020B0609070205080204" pitchFamily="49" charset="-128"/>
            </a:endParaRPr>
          </a:p>
          <a:p>
            <a:pPr lvl="1"/>
            <a:r>
              <a:rPr lang="en-US" altLang="zh-CN" sz="1400" dirty="0" smtClean="0">
                <a:solidFill>
                  <a:srgbClr val="00B050"/>
                </a:solidFill>
                <a:latin typeface="MS Gothic" panose="020B0609070205080204" pitchFamily="49" charset="-128"/>
                <a:ea typeface="MS Gothic" panose="020B0609070205080204" pitchFamily="49" charset="-128"/>
              </a:rPr>
              <a:t>// </a:t>
            </a:r>
            <a:r>
              <a:rPr lang="zh-CN" altLang="en-US" sz="1400" dirty="0" smtClean="0">
                <a:solidFill>
                  <a:srgbClr val="00B050"/>
                </a:solidFill>
                <a:latin typeface="MS Gothic" panose="020B0609070205080204" pitchFamily="49" charset="-128"/>
                <a:ea typeface="MS Gothic" panose="020B0609070205080204" pitchFamily="49" charset="-128"/>
              </a:rPr>
              <a:t>格式 </a:t>
            </a:r>
            <a:r>
              <a:rPr lang="en-US" altLang="zh-CN" sz="1400" dirty="0" smtClean="0">
                <a:solidFill>
                  <a:srgbClr val="00B050"/>
                </a:solidFill>
                <a:latin typeface="MS Gothic" panose="020B0609070205080204" pitchFamily="49" charset="-128"/>
                <a:ea typeface="MS Gothic" panose="020B0609070205080204" pitchFamily="49" charset="-128"/>
              </a:rPr>
              <a:t>{</a:t>
            </a:r>
            <a:r>
              <a:rPr lang="en-US" altLang="zh-CN" sz="1400" dirty="0" smtClean="0">
                <a:solidFill>
                  <a:srgbClr val="C00000"/>
                </a:solidFill>
                <a:latin typeface="MS Gothic" panose="020B0609070205080204" pitchFamily="49" charset="-128"/>
                <a:ea typeface="MS Gothic" panose="020B0609070205080204" pitchFamily="49" charset="-128"/>
              </a:rPr>
              <a:t>port</a:t>
            </a:r>
            <a:r>
              <a:rPr lang="en-US" altLang="zh-CN" sz="1400" dirty="0" smtClean="0">
                <a:solidFill>
                  <a:srgbClr val="00B050"/>
                </a:solidFill>
                <a:latin typeface="MS Gothic" panose="020B0609070205080204" pitchFamily="49" charset="-128"/>
                <a:ea typeface="MS Gothic" panose="020B0609070205080204" pitchFamily="49" charset="-128"/>
              </a:rPr>
              <a:t>, </a:t>
            </a:r>
            <a:r>
              <a:rPr lang="en-US" altLang="zh-CN" sz="1400" dirty="0" smtClean="0">
                <a:solidFill>
                  <a:srgbClr val="7030A0"/>
                </a:solidFill>
                <a:latin typeface="MS Gothic" panose="020B0609070205080204" pitchFamily="49" charset="-128"/>
                <a:ea typeface="MS Gothic" panose="020B0609070205080204" pitchFamily="49" charset="-128"/>
              </a:rPr>
              <a:t>handler</a:t>
            </a:r>
            <a:r>
              <a:rPr lang="en-US" altLang="zh-CN" sz="1400" dirty="0" smtClean="0">
                <a:solidFill>
                  <a:srgbClr val="00B050"/>
                </a:solidFill>
                <a:latin typeface="MS Gothic" panose="020B0609070205080204" pitchFamily="49" charset="-128"/>
                <a:ea typeface="MS Gothic" panose="020B0609070205080204" pitchFamily="49" charset="-128"/>
              </a:rPr>
              <a:t>}</a:t>
            </a:r>
          </a:p>
          <a:p>
            <a:r>
              <a:rPr lang="en-US" altLang="zh-CN" sz="1400" dirty="0" smtClean="0">
                <a:latin typeface="MS Gothic" panose="020B0609070205080204" pitchFamily="49" charset="-128"/>
                <a:ea typeface="MS Gothic" panose="020B0609070205080204" pitchFamily="49" charset="-128"/>
              </a:rPr>
              <a:t>};</a:t>
            </a:r>
          </a:p>
          <a:p>
            <a:endParaRPr lang="en-US" altLang="zh-CN" sz="1400" dirty="0">
              <a:latin typeface="MS Gothic" panose="020B0609070205080204" pitchFamily="49" charset="-128"/>
              <a:ea typeface="MS Gothic" panose="020B0609070205080204" pitchFamily="49" charset="-128"/>
            </a:endParaRPr>
          </a:p>
          <a:p>
            <a:r>
              <a:rPr lang="en-US" altLang="zh-CN" sz="1400" dirty="0">
                <a:solidFill>
                  <a:srgbClr val="00B050"/>
                </a:solidFill>
                <a:latin typeface="MS Gothic" panose="020B0609070205080204" pitchFamily="49" charset="-128"/>
                <a:ea typeface="MS Gothic" panose="020B0609070205080204" pitchFamily="49" charset="-128"/>
              </a:rPr>
              <a:t>// called by the out </a:t>
            </a:r>
            <a:r>
              <a:rPr lang="en-US" altLang="zh-CN" sz="1400" dirty="0" smtClean="0">
                <a:solidFill>
                  <a:srgbClr val="00B050"/>
                </a:solidFill>
                <a:latin typeface="MS Gothic" panose="020B0609070205080204" pitchFamily="49" charset="-128"/>
                <a:ea typeface="MS Gothic" panose="020B0609070205080204" pitchFamily="49" charset="-128"/>
              </a:rPr>
              <a:t>instruction</a:t>
            </a:r>
            <a:r>
              <a:rPr lang="zh-CN" altLang="en-US" sz="1400" dirty="0" smtClean="0">
                <a:solidFill>
                  <a:srgbClr val="00B050"/>
                </a:solidFill>
                <a:latin typeface="MS Gothic" panose="020B0609070205080204" pitchFamily="49" charset="-128"/>
                <a:ea typeface="MS Gothic" panose="020B0609070205080204" pitchFamily="49" charset="-128"/>
              </a:rPr>
              <a:t>，写端口</a:t>
            </a:r>
            <a:endParaRPr lang="en-US" altLang="zh-CN" sz="1400" dirty="0">
              <a:solidFill>
                <a:srgbClr val="00B050"/>
              </a:solidFill>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void </a:t>
            </a:r>
            <a:r>
              <a:rPr lang="en-US" altLang="zh-CN" sz="1400" dirty="0" err="1">
                <a:latin typeface="MS Gothic" panose="020B0609070205080204" pitchFamily="49" charset="-128"/>
                <a:ea typeface="MS Gothic" panose="020B0609070205080204" pitchFamily="49" charset="-128"/>
              </a:rPr>
              <a:t>pio_write</a:t>
            </a:r>
            <a:r>
              <a:rPr lang="en-US" altLang="zh-CN" sz="1400" dirty="0">
                <a:latin typeface="MS Gothic" panose="020B0609070205080204" pitchFamily="49" charset="-128"/>
                <a:ea typeface="MS Gothic" panose="020B0609070205080204" pitchFamily="49" charset="-128"/>
              </a:rPr>
              <a:t>(uint16_t </a:t>
            </a:r>
            <a:r>
              <a:rPr lang="en-US" altLang="zh-CN" sz="1400" dirty="0">
                <a:solidFill>
                  <a:srgbClr val="C00000"/>
                </a:solidFill>
                <a:latin typeface="MS Gothic" panose="020B0609070205080204" pitchFamily="49" charset="-128"/>
                <a:ea typeface="MS Gothic" panose="020B0609070205080204" pitchFamily="49" charset="-128"/>
              </a:rPr>
              <a:t>port</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size_t</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len</a:t>
            </a:r>
            <a:r>
              <a:rPr lang="en-US" altLang="zh-CN" sz="1400" dirty="0">
                <a:latin typeface="MS Gothic" panose="020B0609070205080204" pitchFamily="49" charset="-128"/>
                <a:ea typeface="MS Gothic" panose="020B0609070205080204" pitchFamily="49" charset="-128"/>
              </a:rPr>
              <a:t>, uint32_t data</a:t>
            </a:r>
            <a:r>
              <a:rPr lang="en-US" altLang="zh-CN" sz="1400" dirty="0" smtClean="0">
                <a:latin typeface="MS Gothic" panose="020B0609070205080204" pitchFamily="49" charset="-128"/>
                <a:ea typeface="MS Gothic" panose="020B0609070205080204" pitchFamily="49" charset="-128"/>
              </a:rPr>
              <a:t>) {…}</a:t>
            </a:r>
          </a:p>
          <a:p>
            <a:endParaRPr lang="en-US" altLang="zh-CN" sz="1400" dirty="0">
              <a:latin typeface="MS Gothic" panose="020B0609070205080204" pitchFamily="49" charset="-128"/>
              <a:ea typeface="MS Gothic" panose="020B0609070205080204" pitchFamily="49" charset="-128"/>
            </a:endParaRPr>
          </a:p>
          <a:p>
            <a:r>
              <a:rPr lang="en-US" altLang="zh-CN" sz="1400" dirty="0">
                <a:solidFill>
                  <a:srgbClr val="00B050"/>
                </a:solidFill>
                <a:latin typeface="MS Gothic" panose="020B0609070205080204" pitchFamily="49" charset="-128"/>
                <a:ea typeface="MS Gothic" panose="020B0609070205080204" pitchFamily="49" charset="-128"/>
              </a:rPr>
              <a:t>// called by the in </a:t>
            </a:r>
            <a:r>
              <a:rPr lang="en-US" altLang="zh-CN" sz="1400" dirty="0" smtClean="0">
                <a:solidFill>
                  <a:srgbClr val="00B050"/>
                </a:solidFill>
                <a:latin typeface="MS Gothic" panose="020B0609070205080204" pitchFamily="49" charset="-128"/>
                <a:ea typeface="MS Gothic" panose="020B0609070205080204" pitchFamily="49" charset="-128"/>
              </a:rPr>
              <a:t>instruction</a:t>
            </a:r>
            <a:r>
              <a:rPr lang="zh-CN" altLang="en-US" sz="1400" dirty="0" smtClean="0">
                <a:solidFill>
                  <a:srgbClr val="00B050"/>
                </a:solidFill>
                <a:latin typeface="MS Gothic" panose="020B0609070205080204" pitchFamily="49" charset="-128"/>
                <a:ea typeface="MS Gothic" panose="020B0609070205080204" pitchFamily="49" charset="-128"/>
              </a:rPr>
              <a:t>，读端口</a:t>
            </a:r>
            <a:endParaRPr lang="en-US" altLang="zh-CN" sz="1400" dirty="0">
              <a:solidFill>
                <a:srgbClr val="00B050"/>
              </a:solidFill>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uint32_t </a:t>
            </a:r>
            <a:r>
              <a:rPr lang="en-US" altLang="zh-CN" sz="1400" dirty="0" err="1">
                <a:latin typeface="MS Gothic" panose="020B0609070205080204" pitchFamily="49" charset="-128"/>
                <a:ea typeface="MS Gothic" panose="020B0609070205080204" pitchFamily="49" charset="-128"/>
              </a:rPr>
              <a:t>pio_read</a:t>
            </a:r>
            <a:r>
              <a:rPr lang="en-US" altLang="zh-CN" sz="1400" dirty="0">
                <a:latin typeface="MS Gothic" panose="020B0609070205080204" pitchFamily="49" charset="-128"/>
                <a:ea typeface="MS Gothic" panose="020B0609070205080204" pitchFamily="49" charset="-128"/>
              </a:rPr>
              <a:t>(uint16_t </a:t>
            </a:r>
            <a:r>
              <a:rPr lang="en-US" altLang="zh-CN" sz="1400" dirty="0">
                <a:solidFill>
                  <a:srgbClr val="C00000"/>
                </a:solidFill>
                <a:latin typeface="MS Gothic" panose="020B0609070205080204" pitchFamily="49" charset="-128"/>
                <a:ea typeface="MS Gothic" panose="020B0609070205080204" pitchFamily="49" charset="-128"/>
              </a:rPr>
              <a:t>port</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size_t</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len</a:t>
            </a:r>
            <a:r>
              <a:rPr lang="en-US" altLang="zh-CN" sz="1400" dirty="0">
                <a:latin typeface="MS Gothic" panose="020B0609070205080204" pitchFamily="49" charset="-128"/>
                <a:ea typeface="MS Gothic" panose="020B0609070205080204" pitchFamily="49" charset="-128"/>
              </a:rPr>
              <a:t>) </a:t>
            </a:r>
            <a:r>
              <a:rPr lang="en-US" altLang="zh-CN" sz="1400" dirty="0" smtClean="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p:txBody>
      </p:sp>
      <p:sp>
        <p:nvSpPr>
          <p:cNvPr id="13" name="文本框 12"/>
          <p:cNvSpPr txBox="1"/>
          <p:nvPr/>
        </p:nvSpPr>
        <p:spPr>
          <a:xfrm>
            <a:off x="57461" y="2480928"/>
            <a:ext cx="2974532" cy="369332"/>
          </a:xfrm>
          <a:prstGeom prst="rect">
            <a:avLst/>
          </a:prstGeom>
          <a:noFill/>
        </p:spPr>
        <p:txBody>
          <a:bodyPr wrap="none" rtlCol="0">
            <a:spAutoFit/>
          </a:bodyPr>
          <a:lstStyle/>
          <a:p>
            <a:r>
              <a:rPr lang="en-US" altLang="zh-CN" i="1" dirty="0" err="1">
                <a:solidFill>
                  <a:srgbClr val="0070C0"/>
                </a:solidFill>
              </a:rPr>
              <a:t>n</a:t>
            </a:r>
            <a:r>
              <a:rPr lang="en-US" altLang="zh-CN" i="1" dirty="0" err="1" smtClean="0">
                <a:solidFill>
                  <a:srgbClr val="0070C0"/>
                </a:solidFill>
              </a:rPr>
              <a:t>emu</a:t>
            </a:r>
            <a:r>
              <a:rPr lang="en-US" altLang="zh-CN" i="1" dirty="0" smtClean="0">
                <a:solidFill>
                  <a:srgbClr val="0070C0"/>
                </a:solidFill>
              </a:rPr>
              <a:t>/</a:t>
            </a:r>
            <a:r>
              <a:rPr lang="en-US" altLang="zh-CN" i="1" dirty="0" err="1" smtClean="0">
                <a:solidFill>
                  <a:srgbClr val="0070C0"/>
                </a:solidFill>
              </a:rPr>
              <a:t>src</a:t>
            </a:r>
            <a:r>
              <a:rPr lang="en-US" altLang="zh-CN" i="1" dirty="0" smtClean="0">
                <a:solidFill>
                  <a:srgbClr val="0070C0"/>
                </a:solidFill>
              </a:rPr>
              <a:t>/device/</a:t>
            </a:r>
            <a:r>
              <a:rPr lang="en-US" altLang="zh-CN" i="1" dirty="0" err="1" smtClean="0">
                <a:solidFill>
                  <a:srgbClr val="0070C0"/>
                </a:solidFill>
              </a:rPr>
              <a:t>io</a:t>
            </a:r>
            <a:r>
              <a:rPr lang="en-US" altLang="zh-CN" i="1" dirty="0" smtClean="0">
                <a:solidFill>
                  <a:srgbClr val="0070C0"/>
                </a:solidFill>
              </a:rPr>
              <a:t>/</a:t>
            </a:r>
            <a:r>
              <a:rPr lang="en-US" altLang="zh-CN" i="1" dirty="0" err="1" smtClean="0">
                <a:solidFill>
                  <a:srgbClr val="0070C0"/>
                </a:solidFill>
              </a:rPr>
              <a:t>port_io.c</a:t>
            </a:r>
            <a:endParaRPr lang="zh-CN" altLang="en-US" i="1" dirty="0">
              <a:solidFill>
                <a:srgbClr val="0070C0"/>
              </a:solidFill>
            </a:endParaRPr>
          </a:p>
        </p:txBody>
      </p:sp>
      <p:sp>
        <p:nvSpPr>
          <p:cNvPr id="14" name="矩形 13"/>
          <p:cNvSpPr/>
          <p:nvPr/>
        </p:nvSpPr>
        <p:spPr>
          <a:xfrm>
            <a:off x="6113818" y="2924418"/>
            <a:ext cx="2993423" cy="738664"/>
          </a:xfrm>
          <a:prstGeom prst="rect">
            <a:avLst/>
          </a:prstGeom>
          <a:ln w="12700">
            <a:solidFill>
              <a:schemeClr val="tx1"/>
            </a:solidFill>
            <a:prstDash val="dash"/>
          </a:ln>
        </p:spPr>
        <p:txBody>
          <a:bodyPr wrap="square">
            <a:spAutoFit/>
          </a:bodyPr>
          <a:lstStyle/>
          <a:p>
            <a:r>
              <a:rPr lang="en-US" altLang="zh-CN" sz="1400" dirty="0" err="1" smtClean="0">
                <a:solidFill>
                  <a:srgbClr val="7030A0"/>
                </a:solidFill>
                <a:latin typeface="MS Gothic" panose="020B0609070205080204" pitchFamily="49" charset="-128"/>
                <a:ea typeface="MS Gothic" panose="020B0609070205080204" pitchFamily="49" charset="-128"/>
              </a:rPr>
              <a:t>make_pio_handler</a:t>
            </a:r>
            <a:r>
              <a:rPr lang="en-US" altLang="zh-CN" sz="1400" dirty="0" smtClean="0">
                <a:solidFill>
                  <a:srgbClr val="7030A0"/>
                </a:solidFill>
                <a:latin typeface="MS Gothic" panose="020B0609070205080204" pitchFamily="49" charset="-128"/>
                <a:ea typeface="MS Gothic" panose="020B0609070205080204" pitchFamily="49" charset="-128"/>
              </a:rPr>
              <a:t>(</a:t>
            </a:r>
            <a:r>
              <a:rPr lang="en-US" altLang="zh-CN" sz="1400" dirty="0" err="1" smtClean="0">
                <a:solidFill>
                  <a:srgbClr val="7030A0"/>
                </a:solidFill>
                <a:latin typeface="MS Gothic" panose="020B0609070205080204" pitchFamily="49" charset="-128"/>
                <a:ea typeface="MS Gothic" panose="020B0609070205080204" pitchFamily="49" charset="-128"/>
              </a:rPr>
              <a:t>handler_xxx</a:t>
            </a:r>
            <a:r>
              <a:rPr lang="en-US" altLang="zh-CN" sz="1400" dirty="0" smtClean="0">
                <a:solidFill>
                  <a:srgbClr val="7030A0"/>
                </a:solidFill>
                <a:latin typeface="MS Gothic" panose="020B0609070205080204" pitchFamily="49" charset="-128"/>
                <a:ea typeface="MS Gothic" panose="020B0609070205080204" pitchFamily="49" charset="-128"/>
              </a:rPr>
              <a:t>) {</a:t>
            </a:r>
          </a:p>
          <a:p>
            <a:r>
              <a:rPr lang="en-US" altLang="zh-CN" sz="1400" dirty="0">
                <a:solidFill>
                  <a:srgbClr val="7030A0"/>
                </a:solidFill>
                <a:latin typeface="MS Gothic" panose="020B0609070205080204" pitchFamily="49" charset="-128"/>
                <a:ea typeface="MS Gothic" panose="020B0609070205080204" pitchFamily="49" charset="-128"/>
              </a:rPr>
              <a:t>	</a:t>
            </a:r>
            <a:r>
              <a:rPr lang="en-US" altLang="zh-CN" sz="1400" dirty="0" smtClean="0">
                <a:solidFill>
                  <a:srgbClr val="7030A0"/>
                </a:solidFill>
                <a:latin typeface="MS Gothic" panose="020B0609070205080204" pitchFamily="49" charset="-128"/>
                <a:ea typeface="MS Gothic" panose="020B0609070205080204" pitchFamily="49" charset="-128"/>
              </a:rPr>
              <a:t>…</a:t>
            </a:r>
          </a:p>
          <a:p>
            <a:r>
              <a:rPr lang="en-US" altLang="zh-CN" sz="1400" dirty="0" smtClean="0">
                <a:solidFill>
                  <a:srgbClr val="7030A0"/>
                </a:solidFill>
                <a:latin typeface="MS Gothic" panose="020B0609070205080204" pitchFamily="49" charset="-128"/>
                <a:ea typeface="MS Gothic" panose="020B0609070205080204" pitchFamily="49" charset="-128"/>
              </a:rPr>
              <a:t>}</a:t>
            </a:r>
            <a:endParaRPr lang="en-US" altLang="zh-CN" sz="1400" dirty="0">
              <a:solidFill>
                <a:srgbClr val="7030A0"/>
              </a:solidFill>
              <a:latin typeface="MS Gothic" panose="020B0609070205080204" pitchFamily="49" charset="-128"/>
              <a:ea typeface="MS Gothic" panose="020B0609070205080204" pitchFamily="49" charset="-128"/>
            </a:endParaRPr>
          </a:p>
        </p:txBody>
      </p:sp>
      <p:sp>
        <p:nvSpPr>
          <p:cNvPr id="15" name="文本框 14"/>
          <p:cNvSpPr txBox="1"/>
          <p:nvPr/>
        </p:nvSpPr>
        <p:spPr>
          <a:xfrm>
            <a:off x="6046986" y="2480928"/>
            <a:ext cx="2706318" cy="369332"/>
          </a:xfrm>
          <a:prstGeom prst="rect">
            <a:avLst/>
          </a:prstGeom>
          <a:noFill/>
        </p:spPr>
        <p:txBody>
          <a:bodyPr wrap="none" rtlCol="0">
            <a:spAutoFit/>
          </a:bodyPr>
          <a:lstStyle/>
          <a:p>
            <a:r>
              <a:rPr lang="en-US" altLang="zh-CN" i="1" dirty="0" err="1" smtClean="0">
                <a:solidFill>
                  <a:srgbClr val="0070C0"/>
                </a:solidFill>
              </a:rPr>
              <a:t>nemu</a:t>
            </a:r>
            <a:r>
              <a:rPr lang="en-US" altLang="zh-CN" i="1" dirty="0" smtClean="0">
                <a:solidFill>
                  <a:srgbClr val="0070C0"/>
                </a:solidFill>
              </a:rPr>
              <a:t>/</a:t>
            </a:r>
            <a:r>
              <a:rPr lang="en-US" altLang="zh-CN" i="1" dirty="0" err="1" smtClean="0">
                <a:solidFill>
                  <a:srgbClr val="0070C0"/>
                </a:solidFill>
              </a:rPr>
              <a:t>src</a:t>
            </a:r>
            <a:r>
              <a:rPr lang="en-US" altLang="zh-CN" i="1" dirty="0" smtClean="0">
                <a:solidFill>
                  <a:srgbClr val="0070C0"/>
                </a:solidFill>
              </a:rPr>
              <a:t>/device/dev/</a:t>
            </a:r>
            <a:r>
              <a:rPr lang="en-US" altLang="zh-CN" i="1" dirty="0" err="1" smtClean="0">
                <a:solidFill>
                  <a:srgbClr val="0070C0"/>
                </a:solidFill>
              </a:rPr>
              <a:t>xxx.c</a:t>
            </a:r>
            <a:endParaRPr lang="zh-CN" altLang="en-US" i="1" dirty="0">
              <a:solidFill>
                <a:srgbClr val="0070C0"/>
              </a:solidFill>
            </a:endParaRPr>
          </a:p>
        </p:txBody>
      </p:sp>
      <p:cxnSp>
        <p:nvCxnSpPr>
          <p:cNvPr id="16" name="直接箭头连接符 15"/>
          <p:cNvCxnSpPr/>
          <p:nvPr/>
        </p:nvCxnSpPr>
        <p:spPr>
          <a:xfrm flipV="1">
            <a:off x="2655895" y="3221077"/>
            <a:ext cx="3740310" cy="1365334"/>
          </a:xfrm>
          <a:prstGeom prst="straightConnector1">
            <a:avLst/>
          </a:prstGeom>
          <a:ln w="25400">
            <a:solidFill>
              <a:srgbClr val="7030A0"/>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3271622" y="4447911"/>
            <a:ext cx="2600755" cy="646331"/>
          </a:xfrm>
          <a:prstGeom prst="rect">
            <a:avLst/>
          </a:prstGeom>
          <a:noFill/>
        </p:spPr>
        <p:txBody>
          <a:bodyPr wrap="square" rtlCol="0">
            <a:spAutoFit/>
          </a:bodyPr>
          <a:lstStyle/>
          <a:p>
            <a:r>
              <a:rPr lang="zh-CN" altLang="en-US" dirty="0" smtClean="0">
                <a:solidFill>
                  <a:srgbClr val="C00000"/>
                </a:solidFill>
              </a:rPr>
              <a:t>访问（读</a:t>
            </a:r>
            <a:r>
              <a:rPr lang="en-US" altLang="zh-CN" dirty="0" smtClean="0">
                <a:solidFill>
                  <a:srgbClr val="C00000"/>
                </a:solidFill>
              </a:rPr>
              <a:t>/</a:t>
            </a:r>
            <a:r>
              <a:rPr lang="zh-CN" altLang="en-US" dirty="0" smtClean="0">
                <a:solidFill>
                  <a:srgbClr val="C00000"/>
                </a:solidFill>
              </a:rPr>
              <a:t>写）这个端口</a:t>
            </a:r>
            <a:r>
              <a:rPr lang="zh-CN" altLang="en-US" dirty="0" smtClean="0">
                <a:solidFill>
                  <a:srgbClr val="7030A0"/>
                </a:solidFill>
              </a:rPr>
              <a:t>，引起对</a:t>
            </a:r>
            <a:r>
              <a:rPr lang="en-US" altLang="zh-CN" dirty="0" smtClean="0">
                <a:solidFill>
                  <a:srgbClr val="7030A0"/>
                </a:solidFill>
              </a:rPr>
              <a:t>handler</a:t>
            </a:r>
            <a:r>
              <a:rPr lang="zh-CN" altLang="en-US" dirty="0" smtClean="0">
                <a:solidFill>
                  <a:srgbClr val="7030A0"/>
                </a:solidFill>
              </a:rPr>
              <a:t>的调用</a:t>
            </a:r>
            <a:endParaRPr lang="zh-CN" altLang="en-US" dirty="0">
              <a:solidFill>
                <a:srgbClr val="7030A0"/>
              </a:solidFill>
            </a:endParaRPr>
          </a:p>
        </p:txBody>
      </p:sp>
      <p:cxnSp>
        <p:nvCxnSpPr>
          <p:cNvPr id="18" name="直接箭头连接符 17"/>
          <p:cNvCxnSpPr/>
          <p:nvPr/>
        </p:nvCxnSpPr>
        <p:spPr>
          <a:xfrm flipH="1" flipV="1">
            <a:off x="1792040" y="4719039"/>
            <a:ext cx="680056" cy="634107"/>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flipV="1">
            <a:off x="1865560" y="4797086"/>
            <a:ext cx="891426" cy="1162597"/>
          </a:xfrm>
          <a:prstGeom prst="straightConnector1">
            <a:avLst/>
          </a:prstGeom>
          <a:ln w="25400">
            <a:solidFill>
              <a:srgbClr val="C00000"/>
            </a:solidFill>
            <a:tailEnd type="none" w="lg" len="lg"/>
          </a:ln>
        </p:spPr>
        <p:style>
          <a:lnRef idx="1">
            <a:schemeClr val="accent1"/>
          </a:lnRef>
          <a:fillRef idx="0">
            <a:schemeClr val="accent1"/>
          </a:fillRef>
          <a:effectRef idx="0">
            <a:schemeClr val="accent1"/>
          </a:effectRef>
          <a:fontRef idx="minor">
            <a:schemeClr val="tx1"/>
          </a:fontRef>
        </p:style>
      </p:cxnSp>
      <p:pic>
        <p:nvPicPr>
          <p:cNvPr id="20" name="图片 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7734627" y="5428884"/>
            <a:ext cx="1225450" cy="1264267"/>
          </a:xfrm>
          <a:prstGeom prst="rect">
            <a:avLst/>
          </a:prstGeom>
        </p:spPr>
      </p:pic>
      <p:pic>
        <p:nvPicPr>
          <p:cNvPr id="6148" name="Picture 4" descr="“齿轮”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57518" y="5504712"/>
            <a:ext cx="799437" cy="799437"/>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20"/>
          <p:cNvSpPr txBox="1"/>
          <p:nvPr/>
        </p:nvSpPr>
        <p:spPr>
          <a:xfrm>
            <a:off x="6176896" y="3832511"/>
            <a:ext cx="2867265" cy="1200329"/>
          </a:xfrm>
          <a:prstGeom prst="rect">
            <a:avLst/>
          </a:prstGeom>
          <a:noFill/>
        </p:spPr>
        <p:txBody>
          <a:bodyPr wrap="square" rtlCol="0">
            <a:spAutoFit/>
          </a:bodyPr>
          <a:lstStyle/>
          <a:p>
            <a:r>
              <a:rPr lang="en-US" altLang="zh-CN" dirty="0" smtClean="0"/>
              <a:t>OS</a:t>
            </a:r>
            <a:r>
              <a:rPr lang="zh-CN" altLang="en-US" dirty="0" smtClean="0"/>
              <a:t>中包含的驱动程序熟知这些约定，便可通过</a:t>
            </a:r>
            <a:r>
              <a:rPr lang="en-US" altLang="zh-CN" dirty="0" smtClean="0"/>
              <a:t>in</a:t>
            </a:r>
            <a:r>
              <a:rPr lang="zh-CN" altLang="en-US" dirty="0" smtClean="0"/>
              <a:t>和</a:t>
            </a:r>
            <a:r>
              <a:rPr lang="en-US" altLang="zh-CN" dirty="0" smtClean="0"/>
              <a:t>out</a:t>
            </a:r>
            <a:r>
              <a:rPr lang="zh-CN" altLang="en-US" dirty="0" smtClean="0"/>
              <a:t>指令完成对设备的控制和数据读写</a:t>
            </a:r>
            <a:endParaRPr lang="zh-CN" altLang="en-US" dirty="0"/>
          </a:p>
        </p:txBody>
      </p:sp>
      <p:cxnSp>
        <p:nvCxnSpPr>
          <p:cNvPr id="22" name="直接箭头连接符 21"/>
          <p:cNvCxnSpPr/>
          <p:nvPr/>
        </p:nvCxnSpPr>
        <p:spPr>
          <a:xfrm flipH="1" flipV="1">
            <a:off x="5706960" y="5428884"/>
            <a:ext cx="1415251" cy="346999"/>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406768" y="5202269"/>
            <a:ext cx="505267" cy="369332"/>
          </a:xfrm>
          <a:prstGeom prst="rect">
            <a:avLst/>
          </a:prstGeom>
          <a:noFill/>
        </p:spPr>
        <p:txBody>
          <a:bodyPr wrap="none" rtlCol="0">
            <a:spAutoFit/>
          </a:bodyPr>
          <a:lstStyle/>
          <a:p>
            <a:r>
              <a:rPr lang="en-US" altLang="zh-CN" dirty="0" smtClean="0">
                <a:solidFill>
                  <a:srgbClr val="C00000"/>
                </a:solidFill>
              </a:rPr>
              <a:t>out</a:t>
            </a:r>
            <a:endParaRPr lang="zh-CN" altLang="en-US" dirty="0">
              <a:solidFill>
                <a:srgbClr val="C00000"/>
              </a:solidFill>
            </a:endParaRPr>
          </a:p>
        </p:txBody>
      </p:sp>
      <p:cxnSp>
        <p:nvCxnSpPr>
          <p:cNvPr id="23" name="直接箭头连接符 22"/>
          <p:cNvCxnSpPr/>
          <p:nvPr/>
        </p:nvCxnSpPr>
        <p:spPr>
          <a:xfrm flipV="1">
            <a:off x="4660780" y="6002498"/>
            <a:ext cx="2431915" cy="4097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6161951" y="6014606"/>
            <a:ext cx="359394" cy="369332"/>
          </a:xfrm>
          <a:prstGeom prst="rect">
            <a:avLst/>
          </a:prstGeom>
          <a:noFill/>
        </p:spPr>
        <p:txBody>
          <a:bodyPr wrap="none" rtlCol="0">
            <a:spAutoFit/>
          </a:bodyPr>
          <a:lstStyle/>
          <a:p>
            <a:r>
              <a:rPr lang="en-US" altLang="zh-CN" dirty="0" smtClean="0">
                <a:solidFill>
                  <a:srgbClr val="C00000"/>
                </a:solidFill>
              </a:rPr>
              <a:t>in</a:t>
            </a:r>
            <a:endParaRPr lang="zh-CN" altLang="en-US" dirty="0">
              <a:solidFill>
                <a:srgbClr val="C00000"/>
              </a:solidFill>
            </a:endParaRPr>
          </a:p>
        </p:txBody>
      </p:sp>
    </p:spTree>
    <p:extLst>
      <p:ext uri="{BB962C8B-B14F-4D97-AF65-F5344CB8AC3E}">
        <p14:creationId xmlns:p14="http://schemas.microsoft.com/office/powerpoint/2010/main" val="3201337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外设与</a:t>
            </a:r>
            <a:r>
              <a:rPr lang="en-US" altLang="zh-CN" dirty="0"/>
              <a:t>I/O</a:t>
            </a:r>
            <a:endParaRPr lang="zh-CN" altLang="en-US" dirty="0"/>
          </a:p>
        </p:txBody>
      </p:sp>
      <p:sp>
        <p:nvSpPr>
          <p:cNvPr id="4" name="内容占位符 2"/>
          <p:cNvSpPr>
            <a:spLocks noGrp="1"/>
          </p:cNvSpPr>
          <p:nvPr>
            <p:ph idx="1"/>
          </p:nvPr>
        </p:nvSpPr>
        <p:spPr>
          <a:xfrm>
            <a:off x="628649" y="1182255"/>
            <a:ext cx="8276411" cy="3922762"/>
          </a:xfrm>
        </p:spPr>
        <p:txBody>
          <a:bodyPr/>
          <a:lstStyle/>
          <a:p>
            <a:r>
              <a:rPr lang="en-US" altLang="zh-CN" dirty="0" smtClean="0"/>
              <a:t>CPU</a:t>
            </a:r>
            <a:r>
              <a:rPr lang="zh-CN" altLang="en-US" dirty="0" smtClean="0"/>
              <a:t>如何向外设进行输入输出？</a:t>
            </a:r>
            <a:endParaRPr lang="en-US" altLang="zh-CN" dirty="0" smtClean="0"/>
          </a:p>
          <a:p>
            <a:pPr lvl="1"/>
            <a:r>
              <a:rPr lang="zh-CN" altLang="en-US" dirty="0" smtClean="0"/>
              <a:t>方式</a:t>
            </a:r>
            <a:r>
              <a:rPr lang="en-US" altLang="zh-CN" dirty="0" smtClean="0"/>
              <a:t>1</a:t>
            </a:r>
            <a:r>
              <a:rPr lang="zh-CN" altLang="en-US" dirty="0" smtClean="0"/>
              <a:t>：端口</a:t>
            </a:r>
            <a:r>
              <a:rPr lang="zh-CN" altLang="en-US" dirty="0"/>
              <a:t>映射</a:t>
            </a:r>
            <a:r>
              <a:rPr lang="en-US" altLang="zh-CN" dirty="0"/>
              <a:t>I/O(port-mapped I/O</a:t>
            </a:r>
            <a:r>
              <a:rPr lang="en-US" altLang="zh-CN" dirty="0" smtClean="0"/>
              <a:t>)</a:t>
            </a:r>
          </a:p>
          <a:p>
            <a:pPr lvl="1"/>
            <a:r>
              <a:rPr lang="en-US" altLang="zh-CN" dirty="0" smtClean="0"/>
              <a:t>NEMU</a:t>
            </a:r>
            <a:r>
              <a:rPr lang="zh-CN" altLang="en-US" dirty="0" smtClean="0"/>
              <a:t>中典型的端口映射</a:t>
            </a:r>
            <a:r>
              <a:rPr lang="en-US" altLang="zh-CN" dirty="0" smtClean="0"/>
              <a:t>I/O</a:t>
            </a:r>
            <a:r>
              <a:rPr lang="zh-CN" altLang="en-US" dirty="0" smtClean="0"/>
              <a:t>设备</a:t>
            </a:r>
            <a:endParaRPr lang="en-US" altLang="zh-CN" dirty="0" smtClean="0"/>
          </a:p>
          <a:p>
            <a:pPr lvl="2"/>
            <a:r>
              <a:rPr lang="zh-CN" altLang="en-US" dirty="0"/>
              <a:t>串口</a:t>
            </a:r>
            <a:r>
              <a:rPr lang="zh-CN" altLang="en-US" dirty="0" smtClean="0"/>
              <a:t>（</a:t>
            </a:r>
            <a:r>
              <a:rPr lang="en-US" altLang="zh-CN" dirty="0" smtClean="0"/>
              <a:t>Serial</a:t>
            </a:r>
            <a:r>
              <a:rPr lang="zh-CN" altLang="en-US" dirty="0" smtClean="0"/>
              <a:t>）</a:t>
            </a:r>
            <a:endParaRPr lang="en-US" altLang="zh-CN" dirty="0" smtClean="0"/>
          </a:p>
          <a:p>
            <a:pPr lvl="3"/>
            <a:r>
              <a:rPr lang="zh-CN" altLang="en-US" dirty="0" smtClean="0"/>
              <a:t>端口映射：</a:t>
            </a:r>
            <a:r>
              <a:rPr lang="en-US" altLang="zh-CN" dirty="0" err="1" smtClean="0">
                <a:solidFill>
                  <a:srgbClr val="0070C0"/>
                </a:solidFill>
              </a:rPr>
              <a:t>nemu</a:t>
            </a:r>
            <a:r>
              <a:rPr lang="en-US" altLang="zh-CN" dirty="0" smtClean="0">
                <a:solidFill>
                  <a:srgbClr val="0070C0"/>
                </a:solidFill>
              </a:rPr>
              <a:t>/</a:t>
            </a:r>
            <a:r>
              <a:rPr lang="en-US" altLang="zh-CN" dirty="0" err="1" smtClean="0">
                <a:solidFill>
                  <a:srgbClr val="0070C0"/>
                </a:solidFill>
              </a:rPr>
              <a:t>src</a:t>
            </a:r>
            <a:r>
              <a:rPr lang="en-US" altLang="zh-CN" dirty="0" smtClean="0">
                <a:solidFill>
                  <a:srgbClr val="0070C0"/>
                </a:solidFill>
              </a:rPr>
              <a:t>/device/</a:t>
            </a:r>
            <a:r>
              <a:rPr lang="en-US" altLang="zh-CN" dirty="0" err="1" smtClean="0">
                <a:solidFill>
                  <a:srgbClr val="0070C0"/>
                </a:solidFill>
              </a:rPr>
              <a:t>io</a:t>
            </a:r>
            <a:r>
              <a:rPr lang="en-US" altLang="zh-CN" dirty="0" smtClean="0">
                <a:solidFill>
                  <a:srgbClr val="0070C0"/>
                </a:solidFill>
              </a:rPr>
              <a:t>/</a:t>
            </a:r>
            <a:r>
              <a:rPr lang="en-US" altLang="zh-CN" dirty="0" err="1" smtClean="0">
                <a:solidFill>
                  <a:srgbClr val="0070C0"/>
                </a:solidFill>
              </a:rPr>
              <a:t>port_io.c</a:t>
            </a:r>
            <a:endParaRPr lang="en-US" altLang="zh-CN" dirty="0" smtClean="0">
              <a:solidFill>
                <a:srgbClr val="0070C0"/>
              </a:solidFill>
            </a:endParaRPr>
          </a:p>
          <a:p>
            <a:pPr marL="1371600" lvl="3" indent="0">
              <a:buNone/>
            </a:pPr>
            <a:r>
              <a:rPr lang="en-US" altLang="zh-CN" dirty="0"/>
              <a:t>	</a:t>
            </a:r>
            <a:r>
              <a:rPr lang="en-US" altLang="zh-CN" dirty="0" smtClean="0"/>
              <a:t>	</a:t>
            </a:r>
          </a:p>
          <a:p>
            <a:pPr marL="1371600" lvl="3" indent="0">
              <a:buNone/>
            </a:pPr>
            <a:endParaRPr lang="en-US" altLang="zh-CN" dirty="0" smtClean="0"/>
          </a:p>
          <a:p>
            <a:pPr lvl="3"/>
            <a:r>
              <a:rPr lang="zh-CN" altLang="en-US" dirty="0" smtClean="0"/>
              <a:t>设备模拟：</a:t>
            </a:r>
            <a:r>
              <a:rPr lang="en-US" altLang="zh-CN" dirty="0" err="1" smtClean="0">
                <a:solidFill>
                  <a:srgbClr val="0070C0"/>
                </a:solidFill>
              </a:rPr>
              <a:t>nemu</a:t>
            </a:r>
            <a:r>
              <a:rPr lang="en-US" altLang="zh-CN" dirty="0" smtClean="0">
                <a:solidFill>
                  <a:srgbClr val="0070C0"/>
                </a:solidFill>
              </a:rPr>
              <a:t>/</a:t>
            </a:r>
            <a:r>
              <a:rPr lang="en-US" altLang="zh-CN" dirty="0" err="1" smtClean="0">
                <a:solidFill>
                  <a:srgbClr val="0070C0"/>
                </a:solidFill>
              </a:rPr>
              <a:t>src</a:t>
            </a:r>
            <a:r>
              <a:rPr lang="en-US" altLang="zh-CN" dirty="0" smtClean="0">
                <a:solidFill>
                  <a:srgbClr val="0070C0"/>
                </a:solidFill>
              </a:rPr>
              <a:t>/device/dev/</a:t>
            </a:r>
            <a:r>
              <a:rPr lang="en-US" altLang="zh-CN" dirty="0" err="1" smtClean="0">
                <a:solidFill>
                  <a:srgbClr val="0070C0"/>
                </a:solidFill>
              </a:rPr>
              <a:t>serial.c</a:t>
            </a:r>
            <a:endParaRPr lang="en-US" altLang="zh-CN" dirty="0" smtClean="0">
              <a:solidFill>
                <a:srgbClr val="0070C0"/>
              </a:solidFill>
            </a:endParaRPr>
          </a:p>
          <a:p>
            <a:pPr marL="1371600" lvl="3" indent="0">
              <a:buNone/>
            </a:pPr>
            <a:r>
              <a:rPr lang="en-US" altLang="zh-CN" dirty="0"/>
              <a:t>		</a:t>
            </a:r>
            <a:endParaRPr lang="en-US" altLang="zh-CN" dirty="0" smtClean="0"/>
          </a:p>
          <a:p>
            <a:pPr marL="1371600" lvl="3" indent="0">
              <a:buNone/>
            </a:pPr>
            <a:endParaRPr lang="en-US" altLang="zh-CN" dirty="0" smtClean="0">
              <a:solidFill>
                <a:srgbClr val="00B050"/>
              </a:solidFill>
            </a:endParaRPr>
          </a:p>
          <a:p>
            <a:pPr lvl="3"/>
            <a:r>
              <a:rPr lang="zh-CN" altLang="en-US" dirty="0" smtClean="0"/>
              <a:t>驱动程序：</a:t>
            </a:r>
            <a:r>
              <a:rPr lang="en-US" altLang="zh-CN" dirty="0" smtClean="0">
                <a:solidFill>
                  <a:srgbClr val="0070C0"/>
                </a:solidFill>
              </a:rPr>
              <a:t>kernel/</a:t>
            </a:r>
            <a:r>
              <a:rPr lang="en-US" altLang="zh-CN" dirty="0" err="1" smtClean="0">
                <a:solidFill>
                  <a:srgbClr val="0070C0"/>
                </a:solidFill>
              </a:rPr>
              <a:t>src</a:t>
            </a:r>
            <a:r>
              <a:rPr lang="en-US" altLang="zh-CN" dirty="0" smtClean="0">
                <a:solidFill>
                  <a:srgbClr val="0070C0"/>
                </a:solidFill>
              </a:rPr>
              <a:t>/lib/</a:t>
            </a:r>
            <a:r>
              <a:rPr lang="en-US" altLang="zh-CN" dirty="0" err="1" smtClean="0">
                <a:solidFill>
                  <a:srgbClr val="0070C0"/>
                </a:solidFill>
              </a:rPr>
              <a:t>serial.c</a:t>
            </a:r>
            <a:endParaRPr lang="en-US" altLang="zh-CN" dirty="0" smtClean="0">
              <a:solidFill>
                <a:srgbClr val="00B050"/>
              </a:solidFill>
            </a:endParaRPr>
          </a:p>
          <a:p>
            <a:pPr marL="1371600" lvl="3" indent="0">
              <a:buNone/>
            </a:pPr>
            <a:endParaRPr lang="zh-CN" altLang="en-US" dirty="0">
              <a:solidFill>
                <a:srgbClr val="00B050"/>
              </a:solidFill>
            </a:endParaRPr>
          </a:p>
        </p:txBody>
      </p:sp>
      <p:sp>
        <p:nvSpPr>
          <p:cNvPr id="3" name="矩形 2"/>
          <p:cNvSpPr/>
          <p:nvPr/>
        </p:nvSpPr>
        <p:spPr>
          <a:xfrm>
            <a:off x="3379602" y="4135109"/>
            <a:ext cx="5598977" cy="369332"/>
          </a:xfrm>
          <a:prstGeom prst="rect">
            <a:avLst/>
          </a:prstGeom>
          <a:ln>
            <a:solidFill>
              <a:schemeClr val="tx1"/>
            </a:solidFill>
            <a:prstDash val="dash"/>
          </a:ln>
        </p:spPr>
        <p:txBody>
          <a:bodyPr wrap="square">
            <a:spAutoFit/>
          </a:bodyPr>
          <a:lstStyle/>
          <a:p>
            <a:r>
              <a:rPr lang="en-US" altLang="zh-CN" dirty="0" err="1" smtClean="0"/>
              <a:t>make_pio_handler</a:t>
            </a:r>
            <a:r>
              <a:rPr lang="en-US" altLang="zh-CN" dirty="0" smtClean="0"/>
              <a:t>(</a:t>
            </a:r>
            <a:r>
              <a:rPr lang="en-US" altLang="zh-CN" dirty="0" err="1" smtClean="0">
                <a:solidFill>
                  <a:srgbClr val="7030A0"/>
                </a:solidFill>
              </a:rPr>
              <a:t>handler_serial</a:t>
            </a:r>
            <a:r>
              <a:rPr lang="en-US" altLang="zh-CN" dirty="0" smtClean="0"/>
              <a:t>) </a:t>
            </a:r>
            <a:r>
              <a:rPr lang="en-US" altLang="zh-CN" dirty="0"/>
              <a:t>{…}</a:t>
            </a:r>
            <a:r>
              <a:rPr lang="en-US" altLang="zh-CN" dirty="0">
                <a:solidFill>
                  <a:srgbClr val="00B050"/>
                </a:solidFill>
              </a:rPr>
              <a:t> // </a:t>
            </a:r>
            <a:r>
              <a:rPr lang="zh-CN" altLang="en-US" dirty="0">
                <a:solidFill>
                  <a:srgbClr val="00B050"/>
                </a:solidFill>
              </a:rPr>
              <a:t>响应端口读写</a:t>
            </a:r>
            <a:endParaRPr lang="zh-CN" altLang="en-US" dirty="0"/>
          </a:p>
        </p:txBody>
      </p:sp>
      <p:sp>
        <p:nvSpPr>
          <p:cNvPr id="6" name="矩形 5"/>
          <p:cNvSpPr/>
          <p:nvPr/>
        </p:nvSpPr>
        <p:spPr>
          <a:xfrm>
            <a:off x="3379602" y="3148611"/>
            <a:ext cx="5598977" cy="369332"/>
          </a:xfrm>
          <a:prstGeom prst="rect">
            <a:avLst/>
          </a:prstGeom>
          <a:ln>
            <a:solidFill>
              <a:schemeClr val="tx1"/>
            </a:solidFill>
            <a:prstDash val="dash"/>
          </a:ln>
        </p:spPr>
        <p:txBody>
          <a:bodyPr wrap="square">
            <a:spAutoFit/>
          </a:bodyPr>
          <a:lstStyle/>
          <a:p>
            <a:r>
              <a:rPr lang="en-US" altLang="zh-CN" dirty="0"/>
              <a:t>{</a:t>
            </a:r>
            <a:r>
              <a:rPr lang="en-US" altLang="zh-CN" dirty="0" err="1" smtClean="0">
                <a:solidFill>
                  <a:srgbClr val="C00000"/>
                </a:solidFill>
              </a:rPr>
              <a:t>IDE_Serial</a:t>
            </a:r>
            <a:r>
              <a:rPr lang="en-US" altLang="zh-CN" dirty="0" smtClean="0">
                <a:solidFill>
                  <a:srgbClr val="C00000"/>
                </a:solidFill>
              </a:rPr>
              <a:t> </a:t>
            </a:r>
            <a:r>
              <a:rPr lang="en-US" altLang="zh-CN" dirty="0">
                <a:solidFill>
                  <a:srgbClr val="C00000"/>
                </a:solidFill>
              </a:rPr>
              <a:t>+ [0-7], </a:t>
            </a:r>
            <a:r>
              <a:rPr lang="en-US" altLang="zh-CN" dirty="0" err="1" smtClean="0">
                <a:solidFill>
                  <a:srgbClr val="7030A0"/>
                </a:solidFill>
              </a:rPr>
              <a:t>handler_serial</a:t>
            </a:r>
            <a:r>
              <a:rPr lang="en-US" altLang="zh-CN" dirty="0" smtClean="0"/>
              <a:t>}</a:t>
            </a:r>
            <a:endParaRPr lang="zh-CN" altLang="en-US" dirty="0"/>
          </a:p>
        </p:txBody>
      </p:sp>
      <p:sp>
        <p:nvSpPr>
          <p:cNvPr id="7" name="矩形 6"/>
          <p:cNvSpPr/>
          <p:nvPr/>
        </p:nvSpPr>
        <p:spPr>
          <a:xfrm>
            <a:off x="3379602" y="5222384"/>
            <a:ext cx="5598977" cy="1200329"/>
          </a:xfrm>
          <a:prstGeom prst="rect">
            <a:avLst/>
          </a:prstGeom>
          <a:ln>
            <a:solidFill>
              <a:schemeClr val="tx1"/>
            </a:solidFill>
            <a:prstDash val="dash"/>
          </a:ln>
        </p:spPr>
        <p:txBody>
          <a:bodyPr wrap="square">
            <a:spAutoFit/>
          </a:bodyPr>
          <a:lstStyle/>
          <a:p>
            <a:r>
              <a:rPr lang="en-US" altLang="zh-CN" dirty="0"/>
              <a:t>v</a:t>
            </a:r>
            <a:r>
              <a:rPr lang="en-US" altLang="zh-CN" dirty="0" smtClean="0"/>
              <a:t>oid </a:t>
            </a:r>
            <a:r>
              <a:rPr lang="en-US" altLang="zh-CN" dirty="0" err="1" smtClean="0"/>
              <a:t>serial_printc</a:t>
            </a:r>
            <a:r>
              <a:rPr lang="en-US" altLang="zh-CN" dirty="0" smtClean="0"/>
              <a:t>(char </a:t>
            </a:r>
            <a:r>
              <a:rPr lang="en-US" altLang="zh-CN" dirty="0" err="1"/>
              <a:t>ch</a:t>
            </a:r>
            <a:r>
              <a:rPr lang="en-US" altLang="zh-CN" dirty="0"/>
              <a:t>) </a:t>
            </a:r>
            <a:r>
              <a:rPr lang="en-US" altLang="zh-CN" dirty="0" smtClean="0"/>
              <a:t>{ </a:t>
            </a:r>
            <a:r>
              <a:rPr lang="en-US" altLang="zh-CN" dirty="0" smtClean="0">
                <a:solidFill>
                  <a:srgbClr val="00B050"/>
                </a:solidFill>
              </a:rPr>
              <a:t>// </a:t>
            </a:r>
            <a:r>
              <a:rPr lang="zh-CN" altLang="en-US" dirty="0" smtClean="0">
                <a:solidFill>
                  <a:srgbClr val="00B050"/>
                </a:solidFill>
              </a:rPr>
              <a:t>请你实现</a:t>
            </a:r>
            <a:endParaRPr lang="en-US" altLang="zh-CN" dirty="0">
              <a:solidFill>
                <a:srgbClr val="00B050"/>
              </a:solidFill>
            </a:endParaRPr>
          </a:p>
          <a:p>
            <a:r>
              <a:rPr lang="en-US" altLang="zh-CN" dirty="0"/>
              <a:t>	while (!</a:t>
            </a:r>
            <a:r>
              <a:rPr lang="en-US" altLang="zh-CN" dirty="0" err="1"/>
              <a:t>serial_idle</a:t>
            </a:r>
            <a:r>
              <a:rPr lang="en-US" altLang="zh-CN" dirty="0"/>
              <a:t>()); // wait </a:t>
            </a:r>
            <a:r>
              <a:rPr lang="en-US" altLang="zh-CN" dirty="0" err="1"/>
              <a:t>untile</a:t>
            </a:r>
            <a:r>
              <a:rPr lang="en-US" altLang="zh-CN" dirty="0"/>
              <a:t> serial is idle</a:t>
            </a:r>
          </a:p>
          <a:p>
            <a:r>
              <a:rPr lang="en-US" altLang="zh-CN" dirty="0"/>
              <a:t>	</a:t>
            </a:r>
            <a:r>
              <a:rPr lang="en-US" altLang="zh-CN" strike="sngStrike" dirty="0">
                <a:solidFill>
                  <a:srgbClr val="FF0000"/>
                </a:solidFill>
              </a:rPr>
              <a:t>panic("please print \'</a:t>
            </a:r>
            <a:r>
              <a:rPr lang="en-US" altLang="zh-CN" strike="sngStrike" dirty="0" err="1">
                <a:solidFill>
                  <a:srgbClr val="FF0000"/>
                </a:solidFill>
              </a:rPr>
              <a:t>ch</a:t>
            </a:r>
            <a:r>
              <a:rPr lang="en-US" altLang="zh-CN" strike="sngStrike" dirty="0">
                <a:solidFill>
                  <a:srgbClr val="FF0000"/>
                </a:solidFill>
              </a:rPr>
              <a:t>\' via out instruction");</a:t>
            </a:r>
          </a:p>
          <a:p>
            <a:r>
              <a:rPr lang="en-US" altLang="zh-CN" dirty="0"/>
              <a:t>}</a:t>
            </a:r>
          </a:p>
        </p:txBody>
      </p:sp>
      <p:sp>
        <p:nvSpPr>
          <p:cNvPr id="10" name="文本框 9"/>
          <p:cNvSpPr txBox="1"/>
          <p:nvPr/>
        </p:nvSpPr>
        <p:spPr>
          <a:xfrm>
            <a:off x="284888" y="4945385"/>
            <a:ext cx="2462907" cy="1477328"/>
          </a:xfrm>
          <a:prstGeom prst="rect">
            <a:avLst/>
          </a:prstGeom>
          <a:noFill/>
        </p:spPr>
        <p:txBody>
          <a:bodyPr wrap="square" rtlCol="0">
            <a:spAutoFit/>
          </a:bodyPr>
          <a:lstStyle/>
          <a:p>
            <a:r>
              <a:rPr lang="zh-CN" altLang="en-US" dirty="0" smtClean="0">
                <a:solidFill>
                  <a:srgbClr val="FF0000"/>
                </a:solidFill>
              </a:rPr>
              <a:t>框架代码这一句有</a:t>
            </a:r>
            <a:r>
              <a:rPr lang="en-US" altLang="zh-CN" dirty="0" smtClean="0">
                <a:solidFill>
                  <a:srgbClr val="FF0000"/>
                </a:solidFill>
              </a:rPr>
              <a:t>bug</a:t>
            </a:r>
            <a:r>
              <a:rPr lang="zh-CN" altLang="en-US" dirty="0" smtClean="0">
                <a:solidFill>
                  <a:srgbClr val="FF0000"/>
                </a:solidFill>
              </a:rPr>
              <a:t>！！！记得把它删掉！！！或者换成</a:t>
            </a:r>
            <a:r>
              <a:rPr lang="en-US" altLang="zh-CN" dirty="0" smtClean="0">
                <a:solidFill>
                  <a:srgbClr val="FF0000"/>
                </a:solidFill>
              </a:rPr>
              <a:t>HIT_BAD_TRAP</a:t>
            </a:r>
            <a:r>
              <a:rPr lang="zh-CN" altLang="en-US" dirty="0" smtClean="0">
                <a:solidFill>
                  <a:srgbClr val="FF0000"/>
                </a:solidFill>
              </a:rPr>
              <a:t>，但是提示内容或许有点用</a:t>
            </a:r>
            <a:endParaRPr lang="zh-CN" altLang="en-US" dirty="0">
              <a:solidFill>
                <a:srgbClr val="FF0000"/>
              </a:solidFill>
            </a:endParaRPr>
          </a:p>
        </p:txBody>
      </p:sp>
      <p:cxnSp>
        <p:nvCxnSpPr>
          <p:cNvPr id="25" name="直接箭头连接符 24"/>
          <p:cNvCxnSpPr/>
          <p:nvPr/>
        </p:nvCxnSpPr>
        <p:spPr>
          <a:xfrm flipV="1">
            <a:off x="2747795" y="5987252"/>
            <a:ext cx="1507152" cy="238939"/>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5029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外设与</a:t>
            </a:r>
            <a:r>
              <a:rPr lang="en-US" altLang="zh-CN" dirty="0"/>
              <a:t>I/O</a:t>
            </a:r>
            <a:endParaRPr lang="zh-CN" altLang="en-US" dirty="0"/>
          </a:p>
        </p:txBody>
      </p:sp>
      <p:sp>
        <p:nvSpPr>
          <p:cNvPr id="4" name="内容占位符 2"/>
          <p:cNvSpPr>
            <a:spLocks noGrp="1"/>
          </p:cNvSpPr>
          <p:nvPr>
            <p:ph idx="1"/>
          </p:nvPr>
        </p:nvSpPr>
        <p:spPr>
          <a:xfrm>
            <a:off x="628649" y="1182255"/>
            <a:ext cx="8276411" cy="3922762"/>
          </a:xfrm>
        </p:spPr>
        <p:txBody>
          <a:bodyPr/>
          <a:lstStyle/>
          <a:p>
            <a:r>
              <a:rPr lang="en-US" altLang="zh-CN" dirty="0" smtClean="0"/>
              <a:t>CPU</a:t>
            </a:r>
            <a:r>
              <a:rPr lang="zh-CN" altLang="en-US" dirty="0" smtClean="0"/>
              <a:t>如何向外设进行输入输出？</a:t>
            </a:r>
            <a:endParaRPr lang="en-US" altLang="zh-CN" dirty="0" smtClean="0"/>
          </a:p>
          <a:p>
            <a:pPr lvl="1"/>
            <a:r>
              <a:rPr lang="zh-CN" altLang="en-US" dirty="0" smtClean="0"/>
              <a:t>方式</a:t>
            </a:r>
            <a:r>
              <a:rPr lang="en-US" altLang="zh-CN" dirty="0" smtClean="0"/>
              <a:t>1</a:t>
            </a:r>
            <a:r>
              <a:rPr lang="zh-CN" altLang="en-US" dirty="0" smtClean="0"/>
              <a:t>：端口</a:t>
            </a:r>
            <a:r>
              <a:rPr lang="zh-CN" altLang="en-US" dirty="0"/>
              <a:t>映射</a:t>
            </a:r>
            <a:r>
              <a:rPr lang="en-US" altLang="zh-CN" dirty="0"/>
              <a:t>I/O(port-mapped I/O</a:t>
            </a:r>
            <a:r>
              <a:rPr lang="en-US" altLang="zh-CN" dirty="0" smtClean="0"/>
              <a:t>)</a:t>
            </a:r>
          </a:p>
          <a:p>
            <a:pPr lvl="1"/>
            <a:r>
              <a:rPr lang="en-US" altLang="zh-CN" dirty="0" smtClean="0"/>
              <a:t>NEMU</a:t>
            </a:r>
            <a:r>
              <a:rPr lang="zh-CN" altLang="en-US" dirty="0" smtClean="0"/>
              <a:t>中典型的端口映射</a:t>
            </a:r>
            <a:r>
              <a:rPr lang="en-US" altLang="zh-CN" dirty="0" smtClean="0"/>
              <a:t>I/O</a:t>
            </a:r>
            <a:r>
              <a:rPr lang="zh-CN" altLang="en-US" dirty="0" smtClean="0"/>
              <a:t>设备</a:t>
            </a:r>
            <a:endParaRPr lang="en-US" altLang="zh-CN" dirty="0" smtClean="0"/>
          </a:p>
          <a:p>
            <a:pPr lvl="2"/>
            <a:r>
              <a:rPr lang="zh-CN" altLang="en-US" dirty="0"/>
              <a:t>串口</a:t>
            </a:r>
            <a:r>
              <a:rPr lang="zh-CN" altLang="en-US" dirty="0" smtClean="0"/>
              <a:t>（</a:t>
            </a:r>
            <a:r>
              <a:rPr lang="en-US" altLang="zh-CN" dirty="0" smtClean="0"/>
              <a:t>Serial</a:t>
            </a:r>
            <a:r>
              <a:rPr lang="zh-CN" altLang="en-US" dirty="0" smtClean="0"/>
              <a:t>）</a:t>
            </a:r>
            <a:endParaRPr lang="en-US" altLang="zh-CN" dirty="0" smtClean="0"/>
          </a:p>
          <a:p>
            <a:pPr lvl="3"/>
            <a:r>
              <a:rPr lang="zh-CN" altLang="en-US" dirty="0" smtClean="0"/>
              <a:t>端口映射：</a:t>
            </a:r>
            <a:r>
              <a:rPr lang="en-US" altLang="zh-CN" dirty="0" err="1" smtClean="0">
                <a:solidFill>
                  <a:srgbClr val="0070C0"/>
                </a:solidFill>
              </a:rPr>
              <a:t>nemu</a:t>
            </a:r>
            <a:r>
              <a:rPr lang="en-US" altLang="zh-CN" dirty="0" smtClean="0">
                <a:solidFill>
                  <a:srgbClr val="0070C0"/>
                </a:solidFill>
              </a:rPr>
              <a:t>/</a:t>
            </a:r>
            <a:r>
              <a:rPr lang="en-US" altLang="zh-CN" dirty="0" err="1" smtClean="0">
                <a:solidFill>
                  <a:srgbClr val="0070C0"/>
                </a:solidFill>
              </a:rPr>
              <a:t>src</a:t>
            </a:r>
            <a:r>
              <a:rPr lang="en-US" altLang="zh-CN" dirty="0" smtClean="0">
                <a:solidFill>
                  <a:srgbClr val="0070C0"/>
                </a:solidFill>
              </a:rPr>
              <a:t>/device/</a:t>
            </a:r>
            <a:r>
              <a:rPr lang="en-US" altLang="zh-CN" dirty="0" err="1" smtClean="0">
                <a:solidFill>
                  <a:srgbClr val="0070C0"/>
                </a:solidFill>
              </a:rPr>
              <a:t>io</a:t>
            </a:r>
            <a:r>
              <a:rPr lang="en-US" altLang="zh-CN" dirty="0" smtClean="0">
                <a:solidFill>
                  <a:srgbClr val="0070C0"/>
                </a:solidFill>
              </a:rPr>
              <a:t>/</a:t>
            </a:r>
            <a:r>
              <a:rPr lang="en-US" altLang="zh-CN" dirty="0" err="1" smtClean="0">
                <a:solidFill>
                  <a:srgbClr val="0070C0"/>
                </a:solidFill>
              </a:rPr>
              <a:t>port_io.c</a:t>
            </a:r>
            <a:endParaRPr lang="en-US" altLang="zh-CN" dirty="0" smtClean="0">
              <a:solidFill>
                <a:srgbClr val="0070C0"/>
              </a:solidFill>
            </a:endParaRPr>
          </a:p>
          <a:p>
            <a:pPr marL="1371600" lvl="3" indent="0">
              <a:buNone/>
            </a:pPr>
            <a:r>
              <a:rPr lang="en-US" altLang="zh-CN" dirty="0"/>
              <a:t>	</a:t>
            </a:r>
            <a:r>
              <a:rPr lang="en-US" altLang="zh-CN" dirty="0" smtClean="0"/>
              <a:t>	</a:t>
            </a:r>
          </a:p>
          <a:p>
            <a:pPr marL="1371600" lvl="3" indent="0">
              <a:buNone/>
            </a:pPr>
            <a:endParaRPr lang="en-US" altLang="zh-CN" dirty="0" smtClean="0"/>
          </a:p>
          <a:p>
            <a:pPr lvl="3"/>
            <a:r>
              <a:rPr lang="zh-CN" altLang="en-US" dirty="0" smtClean="0"/>
              <a:t>设备模拟：</a:t>
            </a:r>
            <a:r>
              <a:rPr lang="en-US" altLang="zh-CN" dirty="0" err="1" smtClean="0">
                <a:solidFill>
                  <a:srgbClr val="0070C0"/>
                </a:solidFill>
              </a:rPr>
              <a:t>nemu</a:t>
            </a:r>
            <a:r>
              <a:rPr lang="en-US" altLang="zh-CN" dirty="0" smtClean="0">
                <a:solidFill>
                  <a:srgbClr val="0070C0"/>
                </a:solidFill>
              </a:rPr>
              <a:t>/</a:t>
            </a:r>
            <a:r>
              <a:rPr lang="en-US" altLang="zh-CN" dirty="0" err="1" smtClean="0">
                <a:solidFill>
                  <a:srgbClr val="0070C0"/>
                </a:solidFill>
              </a:rPr>
              <a:t>src</a:t>
            </a:r>
            <a:r>
              <a:rPr lang="en-US" altLang="zh-CN" dirty="0" smtClean="0">
                <a:solidFill>
                  <a:srgbClr val="0070C0"/>
                </a:solidFill>
              </a:rPr>
              <a:t>/device/dev/</a:t>
            </a:r>
            <a:r>
              <a:rPr lang="en-US" altLang="zh-CN" dirty="0" err="1" smtClean="0">
                <a:solidFill>
                  <a:srgbClr val="0070C0"/>
                </a:solidFill>
              </a:rPr>
              <a:t>serial.c</a:t>
            </a:r>
            <a:endParaRPr lang="en-US" altLang="zh-CN" dirty="0" smtClean="0">
              <a:solidFill>
                <a:srgbClr val="0070C0"/>
              </a:solidFill>
            </a:endParaRPr>
          </a:p>
          <a:p>
            <a:pPr marL="1371600" lvl="3" indent="0">
              <a:buNone/>
            </a:pPr>
            <a:r>
              <a:rPr lang="en-US" altLang="zh-CN" dirty="0"/>
              <a:t>		</a:t>
            </a:r>
            <a:endParaRPr lang="en-US" altLang="zh-CN" dirty="0" smtClean="0"/>
          </a:p>
          <a:p>
            <a:pPr marL="1371600" lvl="3" indent="0">
              <a:buNone/>
            </a:pPr>
            <a:endParaRPr lang="en-US" altLang="zh-CN" dirty="0" smtClean="0">
              <a:solidFill>
                <a:srgbClr val="00B050"/>
              </a:solidFill>
            </a:endParaRPr>
          </a:p>
          <a:p>
            <a:pPr lvl="3"/>
            <a:r>
              <a:rPr lang="zh-CN" altLang="en-US" dirty="0" smtClean="0"/>
              <a:t>驱动程序：</a:t>
            </a:r>
            <a:r>
              <a:rPr lang="en-US" altLang="zh-CN" dirty="0" smtClean="0">
                <a:solidFill>
                  <a:srgbClr val="0070C0"/>
                </a:solidFill>
              </a:rPr>
              <a:t>kernel/</a:t>
            </a:r>
            <a:r>
              <a:rPr lang="en-US" altLang="zh-CN" dirty="0" err="1" smtClean="0">
                <a:solidFill>
                  <a:srgbClr val="0070C0"/>
                </a:solidFill>
              </a:rPr>
              <a:t>src</a:t>
            </a:r>
            <a:r>
              <a:rPr lang="en-US" altLang="zh-CN" dirty="0" smtClean="0">
                <a:solidFill>
                  <a:srgbClr val="0070C0"/>
                </a:solidFill>
              </a:rPr>
              <a:t>/lib/</a:t>
            </a:r>
            <a:r>
              <a:rPr lang="en-US" altLang="zh-CN" dirty="0" err="1" smtClean="0">
                <a:solidFill>
                  <a:srgbClr val="0070C0"/>
                </a:solidFill>
              </a:rPr>
              <a:t>serial.c</a:t>
            </a:r>
            <a:endParaRPr lang="en-US" altLang="zh-CN" dirty="0" smtClean="0">
              <a:solidFill>
                <a:srgbClr val="00B050"/>
              </a:solidFill>
            </a:endParaRPr>
          </a:p>
          <a:p>
            <a:pPr marL="1371600" lvl="3" indent="0">
              <a:buNone/>
            </a:pPr>
            <a:endParaRPr lang="zh-CN" altLang="en-US" dirty="0">
              <a:solidFill>
                <a:srgbClr val="00B050"/>
              </a:solidFill>
            </a:endParaRPr>
          </a:p>
        </p:txBody>
      </p:sp>
      <p:sp>
        <p:nvSpPr>
          <p:cNvPr id="3" name="矩形 2"/>
          <p:cNvSpPr/>
          <p:nvPr/>
        </p:nvSpPr>
        <p:spPr>
          <a:xfrm>
            <a:off x="3379602" y="4135109"/>
            <a:ext cx="5598977" cy="369332"/>
          </a:xfrm>
          <a:prstGeom prst="rect">
            <a:avLst/>
          </a:prstGeom>
          <a:ln>
            <a:solidFill>
              <a:schemeClr val="tx1"/>
            </a:solidFill>
            <a:prstDash val="dash"/>
          </a:ln>
        </p:spPr>
        <p:txBody>
          <a:bodyPr wrap="square">
            <a:spAutoFit/>
          </a:bodyPr>
          <a:lstStyle/>
          <a:p>
            <a:r>
              <a:rPr lang="en-US" altLang="zh-CN" dirty="0" err="1" smtClean="0"/>
              <a:t>make_pio_handler</a:t>
            </a:r>
            <a:r>
              <a:rPr lang="en-US" altLang="zh-CN" dirty="0" smtClean="0"/>
              <a:t>(</a:t>
            </a:r>
            <a:r>
              <a:rPr lang="en-US" altLang="zh-CN" dirty="0" err="1" smtClean="0">
                <a:solidFill>
                  <a:srgbClr val="7030A0"/>
                </a:solidFill>
              </a:rPr>
              <a:t>handler_serial</a:t>
            </a:r>
            <a:r>
              <a:rPr lang="en-US" altLang="zh-CN" dirty="0" smtClean="0"/>
              <a:t>) </a:t>
            </a:r>
            <a:r>
              <a:rPr lang="en-US" altLang="zh-CN" dirty="0"/>
              <a:t>{…}</a:t>
            </a:r>
            <a:r>
              <a:rPr lang="en-US" altLang="zh-CN" dirty="0">
                <a:solidFill>
                  <a:srgbClr val="00B050"/>
                </a:solidFill>
              </a:rPr>
              <a:t> // </a:t>
            </a:r>
            <a:r>
              <a:rPr lang="zh-CN" altLang="en-US" dirty="0">
                <a:solidFill>
                  <a:srgbClr val="00B050"/>
                </a:solidFill>
              </a:rPr>
              <a:t>响应端口读写</a:t>
            </a:r>
            <a:endParaRPr lang="zh-CN" altLang="en-US" dirty="0"/>
          </a:p>
        </p:txBody>
      </p:sp>
      <p:sp>
        <p:nvSpPr>
          <p:cNvPr id="6" name="矩形 5"/>
          <p:cNvSpPr/>
          <p:nvPr/>
        </p:nvSpPr>
        <p:spPr>
          <a:xfrm>
            <a:off x="3379602" y="3148611"/>
            <a:ext cx="5598977" cy="369332"/>
          </a:xfrm>
          <a:prstGeom prst="rect">
            <a:avLst/>
          </a:prstGeom>
          <a:ln>
            <a:solidFill>
              <a:schemeClr val="tx1"/>
            </a:solidFill>
            <a:prstDash val="dash"/>
          </a:ln>
        </p:spPr>
        <p:txBody>
          <a:bodyPr wrap="square">
            <a:spAutoFit/>
          </a:bodyPr>
          <a:lstStyle/>
          <a:p>
            <a:r>
              <a:rPr lang="en-US" altLang="zh-CN" dirty="0"/>
              <a:t>{</a:t>
            </a:r>
            <a:r>
              <a:rPr lang="en-US" altLang="zh-CN" dirty="0" err="1" smtClean="0">
                <a:solidFill>
                  <a:srgbClr val="C00000"/>
                </a:solidFill>
              </a:rPr>
              <a:t>IDE_Serial</a:t>
            </a:r>
            <a:r>
              <a:rPr lang="en-US" altLang="zh-CN" dirty="0" smtClean="0">
                <a:solidFill>
                  <a:srgbClr val="C00000"/>
                </a:solidFill>
              </a:rPr>
              <a:t> </a:t>
            </a:r>
            <a:r>
              <a:rPr lang="en-US" altLang="zh-CN" dirty="0">
                <a:solidFill>
                  <a:srgbClr val="C00000"/>
                </a:solidFill>
              </a:rPr>
              <a:t>+ [0-7], </a:t>
            </a:r>
            <a:r>
              <a:rPr lang="en-US" altLang="zh-CN" dirty="0" err="1" smtClean="0">
                <a:solidFill>
                  <a:srgbClr val="7030A0"/>
                </a:solidFill>
              </a:rPr>
              <a:t>handler_serial</a:t>
            </a:r>
            <a:r>
              <a:rPr lang="en-US" altLang="zh-CN" dirty="0" smtClean="0"/>
              <a:t>}</a:t>
            </a:r>
            <a:endParaRPr lang="zh-CN" altLang="en-US" dirty="0"/>
          </a:p>
        </p:txBody>
      </p:sp>
      <p:sp>
        <p:nvSpPr>
          <p:cNvPr id="7" name="矩形 6"/>
          <p:cNvSpPr/>
          <p:nvPr/>
        </p:nvSpPr>
        <p:spPr>
          <a:xfrm>
            <a:off x="3379602" y="5222384"/>
            <a:ext cx="5598977" cy="1200329"/>
          </a:xfrm>
          <a:prstGeom prst="rect">
            <a:avLst/>
          </a:prstGeom>
          <a:ln>
            <a:solidFill>
              <a:schemeClr val="tx1"/>
            </a:solidFill>
            <a:prstDash val="dash"/>
          </a:ln>
        </p:spPr>
        <p:txBody>
          <a:bodyPr wrap="square">
            <a:spAutoFit/>
          </a:bodyPr>
          <a:lstStyle/>
          <a:p>
            <a:r>
              <a:rPr lang="en-US" altLang="zh-CN" dirty="0"/>
              <a:t>v</a:t>
            </a:r>
            <a:r>
              <a:rPr lang="en-US" altLang="zh-CN" dirty="0" smtClean="0"/>
              <a:t>oid </a:t>
            </a:r>
            <a:r>
              <a:rPr lang="en-US" altLang="zh-CN" dirty="0" err="1" smtClean="0"/>
              <a:t>serial_printc</a:t>
            </a:r>
            <a:r>
              <a:rPr lang="en-US" altLang="zh-CN" dirty="0" smtClean="0"/>
              <a:t>(char </a:t>
            </a:r>
            <a:r>
              <a:rPr lang="en-US" altLang="zh-CN" dirty="0" err="1"/>
              <a:t>ch</a:t>
            </a:r>
            <a:r>
              <a:rPr lang="en-US" altLang="zh-CN" dirty="0"/>
              <a:t>) </a:t>
            </a:r>
            <a:r>
              <a:rPr lang="en-US" altLang="zh-CN" dirty="0" smtClean="0"/>
              <a:t>{ </a:t>
            </a:r>
            <a:r>
              <a:rPr lang="en-US" altLang="zh-CN" dirty="0" smtClean="0">
                <a:solidFill>
                  <a:srgbClr val="00B050"/>
                </a:solidFill>
              </a:rPr>
              <a:t>// </a:t>
            </a:r>
            <a:r>
              <a:rPr lang="zh-CN" altLang="en-US" dirty="0" smtClean="0">
                <a:solidFill>
                  <a:srgbClr val="00B050"/>
                </a:solidFill>
              </a:rPr>
              <a:t>请你实现</a:t>
            </a:r>
            <a:endParaRPr lang="en-US" altLang="zh-CN" dirty="0">
              <a:solidFill>
                <a:srgbClr val="00B050"/>
              </a:solidFill>
            </a:endParaRPr>
          </a:p>
          <a:p>
            <a:r>
              <a:rPr lang="en-US" altLang="zh-CN" dirty="0"/>
              <a:t>	while (!</a:t>
            </a:r>
            <a:r>
              <a:rPr lang="en-US" altLang="zh-CN" dirty="0" err="1"/>
              <a:t>serial_idle</a:t>
            </a:r>
            <a:r>
              <a:rPr lang="en-US" altLang="zh-CN" dirty="0"/>
              <a:t>()); // wait </a:t>
            </a:r>
            <a:r>
              <a:rPr lang="en-US" altLang="zh-CN" dirty="0" err="1"/>
              <a:t>untile</a:t>
            </a:r>
            <a:r>
              <a:rPr lang="en-US" altLang="zh-CN" dirty="0"/>
              <a:t> serial is idle</a:t>
            </a:r>
          </a:p>
          <a:p>
            <a:r>
              <a:rPr lang="en-US" altLang="zh-CN" dirty="0"/>
              <a:t>	</a:t>
            </a:r>
            <a:r>
              <a:rPr lang="en-US" altLang="zh-CN" strike="sngStrike" dirty="0">
                <a:solidFill>
                  <a:srgbClr val="FF0000"/>
                </a:solidFill>
              </a:rPr>
              <a:t>panic("please print \'</a:t>
            </a:r>
            <a:r>
              <a:rPr lang="en-US" altLang="zh-CN" strike="sngStrike" dirty="0" err="1">
                <a:solidFill>
                  <a:srgbClr val="FF0000"/>
                </a:solidFill>
              </a:rPr>
              <a:t>ch</a:t>
            </a:r>
            <a:r>
              <a:rPr lang="en-US" altLang="zh-CN" strike="sngStrike" dirty="0">
                <a:solidFill>
                  <a:srgbClr val="FF0000"/>
                </a:solidFill>
              </a:rPr>
              <a:t>\' via out instruction");</a:t>
            </a:r>
          </a:p>
          <a:p>
            <a:r>
              <a:rPr lang="en-US" altLang="zh-CN" dirty="0"/>
              <a:t>}</a:t>
            </a:r>
          </a:p>
        </p:txBody>
      </p:sp>
      <p:sp>
        <p:nvSpPr>
          <p:cNvPr id="9" name="矩形 8"/>
          <p:cNvSpPr/>
          <p:nvPr/>
        </p:nvSpPr>
        <p:spPr>
          <a:xfrm>
            <a:off x="156232" y="4404791"/>
            <a:ext cx="2563994" cy="2357890"/>
          </a:xfrm>
          <a:prstGeom prst="rect">
            <a:avLst/>
          </a:prstGeom>
          <a:solidFill>
            <a:schemeClr val="bg1">
              <a:alpha val="90000"/>
            </a:schemeClr>
          </a:solidFill>
        </p:spPr>
        <p:txBody>
          <a:bodyPr wrap="square">
            <a:spAutoFit/>
          </a:bodyPr>
          <a:lstStyle/>
          <a:p>
            <a:pPr algn="just">
              <a:lnSpc>
                <a:spcPct val="156000"/>
              </a:lnSpc>
              <a:spcBef>
                <a:spcPts val="600"/>
              </a:spcBef>
              <a:spcAft>
                <a:spcPts val="1450"/>
              </a:spcAft>
            </a:pPr>
            <a:r>
              <a:rPr lang="en-US" altLang="zh-CN" sz="1200" b="1" kern="100" dirty="0">
                <a:latin typeface="等线 Light" panose="02010600030101010101" pitchFamily="2" charset="-122"/>
                <a:ea typeface="等线 Light" panose="02010600030101010101" pitchFamily="2" charset="-122"/>
                <a:cs typeface="Times New Roman" panose="02020603050405020304" pitchFamily="18" charset="0"/>
              </a:rPr>
              <a:t>§4-2.3.1 </a:t>
            </a:r>
            <a:r>
              <a:rPr lang="zh-CN" altLang="zh-CN" sz="1200" b="1" kern="100" dirty="0">
                <a:latin typeface="等线 Light" panose="02010600030101010101" pitchFamily="2" charset="-122"/>
                <a:ea typeface="等线 Light" panose="02010600030101010101" pitchFamily="2" charset="-122"/>
                <a:cs typeface="Times New Roman" panose="02020603050405020304" pitchFamily="18" charset="0"/>
              </a:rPr>
              <a:t>完成串口的</a:t>
            </a:r>
            <a:r>
              <a:rPr lang="zh-CN" altLang="zh-CN" sz="1200" b="1" kern="100" dirty="0" smtClean="0">
                <a:latin typeface="等线 Light" panose="02010600030101010101" pitchFamily="2" charset="-122"/>
                <a:ea typeface="等线 Light" panose="02010600030101010101" pitchFamily="2" charset="-122"/>
                <a:cs typeface="Times New Roman" panose="02020603050405020304" pitchFamily="18" charset="0"/>
              </a:rPr>
              <a:t>模拟</a:t>
            </a:r>
          </a:p>
          <a:p>
            <a:pPr marL="342900" lvl="0" indent="-342900" algn="just">
              <a:spcBef>
                <a:spcPts val="600"/>
              </a:spcBef>
              <a:spcAft>
                <a:spcPts val="0"/>
              </a:spcAft>
              <a:buFont typeface="+mj-lt"/>
              <a:buAutoNum type="arabicPeriod"/>
            </a:pPr>
            <a:r>
              <a:rPr lang="zh-CN" altLang="zh-CN" sz="1200" kern="100" dirty="0" smtClean="0">
                <a:latin typeface="等线" panose="02010600030101010101" pitchFamily="2" charset="-122"/>
                <a:cs typeface="Times New Roman" panose="02020603050405020304" pitchFamily="18" charset="0"/>
              </a:rPr>
              <a:t>在</a:t>
            </a:r>
            <a:r>
              <a:rPr lang="en-US" altLang="zh-CN" sz="1200" kern="100" dirty="0" smtClean="0">
                <a:solidFill>
                  <a:srgbClr val="1F4E79"/>
                </a:solidFill>
                <a:latin typeface="等线" panose="02010600030101010101" pitchFamily="2" charset="-122"/>
                <a:cs typeface="Times New Roman" panose="02020603050405020304" pitchFamily="18" charset="0"/>
              </a:rPr>
              <a:t>include/</a:t>
            </a:r>
            <a:r>
              <a:rPr lang="en-US" altLang="zh-CN" sz="1200" kern="100" dirty="0" err="1" smtClean="0">
                <a:solidFill>
                  <a:srgbClr val="1F4E79"/>
                </a:solidFill>
                <a:latin typeface="等线" panose="02010600030101010101" pitchFamily="2" charset="-122"/>
                <a:cs typeface="Times New Roman" panose="02020603050405020304" pitchFamily="18" charset="0"/>
              </a:rPr>
              <a:t>config.h</a:t>
            </a:r>
            <a:r>
              <a:rPr lang="zh-CN" altLang="zh-CN" sz="1200" kern="100" dirty="0" smtClean="0">
                <a:latin typeface="等线" panose="02010600030101010101" pitchFamily="2" charset="-122"/>
                <a:cs typeface="Times New Roman" panose="02020603050405020304" pitchFamily="18" charset="0"/>
              </a:rPr>
              <a:t>中定义宏</a:t>
            </a:r>
            <a:r>
              <a:rPr lang="en-US" altLang="zh-CN" sz="1200" kern="100" dirty="0" smtClean="0">
                <a:solidFill>
                  <a:srgbClr val="1F4E79"/>
                </a:solidFill>
                <a:latin typeface="等线" panose="02010600030101010101" pitchFamily="2" charset="-122"/>
                <a:cs typeface="Times New Roman" panose="02020603050405020304" pitchFamily="18" charset="0"/>
              </a:rPr>
              <a:t>HAS_DEVICE_SERIAL</a:t>
            </a:r>
            <a:r>
              <a:rPr lang="zh-CN" altLang="zh-CN" sz="1200" kern="100" dirty="0" smtClean="0">
                <a:latin typeface="等线" panose="02010600030101010101" pitchFamily="2" charset="-122"/>
                <a:cs typeface="Times New Roman" panose="02020603050405020304" pitchFamily="18" charset="0"/>
              </a:rPr>
              <a:t>并</a:t>
            </a:r>
            <a:r>
              <a:rPr lang="en-US" altLang="zh-CN" sz="1200" kern="100" dirty="0" smtClean="0">
                <a:solidFill>
                  <a:srgbClr val="1F4E79"/>
                </a:solidFill>
                <a:latin typeface="等线" panose="02010600030101010101" pitchFamily="2" charset="-122"/>
                <a:cs typeface="Times New Roman" panose="02020603050405020304" pitchFamily="18" charset="0"/>
              </a:rPr>
              <a:t>make clean</a:t>
            </a:r>
            <a:r>
              <a:rPr lang="zh-CN" altLang="zh-CN" sz="1200" kern="100" dirty="0" smtClean="0">
                <a:latin typeface="等线" panose="02010600030101010101" pitchFamily="2" charset="-122"/>
                <a:cs typeface="Times New Roman" panose="02020603050405020304" pitchFamily="18" charset="0"/>
              </a:rPr>
              <a:t>；</a:t>
            </a:r>
          </a:p>
          <a:p>
            <a:pPr marL="342900" lvl="0" indent="-342900" algn="just">
              <a:spcBef>
                <a:spcPts val="600"/>
              </a:spcBef>
              <a:spcAft>
                <a:spcPts val="0"/>
              </a:spcAft>
              <a:buFont typeface="+mj-lt"/>
              <a:buAutoNum type="arabicPeriod"/>
            </a:pPr>
            <a:r>
              <a:rPr lang="zh-CN" altLang="zh-CN" sz="1200" kern="100" dirty="0" smtClean="0">
                <a:latin typeface="等线" panose="02010600030101010101" pitchFamily="2" charset="-122"/>
                <a:cs typeface="Times New Roman" panose="02020603050405020304" pitchFamily="18" charset="0"/>
              </a:rPr>
              <a:t>实现</a:t>
            </a:r>
            <a:r>
              <a:rPr lang="en-US" altLang="zh-CN" sz="1200" kern="100" dirty="0">
                <a:solidFill>
                  <a:srgbClr val="1F4E79"/>
                </a:solidFill>
                <a:latin typeface="等线" panose="02010600030101010101" pitchFamily="2" charset="-122"/>
                <a:cs typeface="Times New Roman" panose="02020603050405020304" pitchFamily="18" charset="0"/>
              </a:rPr>
              <a:t>in</a:t>
            </a:r>
            <a:r>
              <a:rPr lang="zh-CN" altLang="zh-CN" sz="1200" kern="100" dirty="0">
                <a:latin typeface="等线" panose="02010600030101010101" pitchFamily="2" charset="-122"/>
                <a:cs typeface="Times New Roman" panose="02020603050405020304" pitchFamily="18" charset="0"/>
              </a:rPr>
              <a:t>和</a:t>
            </a:r>
            <a:r>
              <a:rPr lang="en-US" altLang="zh-CN" sz="1200" kern="100" dirty="0">
                <a:solidFill>
                  <a:srgbClr val="1F4E79"/>
                </a:solidFill>
                <a:latin typeface="等线" panose="02010600030101010101" pitchFamily="2" charset="-122"/>
                <a:cs typeface="Times New Roman" panose="02020603050405020304" pitchFamily="18" charset="0"/>
              </a:rPr>
              <a:t>out</a:t>
            </a:r>
            <a:r>
              <a:rPr lang="zh-CN" altLang="zh-CN" sz="1200" kern="100" dirty="0">
                <a:latin typeface="等线" panose="02010600030101010101" pitchFamily="2" charset="-122"/>
                <a:cs typeface="Times New Roman" panose="02020603050405020304" pitchFamily="18" charset="0"/>
              </a:rPr>
              <a:t>指令；</a:t>
            </a:r>
          </a:p>
          <a:p>
            <a:pPr marL="342900" lvl="0" indent="-342900" algn="just">
              <a:spcBef>
                <a:spcPts val="600"/>
              </a:spcBef>
              <a:spcAft>
                <a:spcPts val="0"/>
              </a:spcAft>
              <a:buFont typeface="+mj-lt"/>
              <a:buAutoNum type="arabicPeriod"/>
            </a:pPr>
            <a:r>
              <a:rPr lang="zh-CN" altLang="zh-CN" sz="1200" kern="100" dirty="0">
                <a:latin typeface="等线" panose="02010600030101010101" pitchFamily="2" charset="-122"/>
                <a:cs typeface="Times New Roman" panose="02020603050405020304" pitchFamily="18" charset="0"/>
              </a:rPr>
              <a:t>实现</a:t>
            </a:r>
            <a:r>
              <a:rPr lang="en-US" altLang="zh-CN" sz="1200" kern="100" dirty="0" err="1">
                <a:solidFill>
                  <a:srgbClr val="1F4E79"/>
                </a:solidFill>
                <a:latin typeface="等线" panose="02010600030101010101" pitchFamily="2" charset="-122"/>
                <a:cs typeface="Times New Roman" panose="02020603050405020304" pitchFamily="18" charset="0"/>
              </a:rPr>
              <a:t>serial_printc</a:t>
            </a:r>
            <a:r>
              <a:rPr lang="en-US" altLang="zh-CN" sz="1200" kern="100" dirty="0">
                <a:solidFill>
                  <a:srgbClr val="1F4E79"/>
                </a:solidFill>
                <a:latin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cs typeface="Times New Roman" panose="02020603050405020304" pitchFamily="18" charset="0"/>
              </a:rPr>
              <a:t>函数；</a:t>
            </a:r>
          </a:p>
          <a:p>
            <a:pPr marL="342900" lvl="0" indent="-342900" algn="just">
              <a:spcBef>
                <a:spcPts val="600"/>
              </a:spcBef>
              <a:spcAft>
                <a:spcPts val="0"/>
              </a:spcAft>
              <a:buFont typeface="+mj-lt"/>
              <a:buAutoNum type="arabicPeriod"/>
            </a:pPr>
            <a:r>
              <a:rPr lang="zh-CN" altLang="zh-CN" sz="1200" kern="100" dirty="0">
                <a:latin typeface="等线" panose="02010600030101010101" pitchFamily="2" charset="-122"/>
                <a:cs typeface="Times New Roman" panose="02020603050405020304" pitchFamily="18" charset="0"/>
              </a:rPr>
              <a:t>运行</a:t>
            </a:r>
            <a:r>
              <a:rPr lang="en-US" altLang="zh-CN" sz="1200" kern="100" dirty="0">
                <a:solidFill>
                  <a:srgbClr val="1F4E79"/>
                </a:solidFill>
                <a:latin typeface="等线" panose="02010600030101010101" pitchFamily="2" charset="-122"/>
                <a:cs typeface="Times New Roman" panose="02020603050405020304" pitchFamily="18" charset="0"/>
              </a:rPr>
              <a:t>hello-inline</a:t>
            </a:r>
            <a:r>
              <a:rPr lang="zh-CN" altLang="zh-CN" sz="1200" kern="100" dirty="0">
                <a:latin typeface="等线" panose="02010600030101010101" pitchFamily="2" charset="-122"/>
                <a:cs typeface="Times New Roman" panose="02020603050405020304" pitchFamily="18" charset="0"/>
              </a:rPr>
              <a:t>测试用例，对比实现串口前后的输出内容的区别。</a:t>
            </a:r>
          </a:p>
        </p:txBody>
      </p:sp>
      <p:sp>
        <p:nvSpPr>
          <p:cNvPr id="5" name="文本框 4"/>
          <p:cNvSpPr txBox="1"/>
          <p:nvPr/>
        </p:nvSpPr>
        <p:spPr>
          <a:xfrm>
            <a:off x="395168" y="3717335"/>
            <a:ext cx="646331" cy="369332"/>
          </a:xfrm>
          <a:prstGeom prst="rect">
            <a:avLst/>
          </a:prstGeom>
          <a:noFill/>
        </p:spPr>
        <p:txBody>
          <a:bodyPr wrap="none" rtlCol="0">
            <a:spAutoFit/>
          </a:bodyPr>
          <a:lstStyle/>
          <a:p>
            <a:r>
              <a:rPr lang="zh-CN" altLang="en-US" dirty="0" smtClean="0">
                <a:solidFill>
                  <a:srgbClr val="FF0000"/>
                </a:solidFill>
              </a:rPr>
              <a:t>任务</a:t>
            </a:r>
            <a:endParaRPr lang="zh-CN" altLang="en-US" dirty="0">
              <a:solidFill>
                <a:srgbClr val="FF0000"/>
              </a:solidFill>
            </a:endParaRPr>
          </a:p>
        </p:txBody>
      </p:sp>
      <p:cxnSp>
        <p:nvCxnSpPr>
          <p:cNvPr id="11" name="直接箭头连接符 10"/>
          <p:cNvCxnSpPr>
            <a:stCxn id="5" idx="2"/>
          </p:cNvCxnSpPr>
          <p:nvPr/>
        </p:nvCxnSpPr>
        <p:spPr>
          <a:xfrm>
            <a:off x="718334" y="4086667"/>
            <a:ext cx="90382" cy="356674"/>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8536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外设与</a:t>
            </a:r>
            <a:r>
              <a:rPr lang="en-US" altLang="zh-CN" dirty="0"/>
              <a:t>I/O</a:t>
            </a:r>
            <a:endParaRPr lang="zh-CN" altLang="en-US" dirty="0"/>
          </a:p>
        </p:txBody>
      </p:sp>
      <p:sp>
        <p:nvSpPr>
          <p:cNvPr id="4" name="内容占位符 2"/>
          <p:cNvSpPr>
            <a:spLocks noGrp="1"/>
          </p:cNvSpPr>
          <p:nvPr>
            <p:ph idx="1"/>
          </p:nvPr>
        </p:nvSpPr>
        <p:spPr>
          <a:xfrm>
            <a:off x="628649" y="1182255"/>
            <a:ext cx="8276411" cy="5080696"/>
          </a:xfrm>
        </p:spPr>
        <p:txBody>
          <a:bodyPr/>
          <a:lstStyle/>
          <a:p>
            <a:r>
              <a:rPr lang="en-US" altLang="zh-CN" dirty="0" smtClean="0"/>
              <a:t>CPU</a:t>
            </a:r>
            <a:r>
              <a:rPr lang="zh-CN" altLang="en-US" dirty="0" smtClean="0"/>
              <a:t>如何向外设进行输入输出？</a:t>
            </a:r>
            <a:endParaRPr lang="en-US" altLang="zh-CN" dirty="0" smtClean="0"/>
          </a:p>
          <a:p>
            <a:pPr lvl="1"/>
            <a:r>
              <a:rPr lang="zh-CN" altLang="en-US" dirty="0" smtClean="0"/>
              <a:t>方式</a:t>
            </a:r>
            <a:r>
              <a:rPr lang="en-US" altLang="zh-CN" dirty="0" smtClean="0"/>
              <a:t>1</a:t>
            </a:r>
            <a:r>
              <a:rPr lang="zh-CN" altLang="en-US" dirty="0" smtClean="0"/>
              <a:t>：端口</a:t>
            </a:r>
            <a:r>
              <a:rPr lang="zh-CN" altLang="en-US" dirty="0"/>
              <a:t>映射</a:t>
            </a:r>
            <a:r>
              <a:rPr lang="en-US" altLang="zh-CN" dirty="0"/>
              <a:t>I/O(port-mapped I/O</a:t>
            </a:r>
            <a:r>
              <a:rPr lang="en-US" altLang="zh-CN" dirty="0" smtClean="0"/>
              <a:t>)</a:t>
            </a:r>
          </a:p>
          <a:p>
            <a:pPr lvl="1"/>
            <a:r>
              <a:rPr lang="en-US" altLang="zh-CN" dirty="0" smtClean="0"/>
              <a:t>NEMU</a:t>
            </a:r>
            <a:r>
              <a:rPr lang="zh-CN" altLang="en-US" dirty="0" smtClean="0"/>
              <a:t>中典型的端口映射</a:t>
            </a:r>
            <a:r>
              <a:rPr lang="en-US" altLang="zh-CN" dirty="0" smtClean="0"/>
              <a:t>I/O</a:t>
            </a:r>
            <a:r>
              <a:rPr lang="zh-CN" altLang="en-US" dirty="0" smtClean="0"/>
              <a:t>设备</a:t>
            </a:r>
            <a:endParaRPr lang="en-US" altLang="zh-CN" dirty="0" smtClean="0"/>
          </a:p>
          <a:p>
            <a:pPr lvl="2"/>
            <a:r>
              <a:rPr lang="zh-CN" altLang="en-US" dirty="0" smtClean="0"/>
              <a:t>硬盘（</a:t>
            </a:r>
            <a:r>
              <a:rPr lang="en-US" altLang="zh-CN" dirty="0" smtClean="0"/>
              <a:t>IDE</a:t>
            </a:r>
            <a:r>
              <a:rPr lang="zh-CN" altLang="en-US" dirty="0" smtClean="0"/>
              <a:t>）</a:t>
            </a:r>
            <a:endParaRPr lang="en-US" altLang="zh-CN" dirty="0" smtClean="0"/>
          </a:p>
          <a:p>
            <a:pPr lvl="3"/>
            <a:r>
              <a:rPr lang="zh-CN" altLang="en-US" dirty="0" smtClean="0"/>
              <a:t>端口映射：</a:t>
            </a:r>
            <a:r>
              <a:rPr lang="en-US" altLang="zh-CN" dirty="0" err="1" smtClean="0">
                <a:solidFill>
                  <a:srgbClr val="0070C0"/>
                </a:solidFill>
              </a:rPr>
              <a:t>nemu</a:t>
            </a:r>
            <a:r>
              <a:rPr lang="en-US" altLang="zh-CN" dirty="0" smtClean="0">
                <a:solidFill>
                  <a:srgbClr val="0070C0"/>
                </a:solidFill>
              </a:rPr>
              <a:t>/</a:t>
            </a:r>
            <a:r>
              <a:rPr lang="en-US" altLang="zh-CN" dirty="0" err="1" smtClean="0">
                <a:solidFill>
                  <a:srgbClr val="0070C0"/>
                </a:solidFill>
              </a:rPr>
              <a:t>src</a:t>
            </a:r>
            <a:r>
              <a:rPr lang="en-US" altLang="zh-CN" dirty="0" smtClean="0">
                <a:solidFill>
                  <a:srgbClr val="0070C0"/>
                </a:solidFill>
              </a:rPr>
              <a:t>/device/</a:t>
            </a:r>
            <a:r>
              <a:rPr lang="en-US" altLang="zh-CN" dirty="0" err="1" smtClean="0">
                <a:solidFill>
                  <a:srgbClr val="0070C0"/>
                </a:solidFill>
              </a:rPr>
              <a:t>io</a:t>
            </a:r>
            <a:r>
              <a:rPr lang="en-US" altLang="zh-CN" dirty="0" smtClean="0">
                <a:solidFill>
                  <a:srgbClr val="0070C0"/>
                </a:solidFill>
              </a:rPr>
              <a:t>/</a:t>
            </a:r>
            <a:r>
              <a:rPr lang="en-US" altLang="zh-CN" dirty="0" err="1" smtClean="0">
                <a:solidFill>
                  <a:srgbClr val="0070C0"/>
                </a:solidFill>
              </a:rPr>
              <a:t>port_io.c</a:t>
            </a:r>
            <a:endParaRPr lang="en-US" altLang="zh-CN" dirty="0" smtClean="0">
              <a:solidFill>
                <a:srgbClr val="0070C0"/>
              </a:solidFill>
            </a:endParaRPr>
          </a:p>
          <a:p>
            <a:pPr marL="1371600" lvl="3" indent="0">
              <a:buNone/>
            </a:pPr>
            <a:r>
              <a:rPr lang="en-US" altLang="zh-CN" dirty="0"/>
              <a:t>	</a:t>
            </a:r>
            <a:r>
              <a:rPr lang="en-US" altLang="zh-CN" dirty="0" smtClean="0"/>
              <a:t>	</a:t>
            </a:r>
          </a:p>
          <a:p>
            <a:pPr marL="1371600" lvl="3" indent="0">
              <a:buNone/>
            </a:pPr>
            <a:endParaRPr lang="en-US" altLang="zh-CN" dirty="0" smtClean="0"/>
          </a:p>
          <a:p>
            <a:pPr lvl="3"/>
            <a:r>
              <a:rPr lang="zh-CN" altLang="en-US" dirty="0" smtClean="0"/>
              <a:t>设备模拟：</a:t>
            </a:r>
            <a:r>
              <a:rPr lang="en-US" altLang="zh-CN" dirty="0" err="1" smtClean="0">
                <a:solidFill>
                  <a:srgbClr val="0070C0"/>
                </a:solidFill>
              </a:rPr>
              <a:t>nemu</a:t>
            </a:r>
            <a:r>
              <a:rPr lang="en-US" altLang="zh-CN" dirty="0" smtClean="0">
                <a:solidFill>
                  <a:srgbClr val="0070C0"/>
                </a:solidFill>
              </a:rPr>
              <a:t>/</a:t>
            </a:r>
            <a:r>
              <a:rPr lang="en-US" altLang="zh-CN" dirty="0" err="1" smtClean="0">
                <a:solidFill>
                  <a:srgbClr val="0070C0"/>
                </a:solidFill>
              </a:rPr>
              <a:t>src</a:t>
            </a:r>
            <a:r>
              <a:rPr lang="en-US" altLang="zh-CN" dirty="0" smtClean="0">
                <a:solidFill>
                  <a:srgbClr val="0070C0"/>
                </a:solidFill>
              </a:rPr>
              <a:t>/device/dev/</a:t>
            </a:r>
            <a:r>
              <a:rPr lang="en-US" altLang="zh-CN" dirty="0" err="1" smtClean="0">
                <a:solidFill>
                  <a:srgbClr val="0070C0"/>
                </a:solidFill>
              </a:rPr>
              <a:t>ide.c</a:t>
            </a:r>
            <a:endParaRPr lang="en-US" altLang="zh-CN" dirty="0" smtClean="0">
              <a:solidFill>
                <a:srgbClr val="0070C0"/>
              </a:solidFill>
            </a:endParaRPr>
          </a:p>
          <a:p>
            <a:pPr marL="1371600" lvl="3" indent="0">
              <a:buNone/>
            </a:pPr>
            <a:r>
              <a:rPr lang="en-US" altLang="zh-CN" dirty="0"/>
              <a:t>		</a:t>
            </a:r>
            <a:endParaRPr lang="en-US" altLang="zh-CN" dirty="0" smtClean="0"/>
          </a:p>
          <a:p>
            <a:pPr marL="1371600" lvl="3" indent="0">
              <a:buNone/>
            </a:pPr>
            <a:endParaRPr lang="en-US" altLang="zh-CN" dirty="0" smtClean="0">
              <a:solidFill>
                <a:srgbClr val="00B050"/>
              </a:solidFill>
            </a:endParaRPr>
          </a:p>
          <a:p>
            <a:pPr lvl="3"/>
            <a:r>
              <a:rPr lang="zh-CN" altLang="en-US" dirty="0" smtClean="0"/>
              <a:t>驱动程序：</a:t>
            </a:r>
            <a:r>
              <a:rPr lang="en-US" altLang="zh-CN" dirty="0" smtClean="0">
                <a:solidFill>
                  <a:srgbClr val="0070C0"/>
                </a:solidFill>
              </a:rPr>
              <a:t>kernel/</a:t>
            </a:r>
            <a:r>
              <a:rPr lang="en-US" altLang="zh-CN" dirty="0" err="1" smtClean="0">
                <a:solidFill>
                  <a:srgbClr val="0070C0"/>
                </a:solidFill>
              </a:rPr>
              <a:t>src</a:t>
            </a:r>
            <a:r>
              <a:rPr lang="en-US" altLang="zh-CN" dirty="0" smtClean="0">
                <a:solidFill>
                  <a:srgbClr val="0070C0"/>
                </a:solidFill>
              </a:rPr>
              <a:t>/driver/</a:t>
            </a:r>
            <a:r>
              <a:rPr lang="en-US" altLang="zh-CN" dirty="0" err="1" smtClean="0">
                <a:solidFill>
                  <a:srgbClr val="0070C0"/>
                </a:solidFill>
              </a:rPr>
              <a:t>disk.c</a:t>
            </a:r>
            <a:r>
              <a:rPr lang="en-US" altLang="zh-CN" dirty="0" smtClean="0"/>
              <a:t>   </a:t>
            </a:r>
            <a:r>
              <a:rPr lang="en-US" altLang="zh-CN" dirty="0" smtClean="0">
                <a:solidFill>
                  <a:srgbClr val="00B050"/>
                </a:solidFill>
              </a:rPr>
              <a:t> // </a:t>
            </a:r>
            <a:r>
              <a:rPr lang="zh-CN" altLang="en-US" dirty="0" smtClean="0">
                <a:solidFill>
                  <a:srgbClr val="00B050"/>
                </a:solidFill>
              </a:rPr>
              <a:t>底层驱动</a:t>
            </a:r>
            <a:endParaRPr lang="en-US" altLang="zh-CN" dirty="0" smtClean="0">
              <a:solidFill>
                <a:srgbClr val="00B050"/>
              </a:solidFill>
            </a:endParaRPr>
          </a:p>
          <a:p>
            <a:pPr marL="1371600" lvl="3" indent="0">
              <a:buNone/>
            </a:pPr>
            <a:r>
              <a:rPr lang="en-US" altLang="zh-CN" dirty="0">
                <a:solidFill>
                  <a:srgbClr val="00B050"/>
                </a:solidFill>
              </a:rPr>
              <a:t>	</a:t>
            </a:r>
            <a:r>
              <a:rPr lang="en-US" altLang="zh-CN" dirty="0" smtClean="0">
                <a:solidFill>
                  <a:srgbClr val="00B050"/>
                </a:solidFill>
              </a:rPr>
              <a:t>	</a:t>
            </a:r>
            <a:r>
              <a:rPr lang="en-US" altLang="zh-CN" dirty="0" smtClean="0">
                <a:solidFill>
                  <a:srgbClr val="0070C0"/>
                </a:solidFill>
              </a:rPr>
              <a:t>kernel/</a:t>
            </a:r>
            <a:r>
              <a:rPr lang="en-US" altLang="zh-CN" dirty="0" err="1" smtClean="0">
                <a:solidFill>
                  <a:srgbClr val="0070C0"/>
                </a:solidFill>
              </a:rPr>
              <a:t>src</a:t>
            </a:r>
            <a:r>
              <a:rPr lang="en-US" altLang="zh-CN" dirty="0" smtClean="0">
                <a:solidFill>
                  <a:srgbClr val="0070C0"/>
                </a:solidFill>
              </a:rPr>
              <a:t>/driver/</a:t>
            </a:r>
            <a:r>
              <a:rPr lang="en-US" altLang="zh-CN" dirty="0" err="1" smtClean="0">
                <a:solidFill>
                  <a:srgbClr val="0070C0"/>
                </a:solidFill>
              </a:rPr>
              <a:t>ide.c</a:t>
            </a:r>
            <a:r>
              <a:rPr lang="en-US" altLang="zh-CN" dirty="0" smtClean="0"/>
              <a:t>   </a:t>
            </a:r>
            <a:r>
              <a:rPr lang="en-US" altLang="zh-CN" dirty="0" smtClean="0">
                <a:solidFill>
                  <a:srgbClr val="00B050"/>
                </a:solidFill>
              </a:rPr>
              <a:t>  // </a:t>
            </a:r>
            <a:r>
              <a:rPr lang="zh-CN" altLang="en-US" dirty="0" smtClean="0">
                <a:solidFill>
                  <a:srgbClr val="00B050"/>
                </a:solidFill>
              </a:rPr>
              <a:t>上层磁盘读写接口</a:t>
            </a:r>
            <a:endParaRPr lang="en-US" altLang="zh-CN" dirty="0">
              <a:solidFill>
                <a:srgbClr val="00B050"/>
              </a:solidFill>
            </a:endParaRPr>
          </a:p>
          <a:p>
            <a:pPr marL="1371600" lvl="3" indent="0">
              <a:buNone/>
            </a:pPr>
            <a:endParaRPr lang="zh-CN" altLang="en-US" dirty="0">
              <a:solidFill>
                <a:srgbClr val="00B050"/>
              </a:solidFill>
            </a:endParaRPr>
          </a:p>
        </p:txBody>
      </p:sp>
      <p:sp>
        <p:nvSpPr>
          <p:cNvPr id="3" name="矩形 2"/>
          <p:cNvSpPr/>
          <p:nvPr/>
        </p:nvSpPr>
        <p:spPr>
          <a:xfrm>
            <a:off x="3379602" y="4135109"/>
            <a:ext cx="5598977" cy="369332"/>
          </a:xfrm>
          <a:prstGeom prst="rect">
            <a:avLst/>
          </a:prstGeom>
          <a:ln>
            <a:solidFill>
              <a:schemeClr val="tx1"/>
            </a:solidFill>
            <a:prstDash val="dash"/>
          </a:ln>
        </p:spPr>
        <p:txBody>
          <a:bodyPr wrap="square">
            <a:spAutoFit/>
          </a:bodyPr>
          <a:lstStyle/>
          <a:p>
            <a:r>
              <a:rPr lang="en-US" altLang="zh-CN" dirty="0" err="1"/>
              <a:t>make_pio_handler</a:t>
            </a:r>
            <a:r>
              <a:rPr lang="en-US" altLang="zh-CN" dirty="0"/>
              <a:t>(</a:t>
            </a:r>
            <a:r>
              <a:rPr lang="en-US" altLang="zh-CN" dirty="0" err="1">
                <a:solidFill>
                  <a:srgbClr val="7030A0"/>
                </a:solidFill>
              </a:rPr>
              <a:t>handler_ide</a:t>
            </a:r>
            <a:r>
              <a:rPr lang="en-US" altLang="zh-CN" dirty="0"/>
              <a:t>) {…}</a:t>
            </a:r>
            <a:r>
              <a:rPr lang="en-US" altLang="zh-CN" dirty="0">
                <a:solidFill>
                  <a:srgbClr val="00B050"/>
                </a:solidFill>
              </a:rPr>
              <a:t> // </a:t>
            </a:r>
            <a:r>
              <a:rPr lang="zh-CN" altLang="en-US" dirty="0">
                <a:solidFill>
                  <a:srgbClr val="00B050"/>
                </a:solidFill>
              </a:rPr>
              <a:t>响应端口读写</a:t>
            </a:r>
            <a:endParaRPr lang="zh-CN" altLang="en-US" dirty="0"/>
          </a:p>
        </p:txBody>
      </p:sp>
      <p:sp>
        <p:nvSpPr>
          <p:cNvPr id="6" name="矩形 5"/>
          <p:cNvSpPr/>
          <p:nvPr/>
        </p:nvSpPr>
        <p:spPr>
          <a:xfrm>
            <a:off x="3379602" y="3148611"/>
            <a:ext cx="5598977" cy="369332"/>
          </a:xfrm>
          <a:prstGeom prst="rect">
            <a:avLst/>
          </a:prstGeom>
          <a:ln>
            <a:solidFill>
              <a:schemeClr val="tx1"/>
            </a:solidFill>
            <a:prstDash val="dash"/>
          </a:ln>
        </p:spPr>
        <p:txBody>
          <a:bodyPr wrap="square">
            <a:spAutoFit/>
          </a:bodyPr>
          <a:lstStyle/>
          <a:p>
            <a:r>
              <a:rPr lang="en-US" altLang="zh-CN" dirty="0"/>
              <a:t>{</a:t>
            </a:r>
            <a:r>
              <a:rPr lang="en-US" altLang="zh-CN" dirty="0">
                <a:solidFill>
                  <a:srgbClr val="C00000"/>
                </a:solidFill>
              </a:rPr>
              <a:t>IDE_PORT_BASE + [0-7], </a:t>
            </a:r>
            <a:r>
              <a:rPr lang="en-US" altLang="zh-CN" dirty="0" err="1">
                <a:solidFill>
                  <a:srgbClr val="7030A0"/>
                </a:solidFill>
              </a:rPr>
              <a:t>handler_ide</a:t>
            </a:r>
            <a:r>
              <a:rPr lang="en-US" altLang="zh-CN" dirty="0"/>
              <a:t>}</a:t>
            </a:r>
            <a:endParaRPr lang="zh-CN" altLang="en-US" dirty="0"/>
          </a:p>
        </p:txBody>
      </p:sp>
      <p:sp>
        <p:nvSpPr>
          <p:cNvPr id="7" name="矩形 6"/>
          <p:cNvSpPr/>
          <p:nvPr/>
        </p:nvSpPr>
        <p:spPr>
          <a:xfrm>
            <a:off x="3379602" y="5401589"/>
            <a:ext cx="5598977" cy="646331"/>
          </a:xfrm>
          <a:prstGeom prst="rect">
            <a:avLst/>
          </a:prstGeom>
          <a:ln>
            <a:solidFill>
              <a:schemeClr val="tx1"/>
            </a:solidFill>
            <a:prstDash val="dash"/>
          </a:ln>
        </p:spPr>
        <p:txBody>
          <a:bodyPr wrap="square">
            <a:spAutoFit/>
          </a:bodyPr>
          <a:lstStyle/>
          <a:p>
            <a:r>
              <a:rPr lang="zh-CN" altLang="en-US" dirty="0"/>
              <a:t>void ide_read(uint8_t *buf, uint32_t offset, uint32_t len</a:t>
            </a:r>
            <a:r>
              <a:rPr lang="zh-CN" altLang="en-US" dirty="0" smtClean="0"/>
              <a:t>)</a:t>
            </a:r>
            <a:r>
              <a:rPr lang="en-US" altLang="zh-CN" dirty="0" smtClean="0"/>
              <a:t>;</a:t>
            </a:r>
          </a:p>
          <a:p>
            <a:r>
              <a:rPr lang="en-US" altLang="zh-CN" dirty="0"/>
              <a:t>void </a:t>
            </a:r>
            <a:r>
              <a:rPr lang="en-US" altLang="zh-CN" dirty="0" err="1"/>
              <a:t>ide_write</a:t>
            </a:r>
            <a:r>
              <a:rPr lang="en-US" altLang="zh-CN" dirty="0"/>
              <a:t>(uint8_t *</a:t>
            </a:r>
            <a:r>
              <a:rPr lang="en-US" altLang="zh-CN" dirty="0" err="1"/>
              <a:t>buf</a:t>
            </a:r>
            <a:r>
              <a:rPr lang="en-US" altLang="zh-CN" dirty="0"/>
              <a:t>, uint32_t offset, uint32_t </a:t>
            </a:r>
            <a:r>
              <a:rPr lang="en-US" altLang="zh-CN" dirty="0" err="1"/>
              <a:t>len</a:t>
            </a:r>
            <a:r>
              <a:rPr lang="en-US" altLang="zh-CN" dirty="0" smtClean="0"/>
              <a:t>);</a:t>
            </a:r>
            <a:endParaRPr lang="zh-CN" altLang="en-US" dirty="0"/>
          </a:p>
        </p:txBody>
      </p:sp>
    </p:spTree>
    <p:extLst>
      <p:ext uri="{BB962C8B-B14F-4D97-AF65-F5344CB8AC3E}">
        <p14:creationId xmlns:p14="http://schemas.microsoft.com/office/powerpoint/2010/main" val="3618259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外设与</a:t>
            </a:r>
            <a:r>
              <a:rPr lang="en-US" altLang="zh-CN" dirty="0"/>
              <a:t>I/O</a:t>
            </a:r>
            <a:endParaRPr lang="zh-CN" altLang="en-US" dirty="0"/>
          </a:p>
        </p:txBody>
      </p:sp>
      <p:sp>
        <p:nvSpPr>
          <p:cNvPr id="4" name="内容占位符 2"/>
          <p:cNvSpPr>
            <a:spLocks noGrp="1"/>
          </p:cNvSpPr>
          <p:nvPr>
            <p:ph idx="1"/>
          </p:nvPr>
        </p:nvSpPr>
        <p:spPr>
          <a:xfrm>
            <a:off x="628649" y="1182255"/>
            <a:ext cx="8276411" cy="5080696"/>
          </a:xfrm>
        </p:spPr>
        <p:txBody>
          <a:bodyPr/>
          <a:lstStyle/>
          <a:p>
            <a:r>
              <a:rPr lang="en-US" altLang="zh-CN" dirty="0" smtClean="0"/>
              <a:t>CPU</a:t>
            </a:r>
            <a:r>
              <a:rPr lang="zh-CN" altLang="en-US" dirty="0" smtClean="0"/>
              <a:t>如何向外设进行输入输出？</a:t>
            </a:r>
            <a:endParaRPr lang="en-US" altLang="zh-CN" dirty="0" smtClean="0"/>
          </a:p>
          <a:p>
            <a:pPr lvl="1"/>
            <a:r>
              <a:rPr lang="zh-CN" altLang="en-US" dirty="0" smtClean="0"/>
              <a:t>方式</a:t>
            </a:r>
            <a:r>
              <a:rPr lang="en-US" altLang="zh-CN" dirty="0" smtClean="0"/>
              <a:t>1</a:t>
            </a:r>
            <a:r>
              <a:rPr lang="zh-CN" altLang="en-US" dirty="0" smtClean="0"/>
              <a:t>：端口</a:t>
            </a:r>
            <a:r>
              <a:rPr lang="zh-CN" altLang="en-US" dirty="0"/>
              <a:t>映射</a:t>
            </a:r>
            <a:r>
              <a:rPr lang="en-US" altLang="zh-CN" dirty="0"/>
              <a:t>I/O(port-mapped I/O</a:t>
            </a:r>
            <a:r>
              <a:rPr lang="en-US" altLang="zh-CN" dirty="0" smtClean="0"/>
              <a:t>)</a:t>
            </a:r>
          </a:p>
          <a:p>
            <a:pPr lvl="1"/>
            <a:r>
              <a:rPr lang="en-US" altLang="zh-CN" dirty="0" smtClean="0"/>
              <a:t>NEMU</a:t>
            </a:r>
            <a:r>
              <a:rPr lang="zh-CN" altLang="en-US" dirty="0" smtClean="0"/>
              <a:t>中典型的端口映射</a:t>
            </a:r>
            <a:r>
              <a:rPr lang="en-US" altLang="zh-CN" dirty="0" smtClean="0"/>
              <a:t>I/O</a:t>
            </a:r>
            <a:r>
              <a:rPr lang="zh-CN" altLang="en-US" dirty="0" smtClean="0"/>
              <a:t>设备</a:t>
            </a:r>
            <a:endParaRPr lang="en-US" altLang="zh-CN" dirty="0" smtClean="0"/>
          </a:p>
          <a:p>
            <a:pPr lvl="2"/>
            <a:r>
              <a:rPr lang="zh-CN" altLang="en-US" dirty="0" smtClean="0"/>
              <a:t>硬盘（</a:t>
            </a:r>
            <a:r>
              <a:rPr lang="en-US" altLang="zh-CN" dirty="0" smtClean="0"/>
              <a:t>IDE</a:t>
            </a:r>
            <a:r>
              <a:rPr lang="zh-CN" altLang="en-US" dirty="0" smtClean="0"/>
              <a:t>）</a:t>
            </a:r>
            <a:endParaRPr lang="en-US" altLang="zh-CN" dirty="0" smtClean="0"/>
          </a:p>
          <a:p>
            <a:pPr lvl="3"/>
            <a:r>
              <a:rPr lang="zh-CN" altLang="en-US" dirty="0" smtClean="0"/>
              <a:t>端口映射：</a:t>
            </a:r>
            <a:r>
              <a:rPr lang="en-US" altLang="zh-CN" dirty="0" err="1" smtClean="0">
                <a:solidFill>
                  <a:srgbClr val="0070C0"/>
                </a:solidFill>
              </a:rPr>
              <a:t>nemu</a:t>
            </a:r>
            <a:r>
              <a:rPr lang="en-US" altLang="zh-CN" dirty="0" smtClean="0">
                <a:solidFill>
                  <a:srgbClr val="0070C0"/>
                </a:solidFill>
              </a:rPr>
              <a:t>/</a:t>
            </a:r>
            <a:r>
              <a:rPr lang="en-US" altLang="zh-CN" dirty="0" err="1" smtClean="0">
                <a:solidFill>
                  <a:srgbClr val="0070C0"/>
                </a:solidFill>
              </a:rPr>
              <a:t>src</a:t>
            </a:r>
            <a:r>
              <a:rPr lang="en-US" altLang="zh-CN" dirty="0" smtClean="0">
                <a:solidFill>
                  <a:srgbClr val="0070C0"/>
                </a:solidFill>
              </a:rPr>
              <a:t>/device/</a:t>
            </a:r>
            <a:r>
              <a:rPr lang="en-US" altLang="zh-CN" dirty="0" err="1" smtClean="0">
                <a:solidFill>
                  <a:srgbClr val="0070C0"/>
                </a:solidFill>
              </a:rPr>
              <a:t>io</a:t>
            </a:r>
            <a:r>
              <a:rPr lang="en-US" altLang="zh-CN" dirty="0" smtClean="0">
                <a:solidFill>
                  <a:srgbClr val="0070C0"/>
                </a:solidFill>
              </a:rPr>
              <a:t>/</a:t>
            </a:r>
            <a:r>
              <a:rPr lang="en-US" altLang="zh-CN" dirty="0" err="1" smtClean="0">
                <a:solidFill>
                  <a:srgbClr val="0070C0"/>
                </a:solidFill>
              </a:rPr>
              <a:t>port_io.c</a:t>
            </a:r>
            <a:endParaRPr lang="en-US" altLang="zh-CN" dirty="0" smtClean="0">
              <a:solidFill>
                <a:srgbClr val="0070C0"/>
              </a:solidFill>
            </a:endParaRPr>
          </a:p>
          <a:p>
            <a:pPr marL="1371600" lvl="3" indent="0">
              <a:buNone/>
            </a:pPr>
            <a:r>
              <a:rPr lang="en-US" altLang="zh-CN" dirty="0"/>
              <a:t>	</a:t>
            </a:r>
            <a:r>
              <a:rPr lang="en-US" altLang="zh-CN" dirty="0" smtClean="0"/>
              <a:t>	</a:t>
            </a:r>
          </a:p>
          <a:p>
            <a:pPr marL="1371600" lvl="3" indent="0">
              <a:buNone/>
            </a:pPr>
            <a:endParaRPr lang="en-US" altLang="zh-CN" dirty="0" smtClean="0"/>
          </a:p>
          <a:p>
            <a:pPr lvl="3"/>
            <a:r>
              <a:rPr lang="zh-CN" altLang="en-US" dirty="0" smtClean="0"/>
              <a:t>设备模拟：</a:t>
            </a:r>
            <a:r>
              <a:rPr lang="en-US" altLang="zh-CN" dirty="0" err="1" smtClean="0">
                <a:solidFill>
                  <a:srgbClr val="0070C0"/>
                </a:solidFill>
              </a:rPr>
              <a:t>nemu</a:t>
            </a:r>
            <a:r>
              <a:rPr lang="en-US" altLang="zh-CN" dirty="0" smtClean="0">
                <a:solidFill>
                  <a:srgbClr val="0070C0"/>
                </a:solidFill>
              </a:rPr>
              <a:t>/</a:t>
            </a:r>
            <a:r>
              <a:rPr lang="en-US" altLang="zh-CN" dirty="0" err="1" smtClean="0">
                <a:solidFill>
                  <a:srgbClr val="0070C0"/>
                </a:solidFill>
              </a:rPr>
              <a:t>src</a:t>
            </a:r>
            <a:r>
              <a:rPr lang="en-US" altLang="zh-CN" dirty="0" smtClean="0">
                <a:solidFill>
                  <a:srgbClr val="0070C0"/>
                </a:solidFill>
              </a:rPr>
              <a:t>/device/dev/</a:t>
            </a:r>
            <a:r>
              <a:rPr lang="en-US" altLang="zh-CN" dirty="0" err="1" smtClean="0">
                <a:solidFill>
                  <a:srgbClr val="0070C0"/>
                </a:solidFill>
              </a:rPr>
              <a:t>ide.c</a:t>
            </a:r>
            <a:endParaRPr lang="en-US" altLang="zh-CN" dirty="0" smtClean="0">
              <a:solidFill>
                <a:srgbClr val="0070C0"/>
              </a:solidFill>
            </a:endParaRPr>
          </a:p>
          <a:p>
            <a:pPr marL="1371600" lvl="3" indent="0">
              <a:buNone/>
            </a:pPr>
            <a:r>
              <a:rPr lang="en-US" altLang="zh-CN" dirty="0"/>
              <a:t>		</a:t>
            </a:r>
            <a:endParaRPr lang="en-US" altLang="zh-CN" dirty="0" smtClean="0"/>
          </a:p>
          <a:p>
            <a:pPr marL="1371600" lvl="3" indent="0">
              <a:buNone/>
            </a:pPr>
            <a:endParaRPr lang="en-US" altLang="zh-CN" dirty="0" smtClean="0">
              <a:solidFill>
                <a:srgbClr val="00B050"/>
              </a:solidFill>
            </a:endParaRPr>
          </a:p>
          <a:p>
            <a:pPr lvl="3"/>
            <a:r>
              <a:rPr lang="zh-CN" altLang="en-US" dirty="0" smtClean="0"/>
              <a:t>驱动程序：</a:t>
            </a:r>
            <a:r>
              <a:rPr lang="en-US" altLang="zh-CN" dirty="0" smtClean="0">
                <a:solidFill>
                  <a:srgbClr val="0070C0"/>
                </a:solidFill>
              </a:rPr>
              <a:t>kernel/</a:t>
            </a:r>
            <a:r>
              <a:rPr lang="en-US" altLang="zh-CN" dirty="0" err="1" smtClean="0">
                <a:solidFill>
                  <a:srgbClr val="0070C0"/>
                </a:solidFill>
              </a:rPr>
              <a:t>src</a:t>
            </a:r>
            <a:r>
              <a:rPr lang="en-US" altLang="zh-CN" dirty="0" smtClean="0">
                <a:solidFill>
                  <a:srgbClr val="0070C0"/>
                </a:solidFill>
              </a:rPr>
              <a:t>/driver/</a:t>
            </a:r>
            <a:r>
              <a:rPr lang="en-US" altLang="zh-CN" dirty="0" err="1" smtClean="0">
                <a:solidFill>
                  <a:srgbClr val="0070C0"/>
                </a:solidFill>
              </a:rPr>
              <a:t>disk.c</a:t>
            </a:r>
            <a:r>
              <a:rPr lang="en-US" altLang="zh-CN" dirty="0" smtClean="0"/>
              <a:t>   </a:t>
            </a:r>
            <a:r>
              <a:rPr lang="en-US" altLang="zh-CN" dirty="0" smtClean="0">
                <a:solidFill>
                  <a:srgbClr val="00B050"/>
                </a:solidFill>
              </a:rPr>
              <a:t> // </a:t>
            </a:r>
            <a:r>
              <a:rPr lang="zh-CN" altLang="en-US" dirty="0" smtClean="0">
                <a:solidFill>
                  <a:srgbClr val="00B050"/>
                </a:solidFill>
              </a:rPr>
              <a:t>底层驱动</a:t>
            </a:r>
            <a:endParaRPr lang="en-US" altLang="zh-CN" dirty="0" smtClean="0">
              <a:solidFill>
                <a:srgbClr val="00B050"/>
              </a:solidFill>
            </a:endParaRPr>
          </a:p>
          <a:p>
            <a:pPr marL="1371600" lvl="3" indent="0">
              <a:buNone/>
            </a:pPr>
            <a:r>
              <a:rPr lang="en-US" altLang="zh-CN" dirty="0">
                <a:solidFill>
                  <a:srgbClr val="00B050"/>
                </a:solidFill>
              </a:rPr>
              <a:t>	</a:t>
            </a:r>
            <a:r>
              <a:rPr lang="en-US" altLang="zh-CN" dirty="0" smtClean="0">
                <a:solidFill>
                  <a:srgbClr val="00B050"/>
                </a:solidFill>
              </a:rPr>
              <a:t>	</a:t>
            </a:r>
            <a:r>
              <a:rPr lang="en-US" altLang="zh-CN" dirty="0" smtClean="0">
                <a:solidFill>
                  <a:srgbClr val="0070C0"/>
                </a:solidFill>
              </a:rPr>
              <a:t>kernel/</a:t>
            </a:r>
            <a:r>
              <a:rPr lang="en-US" altLang="zh-CN" dirty="0" err="1" smtClean="0">
                <a:solidFill>
                  <a:srgbClr val="0070C0"/>
                </a:solidFill>
              </a:rPr>
              <a:t>src</a:t>
            </a:r>
            <a:r>
              <a:rPr lang="en-US" altLang="zh-CN" dirty="0" smtClean="0">
                <a:solidFill>
                  <a:srgbClr val="0070C0"/>
                </a:solidFill>
              </a:rPr>
              <a:t>/driver/</a:t>
            </a:r>
            <a:r>
              <a:rPr lang="en-US" altLang="zh-CN" dirty="0" err="1" smtClean="0">
                <a:solidFill>
                  <a:srgbClr val="0070C0"/>
                </a:solidFill>
              </a:rPr>
              <a:t>ide.c</a:t>
            </a:r>
            <a:r>
              <a:rPr lang="en-US" altLang="zh-CN" dirty="0" smtClean="0"/>
              <a:t>   </a:t>
            </a:r>
            <a:r>
              <a:rPr lang="en-US" altLang="zh-CN" dirty="0" smtClean="0">
                <a:solidFill>
                  <a:srgbClr val="00B050"/>
                </a:solidFill>
              </a:rPr>
              <a:t>  // </a:t>
            </a:r>
            <a:r>
              <a:rPr lang="zh-CN" altLang="en-US" dirty="0" smtClean="0">
                <a:solidFill>
                  <a:srgbClr val="00B050"/>
                </a:solidFill>
              </a:rPr>
              <a:t>上层磁盘读写接口</a:t>
            </a:r>
            <a:endParaRPr lang="en-US" altLang="zh-CN" dirty="0">
              <a:solidFill>
                <a:srgbClr val="00B050"/>
              </a:solidFill>
            </a:endParaRPr>
          </a:p>
          <a:p>
            <a:pPr marL="1371600" lvl="3" indent="0">
              <a:buNone/>
            </a:pPr>
            <a:endParaRPr lang="zh-CN" altLang="en-US" dirty="0">
              <a:solidFill>
                <a:srgbClr val="00B050"/>
              </a:solidFill>
            </a:endParaRPr>
          </a:p>
        </p:txBody>
      </p:sp>
      <p:sp>
        <p:nvSpPr>
          <p:cNvPr id="3" name="矩形 2"/>
          <p:cNvSpPr/>
          <p:nvPr/>
        </p:nvSpPr>
        <p:spPr>
          <a:xfrm>
            <a:off x="3379602" y="4135109"/>
            <a:ext cx="5598977" cy="369332"/>
          </a:xfrm>
          <a:prstGeom prst="rect">
            <a:avLst/>
          </a:prstGeom>
          <a:ln>
            <a:solidFill>
              <a:schemeClr val="tx1"/>
            </a:solidFill>
            <a:prstDash val="dash"/>
          </a:ln>
        </p:spPr>
        <p:txBody>
          <a:bodyPr wrap="square">
            <a:spAutoFit/>
          </a:bodyPr>
          <a:lstStyle/>
          <a:p>
            <a:r>
              <a:rPr lang="en-US" altLang="zh-CN" dirty="0" err="1"/>
              <a:t>make_pio_handler</a:t>
            </a:r>
            <a:r>
              <a:rPr lang="en-US" altLang="zh-CN" dirty="0"/>
              <a:t>(</a:t>
            </a:r>
            <a:r>
              <a:rPr lang="en-US" altLang="zh-CN" dirty="0" err="1">
                <a:solidFill>
                  <a:srgbClr val="7030A0"/>
                </a:solidFill>
              </a:rPr>
              <a:t>handler_ide</a:t>
            </a:r>
            <a:r>
              <a:rPr lang="en-US" altLang="zh-CN" dirty="0"/>
              <a:t>) {…}</a:t>
            </a:r>
            <a:r>
              <a:rPr lang="en-US" altLang="zh-CN" dirty="0">
                <a:solidFill>
                  <a:srgbClr val="00B050"/>
                </a:solidFill>
              </a:rPr>
              <a:t> // </a:t>
            </a:r>
            <a:r>
              <a:rPr lang="zh-CN" altLang="en-US" dirty="0">
                <a:solidFill>
                  <a:srgbClr val="00B050"/>
                </a:solidFill>
              </a:rPr>
              <a:t>响应端口读写</a:t>
            </a:r>
            <a:endParaRPr lang="zh-CN" altLang="en-US" dirty="0"/>
          </a:p>
        </p:txBody>
      </p:sp>
      <p:sp>
        <p:nvSpPr>
          <p:cNvPr id="6" name="矩形 5"/>
          <p:cNvSpPr/>
          <p:nvPr/>
        </p:nvSpPr>
        <p:spPr>
          <a:xfrm>
            <a:off x="3379602" y="3148611"/>
            <a:ext cx="5598977" cy="369332"/>
          </a:xfrm>
          <a:prstGeom prst="rect">
            <a:avLst/>
          </a:prstGeom>
          <a:ln>
            <a:solidFill>
              <a:schemeClr val="tx1"/>
            </a:solidFill>
            <a:prstDash val="dash"/>
          </a:ln>
        </p:spPr>
        <p:txBody>
          <a:bodyPr wrap="square">
            <a:spAutoFit/>
          </a:bodyPr>
          <a:lstStyle/>
          <a:p>
            <a:r>
              <a:rPr lang="en-US" altLang="zh-CN" dirty="0"/>
              <a:t>{</a:t>
            </a:r>
            <a:r>
              <a:rPr lang="en-US" altLang="zh-CN" dirty="0">
                <a:solidFill>
                  <a:srgbClr val="C00000"/>
                </a:solidFill>
              </a:rPr>
              <a:t>IDE_PORT_BASE + [0-7], </a:t>
            </a:r>
            <a:r>
              <a:rPr lang="en-US" altLang="zh-CN" dirty="0" err="1">
                <a:solidFill>
                  <a:srgbClr val="7030A0"/>
                </a:solidFill>
              </a:rPr>
              <a:t>handler_ide</a:t>
            </a:r>
            <a:r>
              <a:rPr lang="en-US" altLang="zh-CN" dirty="0"/>
              <a:t>}</a:t>
            </a:r>
            <a:endParaRPr lang="zh-CN" altLang="en-US" dirty="0"/>
          </a:p>
        </p:txBody>
      </p:sp>
      <p:sp>
        <p:nvSpPr>
          <p:cNvPr id="7" name="矩形 6"/>
          <p:cNvSpPr/>
          <p:nvPr/>
        </p:nvSpPr>
        <p:spPr>
          <a:xfrm>
            <a:off x="3379602" y="5401589"/>
            <a:ext cx="5598977" cy="646331"/>
          </a:xfrm>
          <a:prstGeom prst="rect">
            <a:avLst/>
          </a:prstGeom>
          <a:ln>
            <a:solidFill>
              <a:schemeClr val="tx1"/>
            </a:solidFill>
            <a:prstDash val="dash"/>
          </a:ln>
        </p:spPr>
        <p:txBody>
          <a:bodyPr wrap="square">
            <a:spAutoFit/>
          </a:bodyPr>
          <a:lstStyle/>
          <a:p>
            <a:r>
              <a:rPr lang="zh-CN" altLang="en-US" dirty="0"/>
              <a:t>void ide_read(uint8_t *buf, uint32_t offset, uint32_t len</a:t>
            </a:r>
            <a:r>
              <a:rPr lang="zh-CN" altLang="en-US" dirty="0" smtClean="0"/>
              <a:t>)</a:t>
            </a:r>
            <a:r>
              <a:rPr lang="en-US" altLang="zh-CN" dirty="0" smtClean="0"/>
              <a:t>;</a:t>
            </a:r>
          </a:p>
          <a:p>
            <a:r>
              <a:rPr lang="en-US" altLang="zh-CN" dirty="0"/>
              <a:t>void </a:t>
            </a:r>
            <a:r>
              <a:rPr lang="en-US" altLang="zh-CN" dirty="0" err="1"/>
              <a:t>ide_write</a:t>
            </a:r>
            <a:r>
              <a:rPr lang="en-US" altLang="zh-CN" dirty="0"/>
              <a:t>(uint8_t *</a:t>
            </a:r>
            <a:r>
              <a:rPr lang="en-US" altLang="zh-CN" dirty="0" err="1"/>
              <a:t>buf</a:t>
            </a:r>
            <a:r>
              <a:rPr lang="en-US" altLang="zh-CN" dirty="0"/>
              <a:t>, uint32_t offset, uint32_t </a:t>
            </a:r>
            <a:r>
              <a:rPr lang="en-US" altLang="zh-CN" dirty="0" err="1"/>
              <a:t>len</a:t>
            </a:r>
            <a:r>
              <a:rPr lang="en-US" altLang="zh-CN" dirty="0" smtClean="0"/>
              <a:t>);</a:t>
            </a:r>
            <a:endParaRPr lang="zh-CN" altLang="en-US" dirty="0"/>
          </a:p>
        </p:txBody>
      </p:sp>
      <p:sp>
        <p:nvSpPr>
          <p:cNvPr id="8" name="文本框 7"/>
          <p:cNvSpPr txBox="1"/>
          <p:nvPr/>
        </p:nvSpPr>
        <p:spPr>
          <a:xfrm>
            <a:off x="422738" y="3855184"/>
            <a:ext cx="646331" cy="369332"/>
          </a:xfrm>
          <a:prstGeom prst="rect">
            <a:avLst/>
          </a:prstGeom>
          <a:noFill/>
        </p:spPr>
        <p:txBody>
          <a:bodyPr wrap="none" rtlCol="0">
            <a:spAutoFit/>
          </a:bodyPr>
          <a:lstStyle/>
          <a:p>
            <a:r>
              <a:rPr lang="zh-CN" altLang="en-US" dirty="0" smtClean="0">
                <a:solidFill>
                  <a:srgbClr val="FF0000"/>
                </a:solidFill>
              </a:rPr>
              <a:t>任务</a:t>
            </a:r>
            <a:endParaRPr lang="zh-CN" altLang="en-US" dirty="0">
              <a:solidFill>
                <a:srgbClr val="FF0000"/>
              </a:solidFill>
            </a:endParaRPr>
          </a:p>
        </p:txBody>
      </p:sp>
      <p:cxnSp>
        <p:nvCxnSpPr>
          <p:cNvPr id="9" name="直接箭头连接符 8"/>
          <p:cNvCxnSpPr>
            <a:stCxn id="8" idx="2"/>
          </p:cNvCxnSpPr>
          <p:nvPr/>
        </p:nvCxnSpPr>
        <p:spPr>
          <a:xfrm>
            <a:off x="745904" y="4224516"/>
            <a:ext cx="90382" cy="356674"/>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93764" y="4627530"/>
            <a:ext cx="2635651" cy="2096279"/>
          </a:xfrm>
          <a:prstGeom prst="rect">
            <a:avLst/>
          </a:prstGeom>
          <a:solidFill>
            <a:schemeClr val="bg1">
              <a:alpha val="90000"/>
            </a:schemeClr>
          </a:solidFill>
        </p:spPr>
        <p:txBody>
          <a:bodyPr wrap="square">
            <a:spAutoFit/>
          </a:bodyPr>
          <a:lstStyle/>
          <a:p>
            <a:pPr algn="just">
              <a:lnSpc>
                <a:spcPct val="156000"/>
              </a:lnSpc>
              <a:spcBef>
                <a:spcPts val="600"/>
              </a:spcBef>
              <a:spcAft>
                <a:spcPts val="1450"/>
              </a:spcAft>
            </a:pPr>
            <a:r>
              <a:rPr lang="en-US" altLang="zh-CN" sz="1200" b="1" kern="100" dirty="0">
                <a:latin typeface="等线 Light" panose="02010600030101010101" pitchFamily="2" charset="-122"/>
                <a:ea typeface="等线 Light" panose="02010600030101010101" pitchFamily="2" charset="-122"/>
                <a:cs typeface="Times New Roman" panose="02020603050405020304" pitchFamily="18" charset="0"/>
              </a:rPr>
              <a:t>§4-2.3.2 </a:t>
            </a:r>
            <a:r>
              <a:rPr lang="zh-CN" altLang="zh-CN" sz="1200" b="1" kern="100" dirty="0">
                <a:latin typeface="等线 Light" panose="02010600030101010101" pitchFamily="2" charset="-122"/>
                <a:ea typeface="等线 Light" panose="02010600030101010101" pitchFamily="2" charset="-122"/>
                <a:cs typeface="Times New Roman" panose="02020603050405020304" pitchFamily="18" charset="0"/>
              </a:rPr>
              <a:t>通过硬盘加载程序</a:t>
            </a:r>
          </a:p>
          <a:p>
            <a:pPr marL="342900" lvl="0" indent="-342900" algn="just">
              <a:spcBef>
                <a:spcPts val="600"/>
              </a:spcBef>
              <a:spcAft>
                <a:spcPts val="0"/>
              </a:spcAft>
              <a:buFont typeface="+mj-lt"/>
              <a:buAutoNum type="arabicPeriod"/>
            </a:pPr>
            <a:r>
              <a:rPr lang="zh-CN" altLang="zh-CN" sz="1200" kern="100" dirty="0">
                <a:latin typeface="等线" panose="02010600030101010101" pitchFamily="2" charset="-122"/>
                <a:cs typeface="Times New Roman" panose="02020603050405020304" pitchFamily="18" charset="0"/>
              </a:rPr>
              <a:t>在</a:t>
            </a:r>
            <a:r>
              <a:rPr lang="en-US" altLang="zh-CN" sz="1200" kern="100" dirty="0">
                <a:solidFill>
                  <a:srgbClr val="1F4E79"/>
                </a:solidFill>
                <a:latin typeface="等线" panose="02010600030101010101" pitchFamily="2" charset="-122"/>
                <a:cs typeface="Times New Roman" panose="02020603050405020304" pitchFamily="18" charset="0"/>
              </a:rPr>
              <a:t>include/</a:t>
            </a:r>
            <a:r>
              <a:rPr lang="en-US" altLang="zh-CN" sz="1200" kern="100" dirty="0" err="1">
                <a:solidFill>
                  <a:srgbClr val="1F4E79"/>
                </a:solidFill>
                <a:latin typeface="等线" panose="02010600030101010101" pitchFamily="2" charset="-122"/>
                <a:cs typeface="Times New Roman" panose="02020603050405020304" pitchFamily="18" charset="0"/>
              </a:rPr>
              <a:t>config.h</a:t>
            </a:r>
            <a:r>
              <a:rPr lang="zh-CN" altLang="zh-CN" sz="1200" kern="100" dirty="0">
                <a:latin typeface="等线" panose="02010600030101010101" pitchFamily="2" charset="-122"/>
                <a:cs typeface="Times New Roman" panose="02020603050405020304" pitchFamily="18" charset="0"/>
              </a:rPr>
              <a:t>中定义宏</a:t>
            </a:r>
            <a:r>
              <a:rPr lang="en-US" altLang="zh-CN" sz="1200" kern="100" dirty="0">
                <a:solidFill>
                  <a:srgbClr val="1F4E79"/>
                </a:solidFill>
                <a:latin typeface="等线" panose="02010600030101010101" pitchFamily="2" charset="-122"/>
                <a:cs typeface="Times New Roman" panose="02020603050405020304" pitchFamily="18" charset="0"/>
              </a:rPr>
              <a:t>HAS_DEVICE_IDE</a:t>
            </a:r>
            <a:r>
              <a:rPr lang="zh-CN" altLang="zh-CN" sz="1200" kern="100" dirty="0">
                <a:latin typeface="等线" panose="02010600030101010101" pitchFamily="2" charset="-122"/>
                <a:cs typeface="Times New Roman" panose="02020603050405020304" pitchFamily="18" charset="0"/>
              </a:rPr>
              <a:t>并</a:t>
            </a:r>
            <a:r>
              <a:rPr lang="en-US" altLang="zh-CN" sz="1200" kern="100" dirty="0">
                <a:solidFill>
                  <a:srgbClr val="1F4E79"/>
                </a:solidFill>
                <a:latin typeface="等线" panose="02010600030101010101" pitchFamily="2" charset="-122"/>
                <a:cs typeface="Times New Roman" panose="02020603050405020304" pitchFamily="18" charset="0"/>
              </a:rPr>
              <a:t>make clean</a:t>
            </a:r>
            <a:r>
              <a:rPr lang="zh-CN" altLang="zh-CN" sz="1200" kern="100" dirty="0">
                <a:latin typeface="等线" panose="02010600030101010101" pitchFamily="2" charset="-122"/>
                <a:cs typeface="Times New Roman" panose="02020603050405020304" pitchFamily="18" charset="0"/>
              </a:rPr>
              <a:t>；</a:t>
            </a:r>
          </a:p>
          <a:p>
            <a:pPr marL="342900" lvl="0" indent="-342900" algn="just">
              <a:spcBef>
                <a:spcPts val="600"/>
              </a:spcBef>
              <a:spcAft>
                <a:spcPts val="0"/>
              </a:spcAft>
              <a:buFont typeface="+mj-lt"/>
              <a:buAutoNum type="arabicPeriod"/>
            </a:pPr>
            <a:r>
              <a:rPr lang="zh-CN" altLang="zh-CN" sz="1200" kern="100" dirty="0">
                <a:latin typeface="等线" panose="02010600030101010101" pitchFamily="2" charset="-122"/>
                <a:cs typeface="Times New Roman" panose="02020603050405020304" pitchFamily="18" charset="0"/>
              </a:rPr>
              <a:t>修改</a:t>
            </a:r>
            <a:r>
              <a:rPr lang="en-US" altLang="zh-CN" sz="1200" kern="100" dirty="0">
                <a:latin typeface="等线" panose="02010600030101010101" pitchFamily="2" charset="-122"/>
                <a:cs typeface="Times New Roman" panose="02020603050405020304" pitchFamily="18" charset="0"/>
              </a:rPr>
              <a:t>Kernel</a:t>
            </a:r>
            <a:r>
              <a:rPr lang="zh-CN" altLang="zh-CN" sz="1200" kern="100" dirty="0">
                <a:latin typeface="等线" panose="02010600030101010101" pitchFamily="2" charset="-122"/>
                <a:cs typeface="Times New Roman" panose="02020603050405020304" pitchFamily="18" charset="0"/>
              </a:rPr>
              <a:t>中的</a:t>
            </a:r>
            <a:r>
              <a:rPr lang="en-US" altLang="zh-CN" sz="1200" kern="100" dirty="0">
                <a:solidFill>
                  <a:srgbClr val="1F4E79"/>
                </a:solidFill>
                <a:latin typeface="等线" panose="02010600030101010101" pitchFamily="2" charset="-122"/>
                <a:cs typeface="Times New Roman" panose="02020603050405020304" pitchFamily="18" charset="0"/>
              </a:rPr>
              <a:t>loader()</a:t>
            </a:r>
            <a:r>
              <a:rPr lang="zh-CN" altLang="zh-CN" sz="1200" kern="100" dirty="0">
                <a:latin typeface="等线" panose="02010600030101010101" pitchFamily="2" charset="-122"/>
                <a:cs typeface="Times New Roman" panose="02020603050405020304" pitchFamily="18" charset="0"/>
              </a:rPr>
              <a:t>，使其通过</a:t>
            </a:r>
            <a:r>
              <a:rPr lang="en-US" altLang="zh-CN" sz="1200" kern="100" dirty="0" err="1">
                <a:solidFill>
                  <a:srgbClr val="1F4E79"/>
                </a:solidFill>
                <a:latin typeface="等线" panose="02010600030101010101" pitchFamily="2" charset="-122"/>
                <a:cs typeface="Times New Roman" panose="02020603050405020304" pitchFamily="18" charset="0"/>
              </a:rPr>
              <a:t>ide_read</a:t>
            </a:r>
            <a:r>
              <a:rPr lang="en-US" altLang="zh-CN" sz="1200" kern="100" dirty="0">
                <a:solidFill>
                  <a:srgbClr val="1F4E79"/>
                </a:solidFill>
                <a:latin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cs typeface="Times New Roman" panose="02020603050405020304" pitchFamily="18" charset="0"/>
              </a:rPr>
              <a:t>和</a:t>
            </a:r>
            <a:r>
              <a:rPr lang="en-US" altLang="zh-CN" sz="1200" kern="100" dirty="0" err="1">
                <a:solidFill>
                  <a:srgbClr val="1F4E79"/>
                </a:solidFill>
                <a:latin typeface="等线" panose="02010600030101010101" pitchFamily="2" charset="-122"/>
                <a:cs typeface="Times New Roman" panose="02020603050405020304" pitchFamily="18" charset="0"/>
              </a:rPr>
              <a:t>ide_write</a:t>
            </a:r>
            <a:r>
              <a:rPr lang="en-US" altLang="zh-CN" sz="1200" kern="100" dirty="0">
                <a:solidFill>
                  <a:srgbClr val="1F4E79"/>
                </a:solidFill>
                <a:latin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cs typeface="Times New Roman" panose="02020603050405020304" pitchFamily="18" charset="0"/>
              </a:rPr>
              <a:t>接口实现从模拟硬盘加载用户</a:t>
            </a:r>
            <a:r>
              <a:rPr lang="zh-CN" altLang="zh-CN" sz="1200" kern="100" dirty="0" smtClean="0">
                <a:latin typeface="等线" panose="02010600030101010101" pitchFamily="2" charset="-122"/>
                <a:cs typeface="Times New Roman" panose="02020603050405020304" pitchFamily="18" charset="0"/>
              </a:rPr>
              <a:t>程序；</a:t>
            </a:r>
            <a:endParaRPr lang="en-US" altLang="zh-CN" sz="1200" kern="100" dirty="0" smtClean="0">
              <a:latin typeface="等线" panose="02010600030101010101" pitchFamily="2" charset="-122"/>
              <a:cs typeface="Times New Roman" panose="02020603050405020304" pitchFamily="18" charset="0"/>
            </a:endParaRPr>
          </a:p>
          <a:p>
            <a:pPr marL="342900" lvl="0" indent="-342900" algn="just">
              <a:spcBef>
                <a:spcPts val="600"/>
              </a:spcBef>
              <a:spcAft>
                <a:spcPts val="0"/>
              </a:spcAft>
              <a:buFont typeface="+mj-lt"/>
              <a:buAutoNum type="arabicPeriod"/>
            </a:pPr>
            <a:r>
              <a:rPr lang="zh-CN" altLang="zh-CN" sz="1200" dirty="0" smtClean="0">
                <a:cs typeface="Times New Roman" panose="02020603050405020304" pitchFamily="18" charset="0"/>
              </a:rPr>
              <a:t>通过</a:t>
            </a:r>
            <a:r>
              <a:rPr lang="en-US" altLang="zh-CN" sz="1200" dirty="0" smtClean="0">
                <a:solidFill>
                  <a:srgbClr val="1F4E79"/>
                </a:solidFill>
                <a:latin typeface="等线" panose="02010600030101010101" pitchFamily="2" charset="-122"/>
                <a:cs typeface="Times New Roman" panose="02020603050405020304" pitchFamily="18" charset="0"/>
              </a:rPr>
              <a:t>make </a:t>
            </a:r>
            <a:r>
              <a:rPr lang="en-US" altLang="zh-CN" sz="1200" dirty="0" err="1" smtClean="0">
                <a:solidFill>
                  <a:srgbClr val="1F4E79"/>
                </a:solidFill>
                <a:latin typeface="等线" panose="02010600030101010101" pitchFamily="2" charset="-122"/>
                <a:cs typeface="Times New Roman" panose="02020603050405020304" pitchFamily="18" charset="0"/>
              </a:rPr>
              <a:t>testkernel</a:t>
            </a:r>
            <a:r>
              <a:rPr lang="zh-CN" altLang="zh-CN" sz="1200" dirty="0" smtClean="0">
                <a:cs typeface="Times New Roman" panose="02020603050405020304" pitchFamily="18" charset="0"/>
              </a:rPr>
              <a:t>执行测试用例，验证加载过程是否正确。</a:t>
            </a:r>
            <a:endParaRPr lang="zh-CN" altLang="zh-CN" sz="1200" dirty="0"/>
          </a:p>
        </p:txBody>
      </p:sp>
      <p:sp>
        <p:nvSpPr>
          <p:cNvPr id="5" name="文本框 4"/>
          <p:cNvSpPr txBox="1"/>
          <p:nvPr/>
        </p:nvSpPr>
        <p:spPr>
          <a:xfrm>
            <a:off x="2729415" y="6364613"/>
            <a:ext cx="3902030" cy="369332"/>
          </a:xfrm>
          <a:prstGeom prst="rect">
            <a:avLst/>
          </a:prstGeom>
          <a:noFill/>
        </p:spPr>
        <p:txBody>
          <a:bodyPr wrap="none" rtlCol="0">
            <a:spAutoFit/>
          </a:bodyPr>
          <a:lstStyle/>
          <a:p>
            <a:r>
              <a:rPr lang="zh-CN" altLang="en-US" dirty="0" smtClean="0"/>
              <a:t>提示：有些接口这里用不到咱就不用</a:t>
            </a:r>
            <a:endParaRPr lang="zh-CN" altLang="en-US" dirty="0"/>
          </a:p>
        </p:txBody>
      </p:sp>
    </p:spTree>
    <p:extLst>
      <p:ext uri="{BB962C8B-B14F-4D97-AF65-F5344CB8AC3E}">
        <p14:creationId xmlns:p14="http://schemas.microsoft.com/office/powerpoint/2010/main" val="2136552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外设与</a:t>
            </a:r>
            <a:r>
              <a:rPr lang="en-US" altLang="zh-CN" dirty="0"/>
              <a:t>I/O</a:t>
            </a:r>
            <a:endParaRPr lang="zh-CN" altLang="en-US" dirty="0"/>
          </a:p>
        </p:txBody>
      </p:sp>
      <p:sp>
        <p:nvSpPr>
          <p:cNvPr id="4" name="内容占位符 2"/>
          <p:cNvSpPr>
            <a:spLocks noGrp="1"/>
          </p:cNvSpPr>
          <p:nvPr>
            <p:ph idx="1"/>
          </p:nvPr>
        </p:nvSpPr>
        <p:spPr>
          <a:xfrm>
            <a:off x="628649" y="1182255"/>
            <a:ext cx="8938089" cy="1878826"/>
          </a:xfrm>
        </p:spPr>
        <p:txBody>
          <a:bodyPr/>
          <a:lstStyle/>
          <a:p>
            <a:r>
              <a:rPr lang="en-US" altLang="zh-CN" dirty="0" smtClean="0"/>
              <a:t>CPU</a:t>
            </a:r>
            <a:r>
              <a:rPr lang="zh-CN" altLang="en-US" dirty="0" smtClean="0"/>
              <a:t>如何向外设进行输入输出？</a:t>
            </a:r>
            <a:endParaRPr lang="en-US" altLang="zh-CN" dirty="0" smtClean="0"/>
          </a:p>
          <a:p>
            <a:pPr lvl="1"/>
            <a:r>
              <a:rPr lang="zh-CN" altLang="en-US" dirty="0" smtClean="0"/>
              <a:t>方式</a:t>
            </a:r>
            <a:r>
              <a:rPr lang="en-US" altLang="zh-CN" dirty="0" smtClean="0"/>
              <a:t>1</a:t>
            </a:r>
            <a:r>
              <a:rPr lang="zh-CN" altLang="en-US" dirty="0" smtClean="0"/>
              <a:t>：端口</a:t>
            </a:r>
            <a:r>
              <a:rPr lang="zh-CN" altLang="en-US" dirty="0"/>
              <a:t>映射</a:t>
            </a:r>
            <a:r>
              <a:rPr lang="en-US" altLang="zh-CN" dirty="0"/>
              <a:t>I/O(port-mapped I/O</a:t>
            </a:r>
            <a:r>
              <a:rPr lang="en-US" altLang="zh-CN" dirty="0" smtClean="0"/>
              <a:t>)</a:t>
            </a:r>
          </a:p>
          <a:p>
            <a:pPr lvl="1"/>
            <a:r>
              <a:rPr lang="en-US" altLang="zh-CN" dirty="0" smtClean="0"/>
              <a:t>NEMU</a:t>
            </a:r>
            <a:r>
              <a:rPr lang="zh-CN" altLang="en-US" dirty="0" smtClean="0"/>
              <a:t>中典型的端口映射</a:t>
            </a:r>
            <a:r>
              <a:rPr lang="en-US" altLang="zh-CN" dirty="0" smtClean="0"/>
              <a:t>I/O</a:t>
            </a:r>
            <a:r>
              <a:rPr lang="zh-CN" altLang="en-US" dirty="0" smtClean="0"/>
              <a:t>设备</a:t>
            </a:r>
            <a:endParaRPr lang="en-US" altLang="zh-CN" dirty="0" smtClean="0"/>
          </a:p>
          <a:p>
            <a:pPr lvl="2"/>
            <a:r>
              <a:rPr lang="zh-CN" altLang="en-US" dirty="0" smtClean="0"/>
              <a:t>键盘（</a:t>
            </a:r>
            <a:r>
              <a:rPr lang="en-US" altLang="zh-CN" dirty="0" smtClean="0"/>
              <a:t>Keyboard</a:t>
            </a:r>
            <a:r>
              <a:rPr lang="zh-CN" altLang="en-US" dirty="0" smtClean="0"/>
              <a:t>）：结合</a:t>
            </a:r>
            <a:r>
              <a:rPr lang="en-US" altLang="zh-CN" dirty="0" smtClean="0"/>
              <a:t>echo</a:t>
            </a:r>
            <a:r>
              <a:rPr lang="zh-CN" altLang="en-US" dirty="0" smtClean="0"/>
              <a:t>程序彻底理解流程，这里给点提示</a:t>
            </a:r>
            <a:endParaRPr lang="en-US" altLang="zh-CN" dirty="0" smtClean="0"/>
          </a:p>
          <a:p>
            <a:pPr marL="1371600" lvl="3" indent="0">
              <a:buNone/>
            </a:pPr>
            <a:endParaRPr lang="zh-CN" altLang="en-US" dirty="0">
              <a:solidFill>
                <a:srgbClr val="00B050"/>
              </a:solidFill>
            </a:endParaRPr>
          </a:p>
        </p:txBody>
      </p:sp>
      <p:pic>
        <p:nvPicPr>
          <p:cNvPr id="11" name="Picture 2" descr="https://timgsa.baidu.com/timg?image&amp;quality=80&amp;size=b9999_10000&amp;sec=1515653061&amp;di=f38f2dbb8d9a1ab42bcf591cadbe6599&amp;imgtype=jpg&amp;er=1&amp;src=http%3A%2F%2Fghr-japan.greater.jp%2Fproductsimage%2F1086794n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92418" y="4375529"/>
            <a:ext cx="1935853" cy="786529"/>
          </a:xfrm>
          <a:prstGeom prst="rect">
            <a:avLst/>
          </a:prstGeom>
          <a:noFill/>
          <a:extLst>
            <a:ext uri="{909E8E84-426E-40DD-AFC4-6F175D3DCCD1}">
              <a14:hiddenFill xmlns:a14="http://schemas.microsoft.com/office/drawing/2010/main">
                <a:solidFill>
                  <a:srgbClr val="FFFFFF"/>
                </a:solidFill>
              </a14:hiddenFill>
            </a:ext>
          </a:extLst>
        </p:spPr>
      </p:pic>
      <p:pic>
        <p:nvPicPr>
          <p:cNvPr id="39" name="图片 3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8717" y="5162058"/>
            <a:ext cx="2922404" cy="1485481"/>
          </a:xfrm>
          <a:prstGeom prst="rect">
            <a:avLst/>
          </a:prstGeom>
          <a:ln w="34925">
            <a:solidFill>
              <a:schemeClr val="tx1"/>
            </a:solidFill>
            <a:prstDash val="dash"/>
          </a:ln>
        </p:spPr>
      </p:pic>
      <p:cxnSp>
        <p:nvCxnSpPr>
          <p:cNvPr id="41" name="直接箭头连接符 40"/>
          <p:cNvCxnSpPr>
            <a:stCxn id="11" idx="3"/>
          </p:cNvCxnSpPr>
          <p:nvPr/>
        </p:nvCxnSpPr>
        <p:spPr>
          <a:xfrm>
            <a:off x="3328271" y="4768794"/>
            <a:ext cx="676507" cy="863181"/>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3565845" y="4661857"/>
            <a:ext cx="1335622" cy="369332"/>
          </a:xfrm>
          <a:prstGeom prst="rect">
            <a:avLst/>
          </a:prstGeom>
          <a:noFill/>
        </p:spPr>
        <p:txBody>
          <a:bodyPr wrap="none" rtlCol="0">
            <a:spAutoFit/>
          </a:bodyPr>
          <a:lstStyle/>
          <a:p>
            <a:r>
              <a:rPr lang="en-US" altLang="zh-CN" dirty="0" smtClean="0">
                <a:solidFill>
                  <a:srgbClr val="C00000"/>
                </a:solidFill>
              </a:rPr>
              <a:t>2. </a:t>
            </a:r>
            <a:r>
              <a:rPr lang="zh-CN" altLang="en-US" dirty="0" smtClean="0">
                <a:solidFill>
                  <a:srgbClr val="C00000"/>
                </a:solidFill>
              </a:rPr>
              <a:t>按一个键</a:t>
            </a:r>
            <a:endParaRPr lang="zh-CN" altLang="en-US" dirty="0">
              <a:solidFill>
                <a:srgbClr val="C00000"/>
              </a:solidFill>
            </a:endParaRPr>
          </a:p>
        </p:txBody>
      </p:sp>
      <p:cxnSp>
        <p:nvCxnSpPr>
          <p:cNvPr id="44" name="曲线连接符 43"/>
          <p:cNvCxnSpPr>
            <a:stCxn id="39" idx="3"/>
            <a:endCxn id="47" idx="2"/>
          </p:cNvCxnSpPr>
          <p:nvPr/>
        </p:nvCxnSpPr>
        <p:spPr>
          <a:xfrm flipH="1" flipV="1">
            <a:off x="4547859" y="3532075"/>
            <a:ext cx="2473262" cy="2372724"/>
          </a:xfrm>
          <a:prstGeom prst="curvedConnector4">
            <a:avLst>
              <a:gd name="adj1" fmla="val -9243"/>
              <a:gd name="adj2" fmla="val 65652"/>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3511577" y="3954035"/>
            <a:ext cx="1276387" cy="646331"/>
          </a:xfrm>
          <a:prstGeom prst="rect">
            <a:avLst/>
          </a:prstGeom>
          <a:noFill/>
        </p:spPr>
        <p:txBody>
          <a:bodyPr wrap="square" rtlCol="0">
            <a:spAutoFit/>
          </a:bodyPr>
          <a:lstStyle/>
          <a:p>
            <a:r>
              <a:rPr lang="en-US" altLang="zh-CN" dirty="0" smtClean="0">
                <a:solidFill>
                  <a:srgbClr val="7030A0"/>
                </a:solidFill>
              </a:rPr>
              <a:t>4. </a:t>
            </a:r>
            <a:r>
              <a:rPr lang="zh-CN" altLang="en-US" dirty="0" smtClean="0">
                <a:solidFill>
                  <a:srgbClr val="7030A0"/>
                </a:solidFill>
              </a:rPr>
              <a:t>读扫描码得字符</a:t>
            </a:r>
            <a:endParaRPr lang="zh-CN" altLang="en-US" dirty="0">
              <a:solidFill>
                <a:srgbClr val="7030A0"/>
              </a:solidFill>
            </a:endParaRPr>
          </a:p>
        </p:txBody>
      </p:sp>
      <p:sp>
        <p:nvSpPr>
          <p:cNvPr id="47" name="文本框 46"/>
          <p:cNvSpPr txBox="1"/>
          <p:nvPr/>
        </p:nvSpPr>
        <p:spPr>
          <a:xfrm>
            <a:off x="4050767" y="2947300"/>
            <a:ext cx="994183" cy="584775"/>
          </a:xfrm>
          <a:prstGeom prst="rect">
            <a:avLst/>
          </a:prstGeom>
          <a:noFill/>
        </p:spPr>
        <p:txBody>
          <a:bodyPr wrap="none" rtlCol="0">
            <a:spAutoFit/>
          </a:bodyPr>
          <a:lstStyle/>
          <a:p>
            <a:r>
              <a:rPr lang="en-US" altLang="zh-CN" sz="3200" dirty="0" smtClean="0">
                <a:solidFill>
                  <a:srgbClr val="C00000"/>
                </a:solidFill>
              </a:rPr>
              <a:t>echo</a:t>
            </a:r>
            <a:endParaRPr lang="zh-CN" altLang="en-US" sz="3200" dirty="0">
              <a:solidFill>
                <a:srgbClr val="C00000"/>
              </a:solidFill>
            </a:endParaRPr>
          </a:p>
        </p:txBody>
      </p:sp>
      <p:pic>
        <p:nvPicPr>
          <p:cNvPr id="48" name="图片 4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7265521" y="2985269"/>
            <a:ext cx="702041" cy="724279"/>
          </a:xfrm>
          <a:prstGeom prst="rect">
            <a:avLst/>
          </a:prstGeom>
        </p:spPr>
      </p:pic>
      <p:cxnSp>
        <p:nvCxnSpPr>
          <p:cNvPr id="50" name="直接箭头连接符 49"/>
          <p:cNvCxnSpPr>
            <a:stCxn id="39" idx="0"/>
            <a:endCxn id="48" idx="3"/>
          </p:cNvCxnSpPr>
          <p:nvPr/>
        </p:nvCxnSpPr>
        <p:spPr>
          <a:xfrm flipV="1">
            <a:off x="5559919" y="3347409"/>
            <a:ext cx="1705602" cy="1814649"/>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5326406" y="3157490"/>
            <a:ext cx="1638141" cy="646331"/>
          </a:xfrm>
          <a:prstGeom prst="rect">
            <a:avLst/>
          </a:prstGeom>
          <a:noFill/>
        </p:spPr>
        <p:txBody>
          <a:bodyPr wrap="none" rtlCol="0">
            <a:spAutoFit/>
          </a:bodyPr>
          <a:lstStyle/>
          <a:p>
            <a:r>
              <a:rPr lang="en-US" altLang="zh-CN" dirty="0" smtClean="0">
                <a:solidFill>
                  <a:srgbClr val="0070C0"/>
                </a:solidFill>
              </a:rPr>
              <a:t>1. </a:t>
            </a:r>
            <a:r>
              <a:rPr lang="zh-CN" altLang="en-US" dirty="0" smtClean="0">
                <a:solidFill>
                  <a:srgbClr val="0070C0"/>
                </a:solidFill>
              </a:rPr>
              <a:t>打一声招呼</a:t>
            </a:r>
            <a:endParaRPr lang="en-US" altLang="zh-CN" dirty="0" smtClean="0">
              <a:solidFill>
                <a:srgbClr val="0070C0"/>
              </a:solidFill>
            </a:endParaRPr>
          </a:p>
          <a:p>
            <a:r>
              <a:rPr lang="en-US" altLang="zh-CN" dirty="0" err="1" smtClean="0">
                <a:solidFill>
                  <a:srgbClr val="0070C0"/>
                </a:solidFill>
              </a:rPr>
              <a:t>int</a:t>
            </a:r>
            <a:r>
              <a:rPr lang="en-US" altLang="zh-CN" dirty="0" smtClean="0">
                <a:solidFill>
                  <a:srgbClr val="0070C0"/>
                </a:solidFill>
              </a:rPr>
              <a:t> 0x80, </a:t>
            </a:r>
            <a:r>
              <a:rPr lang="en-US" altLang="zh-CN" dirty="0" err="1" smtClean="0">
                <a:solidFill>
                  <a:srgbClr val="0070C0"/>
                </a:solidFill>
              </a:rPr>
              <a:t>irq</a:t>
            </a:r>
            <a:r>
              <a:rPr lang="en-US" altLang="zh-CN" dirty="0" smtClean="0">
                <a:solidFill>
                  <a:srgbClr val="0070C0"/>
                </a:solidFill>
              </a:rPr>
              <a:t> = 0</a:t>
            </a:r>
            <a:endParaRPr lang="zh-CN" altLang="en-US" dirty="0">
              <a:solidFill>
                <a:srgbClr val="0070C0"/>
              </a:solidFill>
            </a:endParaRPr>
          </a:p>
        </p:txBody>
      </p:sp>
      <p:sp>
        <p:nvSpPr>
          <p:cNvPr id="56" name="文本框 55"/>
          <p:cNvSpPr txBox="1"/>
          <p:nvPr/>
        </p:nvSpPr>
        <p:spPr>
          <a:xfrm>
            <a:off x="7168369" y="4308622"/>
            <a:ext cx="1846972" cy="646331"/>
          </a:xfrm>
          <a:prstGeom prst="rect">
            <a:avLst/>
          </a:prstGeom>
          <a:noFill/>
        </p:spPr>
        <p:txBody>
          <a:bodyPr wrap="square" rtlCol="0">
            <a:spAutoFit/>
          </a:bodyPr>
          <a:lstStyle/>
          <a:p>
            <a:r>
              <a:rPr lang="en-US" altLang="zh-CN" dirty="0" smtClean="0"/>
              <a:t>3. </a:t>
            </a:r>
            <a:r>
              <a:rPr lang="zh-CN" altLang="en-US" dirty="0" smtClean="0"/>
              <a:t>怎么就走到</a:t>
            </a:r>
            <a:r>
              <a:rPr lang="en-US" altLang="zh-CN" dirty="0" smtClean="0"/>
              <a:t>echo</a:t>
            </a:r>
            <a:r>
              <a:rPr lang="zh-CN" altLang="en-US" dirty="0" smtClean="0"/>
              <a:t>里的函数了</a:t>
            </a:r>
            <a:endParaRPr lang="zh-CN" altLang="en-US" dirty="0"/>
          </a:p>
        </p:txBody>
      </p:sp>
      <p:cxnSp>
        <p:nvCxnSpPr>
          <p:cNvPr id="57" name="直接箭头连接符 56"/>
          <p:cNvCxnSpPr>
            <a:stCxn id="11" idx="0"/>
          </p:cNvCxnSpPr>
          <p:nvPr/>
        </p:nvCxnSpPr>
        <p:spPr>
          <a:xfrm flipV="1">
            <a:off x="2360345" y="3496777"/>
            <a:ext cx="1857842" cy="878752"/>
          </a:xfrm>
          <a:prstGeom prst="straightConnector1">
            <a:avLst/>
          </a:prstGeom>
          <a:ln w="25400">
            <a:solidFill>
              <a:srgbClr val="7030A0"/>
            </a:solidFill>
            <a:tailEnd type="triangle" w="lg" len="lg"/>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514636" y="3028088"/>
            <a:ext cx="2021789" cy="369332"/>
          </a:xfrm>
          <a:prstGeom prst="rect">
            <a:avLst/>
          </a:prstGeom>
          <a:noFill/>
        </p:spPr>
        <p:txBody>
          <a:bodyPr wrap="square" rtlCol="0">
            <a:spAutoFit/>
          </a:bodyPr>
          <a:lstStyle/>
          <a:p>
            <a:r>
              <a:rPr lang="en-US" altLang="zh-CN" dirty="0" smtClean="0"/>
              <a:t>Serial&gt; HAHAHA…</a:t>
            </a:r>
            <a:endParaRPr lang="zh-CN" altLang="en-US" dirty="0"/>
          </a:p>
        </p:txBody>
      </p:sp>
      <p:cxnSp>
        <p:nvCxnSpPr>
          <p:cNvPr id="61" name="直接箭头连接符 60"/>
          <p:cNvCxnSpPr>
            <a:stCxn id="47" idx="1"/>
            <a:endCxn id="60" idx="3"/>
          </p:cNvCxnSpPr>
          <p:nvPr/>
        </p:nvCxnSpPr>
        <p:spPr>
          <a:xfrm flipH="1" flipV="1">
            <a:off x="2536425" y="3212754"/>
            <a:ext cx="1514342" cy="26934"/>
          </a:xfrm>
          <a:prstGeom prst="straightConnector1">
            <a:avLst/>
          </a:prstGeom>
          <a:ln w="25400">
            <a:solidFill>
              <a:srgbClr val="7030A0"/>
            </a:solidFill>
            <a:tailEnd type="triangle" w="lg" len="lg"/>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1655913" y="3321572"/>
            <a:ext cx="1733464" cy="646331"/>
          </a:xfrm>
          <a:prstGeom prst="rect">
            <a:avLst/>
          </a:prstGeom>
          <a:noFill/>
        </p:spPr>
        <p:txBody>
          <a:bodyPr wrap="square" rtlCol="0">
            <a:spAutoFit/>
          </a:bodyPr>
          <a:lstStyle/>
          <a:p>
            <a:r>
              <a:rPr lang="en-US" altLang="zh-CN" dirty="0" smtClean="0">
                <a:solidFill>
                  <a:srgbClr val="7030A0"/>
                </a:solidFill>
              </a:rPr>
              <a:t>5. </a:t>
            </a:r>
            <a:r>
              <a:rPr lang="zh-CN" altLang="en-US" dirty="0" smtClean="0">
                <a:solidFill>
                  <a:srgbClr val="7030A0"/>
                </a:solidFill>
              </a:rPr>
              <a:t>输出到串口（控制台模拟）</a:t>
            </a:r>
            <a:endParaRPr lang="zh-CN" altLang="en-US" dirty="0">
              <a:solidFill>
                <a:srgbClr val="7030A0"/>
              </a:solidFill>
            </a:endParaRPr>
          </a:p>
        </p:txBody>
      </p:sp>
      <p:cxnSp>
        <p:nvCxnSpPr>
          <p:cNvPr id="20" name="直接箭头连接符 19"/>
          <p:cNvCxnSpPr>
            <a:stCxn id="47" idx="3"/>
            <a:endCxn id="39" idx="0"/>
          </p:cNvCxnSpPr>
          <p:nvPr/>
        </p:nvCxnSpPr>
        <p:spPr>
          <a:xfrm>
            <a:off x="5044950" y="3239688"/>
            <a:ext cx="514969" cy="192237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1538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外设与</a:t>
            </a:r>
            <a:r>
              <a:rPr lang="en-US" altLang="zh-CN" dirty="0"/>
              <a:t>I/O</a:t>
            </a:r>
            <a:endParaRPr lang="zh-CN" altLang="en-US" dirty="0"/>
          </a:p>
        </p:txBody>
      </p:sp>
      <p:sp>
        <p:nvSpPr>
          <p:cNvPr id="4" name="内容占位符 2"/>
          <p:cNvSpPr>
            <a:spLocks noGrp="1"/>
          </p:cNvSpPr>
          <p:nvPr>
            <p:ph idx="1"/>
          </p:nvPr>
        </p:nvSpPr>
        <p:spPr>
          <a:xfrm>
            <a:off x="628649" y="1182255"/>
            <a:ext cx="8938089" cy="1878826"/>
          </a:xfrm>
        </p:spPr>
        <p:txBody>
          <a:bodyPr/>
          <a:lstStyle/>
          <a:p>
            <a:r>
              <a:rPr lang="en-US" altLang="zh-CN" dirty="0" smtClean="0"/>
              <a:t>CPU</a:t>
            </a:r>
            <a:r>
              <a:rPr lang="zh-CN" altLang="en-US" dirty="0" smtClean="0"/>
              <a:t>如何向外设进行输入输出？</a:t>
            </a:r>
            <a:endParaRPr lang="en-US" altLang="zh-CN" dirty="0" smtClean="0"/>
          </a:p>
          <a:p>
            <a:pPr lvl="1"/>
            <a:r>
              <a:rPr lang="zh-CN" altLang="en-US" dirty="0" smtClean="0">
                <a:solidFill>
                  <a:srgbClr val="FF0000"/>
                </a:solidFill>
              </a:rPr>
              <a:t>方式</a:t>
            </a:r>
            <a:r>
              <a:rPr lang="en-US" altLang="zh-CN" dirty="0">
                <a:solidFill>
                  <a:srgbClr val="FF0000"/>
                </a:solidFill>
              </a:rPr>
              <a:t>2</a:t>
            </a:r>
            <a:r>
              <a:rPr lang="zh-CN" altLang="en-US" dirty="0" smtClean="0">
                <a:solidFill>
                  <a:srgbClr val="FF0000"/>
                </a:solidFill>
              </a:rPr>
              <a:t>：</a:t>
            </a:r>
            <a:r>
              <a:rPr lang="zh-CN" altLang="zh-CN" dirty="0">
                <a:solidFill>
                  <a:srgbClr val="FF0000"/>
                </a:solidFill>
              </a:rPr>
              <a:t>内存映射</a:t>
            </a:r>
            <a:r>
              <a:rPr lang="en-US" altLang="zh-CN" dirty="0" smtClean="0">
                <a:solidFill>
                  <a:srgbClr val="FF0000"/>
                </a:solidFill>
              </a:rPr>
              <a:t>I/O (Memory Mapped I/O, </a:t>
            </a:r>
            <a:r>
              <a:rPr lang="en-US" altLang="zh-CN" dirty="0" err="1" smtClean="0">
                <a:solidFill>
                  <a:srgbClr val="FF0000"/>
                </a:solidFill>
              </a:rPr>
              <a:t>mmio</a:t>
            </a:r>
            <a:r>
              <a:rPr lang="en-US" altLang="zh-CN" dirty="0" smtClean="0">
                <a:solidFill>
                  <a:srgbClr val="FF0000"/>
                </a:solidFill>
              </a:rPr>
              <a:t>)</a:t>
            </a:r>
          </a:p>
          <a:p>
            <a:pPr lvl="1"/>
            <a:r>
              <a:rPr lang="en-US" altLang="zh-CN" dirty="0" smtClean="0"/>
              <a:t>NEMU</a:t>
            </a:r>
            <a:r>
              <a:rPr lang="zh-CN" altLang="en-US" dirty="0" smtClean="0"/>
              <a:t>中典型的</a:t>
            </a:r>
            <a:r>
              <a:rPr lang="zh-CN" altLang="zh-CN" dirty="0"/>
              <a:t>内存</a:t>
            </a:r>
            <a:r>
              <a:rPr lang="zh-CN" altLang="en-US" dirty="0" smtClean="0"/>
              <a:t>映射</a:t>
            </a:r>
            <a:r>
              <a:rPr lang="en-US" altLang="zh-CN" dirty="0" smtClean="0"/>
              <a:t>I/O</a:t>
            </a:r>
            <a:r>
              <a:rPr lang="zh-CN" altLang="en-US" dirty="0" smtClean="0"/>
              <a:t>设备</a:t>
            </a:r>
            <a:endParaRPr lang="en-US" altLang="zh-CN" dirty="0" smtClean="0"/>
          </a:p>
          <a:p>
            <a:pPr lvl="2"/>
            <a:r>
              <a:rPr lang="en-US" altLang="zh-CN" dirty="0" smtClean="0"/>
              <a:t>VGA</a:t>
            </a:r>
          </a:p>
          <a:p>
            <a:pPr marL="1371600" lvl="3" indent="0">
              <a:buNone/>
            </a:pPr>
            <a:endParaRPr lang="zh-CN" altLang="en-US" dirty="0">
              <a:solidFill>
                <a:srgbClr val="00B050"/>
              </a:solidFill>
            </a:endParaRPr>
          </a:p>
        </p:txBody>
      </p:sp>
      <p:pic>
        <p:nvPicPr>
          <p:cNvPr id="19" name="图片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8109" y="3061081"/>
            <a:ext cx="1998471" cy="2080228"/>
          </a:xfrm>
          <a:prstGeom prst="rect">
            <a:avLst/>
          </a:prstGeom>
        </p:spPr>
      </p:pic>
      <p:pic>
        <p:nvPicPr>
          <p:cNvPr id="20" name="图片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53017" y="2849712"/>
            <a:ext cx="2374934" cy="2374934"/>
          </a:xfrm>
          <a:prstGeom prst="rect">
            <a:avLst/>
          </a:prstGeom>
        </p:spPr>
      </p:pic>
      <p:pic>
        <p:nvPicPr>
          <p:cNvPr id="21" name="Picture 4" descr="https://timgsa.baidu.com/timg?image&amp;quality=80&amp;size=b9999_10000&amp;sec=1515058462462&amp;di=112597d052c25150114ea41868a5938c&amp;imgtype=0&amp;src=http%3A%2F%2Foss.huangye88.net%2Flive%2Fuser%2F1760137%2F1461634479059590900-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98" y="4803248"/>
            <a:ext cx="2697413" cy="1882795"/>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4240484" y="4204402"/>
            <a:ext cx="1031238" cy="983484"/>
          </a:xfrm>
          <a:prstGeom prst="rect">
            <a:avLst/>
          </a:prstGeom>
          <a:noFill/>
          <a:ln w="539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形标注 22"/>
          <p:cNvSpPr/>
          <p:nvPr/>
        </p:nvSpPr>
        <p:spPr>
          <a:xfrm>
            <a:off x="5339360" y="2208494"/>
            <a:ext cx="2053603" cy="1424247"/>
          </a:xfrm>
          <a:prstGeom prst="wedgeEllipseCallout">
            <a:avLst>
              <a:gd name="adj1" fmla="val 52199"/>
              <a:gd name="adj2" fmla="val 3460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dirty="0" smtClean="0"/>
              <a:t>我在冰箱这一块地方放的小纸条就是给你看的</a:t>
            </a:r>
            <a:endParaRPr lang="zh-CN" altLang="en-US" dirty="0"/>
          </a:p>
        </p:txBody>
      </p:sp>
      <p:cxnSp>
        <p:nvCxnSpPr>
          <p:cNvPr id="24" name="直接箭头连接符 23"/>
          <p:cNvCxnSpPr/>
          <p:nvPr/>
        </p:nvCxnSpPr>
        <p:spPr>
          <a:xfrm flipH="1">
            <a:off x="4913313" y="3850265"/>
            <a:ext cx="1185505" cy="808715"/>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27" name="椭圆形标注 26"/>
          <p:cNvSpPr/>
          <p:nvPr/>
        </p:nvSpPr>
        <p:spPr>
          <a:xfrm>
            <a:off x="2929757" y="5363183"/>
            <a:ext cx="1031121" cy="762924"/>
          </a:xfrm>
          <a:prstGeom prst="wedgeEllipseCallout">
            <a:avLst>
              <a:gd name="adj1" fmla="val -77721"/>
              <a:gd name="adj2" fmla="val 38046"/>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smtClean="0"/>
              <a:t>哦</a:t>
            </a:r>
            <a:endParaRPr lang="zh-CN" altLang="en-US" dirty="0"/>
          </a:p>
        </p:txBody>
      </p:sp>
      <p:sp>
        <p:nvSpPr>
          <p:cNvPr id="5" name="矩形 4"/>
          <p:cNvSpPr/>
          <p:nvPr/>
        </p:nvSpPr>
        <p:spPr>
          <a:xfrm>
            <a:off x="4240484" y="5421479"/>
            <a:ext cx="4572000" cy="646331"/>
          </a:xfrm>
          <a:prstGeom prst="rect">
            <a:avLst/>
          </a:prstGeom>
        </p:spPr>
        <p:txBody>
          <a:bodyPr>
            <a:spAutoFit/>
          </a:bodyPr>
          <a:lstStyle/>
          <a:p>
            <a:r>
              <a:rPr lang="zh-CN" altLang="zh-CN" dirty="0">
                <a:solidFill>
                  <a:srgbClr val="C00000"/>
                </a:solidFill>
                <a:cs typeface="Times New Roman" panose="02020603050405020304" pitchFamily="18" charset="0"/>
              </a:rPr>
              <a:t>我们约定内存从物理地址</a:t>
            </a:r>
            <a:r>
              <a:rPr lang="en-US" altLang="zh-CN" dirty="0">
                <a:solidFill>
                  <a:srgbClr val="C00000"/>
                </a:solidFill>
                <a:latin typeface="等线" panose="02010600030101010101" pitchFamily="2" charset="-122"/>
                <a:cs typeface="Times New Roman" panose="02020603050405020304" pitchFamily="18" charset="0"/>
              </a:rPr>
              <a:t>0xa0000</a:t>
            </a:r>
            <a:r>
              <a:rPr lang="zh-CN" altLang="zh-CN" dirty="0">
                <a:solidFill>
                  <a:srgbClr val="C00000"/>
                </a:solidFill>
                <a:cs typeface="Times New Roman" panose="02020603050405020304" pitchFamily="18" charset="0"/>
              </a:rPr>
              <a:t>开始，长度为 </a:t>
            </a:r>
            <a:r>
              <a:rPr lang="en-US" altLang="zh-CN" dirty="0">
                <a:solidFill>
                  <a:srgbClr val="C00000"/>
                </a:solidFill>
                <a:latin typeface="等线" panose="02010600030101010101" pitchFamily="2" charset="-122"/>
                <a:cs typeface="Times New Roman" panose="02020603050405020304" pitchFamily="18" charset="0"/>
              </a:rPr>
              <a:t>320 * 200</a:t>
            </a:r>
            <a:r>
              <a:rPr lang="zh-CN" altLang="zh-CN" dirty="0">
                <a:solidFill>
                  <a:srgbClr val="C00000"/>
                </a:solidFill>
                <a:cs typeface="Times New Roman" panose="02020603050405020304" pitchFamily="18" charset="0"/>
              </a:rPr>
              <a:t>字节的区间为显存区间</a:t>
            </a:r>
            <a:endParaRPr lang="zh-CN" altLang="en-US" dirty="0">
              <a:solidFill>
                <a:srgbClr val="C00000"/>
              </a:solidFill>
            </a:endParaRPr>
          </a:p>
        </p:txBody>
      </p:sp>
    </p:spTree>
    <p:extLst>
      <p:ext uri="{BB962C8B-B14F-4D97-AF65-F5344CB8AC3E}">
        <p14:creationId xmlns:p14="http://schemas.microsoft.com/office/powerpoint/2010/main" val="3858225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外设与</a:t>
            </a:r>
            <a:r>
              <a:rPr lang="en-US" altLang="zh-CN" dirty="0"/>
              <a:t>I/O</a:t>
            </a:r>
            <a:endParaRPr lang="zh-CN" altLang="en-US" dirty="0"/>
          </a:p>
        </p:txBody>
      </p:sp>
      <p:sp>
        <p:nvSpPr>
          <p:cNvPr id="4" name="内容占位符 2"/>
          <p:cNvSpPr>
            <a:spLocks noGrp="1"/>
          </p:cNvSpPr>
          <p:nvPr>
            <p:ph idx="1"/>
          </p:nvPr>
        </p:nvSpPr>
        <p:spPr>
          <a:xfrm>
            <a:off x="628649" y="1182255"/>
            <a:ext cx="8938089" cy="1878826"/>
          </a:xfrm>
        </p:spPr>
        <p:txBody>
          <a:bodyPr/>
          <a:lstStyle/>
          <a:p>
            <a:r>
              <a:rPr lang="en-US" altLang="zh-CN" dirty="0" smtClean="0"/>
              <a:t>CPU</a:t>
            </a:r>
            <a:r>
              <a:rPr lang="zh-CN" altLang="en-US" dirty="0" smtClean="0"/>
              <a:t>如何向外设进行输入输出？</a:t>
            </a:r>
            <a:endParaRPr lang="en-US" altLang="zh-CN" dirty="0" smtClean="0"/>
          </a:p>
          <a:p>
            <a:pPr lvl="1"/>
            <a:r>
              <a:rPr lang="zh-CN" altLang="en-US" dirty="0" smtClean="0"/>
              <a:t>方式</a:t>
            </a:r>
            <a:r>
              <a:rPr lang="en-US" altLang="zh-CN" dirty="0"/>
              <a:t>2</a:t>
            </a:r>
            <a:r>
              <a:rPr lang="zh-CN" altLang="en-US" dirty="0" smtClean="0"/>
              <a:t>：</a:t>
            </a:r>
            <a:r>
              <a:rPr lang="zh-CN" altLang="zh-CN" dirty="0"/>
              <a:t>内存映射</a:t>
            </a:r>
            <a:r>
              <a:rPr lang="en-US" altLang="zh-CN" dirty="0" smtClean="0"/>
              <a:t>I/O (Memory Mapped I/O, </a:t>
            </a:r>
            <a:r>
              <a:rPr lang="en-US" altLang="zh-CN" dirty="0" err="1" smtClean="0"/>
              <a:t>mmio</a:t>
            </a:r>
            <a:r>
              <a:rPr lang="en-US" altLang="zh-CN" dirty="0" smtClean="0"/>
              <a:t>)</a:t>
            </a:r>
          </a:p>
          <a:p>
            <a:pPr lvl="1"/>
            <a:r>
              <a:rPr lang="en-US" altLang="zh-CN" dirty="0" smtClean="0"/>
              <a:t>NEMU</a:t>
            </a:r>
            <a:r>
              <a:rPr lang="zh-CN" altLang="en-US" dirty="0" smtClean="0"/>
              <a:t>中典型的</a:t>
            </a:r>
            <a:r>
              <a:rPr lang="zh-CN" altLang="zh-CN" dirty="0"/>
              <a:t>内存</a:t>
            </a:r>
            <a:r>
              <a:rPr lang="zh-CN" altLang="en-US" dirty="0" smtClean="0"/>
              <a:t>映射</a:t>
            </a:r>
            <a:r>
              <a:rPr lang="en-US" altLang="zh-CN" dirty="0" smtClean="0"/>
              <a:t>I/O</a:t>
            </a:r>
            <a:r>
              <a:rPr lang="zh-CN" altLang="en-US" dirty="0" smtClean="0"/>
              <a:t>设备</a:t>
            </a:r>
            <a:endParaRPr lang="en-US" altLang="zh-CN" dirty="0" smtClean="0"/>
          </a:p>
          <a:p>
            <a:pPr lvl="2"/>
            <a:r>
              <a:rPr lang="en-US" altLang="zh-CN" dirty="0" smtClean="0"/>
              <a:t>VGA</a:t>
            </a:r>
          </a:p>
          <a:p>
            <a:pPr marL="1371600" lvl="3" indent="0">
              <a:buNone/>
            </a:pPr>
            <a:endParaRPr lang="zh-CN" altLang="en-US" dirty="0">
              <a:solidFill>
                <a:srgbClr val="00B050"/>
              </a:solidFill>
            </a:endParaRPr>
          </a:p>
        </p:txBody>
      </p:sp>
      <p:sp>
        <p:nvSpPr>
          <p:cNvPr id="6" name="矩形 5"/>
          <p:cNvSpPr/>
          <p:nvPr/>
        </p:nvSpPr>
        <p:spPr>
          <a:xfrm>
            <a:off x="365300" y="3411446"/>
            <a:ext cx="5534648" cy="3011594"/>
          </a:xfrm>
          <a:prstGeom prst="rect">
            <a:avLst/>
          </a:prstGeom>
        </p:spPr>
        <p:txBody>
          <a:bodyPr wrap="square">
            <a:spAutoFit/>
          </a:bodyPr>
          <a:lstStyle/>
          <a:p>
            <a:pPr algn="just">
              <a:lnSpc>
                <a:spcPct val="156000"/>
              </a:lnSpc>
              <a:spcBef>
                <a:spcPts val="600"/>
              </a:spcBef>
              <a:spcAft>
                <a:spcPts val="1450"/>
              </a:spcAft>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§4-2.3.4 </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实现</a:t>
            </a: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VGA</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的</a:t>
            </a: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MMIO</a:t>
            </a:r>
            <a:endPar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lvl="0" indent="-342900" algn="just">
              <a:spcBef>
                <a:spcPts val="600"/>
              </a:spcBef>
              <a:spcAft>
                <a:spcPts val="0"/>
              </a:spcAft>
              <a:buFont typeface="+mj-lt"/>
              <a:buAutoNum type="arabicPeriod"/>
            </a:pPr>
            <a:r>
              <a:rPr lang="zh-CN" altLang="zh-CN" kern="100" dirty="0">
                <a:latin typeface="等线" panose="02010600030101010101" pitchFamily="2" charset="-122"/>
                <a:cs typeface="Times New Roman" panose="02020603050405020304" pitchFamily="18" charset="0"/>
              </a:rPr>
              <a:t>在</a:t>
            </a:r>
            <a:r>
              <a:rPr lang="en-US" altLang="zh-CN" kern="100" dirty="0">
                <a:solidFill>
                  <a:srgbClr val="1F4E79"/>
                </a:solidFill>
                <a:latin typeface="等线" panose="02010600030101010101" pitchFamily="2" charset="-122"/>
                <a:cs typeface="Times New Roman" panose="02020603050405020304" pitchFamily="18" charset="0"/>
              </a:rPr>
              <a:t>include/</a:t>
            </a:r>
            <a:r>
              <a:rPr lang="en-US" altLang="zh-CN" kern="100" dirty="0" err="1">
                <a:solidFill>
                  <a:srgbClr val="1F4E79"/>
                </a:solidFill>
                <a:latin typeface="等线" panose="02010600030101010101" pitchFamily="2" charset="-122"/>
                <a:cs typeface="Times New Roman" panose="02020603050405020304" pitchFamily="18" charset="0"/>
              </a:rPr>
              <a:t>config.h</a:t>
            </a:r>
            <a:r>
              <a:rPr lang="zh-CN" altLang="zh-CN" kern="100" dirty="0">
                <a:latin typeface="等线" panose="02010600030101010101" pitchFamily="2" charset="-122"/>
                <a:cs typeface="Times New Roman" panose="02020603050405020304" pitchFamily="18" charset="0"/>
              </a:rPr>
              <a:t>中定义宏</a:t>
            </a:r>
            <a:r>
              <a:rPr lang="en-US" altLang="zh-CN" kern="100" dirty="0">
                <a:solidFill>
                  <a:srgbClr val="1F4E79"/>
                </a:solidFill>
                <a:latin typeface="等线" panose="02010600030101010101" pitchFamily="2" charset="-122"/>
                <a:cs typeface="Times New Roman" panose="02020603050405020304" pitchFamily="18" charset="0"/>
              </a:rPr>
              <a:t>HAS_DEVICE_VGA</a:t>
            </a:r>
            <a:r>
              <a:rPr lang="zh-CN" altLang="zh-CN" kern="100" dirty="0">
                <a:latin typeface="等线" panose="02010600030101010101" pitchFamily="2" charset="-122"/>
                <a:cs typeface="Times New Roman" panose="02020603050405020304" pitchFamily="18" charset="0"/>
              </a:rPr>
              <a:t>；</a:t>
            </a:r>
          </a:p>
          <a:p>
            <a:pPr marL="342900" lvl="0" indent="-342900" algn="just">
              <a:spcBef>
                <a:spcPts val="600"/>
              </a:spcBef>
              <a:spcAft>
                <a:spcPts val="0"/>
              </a:spcAft>
              <a:buFont typeface="+mj-lt"/>
              <a:buAutoNum type="arabicPeriod"/>
            </a:pPr>
            <a:r>
              <a:rPr lang="zh-CN" altLang="zh-CN" kern="100" dirty="0">
                <a:latin typeface="等线" panose="02010600030101010101" pitchFamily="2" charset="-122"/>
                <a:cs typeface="Times New Roman" panose="02020603050405020304" pitchFamily="18" charset="0"/>
              </a:rPr>
              <a:t>在</a:t>
            </a:r>
            <a:r>
              <a:rPr lang="en-US" altLang="zh-CN" kern="100" dirty="0" err="1">
                <a:solidFill>
                  <a:srgbClr val="1F4E79"/>
                </a:solidFill>
                <a:latin typeface="等线" panose="02010600030101010101" pitchFamily="2" charset="-122"/>
                <a:cs typeface="Times New Roman" panose="02020603050405020304" pitchFamily="18" charset="0"/>
              </a:rPr>
              <a:t>nemu</a:t>
            </a:r>
            <a:r>
              <a:rPr lang="en-US" altLang="zh-CN" kern="100" dirty="0">
                <a:solidFill>
                  <a:srgbClr val="1F4E79"/>
                </a:solidFill>
                <a:latin typeface="等线" panose="02010600030101010101" pitchFamily="2" charset="-122"/>
                <a:cs typeface="Times New Roman" panose="02020603050405020304" pitchFamily="18" charset="0"/>
              </a:rPr>
              <a:t>/</a:t>
            </a:r>
            <a:r>
              <a:rPr lang="en-US" altLang="zh-CN" kern="100" dirty="0" err="1">
                <a:solidFill>
                  <a:srgbClr val="1F4E79"/>
                </a:solidFill>
                <a:latin typeface="等线" panose="02010600030101010101" pitchFamily="2" charset="-122"/>
                <a:cs typeface="Times New Roman" panose="02020603050405020304" pitchFamily="18" charset="0"/>
              </a:rPr>
              <a:t>src</a:t>
            </a:r>
            <a:r>
              <a:rPr lang="en-US" altLang="zh-CN" kern="100" dirty="0">
                <a:solidFill>
                  <a:srgbClr val="1F4E79"/>
                </a:solidFill>
                <a:latin typeface="等线" panose="02010600030101010101" pitchFamily="2" charset="-122"/>
                <a:cs typeface="Times New Roman" panose="02020603050405020304" pitchFamily="18" charset="0"/>
              </a:rPr>
              <a:t>/memory/</a:t>
            </a:r>
            <a:r>
              <a:rPr lang="en-US" altLang="zh-CN" kern="100" dirty="0" err="1">
                <a:solidFill>
                  <a:srgbClr val="1F4E79"/>
                </a:solidFill>
                <a:latin typeface="等线" panose="02010600030101010101" pitchFamily="2" charset="-122"/>
                <a:cs typeface="Times New Roman" panose="02020603050405020304" pitchFamily="18" charset="0"/>
              </a:rPr>
              <a:t>memory.c</a:t>
            </a:r>
            <a:r>
              <a:rPr lang="zh-CN" altLang="zh-CN" kern="100" dirty="0">
                <a:latin typeface="等线" panose="02010600030101010101" pitchFamily="2" charset="-122"/>
                <a:cs typeface="Times New Roman" panose="02020603050405020304" pitchFamily="18" charset="0"/>
              </a:rPr>
              <a:t>中添加</a:t>
            </a:r>
            <a:r>
              <a:rPr lang="en-US" altLang="zh-CN" kern="100" dirty="0" err="1">
                <a:solidFill>
                  <a:srgbClr val="1F4E79"/>
                </a:solidFill>
                <a:latin typeface="等线" panose="02010600030101010101" pitchFamily="2" charset="-122"/>
                <a:cs typeface="Times New Roman" panose="02020603050405020304" pitchFamily="18" charset="0"/>
              </a:rPr>
              <a:t>mm_io</a:t>
            </a:r>
            <a:r>
              <a:rPr lang="zh-CN" altLang="zh-CN" kern="100" dirty="0">
                <a:latin typeface="等线" panose="02010600030101010101" pitchFamily="2" charset="-122"/>
                <a:cs typeface="Times New Roman" panose="02020603050405020304" pitchFamily="18" charset="0"/>
              </a:rPr>
              <a:t>判断和对应的读写操作；</a:t>
            </a:r>
          </a:p>
          <a:p>
            <a:pPr marL="342900" lvl="0" indent="-342900" algn="just">
              <a:spcBef>
                <a:spcPts val="600"/>
              </a:spcBef>
              <a:spcAft>
                <a:spcPts val="0"/>
              </a:spcAft>
              <a:buFont typeface="+mj-lt"/>
              <a:buAutoNum type="arabicPeriod"/>
            </a:pPr>
            <a:r>
              <a:rPr lang="zh-CN" altLang="zh-CN" kern="100" dirty="0">
                <a:latin typeface="等线" panose="02010600030101010101" pitchFamily="2" charset="-122"/>
                <a:cs typeface="Times New Roman" panose="02020603050405020304" pitchFamily="18" charset="0"/>
              </a:rPr>
              <a:t>在</a:t>
            </a:r>
            <a:r>
              <a:rPr lang="en-US" altLang="zh-CN" kern="100" dirty="0">
                <a:solidFill>
                  <a:srgbClr val="1F4E79"/>
                </a:solidFill>
                <a:latin typeface="等线" panose="02010600030101010101" pitchFamily="2" charset="-122"/>
                <a:cs typeface="Times New Roman" panose="02020603050405020304" pitchFamily="18" charset="0"/>
              </a:rPr>
              <a:t>kernel/</a:t>
            </a:r>
            <a:r>
              <a:rPr lang="en-US" altLang="zh-CN" kern="100" dirty="0" err="1">
                <a:solidFill>
                  <a:srgbClr val="1F4E79"/>
                </a:solidFill>
                <a:latin typeface="等线" panose="02010600030101010101" pitchFamily="2" charset="-122"/>
                <a:cs typeface="Times New Roman" panose="02020603050405020304" pitchFamily="18" charset="0"/>
              </a:rPr>
              <a:t>src</a:t>
            </a:r>
            <a:r>
              <a:rPr lang="en-US" altLang="zh-CN" kern="100" dirty="0">
                <a:solidFill>
                  <a:srgbClr val="1F4E79"/>
                </a:solidFill>
                <a:latin typeface="等线" panose="02010600030101010101" pitchFamily="2" charset="-122"/>
                <a:cs typeface="Times New Roman" panose="02020603050405020304" pitchFamily="18" charset="0"/>
              </a:rPr>
              <a:t>/memory/</a:t>
            </a:r>
            <a:r>
              <a:rPr lang="en-US" altLang="zh-CN" kern="100" dirty="0" err="1">
                <a:solidFill>
                  <a:srgbClr val="1F4E79"/>
                </a:solidFill>
                <a:latin typeface="等线" panose="02010600030101010101" pitchFamily="2" charset="-122"/>
                <a:cs typeface="Times New Roman" panose="02020603050405020304" pitchFamily="18" charset="0"/>
              </a:rPr>
              <a:t>vmem.c</a:t>
            </a:r>
            <a:r>
              <a:rPr lang="zh-CN" altLang="zh-CN" kern="100" dirty="0">
                <a:latin typeface="等线" panose="02010600030101010101" pitchFamily="2" charset="-122"/>
                <a:cs typeface="Times New Roman" panose="02020603050405020304" pitchFamily="18" charset="0"/>
              </a:rPr>
              <a:t>中完成显存的恒等映射；</a:t>
            </a:r>
          </a:p>
          <a:p>
            <a:pPr marL="342900" lvl="0" indent="-342900" algn="just">
              <a:spcBef>
                <a:spcPts val="600"/>
              </a:spcBef>
              <a:spcAft>
                <a:spcPts val="0"/>
              </a:spcAft>
              <a:buFont typeface="+mj-lt"/>
              <a:buAutoNum type="arabicPeriod"/>
            </a:pPr>
            <a:r>
              <a:rPr lang="zh-CN" altLang="zh-CN" kern="100" dirty="0">
                <a:latin typeface="等线" panose="02010600030101010101" pitchFamily="2" charset="-122"/>
                <a:cs typeface="Times New Roman" panose="02020603050405020304" pitchFamily="18" charset="0"/>
              </a:rPr>
              <a:t>通过</a:t>
            </a:r>
            <a:r>
              <a:rPr lang="en-US" altLang="zh-CN" kern="100" dirty="0">
                <a:solidFill>
                  <a:srgbClr val="1F4E79"/>
                </a:solidFill>
                <a:latin typeface="等线" panose="02010600030101010101" pitchFamily="2" charset="-122"/>
                <a:cs typeface="Times New Roman" panose="02020603050405020304" pitchFamily="18" charset="0"/>
              </a:rPr>
              <a:t>make </a:t>
            </a:r>
            <a:r>
              <a:rPr lang="en-US" altLang="zh-CN" kern="100" dirty="0" err="1">
                <a:solidFill>
                  <a:srgbClr val="1F4E79"/>
                </a:solidFill>
                <a:latin typeface="等线" panose="02010600030101010101" pitchFamily="2" charset="-122"/>
                <a:cs typeface="Times New Roman" panose="02020603050405020304" pitchFamily="18" charset="0"/>
              </a:rPr>
              <a:t>testkernel</a:t>
            </a:r>
            <a:r>
              <a:rPr lang="zh-CN" altLang="zh-CN" kern="100" dirty="0">
                <a:latin typeface="等线" panose="02010600030101010101" pitchFamily="2" charset="-122"/>
                <a:cs typeface="Times New Roman" panose="02020603050405020304" pitchFamily="18" charset="0"/>
              </a:rPr>
              <a:t>执行测试用例，观察输出测试颜色信息，并通过</a:t>
            </a:r>
            <a:r>
              <a:rPr lang="en-US" altLang="zh-CN" kern="100" dirty="0" err="1">
                <a:solidFill>
                  <a:srgbClr val="1F4E79"/>
                </a:solidFill>
                <a:latin typeface="等线" panose="02010600030101010101" pitchFamily="2" charset="-122"/>
                <a:cs typeface="Times New Roman" panose="02020603050405020304" pitchFamily="18" charset="0"/>
              </a:rPr>
              <a:t>video_mapping_read_test</a:t>
            </a:r>
            <a:r>
              <a:rPr lang="en-US" altLang="zh-CN" kern="100" dirty="0">
                <a:solidFill>
                  <a:srgbClr val="1F4E79"/>
                </a:solidFill>
                <a:latin typeface="等线" panose="02010600030101010101" pitchFamily="2" charset="-122"/>
                <a:cs typeface="Times New Roman" panose="02020603050405020304" pitchFamily="18" charset="0"/>
              </a:rPr>
              <a:t>()</a:t>
            </a:r>
            <a:r>
              <a:rPr lang="zh-CN" altLang="zh-CN" kern="100" dirty="0">
                <a:latin typeface="等线" panose="02010600030101010101" pitchFamily="2" charset="-122"/>
                <a:cs typeface="Times New Roman" panose="02020603050405020304" pitchFamily="18" charset="0"/>
              </a:rPr>
              <a:t>。</a:t>
            </a:r>
          </a:p>
        </p:txBody>
      </p:sp>
      <p:sp>
        <p:nvSpPr>
          <p:cNvPr id="7" name="文本框 6"/>
          <p:cNvSpPr txBox="1"/>
          <p:nvPr/>
        </p:nvSpPr>
        <p:spPr>
          <a:xfrm>
            <a:off x="5548941" y="2528131"/>
            <a:ext cx="3231462" cy="1384995"/>
          </a:xfrm>
          <a:prstGeom prst="rect">
            <a:avLst/>
          </a:prstGeom>
          <a:noFill/>
          <a:ln>
            <a:solidFill>
              <a:schemeClr val="dk1"/>
            </a:solidFill>
            <a:prstDash val="dash"/>
          </a:ln>
        </p:spPr>
        <p:txBody>
          <a:bodyPr wrap="none" rtlCol="0">
            <a:spAutoFit/>
          </a:bodyPr>
          <a:lstStyle/>
          <a:p>
            <a:r>
              <a:rPr lang="en-US" altLang="zh-CN" sz="1200" dirty="0" err="1" smtClean="0"/>
              <a:t>paddr_read</a:t>
            </a:r>
            <a:r>
              <a:rPr lang="en-US" altLang="zh-CN" sz="1200" dirty="0" smtClean="0"/>
              <a:t>/write() {</a:t>
            </a:r>
          </a:p>
          <a:p>
            <a:r>
              <a:rPr lang="en-US" altLang="zh-CN" sz="1200" dirty="0" smtClean="0"/>
              <a:t>	if(</a:t>
            </a:r>
            <a:r>
              <a:rPr lang="en-US" altLang="zh-CN" sz="1200" dirty="0" err="1" smtClean="0"/>
              <a:t>is_mmio</a:t>
            </a:r>
            <a:r>
              <a:rPr lang="en-US" altLang="zh-CN" sz="1200" dirty="0" smtClean="0"/>
              <a:t>(</a:t>
            </a:r>
            <a:r>
              <a:rPr lang="en-US" altLang="zh-CN" sz="1200" dirty="0" err="1" smtClean="0"/>
              <a:t>paddr</a:t>
            </a:r>
            <a:r>
              <a:rPr lang="en-US" altLang="zh-CN" sz="1200" dirty="0" smtClean="0"/>
              <a:t>) == -1) {</a:t>
            </a:r>
          </a:p>
          <a:p>
            <a:r>
              <a:rPr lang="en-US" altLang="zh-CN" sz="1200" dirty="0"/>
              <a:t>	</a:t>
            </a:r>
            <a:r>
              <a:rPr lang="en-US" altLang="zh-CN" sz="1200" dirty="0" smtClean="0"/>
              <a:t>	…</a:t>
            </a:r>
          </a:p>
          <a:p>
            <a:r>
              <a:rPr lang="en-US" altLang="zh-CN" sz="1200" dirty="0"/>
              <a:t>	</a:t>
            </a:r>
            <a:r>
              <a:rPr lang="en-US" altLang="zh-CN" sz="1200" dirty="0" smtClean="0"/>
              <a:t>} else {</a:t>
            </a:r>
          </a:p>
          <a:p>
            <a:r>
              <a:rPr lang="en-US" altLang="zh-CN" sz="1200" dirty="0"/>
              <a:t>	</a:t>
            </a:r>
            <a:r>
              <a:rPr lang="en-US" altLang="zh-CN" sz="1200" dirty="0" smtClean="0"/>
              <a:t>	</a:t>
            </a:r>
            <a:r>
              <a:rPr lang="en-US" altLang="zh-CN" sz="1200" dirty="0" err="1" smtClean="0"/>
              <a:t>mmio_read</a:t>
            </a:r>
            <a:r>
              <a:rPr lang="en-US" altLang="zh-CN" sz="1200" dirty="0" smtClean="0"/>
              <a:t>/write()</a:t>
            </a:r>
          </a:p>
          <a:p>
            <a:r>
              <a:rPr lang="en-US" altLang="zh-CN" sz="1200" dirty="0"/>
              <a:t>	</a:t>
            </a:r>
            <a:r>
              <a:rPr lang="en-US" altLang="zh-CN" sz="1200" dirty="0" smtClean="0"/>
              <a:t>}</a:t>
            </a:r>
          </a:p>
          <a:p>
            <a:r>
              <a:rPr lang="en-US" altLang="zh-CN" sz="1200" dirty="0" smtClean="0"/>
              <a:t>}</a:t>
            </a:r>
            <a:endParaRPr lang="zh-CN" altLang="en-US" sz="1200" dirty="0"/>
          </a:p>
        </p:txBody>
      </p:sp>
      <p:cxnSp>
        <p:nvCxnSpPr>
          <p:cNvPr id="9" name="直接箭头连接符 8"/>
          <p:cNvCxnSpPr/>
          <p:nvPr/>
        </p:nvCxnSpPr>
        <p:spPr>
          <a:xfrm flipV="1">
            <a:off x="6019417" y="3818424"/>
            <a:ext cx="955755" cy="891425"/>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3861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外设与</a:t>
            </a:r>
            <a:r>
              <a:rPr lang="en-US" altLang="zh-CN" dirty="0"/>
              <a:t>I/O</a:t>
            </a:r>
            <a:endParaRPr lang="zh-CN" altLang="en-US" dirty="0"/>
          </a:p>
        </p:txBody>
      </p:sp>
      <p:sp>
        <p:nvSpPr>
          <p:cNvPr id="4" name="内容占位符 2"/>
          <p:cNvSpPr>
            <a:spLocks noGrp="1"/>
          </p:cNvSpPr>
          <p:nvPr>
            <p:ph idx="1"/>
          </p:nvPr>
        </p:nvSpPr>
        <p:spPr>
          <a:xfrm>
            <a:off x="628649" y="1182255"/>
            <a:ext cx="8938089" cy="1878826"/>
          </a:xfrm>
        </p:spPr>
        <p:txBody>
          <a:bodyPr/>
          <a:lstStyle/>
          <a:p>
            <a:r>
              <a:rPr lang="en-US" altLang="zh-CN" dirty="0" smtClean="0"/>
              <a:t>CPU</a:t>
            </a:r>
            <a:r>
              <a:rPr lang="zh-CN" altLang="en-US" dirty="0" smtClean="0"/>
              <a:t>如何向外设进行输入输出？</a:t>
            </a:r>
            <a:endParaRPr lang="en-US" altLang="zh-CN" dirty="0" smtClean="0"/>
          </a:p>
          <a:p>
            <a:pPr lvl="1"/>
            <a:r>
              <a:rPr lang="zh-CN" altLang="en-US" dirty="0"/>
              <a:t>方式</a:t>
            </a:r>
            <a:r>
              <a:rPr lang="en-US" altLang="zh-CN" dirty="0"/>
              <a:t>2</a:t>
            </a:r>
            <a:r>
              <a:rPr lang="zh-CN" altLang="en-US" dirty="0"/>
              <a:t>：</a:t>
            </a:r>
            <a:r>
              <a:rPr lang="zh-CN" altLang="zh-CN" dirty="0"/>
              <a:t>内存映射</a:t>
            </a:r>
            <a:r>
              <a:rPr lang="en-US" altLang="zh-CN" dirty="0"/>
              <a:t>I/O (Memory Mapped I/O, </a:t>
            </a:r>
            <a:r>
              <a:rPr lang="en-US" altLang="zh-CN" dirty="0" err="1"/>
              <a:t>mmio</a:t>
            </a:r>
            <a:r>
              <a:rPr lang="en-US" altLang="zh-CN" dirty="0"/>
              <a:t>)</a:t>
            </a:r>
          </a:p>
          <a:p>
            <a:pPr lvl="1"/>
            <a:r>
              <a:rPr lang="en-US" altLang="zh-CN" dirty="0" smtClean="0"/>
              <a:t>NEMU</a:t>
            </a:r>
            <a:r>
              <a:rPr lang="zh-CN" altLang="en-US" dirty="0" smtClean="0"/>
              <a:t>中典型的</a:t>
            </a:r>
            <a:r>
              <a:rPr lang="zh-CN" altLang="zh-CN" dirty="0"/>
              <a:t>内存</a:t>
            </a:r>
            <a:r>
              <a:rPr lang="zh-CN" altLang="en-US" dirty="0" smtClean="0"/>
              <a:t>映射</a:t>
            </a:r>
            <a:r>
              <a:rPr lang="en-US" altLang="zh-CN" dirty="0" smtClean="0"/>
              <a:t>I/O</a:t>
            </a:r>
            <a:r>
              <a:rPr lang="zh-CN" altLang="en-US" dirty="0" smtClean="0"/>
              <a:t>设备</a:t>
            </a:r>
            <a:endParaRPr lang="en-US" altLang="zh-CN" dirty="0" smtClean="0"/>
          </a:p>
          <a:p>
            <a:pPr lvl="2"/>
            <a:r>
              <a:rPr lang="en-US" altLang="zh-CN" dirty="0" smtClean="0"/>
              <a:t>VGA</a:t>
            </a:r>
          </a:p>
          <a:p>
            <a:pPr marL="1371600" lvl="3" indent="0">
              <a:buNone/>
            </a:pPr>
            <a:endParaRPr lang="zh-CN" altLang="en-US" dirty="0">
              <a:solidFill>
                <a:srgbClr val="00B050"/>
              </a:solidFill>
            </a:endParaRPr>
          </a:p>
        </p:txBody>
      </p:sp>
      <p:sp>
        <p:nvSpPr>
          <p:cNvPr id="6" name="矩形 5"/>
          <p:cNvSpPr/>
          <p:nvPr/>
        </p:nvSpPr>
        <p:spPr>
          <a:xfrm>
            <a:off x="365300" y="3411446"/>
            <a:ext cx="5534648" cy="3011594"/>
          </a:xfrm>
          <a:prstGeom prst="rect">
            <a:avLst/>
          </a:prstGeom>
        </p:spPr>
        <p:txBody>
          <a:bodyPr wrap="square">
            <a:spAutoFit/>
          </a:bodyPr>
          <a:lstStyle/>
          <a:p>
            <a:pPr algn="just">
              <a:lnSpc>
                <a:spcPct val="156000"/>
              </a:lnSpc>
              <a:spcBef>
                <a:spcPts val="600"/>
              </a:spcBef>
              <a:spcAft>
                <a:spcPts val="1450"/>
              </a:spcAft>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§4-2.3.4 </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实现</a:t>
            </a: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VGA</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的</a:t>
            </a: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MMIO</a:t>
            </a:r>
            <a:endPar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lvl="0" indent="-342900" algn="just">
              <a:spcBef>
                <a:spcPts val="600"/>
              </a:spcBef>
              <a:spcAft>
                <a:spcPts val="0"/>
              </a:spcAft>
              <a:buFont typeface="+mj-lt"/>
              <a:buAutoNum type="arabicPeriod"/>
            </a:pPr>
            <a:r>
              <a:rPr lang="zh-CN" altLang="zh-CN" kern="100" dirty="0">
                <a:latin typeface="等线" panose="02010600030101010101" pitchFamily="2" charset="-122"/>
                <a:cs typeface="Times New Roman" panose="02020603050405020304" pitchFamily="18" charset="0"/>
              </a:rPr>
              <a:t>在</a:t>
            </a:r>
            <a:r>
              <a:rPr lang="en-US" altLang="zh-CN" kern="100" dirty="0">
                <a:solidFill>
                  <a:srgbClr val="1F4E79"/>
                </a:solidFill>
                <a:latin typeface="等线" panose="02010600030101010101" pitchFamily="2" charset="-122"/>
                <a:cs typeface="Times New Roman" panose="02020603050405020304" pitchFamily="18" charset="0"/>
              </a:rPr>
              <a:t>include/</a:t>
            </a:r>
            <a:r>
              <a:rPr lang="en-US" altLang="zh-CN" kern="100" dirty="0" err="1">
                <a:solidFill>
                  <a:srgbClr val="1F4E79"/>
                </a:solidFill>
                <a:latin typeface="等线" panose="02010600030101010101" pitchFamily="2" charset="-122"/>
                <a:cs typeface="Times New Roman" panose="02020603050405020304" pitchFamily="18" charset="0"/>
              </a:rPr>
              <a:t>config.h</a:t>
            </a:r>
            <a:r>
              <a:rPr lang="zh-CN" altLang="zh-CN" kern="100" dirty="0">
                <a:latin typeface="等线" panose="02010600030101010101" pitchFamily="2" charset="-122"/>
                <a:cs typeface="Times New Roman" panose="02020603050405020304" pitchFamily="18" charset="0"/>
              </a:rPr>
              <a:t>中定义宏</a:t>
            </a:r>
            <a:r>
              <a:rPr lang="en-US" altLang="zh-CN" kern="100" dirty="0">
                <a:solidFill>
                  <a:srgbClr val="1F4E79"/>
                </a:solidFill>
                <a:latin typeface="等线" panose="02010600030101010101" pitchFamily="2" charset="-122"/>
                <a:cs typeface="Times New Roman" panose="02020603050405020304" pitchFamily="18" charset="0"/>
              </a:rPr>
              <a:t>HAS_DEVICE_VGA</a:t>
            </a:r>
            <a:r>
              <a:rPr lang="zh-CN" altLang="zh-CN" kern="100" dirty="0">
                <a:latin typeface="等线" panose="02010600030101010101" pitchFamily="2" charset="-122"/>
                <a:cs typeface="Times New Roman" panose="02020603050405020304" pitchFamily="18" charset="0"/>
              </a:rPr>
              <a:t>；</a:t>
            </a:r>
          </a:p>
          <a:p>
            <a:pPr marL="342900" lvl="0" indent="-342900" algn="just">
              <a:spcBef>
                <a:spcPts val="600"/>
              </a:spcBef>
              <a:spcAft>
                <a:spcPts val="0"/>
              </a:spcAft>
              <a:buFont typeface="+mj-lt"/>
              <a:buAutoNum type="arabicPeriod"/>
            </a:pPr>
            <a:r>
              <a:rPr lang="zh-CN" altLang="zh-CN" kern="100" dirty="0">
                <a:latin typeface="等线" panose="02010600030101010101" pitchFamily="2" charset="-122"/>
                <a:cs typeface="Times New Roman" panose="02020603050405020304" pitchFamily="18" charset="0"/>
              </a:rPr>
              <a:t>在</a:t>
            </a:r>
            <a:r>
              <a:rPr lang="en-US" altLang="zh-CN" kern="100" dirty="0" err="1">
                <a:solidFill>
                  <a:srgbClr val="1F4E79"/>
                </a:solidFill>
                <a:latin typeface="等线" panose="02010600030101010101" pitchFamily="2" charset="-122"/>
                <a:cs typeface="Times New Roman" panose="02020603050405020304" pitchFamily="18" charset="0"/>
              </a:rPr>
              <a:t>nemu</a:t>
            </a:r>
            <a:r>
              <a:rPr lang="en-US" altLang="zh-CN" kern="100" dirty="0">
                <a:solidFill>
                  <a:srgbClr val="1F4E79"/>
                </a:solidFill>
                <a:latin typeface="等线" panose="02010600030101010101" pitchFamily="2" charset="-122"/>
                <a:cs typeface="Times New Roman" panose="02020603050405020304" pitchFamily="18" charset="0"/>
              </a:rPr>
              <a:t>/</a:t>
            </a:r>
            <a:r>
              <a:rPr lang="en-US" altLang="zh-CN" kern="100" dirty="0" err="1">
                <a:solidFill>
                  <a:srgbClr val="1F4E79"/>
                </a:solidFill>
                <a:latin typeface="等线" panose="02010600030101010101" pitchFamily="2" charset="-122"/>
                <a:cs typeface="Times New Roman" panose="02020603050405020304" pitchFamily="18" charset="0"/>
              </a:rPr>
              <a:t>src</a:t>
            </a:r>
            <a:r>
              <a:rPr lang="en-US" altLang="zh-CN" kern="100" dirty="0">
                <a:solidFill>
                  <a:srgbClr val="1F4E79"/>
                </a:solidFill>
                <a:latin typeface="等线" panose="02010600030101010101" pitchFamily="2" charset="-122"/>
                <a:cs typeface="Times New Roman" panose="02020603050405020304" pitchFamily="18" charset="0"/>
              </a:rPr>
              <a:t>/memory/</a:t>
            </a:r>
            <a:r>
              <a:rPr lang="en-US" altLang="zh-CN" kern="100" dirty="0" err="1">
                <a:solidFill>
                  <a:srgbClr val="1F4E79"/>
                </a:solidFill>
                <a:latin typeface="等线" panose="02010600030101010101" pitchFamily="2" charset="-122"/>
                <a:cs typeface="Times New Roman" panose="02020603050405020304" pitchFamily="18" charset="0"/>
              </a:rPr>
              <a:t>memory.c</a:t>
            </a:r>
            <a:r>
              <a:rPr lang="zh-CN" altLang="zh-CN" kern="100" dirty="0">
                <a:latin typeface="等线" panose="02010600030101010101" pitchFamily="2" charset="-122"/>
                <a:cs typeface="Times New Roman" panose="02020603050405020304" pitchFamily="18" charset="0"/>
              </a:rPr>
              <a:t>中添加</a:t>
            </a:r>
            <a:r>
              <a:rPr lang="en-US" altLang="zh-CN" kern="100" dirty="0" err="1">
                <a:solidFill>
                  <a:srgbClr val="1F4E79"/>
                </a:solidFill>
                <a:latin typeface="等线" panose="02010600030101010101" pitchFamily="2" charset="-122"/>
                <a:cs typeface="Times New Roman" panose="02020603050405020304" pitchFamily="18" charset="0"/>
              </a:rPr>
              <a:t>mm_io</a:t>
            </a:r>
            <a:r>
              <a:rPr lang="zh-CN" altLang="zh-CN" kern="100" dirty="0">
                <a:latin typeface="等线" panose="02010600030101010101" pitchFamily="2" charset="-122"/>
                <a:cs typeface="Times New Roman" panose="02020603050405020304" pitchFamily="18" charset="0"/>
              </a:rPr>
              <a:t>判断和对应的读写操作；</a:t>
            </a:r>
          </a:p>
          <a:p>
            <a:pPr marL="342900" lvl="0" indent="-342900" algn="just">
              <a:spcBef>
                <a:spcPts val="600"/>
              </a:spcBef>
              <a:spcAft>
                <a:spcPts val="0"/>
              </a:spcAft>
              <a:buFont typeface="+mj-lt"/>
              <a:buAutoNum type="arabicPeriod"/>
            </a:pPr>
            <a:r>
              <a:rPr lang="zh-CN" altLang="zh-CN" kern="100" dirty="0">
                <a:latin typeface="等线" panose="02010600030101010101" pitchFamily="2" charset="-122"/>
                <a:cs typeface="Times New Roman" panose="02020603050405020304" pitchFamily="18" charset="0"/>
              </a:rPr>
              <a:t>在</a:t>
            </a:r>
            <a:r>
              <a:rPr lang="en-US" altLang="zh-CN" kern="100" dirty="0">
                <a:solidFill>
                  <a:srgbClr val="1F4E79"/>
                </a:solidFill>
                <a:latin typeface="等线" panose="02010600030101010101" pitchFamily="2" charset="-122"/>
                <a:cs typeface="Times New Roman" panose="02020603050405020304" pitchFamily="18" charset="0"/>
              </a:rPr>
              <a:t>kernel/</a:t>
            </a:r>
            <a:r>
              <a:rPr lang="en-US" altLang="zh-CN" kern="100" dirty="0" err="1">
                <a:solidFill>
                  <a:srgbClr val="1F4E79"/>
                </a:solidFill>
                <a:latin typeface="等线" panose="02010600030101010101" pitchFamily="2" charset="-122"/>
                <a:cs typeface="Times New Roman" panose="02020603050405020304" pitchFamily="18" charset="0"/>
              </a:rPr>
              <a:t>src</a:t>
            </a:r>
            <a:r>
              <a:rPr lang="en-US" altLang="zh-CN" kern="100" dirty="0">
                <a:solidFill>
                  <a:srgbClr val="1F4E79"/>
                </a:solidFill>
                <a:latin typeface="等线" panose="02010600030101010101" pitchFamily="2" charset="-122"/>
                <a:cs typeface="Times New Roman" panose="02020603050405020304" pitchFamily="18" charset="0"/>
              </a:rPr>
              <a:t>/memory/</a:t>
            </a:r>
            <a:r>
              <a:rPr lang="en-US" altLang="zh-CN" kern="100" dirty="0" err="1">
                <a:solidFill>
                  <a:srgbClr val="1F4E79"/>
                </a:solidFill>
                <a:latin typeface="等线" panose="02010600030101010101" pitchFamily="2" charset="-122"/>
                <a:cs typeface="Times New Roman" panose="02020603050405020304" pitchFamily="18" charset="0"/>
              </a:rPr>
              <a:t>vmem.c</a:t>
            </a:r>
            <a:r>
              <a:rPr lang="zh-CN" altLang="zh-CN" kern="100" dirty="0">
                <a:latin typeface="等线" panose="02010600030101010101" pitchFamily="2" charset="-122"/>
                <a:cs typeface="Times New Roman" panose="02020603050405020304" pitchFamily="18" charset="0"/>
              </a:rPr>
              <a:t>中完成显存的恒等映射；</a:t>
            </a:r>
          </a:p>
          <a:p>
            <a:pPr marL="342900" lvl="0" indent="-342900" algn="just">
              <a:spcBef>
                <a:spcPts val="600"/>
              </a:spcBef>
              <a:spcAft>
                <a:spcPts val="0"/>
              </a:spcAft>
              <a:buFont typeface="+mj-lt"/>
              <a:buAutoNum type="arabicPeriod"/>
            </a:pPr>
            <a:r>
              <a:rPr lang="zh-CN" altLang="zh-CN" kern="100" dirty="0">
                <a:latin typeface="等线" panose="02010600030101010101" pitchFamily="2" charset="-122"/>
                <a:cs typeface="Times New Roman" panose="02020603050405020304" pitchFamily="18" charset="0"/>
              </a:rPr>
              <a:t>通过</a:t>
            </a:r>
            <a:r>
              <a:rPr lang="en-US" altLang="zh-CN" kern="100" dirty="0">
                <a:solidFill>
                  <a:srgbClr val="1F4E79"/>
                </a:solidFill>
                <a:latin typeface="等线" panose="02010600030101010101" pitchFamily="2" charset="-122"/>
                <a:cs typeface="Times New Roman" panose="02020603050405020304" pitchFamily="18" charset="0"/>
              </a:rPr>
              <a:t>make </a:t>
            </a:r>
            <a:r>
              <a:rPr lang="en-US" altLang="zh-CN" kern="100" dirty="0" err="1">
                <a:solidFill>
                  <a:srgbClr val="1F4E79"/>
                </a:solidFill>
                <a:latin typeface="等线" panose="02010600030101010101" pitchFamily="2" charset="-122"/>
                <a:cs typeface="Times New Roman" panose="02020603050405020304" pitchFamily="18" charset="0"/>
              </a:rPr>
              <a:t>testkernel</a:t>
            </a:r>
            <a:r>
              <a:rPr lang="zh-CN" altLang="zh-CN" kern="100" dirty="0">
                <a:latin typeface="等线" panose="02010600030101010101" pitchFamily="2" charset="-122"/>
                <a:cs typeface="Times New Roman" panose="02020603050405020304" pitchFamily="18" charset="0"/>
              </a:rPr>
              <a:t>执行测试用例，观察输出测试颜色信息，并通过</a:t>
            </a:r>
            <a:r>
              <a:rPr lang="en-US" altLang="zh-CN" kern="100" dirty="0" err="1">
                <a:solidFill>
                  <a:srgbClr val="1F4E79"/>
                </a:solidFill>
                <a:latin typeface="等线" panose="02010600030101010101" pitchFamily="2" charset="-122"/>
                <a:cs typeface="Times New Roman" panose="02020603050405020304" pitchFamily="18" charset="0"/>
              </a:rPr>
              <a:t>video_mapping_read_test</a:t>
            </a:r>
            <a:r>
              <a:rPr lang="en-US" altLang="zh-CN" kern="100" dirty="0">
                <a:solidFill>
                  <a:srgbClr val="1F4E79"/>
                </a:solidFill>
                <a:latin typeface="等线" panose="02010600030101010101" pitchFamily="2" charset="-122"/>
                <a:cs typeface="Times New Roman" panose="02020603050405020304" pitchFamily="18" charset="0"/>
              </a:rPr>
              <a:t>()</a:t>
            </a:r>
            <a:r>
              <a:rPr lang="zh-CN" altLang="zh-CN" kern="100" dirty="0">
                <a:latin typeface="等线" panose="02010600030101010101" pitchFamily="2" charset="-122"/>
                <a:cs typeface="Times New Roman" panose="02020603050405020304" pitchFamily="18" charset="0"/>
              </a:rPr>
              <a:t>。</a:t>
            </a:r>
          </a:p>
        </p:txBody>
      </p:sp>
      <p:sp>
        <p:nvSpPr>
          <p:cNvPr id="7" name="文本框 6"/>
          <p:cNvSpPr txBox="1"/>
          <p:nvPr/>
        </p:nvSpPr>
        <p:spPr>
          <a:xfrm>
            <a:off x="5572810" y="2812245"/>
            <a:ext cx="2804723" cy="1015663"/>
          </a:xfrm>
          <a:prstGeom prst="rect">
            <a:avLst/>
          </a:prstGeom>
          <a:noFill/>
          <a:ln>
            <a:solidFill>
              <a:schemeClr val="dk1"/>
            </a:solidFill>
            <a:prstDash val="dash"/>
          </a:ln>
        </p:spPr>
        <p:txBody>
          <a:bodyPr wrap="square" rtlCol="0">
            <a:spAutoFit/>
          </a:bodyPr>
          <a:lstStyle/>
          <a:p>
            <a:r>
              <a:rPr lang="en-US" altLang="zh-CN" sz="1200" dirty="0" err="1"/>
              <a:t>c</a:t>
            </a:r>
            <a:r>
              <a:rPr lang="en-US" altLang="zh-CN" sz="1200" dirty="0" err="1" smtClean="0"/>
              <a:t>reate_video_mapping</a:t>
            </a:r>
            <a:r>
              <a:rPr lang="en-US" altLang="zh-CN" sz="1200" dirty="0" smtClean="0"/>
              <a:t>() {</a:t>
            </a:r>
          </a:p>
          <a:p>
            <a:pPr lvl="1"/>
            <a:r>
              <a:rPr lang="en-US" altLang="zh-CN" sz="1200" dirty="0" smtClean="0">
                <a:solidFill>
                  <a:srgbClr val="00B050"/>
                </a:solidFill>
              </a:rPr>
              <a:t>// 0xa0000         -&gt;      0xa0000</a:t>
            </a:r>
          </a:p>
          <a:p>
            <a:pPr lvl="1"/>
            <a:r>
              <a:rPr lang="en-US" altLang="zh-CN" sz="1200" dirty="0" smtClean="0">
                <a:solidFill>
                  <a:srgbClr val="00B050"/>
                </a:solidFill>
              </a:rPr>
              <a:t>//     + SCR_SIZE -&gt;          + </a:t>
            </a:r>
            <a:r>
              <a:rPr lang="en-US" altLang="zh-CN" sz="1200" dirty="0">
                <a:solidFill>
                  <a:srgbClr val="00B050"/>
                </a:solidFill>
              </a:rPr>
              <a:t>SCR_SIZE</a:t>
            </a:r>
            <a:endParaRPr lang="en-US" altLang="zh-CN" sz="1200" dirty="0" smtClean="0">
              <a:solidFill>
                <a:srgbClr val="00B050"/>
              </a:solidFill>
            </a:endParaRPr>
          </a:p>
          <a:p>
            <a:pPr lvl="1"/>
            <a:r>
              <a:rPr lang="en-US" altLang="zh-CN" sz="1200" dirty="0" smtClean="0">
                <a:solidFill>
                  <a:srgbClr val="00B050"/>
                </a:solidFill>
              </a:rPr>
              <a:t>// </a:t>
            </a:r>
            <a:r>
              <a:rPr lang="zh-CN" altLang="en-US" sz="1200" dirty="0" smtClean="0">
                <a:solidFill>
                  <a:srgbClr val="00B050"/>
                </a:solidFill>
              </a:rPr>
              <a:t>虚拟地址                物理地址</a:t>
            </a:r>
            <a:endParaRPr lang="en-US" altLang="zh-CN" sz="1200" dirty="0" smtClean="0">
              <a:solidFill>
                <a:srgbClr val="00B050"/>
              </a:solidFill>
            </a:endParaRPr>
          </a:p>
          <a:p>
            <a:r>
              <a:rPr lang="en-US" altLang="zh-CN" sz="1200" dirty="0" smtClean="0"/>
              <a:t>}</a:t>
            </a:r>
            <a:endParaRPr lang="zh-CN" altLang="en-US" sz="1200" dirty="0"/>
          </a:p>
        </p:txBody>
      </p:sp>
      <p:cxnSp>
        <p:nvCxnSpPr>
          <p:cNvPr id="9" name="直接箭头连接符 8"/>
          <p:cNvCxnSpPr/>
          <p:nvPr/>
        </p:nvCxnSpPr>
        <p:spPr>
          <a:xfrm flipV="1">
            <a:off x="5899948" y="3818425"/>
            <a:ext cx="1075224" cy="1507151"/>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8617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外设与</a:t>
            </a:r>
            <a:r>
              <a:rPr lang="en-US" altLang="zh-CN" dirty="0"/>
              <a:t>I/O</a:t>
            </a:r>
            <a:endParaRPr lang="zh-CN" altLang="en-US" dirty="0"/>
          </a:p>
        </p:txBody>
      </p:sp>
      <p:sp>
        <p:nvSpPr>
          <p:cNvPr id="4" name="内容占位符 2"/>
          <p:cNvSpPr>
            <a:spLocks noGrp="1"/>
          </p:cNvSpPr>
          <p:nvPr>
            <p:ph idx="1"/>
          </p:nvPr>
        </p:nvSpPr>
        <p:spPr>
          <a:xfrm>
            <a:off x="628649" y="1182255"/>
            <a:ext cx="8938089" cy="1878826"/>
          </a:xfrm>
        </p:spPr>
        <p:txBody>
          <a:bodyPr/>
          <a:lstStyle/>
          <a:p>
            <a:r>
              <a:rPr lang="en-US" altLang="zh-CN" dirty="0" smtClean="0"/>
              <a:t>CPU</a:t>
            </a:r>
            <a:r>
              <a:rPr lang="zh-CN" altLang="en-US" dirty="0" smtClean="0"/>
              <a:t>如何向外设进行输入输出？</a:t>
            </a:r>
            <a:endParaRPr lang="en-US" altLang="zh-CN" dirty="0" smtClean="0"/>
          </a:p>
          <a:p>
            <a:pPr lvl="1"/>
            <a:r>
              <a:rPr lang="zh-CN" altLang="en-US" dirty="0"/>
              <a:t>方式</a:t>
            </a:r>
            <a:r>
              <a:rPr lang="en-US" altLang="zh-CN" dirty="0"/>
              <a:t>2</a:t>
            </a:r>
            <a:r>
              <a:rPr lang="zh-CN" altLang="en-US" dirty="0"/>
              <a:t>：</a:t>
            </a:r>
            <a:r>
              <a:rPr lang="zh-CN" altLang="zh-CN" dirty="0"/>
              <a:t>内存映射</a:t>
            </a:r>
            <a:r>
              <a:rPr lang="en-US" altLang="zh-CN" dirty="0"/>
              <a:t>I/O (Memory Mapped I/O, </a:t>
            </a:r>
            <a:r>
              <a:rPr lang="en-US" altLang="zh-CN" dirty="0" err="1"/>
              <a:t>mmio</a:t>
            </a:r>
            <a:r>
              <a:rPr lang="en-US" altLang="zh-CN" dirty="0"/>
              <a:t>)</a:t>
            </a:r>
          </a:p>
          <a:p>
            <a:pPr lvl="1"/>
            <a:r>
              <a:rPr lang="en-US" altLang="zh-CN" dirty="0" smtClean="0"/>
              <a:t>NEMU</a:t>
            </a:r>
            <a:r>
              <a:rPr lang="zh-CN" altLang="en-US" dirty="0" smtClean="0"/>
              <a:t>中典型的</a:t>
            </a:r>
            <a:r>
              <a:rPr lang="zh-CN" altLang="zh-CN" dirty="0"/>
              <a:t>内存</a:t>
            </a:r>
            <a:r>
              <a:rPr lang="zh-CN" altLang="en-US" dirty="0" smtClean="0"/>
              <a:t>映射</a:t>
            </a:r>
            <a:r>
              <a:rPr lang="en-US" altLang="zh-CN" dirty="0" smtClean="0"/>
              <a:t>I/O</a:t>
            </a:r>
            <a:r>
              <a:rPr lang="zh-CN" altLang="en-US" dirty="0" smtClean="0"/>
              <a:t>设备</a:t>
            </a:r>
            <a:endParaRPr lang="en-US" altLang="zh-CN" dirty="0" smtClean="0"/>
          </a:p>
          <a:p>
            <a:pPr lvl="2"/>
            <a:r>
              <a:rPr lang="en-US" altLang="zh-CN" dirty="0" smtClean="0"/>
              <a:t>VGA</a:t>
            </a:r>
          </a:p>
          <a:p>
            <a:pPr marL="1371600" lvl="3" indent="0">
              <a:buNone/>
            </a:pPr>
            <a:endParaRPr lang="zh-CN" altLang="en-US" dirty="0">
              <a:solidFill>
                <a:srgbClr val="00B050"/>
              </a:solidFill>
            </a:endParaRPr>
          </a:p>
        </p:txBody>
      </p:sp>
      <p:sp>
        <p:nvSpPr>
          <p:cNvPr id="6" name="矩形 5"/>
          <p:cNvSpPr/>
          <p:nvPr/>
        </p:nvSpPr>
        <p:spPr>
          <a:xfrm>
            <a:off x="365300" y="3411446"/>
            <a:ext cx="5534648" cy="3011594"/>
          </a:xfrm>
          <a:prstGeom prst="rect">
            <a:avLst/>
          </a:prstGeom>
        </p:spPr>
        <p:txBody>
          <a:bodyPr wrap="square">
            <a:spAutoFit/>
          </a:bodyPr>
          <a:lstStyle/>
          <a:p>
            <a:pPr algn="just">
              <a:lnSpc>
                <a:spcPct val="156000"/>
              </a:lnSpc>
              <a:spcBef>
                <a:spcPts val="600"/>
              </a:spcBef>
              <a:spcAft>
                <a:spcPts val="1450"/>
              </a:spcAft>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§4-2.3.4 </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实现</a:t>
            </a: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VGA</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的</a:t>
            </a: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MMIO</a:t>
            </a:r>
            <a:endPar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lvl="0" indent="-342900" algn="just">
              <a:spcBef>
                <a:spcPts val="600"/>
              </a:spcBef>
              <a:spcAft>
                <a:spcPts val="0"/>
              </a:spcAft>
              <a:buFont typeface="+mj-lt"/>
              <a:buAutoNum type="arabicPeriod"/>
            </a:pPr>
            <a:r>
              <a:rPr lang="zh-CN" altLang="zh-CN" kern="100" dirty="0">
                <a:latin typeface="等线" panose="02010600030101010101" pitchFamily="2" charset="-122"/>
                <a:cs typeface="Times New Roman" panose="02020603050405020304" pitchFamily="18" charset="0"/>
              </a:rPr>
              <a:t>在</a:t>
            </a:r>
            <a:r>
              <a:rPr lang="en-US" altLang="zh-CN" kern="100" dirty="0">
                <a:solidFill>
                  <a:srgbClr val="1F4E79"/>
                </a:solidFill>
                <a:latin typeface="等线" panose="02010600030101010101" pitchFamily="2" charset="-122"/>
                <a:cs typeface="Times New Roman" panose="02020603050405020304" pitchFamily="18" charset="0"/>
              </a:rPr>
              <a:t>include/</a:t>
            </a:r>
            <a:r>
              <a:rPr lang="en-US" altLang="zh-CN" kern="100" dirty="0" err="1">
                <a:solidFill>
                  <a:srgbClr val="1F4E79"/>
                </a:solidFill>
                <a:latin typeface="等线" panose="02010600030101010101" pitchFamily="2" charset="-122"/>
                <a:cs typeface="Times New Roman" panose="02020603050405020304" pitchFamily="18" charset="0"/>
              </a:rPr>
              <a:t>config.h</a:t>
            </a:r>
            <a:r>
              <a:rPr lang="zh-CN" altLang="zh-CN" kern="100" dirty="0">
                <a:latin typeface="等线" panose="02010600030101010101" pitchFamily="2" charset="-122"/>
                <a:cs typeface="Times New Roman" panose="02020603050405020304" pitchFamily="18" charset="0"/>
              </a:rPr>
              <a:t>中定义宏</a:t>
            </a:r>
            <a:r>
              <a:rPr lang="en-US" altLang="zh-CN" kern="100" dirty="0">
                <a:solidFill>
                  <a:srgbClr val="1F4E79"/>
                </a:solidFill>
                <a:latin typeface="等线" panose="02010600030101010101" pitchFamily="2" charset="-122"/>
                <a:cs typeface="Times New Roman" panose="02020603050405020304" pitchFamily="18" charset="0"/>
              </a:rPr>
              <a:t>HAS_DEVICE_VGA</a:t>
            </a:r>
            <a:r>
              <a:rPr lang="zh-CN" altLang="zh-CN" kern="100" dirty="0">
                <a:latin typeface="等线" panose="02010600030101010101" pitchFamily="2" charset="-122"/>
                <a:cs typeface="Times New Roman" panose="02020603050405020304" pitchFamily="18" charset="0"/>
              </a:rPr>
              <a:t>；</a:t>
            </a:r>
          </a:p>
          <a:p>
            <a:pPr marL="342900" lvl="0" indent="-342900" algn="just">
              <a:spcBef>
                <a:spcPts val="600"/>
              </a:spcBef>
              <a:spcAft>
                <a:spcPts val="0"/>
              </a:spcAft>
              <a:buFont typeface="+mj-lt"/>
              <a:buAutoNum type="arabicPeriod"/>
            </a:pPr>
            <a:r>
              <a:rPr lang="zh-CN" altLang="zh-CN" kern="100" dirty="0">
                <a:latin typeface="等线" panose="02010600030101010101" pitchFamily="2" charset="-122"/>
                <a:cs typeface="Times New Roman" panose="02020603050405020304" pitchFamily="18" charset="0"/>
              </a:rPr>
              <a:t>在</a:t>
            </a:r>
            <a:r>
              <a:rPr lang="en-US" altLang="zh-CN" kern="100" dirty="0" err="1">
                <a:solidFill>
                  <a:srgbClr val="1F4E79"/>
                </a:solidFill>
                <a:latin typeface="等线" panose="02010600030101010101" pitchFamily="2" charset="-122"/>
                <a:cs typeface="Times New Roman" panose="02020603050405020304" pitchFamily="18" charset="0"/>
              </a:rPr>
              <a:t>nemu</a:t>
            </a:r>
            <a:r>
              <a:rPr lang="en-US" altLang="zh-CN" kern="100" dirty="0">
                <a:solidFill>
                  <a:srgbClr val="1F4E79"/>
                </a:solidFill>
                <a:latin typeface="等线" panose="02010600030101010101" pitchFamily="2" charset="-122"/>
                <a:cs typeface="Times New Roman" panose="02020603050405020304" pitchFamily="18" charset="0"/>
              </a:rPr>
              <a:t>/</a:t>
            </a:r>
            <a:r>
              <a:rPr lang="en-US" altLang="zh-CN" kern="100" dirty="0" err="1">
                <a:solidFill>
                  <a:srgbClr val="1F4E79"/>
                </a:solidFill>
                <a:latin typeface="等线" panose="02010600030101010101" pitchFamily="2" charset="-122"/>
                <a:cs typeface="Times New Roman" panose="02020603050405020304" pitchFamily="18" charset="0"/>
              </a:rPr>
              <a:t>src</a:t>
            </a:r>
            <a:r>
              <a:rPr lang="en-US" altLang="zh-CN" kern="100" dirty="0">
                <a:solidFill>
                  <a:srgbClr val="1F4E79"/>
                </a:solidFill>
                <a:latin typeface="等线" panose="02010600030101010101" pitchFamily="2" charset="-122"/>
                <a:cs typeface="Times New Roman" panose="02020603050405020304" pitchFamily="18" charset="0"/>
              </a:rPr>
              <a:t>/memory/</a:t>
            </a:r>
            <a:r>
              <a:rPr lang="en-US" altLang="zh-CN" kern="100" dirty="0" err="1">
                <a:solidFill>
                  <a:srgbClr val="1F4E79"/>
                </a:solidFill>
                <a:latin typeface="等线" panose="02010600030101010101" pitchFamily="2" charset="-122"/>
                <a:cs typeface="Times New Roman" panose="02020603050405020304" pitchFamily="18" charset="0"/>
              </a:rPr>
              <a:t>memory.c</a:t>
            </a:r>
            <a:r>
              <a:rPr lang="zh-CN" altLang="zh-CN" kern="100" dirty="0">
                <a:latin typeface="等线" panose="02010600030101010101" pitchFamily="2" charset="-122"/>
                <a:cs typeface="Times New Roman" panose="02020603050405020304" pitchFamily="18" charset="0"/>
              </a:rPr>
              <a:t>中添加</a:t>
            </a:r>
            <a:r>
              <a:rPr lang="en-US" altLang="zh-CN" kern="100" dirty="0" err="1">
                <a:solidFill>
                  <a:srgbClr val="1F4E79"/>
                </a:solidFill>
                <a:latin typeface="等线" panose="02010600030101010101" pitchFamily="2" charset="-122"/>
                <a:cs typeface="Times New Roman" panose="02020603050405020304" pitchFamily="18" charset="0"/>
              </a:rPr>
              <a:t>mm_io</a:t>
            </a:r>
            <a:r>
              <a:rPr lang="zh-CN" altLang="zh-CN" kern="100" dirty="0">
                <a:latin typeface="等线" panose="02010600030101010101" pitchFamily="2" charset="-122"/>
                <a:cs typeface="Times New Roman" panose="02020603050405020304" pitchFamily="18" charset="0"/>
              </a:rPr>
              <a:t>判断和对应的读写操作；</a:t>
            </a:r>
          </a:p>
          <a:p>
            <a:pPr marL="342900" lvl="0" indent="-342900" algn="just">
              <a:spcBef>
                <a:spcPts val="600"/>
              </a:spcBef>
              <a:spcAft>
                <a:spcPts val="0"/>
              </a:spcAft>
              <a:buFont typeface="+mj-lt"/>
              <a:buAutoNum type="arabicPeriod"/>
            </a:pPr>
            <a:r>
              <a:rPr lang="zh-CN" altLang="zh-CN" kern="100" dirty="0">
                <a:latin typeface="等线" panose="02010600030101010101" pitchFamily="2" charset="-122"/>
                <a:cs typeface="Times New Roman" panose="02020603050405020304" pitchFamily="18" charset="0"/>
              </a:rPr>
              <a:t>在</a:t>
            </a:r>
            <a:r>
              <a:rPr lang="en-US" altLang="zh-CN" kern="100" dirty="0">
                <a:solidFill>
                  <a:srgbClr val="1F4E79"/>
                </a:solidFill>
                <a:latin typeface="等线" panose="02010600030101010101" pitchFamily="2" charset="-122"/>
                <a:cs typeface="Times New Roman" panose="02020603050405020304" pitchFamily="18" charset="0"/>
              </a:rPr>
              <a:t>kernel/</a:t>
            </a:r>
            <a:r>
              <a:rPr lang="en-US" altLang="zh-CN" kern="100" dirty="0" err="1">
                <a:solidFill>
                  <a:srgbClr val="1F4E79"/>
                </a:solidFill>
                <a:latin typeface="等线" panose="02010600030101010101" pitchFamily="2" charset="-122"/>
                <a:cs typeface="Times New Roman" panose="02020603050405020304" pitchFamily="18" charset="0"/>
              </a:rPr>
              <a:t>src</a:t>
            </a:r>
            <a:r>
              <a:rPr lang="en-US" altLang="zh-CN" kern="100" dirty="0">
                <a:solidFill>
                  <a:srgbClr val="1F4E79"/>
                </a:solidFill>
                <a:latin typeface="等线" panose="02010600030101010101" pitchFamily="2" charset="-122"/>
                <a:cs typeface="Times New Roman" panose="02020603050405020304" pitchFamily="18" charset="0"/>
              </a:rPr>
              <a:t>/memory/</a:t>
            </a:r>
            <a:r>
              <a:rPr lang="en-US" altLang="zh-CN" kern="100" dirty="0" err="1">
                <a:solidFill>
                  <a:srgbClr val="1F4E79"/>
                </a:solidFill>
                <a:latin typeface="等线" panose="02010600030101010101" pitchFamily="2" charset="-122"/>
                <a:cs typeface="Times New Roman" panose="02020603050405020304" pitchFamily="18" charset="0"/>
              </a:rPr>
              <a:t>vmem.c</a:t>
            </a:r>
            <a:r>
              <a:rPr lang="zh-CN" altLang="zh-CN" kern="100" dirty="0">
                <a:latin typeface="等线" panose="02010600030101010101" pitchFamily="2" charset="-122"/>
                <a:cs typeface="Times New Roman" panose="02020603050405020304" pitchFamily="18" charset="0"/>
              </a:rPr>
              <a:t>中完成显存的恒等映射；</a:t>
            </a:r>
          </a:p>
          <a:p>
            <a:pPr marL="342900" lvl="0" indent="-342900" algn="just">
              <a:spcBef>
                <a:spcPts val="600"/>
              </a:spcBef>
              <a:spcAft>
                <a:spcPts val="0"/>
              </a:spcAft>
              <a:buFont typeface="+mj-lt"/>
              <a:buAutoNum type="arabicPeriod"/>
            </a:pPr>
            <a:r>
              <a:rPr lang="zh-CN" altLang="zh-CN" kern="100" dirty="0">
                <a:latin typeface="等线" panose="02010600030101010101" pitchFamily="2" charset="-122"/>
                <a:cs typeface="Times New Roman" panose="02020603050405020304" pitchFamily="18" charset="0"/>
              </a:rPr>
              <a:t>通过</a:t>
            </a:r>
            <a:r>
              <a:rPr lang="en-US" altLang="zh-CN" kern="100" dirty="0">
                <a:solidFill>
                  <a:srgbClr val="1F4E79"/>
                </a:solidFill>
                <a:latin typeface="等线" panose="02010600030101010101" pitchFamily="2" charset="-122"/>
                <a:cs typeface="Times New Roman" panose="02020603050405020304" pitchFamily="18" charset="0"/>
              </a:rPr>
              <a:t>make </a:t>
            </a:r>
            <a:r>
              <a:rPr lang="en-US" altLang="zh-CN" kern="100" dirty="0" err="1">
                <a:solidFill>
                  <a:srgbClr val="1F4E79"/>
                </a:solidFill>
                <a:latin typeface="等线" panose="02010600030101010101" pitchFamily="2" charset="-122"/>
                <a:cs typeface="Times New Roman" panose="02020603050405020304" pitchFamily="18" charset="0"/>
              </a:rPr>
              <a:t>testkernel</a:t>
            </a:r>
            <a:r>
              <a:rPr lang="zh-CN" altLang="zh-CN" kern="100" dirty="0">
                <a:latin typeface="等线" panose="02010600030101010101" pitchFamily="2" charset="-122"/>
                <a:cs typeface="Times New Roman" panose="02020603050405020304" pitchFamily="18" charset="0"/>
              </a:rPr>
              <a:t>执行测试用例，观察输出测试颜色信息，并通过</a:t>
            </a:r>
            <a:r>
              <a:rPr lang="en-US" altLang="zh-CN" kern="100" dirty="0" err="1">
                <a:solidFill>
                  <a:srgbClr val="1F4E79"/>
                </a:solidFill>
                <a:latin typeface="等线" panose="02010600030101010101" pitchFamily="2" charset="-122"/>
                <a:cs typeface="Times New Roman" panose="02020603050405020304" pitchFamily="18" charset="0"/>
              </a:rPr>
              <a:t>video_mapping_read_test</a:t>
            </a:r>
            <a:r>
              <a:rPr lang="en-US" altLang="zh-CN" kern="100" dirty="0">
                <a:solidFill>
                  <a:srgbClr val="1F4E79"/>
                </a:solidFill>
                <a:latin typeface="等线" panose="02010600030101010101" pitchFamily="2" charset="-122"/>
                <a:cs typeface="Times New Roman" panose="02020603050405020304" pitchFamily="18" charset="0"/>
              </a:rPr>
              <a:t>()</a:t>
            </a:r>
            <a:r>
              <a:rPr lang="zh-CN" altLang="zh-CN" kern="100" dirty="0">
                <a:latin typeface="等线" panose="02010600030101010101" pitchFamily="2" charset="-122"/>
                <a:cs typeface="Times New Roman" panose="02020603050405020304" pitchFamily="18" charset="0"/>
              </a:rPr>
              <a:t>。</a:t>
            </a:r>
          </a:p>
        </p:txBody>
      </p:sp>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l="17186" t="30506" r="58292" b="40158"/>
          <a:stretch/>
        </p:blipFill>
        <p:spPr>
          <a:xfrm>
            <a:off x="6138885" y="2849712"/>
            <a:ext cx="2766177" cy="1972601"/>
          </a:xfrm>
          <a:prstGeom prst="rect">
            <a:avLst/>
          </a:prstGeom>
        </p:spPr>
      </p:pic>
      <p:cxnSp>
        <p:nvCxnSpPr>
          <p:cNvPr id="8" name="直接箭头连接符 7"/>
          <p:cNvCxnSpPr/>
          <p:nvPr/>
        </p:nvCxnSpPr>
        <p:spPr>
          <a:xfrm flipV="1">
            <a:off x="5899948" y="4917243"/>
            <a:ext cx="1194693" cy="126300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9711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打字小游戏与仙剑</a:t>
            </a:r>
            <a:endParaRPr lang="zh-CN" altLang="en-US" dirty="0"/>
          </a:p>
        </p:txBody>
      </p:sp>
      <p:sp>
        <p:nvSpPr>
          <p:cNvPr id="6" name="文本框 5"/>
          <p:cNvSpPr txBox="1"/>
          <p:nvPr/>
        </p:nvSpPr>
        <p:spPr>
          <a:xfrm>
            <a:off x="1729250" y="2854512"/>
            <a:ext cx="5685499" cy="1938992"/>
          </a:xfrm>
          <a:prstGeom prst="rect">
            <a:avLst/>
          </a:prstGeom>
          <a:noFill/>
        </p:spPr>
        <p:txBody>
          <a:bodyPr wrap="square" rtlCol="0">
            <a:spAutoFit/>
          </a:bodyPr>
          <a:lstStyle/>
          <a:p>
            <a:r>
              <a:rPr lang="zh-CN" altLang="en-US" sz="2400" dirty="0" smtClean="0"/>
              <a:t>作为最后的挑战任务，以理解框架代码和</a:t>
            </a:r>
            <a:r>
              <a:rPr lang="en-US" altLang="zh-CN" sz="2400" dirty="0" smtClean="0"/>
              <a:t>debug</a:t>
            </a:r>
            <a:r>
              <a:rPr lang="zh-CN" altLang="en-US" sz="2400" dirty="0" smtClean="0"/>
              <a:t>为主。还有教材可以参考。学会自学和探索！加油！</a:t>
            </a:r>
            <a:endParaRPr lang="en-US" altLang="zh-CN" sz="2400" dirty="0" smtClean="0"/>
          </a:p>
          <a:p>
            <a:endParaRPr lang="en-US" altLang="zh-CN" sz="2400" dirty="0"/>
          </a:p>
          <a:p>
            <a:r>
              <a:rPr lang="zh-CN" altLang="en-US" sz="2400" dirty="0"/>
              <a:t>唯一的提示：</a:t>
            </a:r>
            <a:r>
              <a:rPr lang="en-US" altLang="zh-CN" sz="2400" dirty="0"/>
              <a:t>disable cache</a:t>
            </a:r>
            <a:r>
              <a:rPr lang="en-US" altLang="zh-CN" sz="2400" dirty="0" smtClean="0"/>
              <a:t>!</a:t>
            </a:r>
            <a:endParaRPr lang="zh-CN" altLang="en-US" sz="2400" dirty="0"/>
          </a:p>
        </p:txBody>
      </p:sp>
    </p:spTree>
    <p:extLst>
      <p:ext uri="{BB962C8B-B14F-4D97-AF65-F5344CB8AC3E}">
        <p14:creationId xmlns:p14="http://schemas.microsoft.com/office/powerpoint/2010/main" val="2689663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查重</a:t>
            </a:r>
            <a:endParaRPr lang="zh-CN" altLang="en-US" dirty="0"/>
          </a:p>
        </p:txBody>
      </p:sp>
      <p:sp>
        <p:nvSpPr>
          <p:cNvPr id="3" name="内容占位符 2"/>
          <p:cNvSpPr>
            <a:spLocks noGrp="1"/>
          </p:cNvSpPr>
          <p:nvPr>
            <p:ph idx="1"/>
          </p:nvPr>
        </p:nvSpPr>
        <p:spPr/>
        <p:txBody>
          <a:bodyPr/>
          <a:lstStyle/>
          <a:p>
            <a:r>
              <a:rPr lang="zh-CN" altLang="en-US" dirty="0" smtClean="0"/>
              <a:t>系统性地查重工作将随</a:t>
            </a:r>
            <a:r>
              <a:rPr lang="en-US" altLang="zh-CN" dirty="0" smtClean="0"/>
              <a:t>PA 3</a:t>
            </a:r>
            <a:r>
              <a:rPr lang="zh-CN" altLang="en-US" dirty="0" smtClean="0"/>
              <a:t>的批改同时展开</a:t>
            </a:r>
            <a:endParaRPr lang="en-US" altLang="zh-CN" dirty="0" smtClean="0"/>
          </a:p>
          <a:p>
            <a:endParaRPr lang="en-US" altLang="zh-CN" dirty="0"/>
          </a:p>
          <a:p>
            <a:r>
              <a:rPr lang="zh-CN" altLang="en-US" dirty="0" smtClean="0"/>
              <a:t>提前给我发邮件坦白可视情况从宽</a:t>
            </a:r>
            <a:endParaRPr lang="en-US" altLang="zh-CN" dirty="0" smtClean="0"/>
          </a:p>
          <a:p>
            <a:endParaRPr lang="en-US" altLang="zh-CN" dirty="0"/>
          </a:p>
          <a:p>
            <a:r>
              <a:rPr lang="zh-CN" altLang="en-US" dirty="0" smtClean="0"/>
              <a:t>如果没有提前说明被我们检测出抄袭且无法进一步说明者将严肃处理</a:t>
            </a:r>
            <a:endParaRPr lang="zh-CN" altLang="en-US" dirty="0"/>
          </a:p>
        </p:txBody>
      </p:sp>
    </p:spTree>
    <p:extLst>
      <p:ext uri="{BB962C8B-B14F-4D97-AF65-F5344CB8AC3E}">
        <p14:creationId xmlns:p14="http://schemas.microsoft.com/office/powerpoint/2010/main" val="2621290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653317"/>
            <a:ext cx="7772400" cy="856646"/>
          </a:xfrm>
        </p:spPr>
        <p:txBody>
          <a:bodyPr>
            <a:normAutofit fontScale="90000"/>
          </a:bodyPr>
          <a:lstStyle/>
          <a:p>
            <a:pPr algn="l"/>
            <a:r>
              <a:rPr lang="en-US" altLang="zh-CN" sz="2400" dirty="0" smtClean="0">
                <a:latin typeface="微软雅黑" panose="020B0503020204020204" pitchFamily="34" charset="-122"/>
                <a:ea typeface="微软雅黑" panose="020B0503020204020204" pitchFamily="34" charset="-122"/>
              </a:rPr>
              <a:t/>
            </a:r>
            <a:br>
              <a:rPr lang="en-US" altLang="zh-CN" sz="2400" dirty="0" smtClean="0">
                <a:latin typeface="微软雅黑" panose="020B0503020204020204" pitchFamily="34" charset="-122"/>
                <a:ea typeface="微软雅黑" panose="020B0503020204020204" pitchFamily="34" charset="-122"/>
              </a:rPr>
            </a:br>
            <a:r>
              <a:rPr lang="en-US" altLang="zh-CN" sz="3600" dirty="0" smtClean="0">
                <a:latin typeface="微软雅黑" panose="020B0503020204020204" pitchFamily="34" charset="-122"/>
                <a:ea typeface="微软雅黑" panose="020B0503020204020204" pitchFamily="34" charset="-122"/>
              </a:rPr>
              <a:t/>
            </a:r>
            <a:br>
              <a:rPr lang="en-US" altLang="zh-CN" sz="3600" dirty="0" smtClean="0">
                <a:latin typeface="微软雅黑" panose="020B0503020204020204" pitchFamily="34" charset="-122"/>
                <a:ea typeface="微软雅黑" panose="020B0503020204020204" pitchFamily="34" charset="-122"/>
              </a:rPr>
            </a:br>
            <a:r>
              <a:rPr lang="zh-CN" altLang="en-US" sz="3600" dirty="0">
                <a:latin typeface="微软雅黑" panose="020B0503020204020204" pitchFamily="34" charset="-122"/>
                <a:ea typeface="微软雅黑" panose="020B0503020204020204" pitchFamily="34" charset="-122"/>
              </a:rPr>
              <a:t>祝</a:t>
            </a:r>
            <a:r>
              <a:rPr lang="zh-CN" altLang="en-US" sz="3600" dirty="0" smtClean="0">
                <a:latin typeface="微软雅黑" panose="020B0503020204020204" pitchFamily="34" charset="-122"/>
                <a:ea typeface="微软雅黑" panose="020B0503020204020204" pitchFamily="34" charset="-122"/>
              </a:rPr>
              <a:t>大家学习快乐，身心健康！</a:t>
            </a:r>
            <a:endParaRPr lang="zh-CN" altLang="en-US" sz="3600" dirty="0">
              <a:latin typeface="微软雅黑" panose="020B0503020204020204" pitchFamily="34" charset="-122"/>
              <a:ea typeface="微软雅黑" panose="020B0503020204020204" pitchFamily="34" charset="-122"/>
            </a:endParaRPr>
          </a:p>
        </p:txBody>
      </p:sp>
      <p:sp>
        <p:nvSpPr>
          <p:cNvPr id="3" name="副标题 2"/>
          <p:cNvSpPr>
            <a:spLocks noGrp="1"/>
          </p:cNvSpPr>
          <p:nvPr>
            <p:ph type="subTitle" idx="1"/>
          </p:nvPr>
        </p:nvSpPr>
        <p:spPr>
          <a:xfrm>
            <a:off x="685800" y="3751868"/>
            <a:ext cx="7315200" cy="1505932"/>
          </a:xfrm>
        </p:spPr>
        <p:txBody>
          <a:bodyPr>
            <a:normAutofit fontScale="92500" lnSpcReduction="10000"/>
          </a:bodyPr>
          <a:lstStyle/>
          <a:p>
            <a:pPr algn="l"/>
            <a:r>
              <a:rPr lang="zh-CN" altLang="en-US" dirty="0" smtClean="0"/>
              <a:t>欢迎大家踊跃参加问卷调查</a:t>
            </a:r>
            <a:endParaRPr lang="en-US" altLang="zh-CN" dirty="0" smtClean="0"/>
          </a:p>
          <a:p>
            <a:pPr algn="l"/>
            <a:endParaRPr lang="en-US" altLang="zh-CN" dirty="0"/>
          </a:p>
          <a:p>
            <a:pPr algn="l"/>
            <a:r>
              <a:rPr lang="zh-CN" altLang="en-US" smtClean="0"/>
              <a:t>最近我们会</a:t>
            </a:r>
            <a:r>
              <a:rPr lang="zh-CN" altLang="en-US" dirty="0" smtClean="0"/>
              <a:t>在群里放一个匿名的开放式问卷调查，欢迎大家积极给我们反馈，谢谢！</a:t>
            </a:r>
          </a:p>
        </p:txBody>
      </p:sp>
      <p:sp>
        <p:nvSpPr>
          <p:cNvPr id="4" name="灯片编号占位符 3"/>
          <p:cNvSpPr>
            <a:spLocks noGrp="1"/>
          </p:cNvSpPr>
          <p:nvPr>
            <p:ph type="sldNum" sz="quarter" idx="12"/>
          </p:nvPr>
        </p:nvSpPr>
        <p:spPr/>
        <p:txBody>
          <a:bodyPr/>
          <a:lstStyle/>
          <a:p>
            <a:fld id="{07B46F99-EA09-439A-8611-6A8D1D1506CE}" type="slidenum">
              <a:rPr lang="zh-CN" altLang="en-US" smtClean="0"/>
              <a:t>21</a:t>
            </a:fld>
            <a:endParaRPr lang="zh-CN" altLang="en-US"/>
          </a:p>
        </p:txBody>
      </p:sp>
      <p:sp>
        <p:nvSpPr>
          <p:cNvPr id="5" name="矩形 4"/>
          <p:cNvSpPr/>
          <p:nvPr/>
        </p:nvSpPr>
        <p:spPr>
          <a:xfrm>
            <a:off x="685800" y="2468651"/>
            <a:ext cx="1460593" cy="369332"/>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PA </a:t>
            </a:r>
            <a:r>
              <a:rPr lang="zh-CN" altLang="en-US" dirty="0" smtClean="0">
                <a:latin typeface="微软雅黑" panose="020B0503020204020204" pitchFamily="34" charset="-122"/>
                <a:ea typeface="微软雅黑" panose="020B0503020204020204" pitchFamily="34" charset="-122"/>
              </a:rPr>
              <a:t>到</a:t>
            </a:r>
            <a:r>
              <a:rPr lang="zh-CN" altLang="en-US" dirty="0">
                <a:latin typeface="微软雅黑" panose="020B0503020204020204" pitchFamily="34" charset="-122"/>
                <a:ea typeface="微软雅黑" panose="020B0503020204020204" pitchFamily="34" charset="-122"/>
              </a:rPr>
              <a:t>此结束</a:t>
            </a:r>
            <a:endParaRPr lang="zh-CN" altLang="en-US" dirty="0"/>
          </a:p>
        </p:txBody>
      </p:sp>
      <p:sp>
        <p:nvSpPr>
          <p:cNvPr id="6" name="文本框 5"/>
          <p:cNvSpPr txBox="1"/>
          <p:nvPr/>
        </p:nvSpPr>
        <p:spPr>
          <a:xfrm>
            <a:off x="685800" y="347590"/>
            <a:ext cx="8136551" cy="2062103"/>
          </a:xfrm>
          <a:prstGeom prst="rect">
            <a:avLst/>
          </a:prstGeom>
          <a:noFill/>
        </p:spPr>
        <p:txBody>
          <a:bodyPr wrap="square" rtlCol="0">
            <a:spAutoFit/>
          </a:bodyPr>
          <a:lstStyle/>
          <a:p>
            <a:r>
              <a:rPr lang="en-US" altLang="zh-CN" sz="3200" dirty="0" smtClean="0"/>
              <a:t>PA 4</a:t>
            </a:r>
            <a:r>
              <a:rPr lang="zh-CN" altLang="en-US" sz="3200" dirty="0" smtClean="0"/>
              <a:t>最终截止时间：</a:t>
            </a:r>
            <a:r>
              <a:rPr lang="en-US" altLang="zh-CN" sz="3200" dirty="0" smtClean="0"/>
              <a:t>2018</a:t>
            </a:r>
            <a:r>
              <a:rPr lang="zh-CN" altLang="en-US" sz="3200" dirty="0" smtClean="0"/>
              <a:t>年</a:t>
            </a:r>
            <a:r>
              <a:rPr lang="en-US" altLang="zh-CN" sz="3200" dirty="0" smtClean="0"/>
              <a:t>1</a:t>
            </a:r>
            <a:r>
              <a:rPr lang="zh-CN" altLang="en-US" sz="3200" dirty="0" smtClean="0"/>
              <a:t>月</a:t>
            </a:r>
            <a:r>
              <a:rPr lang="en-US" altLang="zh-CN" sz="3200" dirty="0" smtClean="0"/>
              <a:t>31</a:t>
            </a:r>
            <a:r>
              <a:rPr lang="zh-CN" altLang="en-US" sz="3200" dirty="0" smtClean="0"/>
              <a:t>日</a:t>
            </a:r>
            <a:r>
              <a:rPr lang="en-US" altLang="zh-CN" sz="3200" dirty="0" smtClean="0"/>
              <a:t>24</a:t>
            </a:r>
            <a:r>
              <a:rPr lang="zh-CN" altLang="en-US" sz="3200" dirty="0" smtClean="0"/>
              <a:t>时，即，</a:t>
            </a:r>
            <a:r>
              <a:rPr lang="en-US" altLang="zh-CN" sz="3200" dirty="0" smtClean="0"/>
              <a:t>2018</a:t>
            </a:r>
            <a:r>
              <a:rPr lang="zh-CN" altLang="en-US" sz="3200" dirty="0" smtClean="0"/>
              <a:t>年</a:t>
            </a:r>
            <a:r>
              <a:rPr lang="en-US" altLang="zh-CN" sz="3200" dirty="0" smtClean="0"/>
              <a:t>2</a:t>
            </a:r>
            <a:r>
              <a:rPr lang="zh-CN" altLang="en-US" sz="3200" dirty="0" smtClean="0"/>
              <a:t>月</a:t>
            </a:r>
            <a:r>
              <a:rPr lang="en-US" altLang="zh-CN" sz="3200" dirty="0" smtClean="0"/>
              <a:t>1</a:t>
            </a:r>
            <a:r>
              <a:rPr lang="zh-CN" altLang="en-US" sz="3200" dirty="0" smtClean="0"/>
              <a:t>日</a:t>
            </a:r>
            <a:r>
              <a:rPr lang="en-US" altLang="zh-CN" sz="3200" dirty="0" smtClean="0"/>
              <a:t>0</a:t>
            </a:r>
            <a:r>
              <a:rPr lang="zh-CN" altLang="en-US" sz="3200" dirty="0" smtClean="0"/>
              <a:t>时。</a:t>
            </a:r>
            <a:endParaRPr lang="en-US" altLang="zh-CN" sz="3200" dirty="0" smtClean="0"/>
          </a:p>
          <a:p>
            <a:r>
              <a:rPr lang="en-US" altLang="zh-CN" sz="3200" dirty="0" smtClean="0"/>
              <a:t>This is a hard deadline! </a:t>
            </a:r>
          </a:p>
          <a:p>
            <a:r>
              <a:rPr lang="en-US" altLang="zh-CN" sz="3200" dirty="0" smtClean="0"/>
              <a:t>This is the last deadline!</a:t>
            </a:r>
            <a:endParaRPr lang="zh-CN" altLang="en-US" sz="3200" dirty="0"/>
          </a:p>
        </p:txBody>
      </p:sp>
    </p:spTree>
    <p:extLst>
      <p:ext uri="{BB962C8B-B14F-4D97-AF65-F5344CB8AC3E}">
        <p14:creationId xmlns:p14="http://schemas.microsoft.com/office/powerpoint/2010/main" val="4147954954"/>
      </p:ext>
    </p:extLst>
  </p:cSld>
  <p:clrMapOvr>
    <a:masterClrMapping/>
  </p:clrMapOvr>
  <p:timing>
    <p:tnLst>
      <p:par>
        <p:cTn id="1" dur="indefinite" restart="never" nodeType="tmRoot"/>
      </p:par>
    </p:tnLst>
  </p:timing>
</p:sld>
</file>

<file path=ppt/theme/theme1.xml><?xml version="1.0" encoding="utf-8"?>
<a:theme xmlns:a="http://schemas.openxmlformats.org/drawingml/2006/main" name="教学模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7_PA_2_1st.potx" id="{3E35D668-C3DD-4605-B87D-7489D92B1859}" vid="{DC1F0893-170B-49D3-BAD2-EC97BA02B08E}"/>
    </a:ext>
  </a:extLst>
</a:theme>
</file>

<file path=docProps/app.xml><?xml version="1.0" encoding="utf-8"?>
<Properties xmlns="http://schemas.openxmlformats.org/officeDocument/2006/extended-properties" xmlns:vt="http://schemas.openxmlformats.org/officeDocument/2006/docPropsVTypes">
  <Template>教学模板</Template>
  <TotalTime>683</TotalTime>
  <Words>1761</Words>
  <Application>Microsoft Office PowerPoint</Application>
  <PresentationFormat>全屏显示(4:3)</PresentationFormat>
  <Paragraphs>281</Paragraphs>
  <Slides>21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MS Gothic</vt:lpstr>
      <vt:lpstr>等线</vt:lpstr>
      <vt:lpstr>等线 Light</vt:lpstr>
      <vt:lpstr>微软雅黑</vt:lpstr>
      <vt:lpstr>Arial</vt:lpstr>
      <vt:lpstr>Calibri</vt:lpstr>
      <vt:lpstr>Times New Roman</vt:lpstr>
      <vt:lpstr>教学模板</vt:lpstr>
      <vt:lpstr>PA 4 异常、中断与I/O                   ——PA 4-2 外设与I/O</vt:lpstr>
      <vt:lpstr>前情提要</vt:lpstr>
      <vt:lpstr>前情提要</vt:lpstr>
      <vt:lpstr>PA 4-2的任务</vt:lpstr>
      <vt:lpstr>外设与I/O</vt:lpstr>
      <vt:lpstr>外设与I/O</vt:lpstr>
      <vt:lpstr>外设与I/O</vt:lpstr>
      <vt:lpstr>外设与I/O</vt:lpstr>
      <vt:lpstr>外设与I/O</vt:lpstr>
      <vt:lpstr>外设与I/O</vt:lpstr>
      <vt:lpstr>外设与I/O</vt:lpstr>
      <vt:lpstr>外设与I/O</vt:lpstr>
      <vt:lpstr>外设与I/O</vt:lpstr>
      <vt:lpstr>外设与I/O</vt:lpstr>
      <vt:lpstr>外设与I/O</vt:lpstr>
      <vt:lpstr>外设与I/O</vt:lpstr>
      <vt:lpstr>外设与I/O</vt:lpstr>
      <vt:lpstr>外设与I/O</vt:lpstr>
      <vt:lpstr>打字小游戏与仙剑</vt:lpstr>
      <vt:lpstr>查重</vt:lpstr>
      <vt:lpstr>  祝大家学习快乐，身心健康！</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汪亮</dc:creator>
  <cp:lastModifiedBy>Windows 用户</cp:lastModifiedBy>
  <cp:revision>249</cp:revision>
  <dcterms:created xsi:type="dcterms:W3CDTF">2018-01-04T02:53:54Z</dcterms:created>
  <dcterms:modified xsi:type="dcterms:W3CDTF">2018-01-05T00:04:22Z</dcterms:modified>
</cp:coreProperties>
</file>