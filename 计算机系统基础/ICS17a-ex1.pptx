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1018" r:id="rId2"/>
    <p:sldId id="1039" r:id="rId3"/>
    <p:sldId id="1040" r:id="rId4"/>
    <p:sldId id="1034" r:id="rId5"/>
    <p:sldId id="1037" r:id="rId6"/>
    <p:sldId id="1035" r:id="rId7"/>
    <p:sldId id="1012" r:id="rId8"/>
    <p:sldId id="1013" r:id="rId9"/>
    <p:sldId id="1022" r:id="rId10"/>
    <p:sldId id="1029" r:id="rId11"/>
    <p:sldId id="1023" r:id="rId12"/>
    <p:sldId id="1025" r:id="rId13"/>
    <p:sldId id="1036" r:id="rId14"/>
    <p:sldId id="1028" r:id="rId15"/>
    <p:sldId id="1044" r:id="rId16"/>
    <p:sldId id="1045" r:id="rId17"/>
    <p:sldId id="1046" r:id="rId18"/>
    <p:sldId id="1047" r:id="rId19"/>
    <p:sldId id="1048" r:id="rId20"/>
    <p:sldId id="1049" r:id="rId21"/>
    <p:sldId id="1050" r:id="rId22"/>
    <p:sldId id="1051" r:id="rId23"/>
    <p:sldId id="1052" r:id="rId24"/>
    <p:sldId id="1053" r:id="rId25"/>
    <p:sldId id="1054" r:id="rId26"/>
    <p:sldId id="1055" r:id="rId27"/>
    <p:sldId id="1056" r:id="rId28"/>
    <p:sldId id="1057" r:id="rId2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66FF"/>
    <a:srgbClr val="3366FF"/>
    <a:srgbClr val="0066CC"/>
    <a:srgbClr val="FF0000"/>
    <a:srgbClr val="CC3300"/>
    <a:srgbClr val="009242"/>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7822" autoAdjust="0"/>
    <p:restoredTop sz="96721" autoAdjust="0"/>
  </p:normalViewPr>
  <p:slideViewPr>
    <p:cSldViewPr>
      <p:cViewPr varScale="1">
        <p:scale>
          <a:sx n="110" d="100"/>
          <a:sy n="110" d="100"/>
        </p:scale>
        <p:origin x="1152" y="7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68" d="100"/>
          <a:sy n="68" d="100"/>
        </p:scale>
        <p:origin x="-3288" y="-108"/>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3789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789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789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3789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宋体" pitchFamily="2" charset="-122"/>
              </a:defRPr>
            </a:lvl1pPr>
          </a:lstStyle>
          <a:p>
            <a:pPr>
              <a:defRPr/>
            </a:pPr>
            <a:fld id="{F1C07728-838D-4718-BE47-E89A171AD538}" type="slidenum">
              <a:rPr lang="en-US" altLang="zh-CN"/>
              <a:pPr>
                <a:defRPr/>
              </a:pPr>
              <a:t>‹#›</a:t>
            </a:fld>
            <a:endParaRPr lang="en-US" altLang="zh-CN"/>
          </a:p>
        </p:txBody>
      </p:sp>
    </p:spTree>
    <p:extLst>
      <p:ext uri="{BB962C8B-B14F-4D97-AF65-F5344CB8AC3E}">
        <p14:creationId xmlns:p14="http://schemas.microsoft.com/office/powerpoint/2010/main" val="23172611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1C07728-838D-4718-BE47-E89A171AD538}" type="slidenum">
              <a:rPr lang="en-US" altLang="zh-CN" smtClean="0"/>
              <a:pPr>
                <a:defRPr/>
              </a:pPr>
              <a:t>24</a:t>
            </a:fld>
            <a:endParaRPr lang="en-US" altLang="zh-CN"/>
          </a:p>
        </p:txBody>
      </p:sp>
    </p:spTree>
    <p:extLst>
      <p:ext uri="{BB962C8B-B14F-4D97-AF65-F5344CB8AC3E}">
        <p14:creationId xmlns:p14="http://schemas.microsoft.com/office/powerpoint/2010/main" val="2105710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18C61C-5B2B-4C02-97D8-461B6F13E583}"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33434D4-8E8F-4C8B-A35B-08921FAD3D32}"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D58EFE4-7723-46CB-B42C-DB5C43B29578}"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836613"/>
            <a:ext cx="4038600" cy="5218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836613"/>
            <a:ext cx="4038600" cy="5218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F73839A-ED66-4A88-976B-58F7B774F85C}"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ED84458-DA03-4B57-BE90-0074BBC13183}"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DDE6832-D361-47FE-A178-84F6A3C29309}"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22994B8-09EC-40F3-9A5A-8BA66A34BDB3}"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07741FC-EE65-477C-A9B5-46D667462BD6}"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87B18DB-74D6-4417-8281-8817DEFB1022}"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912F0F9-2D47-4B91-BACA-C3E6589CA012}"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188913"/>
            <a:ext cx="2058988" cy="58658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88913"/>
            <a:ext cx="6029325" cy="58658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8B45088-4B61-4F33-A8DB-DEC49CA143E8}"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88913"/>
            <a:ext cx="8229600" cy="5619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68313" y="836613"/>
            <a:ext cx="8229600" cy="52181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ea typeface="宋体"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ea typeface="宋体" pitchFamily="2" charset="-122"/>
              </a:defRPr>
            </a:lvl1pPr>
          </a:lstStyle>
          <a:p>
            <a:pPr>
              <a:defRPr/>
            </a:pPr>
            <a:fld id="{DA2698F8-C654-4C17-9C04-F46EB7543303}" type="slidenum">
              <a:rPr lang="en-US" altLang="zh-CN"/>
              <a:pPr>
                <a:defRPr/>
              </a:pPr>
              <a:t>‹#›</a:t>
            </a:fld>
            <a:endParaRPr lang="en-US" altLang="zh-CN"/>
          </a:p>
        </p:txBody>
      </p:sp>
      <p:sp>
        <p:nvSpPr>
          <p:cNvPr id="1031" name="Line 7"/>
          <p:cNvSpPr>
            <a:spLocks noChangeShapeType="1"/>
          </p:cNvSpPr>
          <p:nvPr userDrawn="1"/>
        </p:nvSpPr>
        <p:spPr bwMode="auto">
          <a:xfrm>
            <a:off x="323850" y="692150"/>
            <a:ext cx="8496300" cy="0"/>
          </a:xfrm>
          <a:prstGeom prst="line">
            <a:avLst/>
          </a:prstGeom>
          <a:noFill/>
          <a:ln w="9525">
            <a:solidFill>
              <a:schemeClr val="tx1"/>
            </a:solidFill>
            <a:round/>
            <a:headEnd/>
            <a:tailEnd/>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rtl="0" eaLnBrk="0" fontAlgn="base" hangingPunct="0">
        <a:spcBef>
          <a:spcPct val="0"/>
        </a:spcBef>
        <a:spcAft>
          <a:spcPct val="0"/>
        </a:spcAft>
        <a:defRPr sz="4000" b="1">
          <a:solidFill>
            <a:srgbClr val="CC3300"/>
          </a:solidFill>
          <a:latin typeface="+mj-lt"/>
          <a:ea typeface="黑体" pitchFamily="49" charset="-122"/>
          <a:cs typeface="+mj-cs"/>
        </a:defRPr>
      </a:lvl1pPr>
      <a:lvl2pPr algn="ctr" rtl="0" eaLnBrk="0" fontAlgn="base" hangingPunct="0">
        <a:spcBef>
          <a:spcPct val="0"/>
        </a:spcBef>
        <a:spcAft>
          <a:spcPct val="0"/>
        </a:spcAft>
        <a:defRPr sz="4000" b="1">
          <a:solidFill>
            <a:srgbClr val="CC3300"/>
          </a:solidFill>
          <a:latin typeface="Arial" charset="0"/>
          <a:ea typeface="黑体" pitchFamily="49" charset="-122"/>
        </a:defRPr>
      </a:lvl2pPr>
      <a:lvl3pPr algn="ctr" rtl="0" eaLnBrk="0" fontAlgn="base" hangingPunct="0">
        <a:spcBef>
          <a:spcPct val="0"/>
        </a:spcBef>
        <a:spcAft>
          <a:spcPct val="0"/>
        </a:spcAft>
        <a:defRPr sz="4000" b="1">
          <a:solidFill>
            <a:srgbClr val="CC3300"/>
          </a:solidFill>
          <a:latin typeface="Arial" charset="0"/>
          <a:ea typeface="黑体" pitchFamily="49" charset="-122"/>
        </a:defRPr>
      </a:lvl3pPr>
      <a:lvl4pPr algn="ctr" rtl="0" eaLnBrk="0" fontAlgn="base" hangingPunct="0">
        <a:spcBef>
          <a:spcPct val="0"/>
        </a:spcBef>
        <a:spcAft>
          <a:spcPct val="0"/>
        </a:spcAft>
        <a:defRPr sz="4000" b="1">
          <a:solidFill>
            <a:srgbClr val="CC3300"/>
          </a:solidFill>
          <a:latin typeface="Arial" charset="0"/>
          <a:ea typeface="黑体" pitchFamily="49" charset="-122"/>
        </a:defRPr>
      </a:lvl4pPr>
      <a:lvl5pPr algn="ctr" rtl="0" eaLnBrk="0" fontAlgn="base" hangingPunct="0">
        <a:spcBef>
          <a:spcPct val="0"/>
        </a:spcBef>
        <a:spcAft>
          <a:spcPct val="0"/>
        </a:spcAft>
        <a:defRPr sz="4000" b="1">
          <a:solidFill>
            <a:srgbClr val="CC3300"/>
          </a:solidFill>
          <a:latin typeface="Arial" charset="0"/>
          <a:ea typeface="黑体" pitchFamily="49" charset="-122"/>
        </a:defRPr>
      </a:lvl5pPr>
      <a:lvl6pPr marL="457200" algn="ctr" rtl="0" fontAlgn="base">
        <a:spcBef>
          <a:spcPct val="0"/>
        </a:spcBef>
        <a:spcAft>
          <a:spcPct val="0"/>
        </a:spcAft>
        <a:defRPr sz="4000" b="1">
          <a:solidFill>
            <a:srgbClr val="CC3300"/>
          </a:solidFill>
          <a:latin typeface="Arial" charset="0"/>
          <a:ea typeface="宋体" pitchFamily="2" charset="-122"/>
        </a:defRPr>
      </a:lvl6pPr>
      <a:lvl7pPr marL="914400" algn="ctr" rtl="0" fontAlgn="base">
        <a:spcBef>
          <a:spcPct val="0"/>
        </a:spcBef>
        <a:spcAft>
          <a:spcPct val="0"/>
        </a:spcAft>
        <a:defRPr sz="4000" b="1">
          <a:solidFill>
            <a:srgbClr val="CC3300"/>
          </a:solidFill>
          <a:latin typeface="Arial" charset="0"/>
          <a:ea typeface="宋体" pitchFamily="2" charset="-122"/>
        </a:defRPr>
      </a:lvl7pPr>
      <a:lvl8pPr marL="1371600" algn="ctr" rtl="0" fontAlgn="base">
        <a:spcBef>
          <a:spcPct val="0"/>
        </a:spcBef>
        <a:spcAft>
          <a:spcPct val="0"/>
        </a:spcAft>
        <a:defRPr sz="4000" b="1">
          <a:solidFill>
            <a:srgbClr val="CC3300"/>
          </a:solidFill>
          <a:latin typeface="Arial" charset="0"/>
          <a:ea typeface="宋体" pitchFamily="2" charset="-122"/>
        </a:defRPr>
      </a:lvl8pPr>
      <a:lvl9pPr marL="1828800" algn="ctr" rtl="0" fontAlgn="base">
        <a:spcBef>
          <a:spcPct val="0"/>
        </a:spcBef>
        <a:spcAft>
          <a:spcPct val="0"/>
        </a:spcAft>
        <a:defRPr sz="4000" b="1">
          <a:solidFill>
            <a:srgbClr val="CC3300"/>
          </a:solidFill>
          <a:latin typeface="Arial" charset="0"/>
          <a:ea typeface="宋体" pitchFamily="2" charset="-122"/>
        </a:defRPr>
      </a:lvl9pPr>
    </p:titleStyle>
    <p:body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hyperlink" Target="http://en.wikipedia.org/wiki/File:William_Kahan.jp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p:txBody>
          <a:bodyPr/>
          <a:lstStyle/>
          <a:p>
            <a:r>
              <a:rPr lang="zh-CN" altLang="en-US" dirty="0" smtClean="0"/>
              <a:t>数</a:t>
            </a:r>
            <a:r>
              <a:rPr lang="zh-CN" altLang="en-US" dirty="0"/>
              <a:t>据</a:t>
            </a:r>
            <a:r>
              <a:rPr lang="zh-CN" altLang="en-US" dirty="0" smtClean="0"/>
              <a:t>的表示</a:t>
            </a:r>
            <a:r>
              <a:rPr lang="zh-CN" altLang="en-US" dirty="0" smtClean="0"/>
              <a:t>与</a:t>
            </a:r>
            <a:r>
              <a:rPr lang="zh-CN" altLang="en-US" dirty="0"/>
              <a:t>操作</a:t>
            </a:r>
            <a:endParaRPr lang="zh-CN" altLang="en-US" dirty="0" smtClean="0"/>
          </a:p>
        </p:txBody>
      </p:sp>
      <p:sp>
        <p:nvSpPr>
          <p:cNvPr id="4099" name="副标题 2"/>
          <p:cNvSpPr>
            <a:spLocks noGrp="1"/>
          </p:cNvSpPr>
          <p:nvPr>
            <p:ph type="subTitle" idx="1"/>
          </p:nvPr>
        </p:nvSpPr>
        <p:spPr/>
        <p:txBody>
          <a:bodyPr/>
          <a:lstStyle/>
          <a:p>
            <a:endParaRPr lang="zh-CN" altLang="en-US"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语言中整数常量的类型</a:t>
            </a:r>
            <a:endParaRPr lang="zh-CN" altLang="en-US" dirty="0"/>
          </a:p>
        </p:txBody>
      </p:sp>
      <p:sp>
        <p:nvSpPr>
          <p:cNvPr id="4" name="TextBox 3"/>
          <p:cNvSpPr txBox="1"/>
          <p:nvPr/>
        </p:nvSpPr>
        <p:spPr>
          <a:xfrm>
            <a:off x="260350" y="1028700"/>
            <a:ext cx="8578850" cy="2554545"/>
          </a:xfrm>
          <a:prstGeom prst="rect">
            <a:avLst/>
          </a:prstGeom>
          <a:noFill/>
        </p:spPr>
        <p:txBody>
          <a:bodyPr wrap="square" rtlCol="0">
            <a:spAutoFit/>
          </a:bodyPr>
          <a:lstStyle/>
          <a:p>
            <a:r>
              <a:rPr lang="en-US" altLang="zh-CN" sz="2000" dirty="0" smtClean="0"/>
              <a:t>A plain decimal constant will be fitted into the first in the list that can hold the value:</a:t>
            </a:r>
          </a:p>
          <a:p>
            <a:r>
              <a:rPr lang="en-US" altLang="zh-CN" sz="2000" b="1" i="1" dirty="0" err="1" smtClean="0">
                <a:solidFill>
                  <a:srgbClr val="FF0000"/>
                </a:solidFill>
              </a:rPr>
              <a:t>Int</a:t>
            </a:r>
            <a:r>
              <a:rPr lang="en-US" altLang="zh-CN" sz="2000" b="1" i="1" dirty="0" smtClean="0">
                <a:solidFill>
                  <a:srgbClr val="FF0000"/>
                </a:solidFill>
              </a:rPr>
              <a:t>	unsigned </a:t>
            </a:r>
            <a:r>
              <a:rPr lang="en-US" altLang="zh-CN" sz="2000" b="1" i="1" dirty="0" err="1" smtClean="0">
                <a:solidFill>
                  <a:srgbClr val="FF0000"/>
                </a:solidFill>
              </a:rPr>
              <a:t>int</a:t>
            </a:r>
            <a:r>
              <a:rPr lang="en-US" altLang="zh-CN" sz="2000" b="1" i="1" dirty="0" smtClean="0">
                <a:solidFill>
                  <a:srgbClr val="FF0000"/>
                </a:solidFill>
              </a:rPr>
              <a:t> (C90)	long (long) 	unsigned long (long)</a:t>
            </a:r>
          </a:p>
          <a:p>
            <a:r>
              <a:rPr lang="en-US" altLang="zh-CN" sz="2000" dirty="0" smtClean="0"/>
              <a:t>Plain octal or hexadecimal constants will use the list:</a:t>
            </a:r>
          </a:p>
          <a:p>
            <a:r>
              <a:rPr lang="en-US" altLang="zh-CN" sz="2000" b="1" i="1" dirty="0" err="1" smtClean="0">
                <a:solidFill>
                  <a:srgbClr val="FF0000"/>
                </a:solidFill>
              </a:rPr>
              <a:t>int</a:t>
            </a:r>
            <a:r>
              <a:rPr lang="en-US" altLang="zh-CN" sz="2000" b="1" i="1" dirty="0" smtClean="0">
                <a:solidFill>
                  <a:srgbClr val="FF0000"/>
                </a:solidFill>
              </a:rPr>
              <a:t> 	unsigned </a:t>
            </a:r>
            <a:r>
              <a:rPr lang="en-US" altLang="zh-CN" sz="2000" b="1" i="1" dirty="0" err="1" smtClean="0">
                <a:solidFill>
                  <a:srgbClr val="FF0000"/>
                </a:solidFill>
              </a:rPr>
              <a:t>int</a:t>
            </a:r>
            <a:r>
              <a:rPr lang="en-US" altLang="zh-CN" sz="2000" b="1" i="1" dirty="0" smtClean="0">
                <a:solidFill>
                  <a:srgbClr val="FF0000"/>
                </a:solidFill>
              </a:rPr>
              <a:t> 	long (long) 	unsigned long (long)</a:t>
            </a:r>
          </a:p>
          <a:p>
            <a:endParaRPr lang="en-US" altLang="zh-CN" sz="2000" dirty="0" smtClean="0"/>
          </a:p>
          <a:p>
            <a:r>
              <a:rPr lang="en-US" altLang="zh-CN" sz="2000" u="sng" dirty="0" smtClean="0">
                <a:solidFill>
                  <a:srgbClr val="3366FF"/>
                </a:solidFill>
              </a:rPr>
              <a:t>There are </a:t>
            </a:r>
            <a:r>
              <a:rPr lang="en-US" altLang="zh-CN" sz="2000" b="1" i="1" u="sng" dirty="0" smtClean="0">
                <a:solidFill>
                  <a:srgbClr val="3366FF"/>
                </a:solidFill>
              </a:rPr>
              <a:t>no</a:t>
            </a:r>
            <a:r>
              <a:rPr lang="en-US" altLang="zh-CN" sz="2000" u="sng" dirty="0" smtClean="0">
                <a:solidFill>
                  <a:srgbClr val="3366FF"/>
                </a:solidFill>
              </a:rPr>
              <a:t> negative constants; writing </a:t>
            </a:r>
            <a:r>
              <a:rPr lang="en-US" altLang="zh-CN" sz="2000" b="1" u="sng" dirty="0" smtClean="0">
                <a:solidFill>
                  <a:srgbClr val="3366FF"/>
                </a:solidFill>
              </a:rPr>
              <a:t>-23</a:t>
            </a:r>
            <a:r>
              <a:rPr lang="en-US" altLang="zh-CN" sz="2000" u="sng" dirty="0" smtClean="0">
                <a:solidFill>
                  <a:srgbClr val="3366FF"/>
                </a:solidFill>
              </a:rPr>
              <a:t> is an expression involving </a:t>
            </a:r>
            <a:r>
              <a:rPr lang="en-US" altLang="zh-CN" sz="2000" b="1" i="1" u="sng" dirty="0" smtClean="0">
                <a:solidFill>
                  <a:srgbClr val="3366FF"/>
                </a:solidFill>
              </a:rPr>
              <a:t>a positive constant</a:t>
            </a:r>
            <a:r>
              <a:rPr lang="en-US" altLang="zh-CN" sz="2000" u="sng" dirty="0" smtClean="0">
                <a:solidFill>
                  <a:srgbClr val="3366FF"/>
                </a:solidFill>
              </a:rPr>
              <a:t> and </a:t>
            </a:r>
            <a:r>
              <a:rPr lang="en-US" altLang="zh-CN" sz="2000" b="1" i="1" u="sng" dirty="0" smtClean="0">
                <a:solidFill>
                  <a:srgbClr val="3366FF"/>
                </a:solidFill>
              </a:rPr>
              <a:t>an operator</a:t>
            </a:r>
            <a:r>
              <a:rPr lang="en-US" altLang="zh-CN" sz="2000" u="sng" dirty="0" smtClean="0">
                <a:solidFill>
                  <a:srgbClr val="3366FF"/>
                </a:solidFill>
              </a:rPr>
              <a:t>.</a:t>
            </a:r>
            <a:endParaRPr lang="zh-CN" altLang="en-US" sz="2000" u="sng" dirty="0">
              <a:solidFill>
                <a:srgbClr val="3366FF"/>
              </a:solidFill>
            </a:endParaRPr>
          </a:p>
        </p:txBody>
      </p:sp>
      <p:sp>
        <p:nvSpPr>
          <p:cNvPr id="6" name="矩形 1"/>
          <p:cNvSpPr>
            <a:spLocks noChangeArrowheads="1"/>
          </p:cNvSpPr>
          <p:nvPr/>
        </p:nvSpPr>
        <p:spPr bwMode="auto">
          <a:xfrm>
            <a:off x="341313" y="3829050"/>
            <a:ext cx="2852737" cy="2862322"/>
          </a:xfrm>
          <a:prstGeom prst="rect">
            <a:avLst/>
          </a:prstGeom>
          <a:noFill/>
          <a:ln w="9525">
            <a:noFill/>
            <a:miter lim="800000"/>
            <a:headEnd/>
            <a:tailEnd/>
          </a:ln>
        </p:spPr>
        <p:txBody>
          <a:bodyPr wrap="square">
            <a:spAutoFit/>
          </a:bodyPr>
          <a:lstStyle/>
          <a:p>
            <a:pPr lvl="1">
              <a:lnSpc>
                <a:spcPct val="150000"/>
              </a:lnSpc>
            </a:pPr>
            <a:r>
              <a:rPr lang="en-US" altLang="zh-CN" sz="2400" dirty="0" smtClean="0"/>
              <a:t>2147483647</a:t>
            </a:r>
          </a:p>
          <a:p>
            <a:pPr lvl="1">
              <a:lnSpc>
                <a:spcPct val="150000"/>
              </a:lnSpc>
            </a:pPr>
            <a:r>
              <a:rPr lang="en-US" altLang="zh-CN" sz="2400" dirty="0" smtClean="0"/>
              <a:t>2147483648</a:t>
            </a:r>
            <a:endParaRPr lang="en-US" altLang="zh-CN" sz="2400" dirty="0"/>
          </a:p>
          <a:p>
            <a:pPr lvl="1">
              <a:lnSpc>
                <a:spcPct val="150000"/>
              </a:lnSpc>
            </a:pPr>
            <a:r>
              <a:rPr lang="en-US" altLang="zh-CN" sz="2400" dirty="0"/>
              <a:t>-</a:t>
            </a:r>
            <a:r>
              <a:rPr lang="en-US" altLang="zh-CN" sz="2400" dirty="0" smtClean="0"/>
              <a:t>2147483647</a:t>
            </a:r>
            <a:endParaRPr lang="en-US" altLang="zh-CN" sz="2400" dirty="0"/>
          </a:p>
          <a:p>
            <a:pPr lvl="1">
              <a:lnSpc>
                <a:spcPct val="150000"/>
              </a:lnSpc>
            </a:pPr>
            <a:r>
              <a:rPr lang="en-US" altLang="zh-CN" sz="2400" dirty="0" smtClean="0"/>
              <a:t>-2147483648</a:t>
            </a:r>
          </a:p>
          <a:p>
            <a:pPr lvl="1">
              <a:lnSpc>
                <a:spcPct val="150000"/>
              </a:lnSpc>
            </a:pPr>
            <a:r>
              <a:rPr lang="en-US" altLang="zh-CN" sz="2400" dirty="0" smtClean="0"/>
              <a:t>2147483647U</a:t>
            </a:r>
          </a:p>
        </p:txBody>
      </p:sp>
      <p:sp>
        <p:nvSpPr>
          <p:cNvPr id="7" name="矩形 1"/>
          <p:cNvSpPr>
            <a:spLocks noChangeArrowheads="1"/>
          </p:cNvSpPr>
          <p:nvPr/>
        </p:nvSpPr>
        <p:spPr bwMode="auto">
          <a:xfrm>
            <a:off x="3363913" y="3811528"/>
            <a:ext cx="5253037" cy="2862322"/>
          </a:xfrm>
          <a:prstGeom prst="rect">
            <a:avLst/>
          </a:prstGeom>
          <a:noFill/>
          <a:ln w="9525">
            <a:noFill/>
            <a:miter lim="800000"/>
            <a:headEnd/>
            <a:tailEnd/>
          </a:ln>
        </p:spPr>
        <p:txBody>
          <a:bodyPr wrap="square">
            <a:spAutoFit/>
          </a:bodyPr>
          <a:lstStyle/>
          <a:p>
            <a:pPr lvl="1">
              <a:lnSpc>
                <a:spcPct val="150000"/>
              </a:lnSpc>
            </a:pPr>
            <a:r>
              <a:rPr lang="en-US" altLang="zh-CN" sz="2400" dirty="0" err="1" smtClean="0">
                <a:solidFill>
                  <a:srgbClr val="FF0000"/>
                </a:solidFill>
              </a:rPr>
              <a:t>int</a:t>
            </a:r>
            <a:endParaRPr lang="en-US" altLang="zh-CN" sz="2400" dirty="0" smtClean="0">
              <a:solidFill>
                <a:srgbClr val="FF0000"/>
              </a:solidFill>
            </a:endParaRPr>
          </a:p>
          <a:p>
            <a:pPr lvl="1">
              <a:lnSpc>
                <a:spcPct val="150000"/>
              </a:lnSpc>
            </a:pPr>
            <a:r>
              <a:rPr lang="en-US" altLang="zh-CN" sz="2400" dirty="0" smtClean="0">
                <a:solidFill>
                  <a:srgbClr val="FF0000"/>
                </a:solidFill>
              </a:rPr>
              <a:t>unsigned </a:t>
            </a:r>
            <a:r>
              <a:rPr lang="en-US" altLang="zh-CN" sz="2400" dirty="0" err="1" smtClean="0">
                <a:solidFill>
                  <a:srgbClr val="FF0000"/>
                </a:solidFill>
              </a:rPr>
              <a:t>int</a:t>
            </a:r>
            <a:r>
              <a:rPr lang="en-US" altLang="zh-CN" sz="2400" dirty="0" smtClean="0">
                <a:solidFill>
                  <a:srgbClr val="FF0000"/>
                </a:solidFill>
              </a:rPr>
              <a:t> </a:t>
            </a:r>
            <a:r>
              <a:rPr lang="zh-CN" altLang="en-US" sz="2400" dirty="0" smtClean="0">
                <a:solidFill>
                  <a:srgbClr val="FF0000"/>
                </a:solidFill>
              </a:rPr>
              <a:t> </a:t>
            </a:r>
            <a:r>
              <a:rPr lang="en-US" altLang="zh-CN" sz="2400" dirty="0" smtClean="0">
                <a:solidFill>
                  <a:srgbClr val="FF0000"/>
                </a:solidFill>
              </a:rPr>
              <a:t>(C90) / long (C99)</a:t>
            </a:r>
            <a:endParaRPr lang="en-US" altLang="zh-CN" sz="2400" dirty="0">
              <a:solidFill>
                <a:srgbClr val="FF0000"/>
              </a:solidFill>
            </a:endParaRPr>
          </a:p>
          <a:p>
            <a:pPr lvl="1">
              <a:lnSpc>
                <a:spcPct val="150000"/>
              </a:lnSpc>
            </a:pPr>
            <a:r>
              <a:rPr lang="en-US" altLang="zh-CN" sz="2400" dirty="0" err="1" smtClean="0">
                <a:solidFill>
                  <a:srgbClr val="FF0000"/>
                </a:solidFill>
              </a:rPr>
              <a:t>int</a:t>
            </a:r>
            <a:endParaRPr lang="en-US" altLang="zh-CN" sz="2400" dirty="0">
              <a:solidFill>
                <a:srgbClr val="FF0000"/>
              </a:solidFill>
            </a:endParaRPr>
          </a:p>
          <a:p>
            <a:pPr lvl="1">
              <a:lnSpc>
                <a:spcPct val="150000"/>
              </a:lnSpc>
            </a:pPr>
            <a:r>
              <a:rPr lang="en-US" altLang="zh-CN" sz="2400" dirty="0" smtClean="0">
                <a:solidFill>
                  <a:srgbClr val="FF0000"/>
                </a:solidFill>
              </a:rPr>
              <a:t>unsigned </a:t>
            </a:r>
            <a:r>
              <a:rPr lang="en-US" altLang="zh-CN" sz="2400" dirty="0" err="1" smtClean="0">
                <a:solidFill>
                  <a:srgbClr val="FF0000"/>
                </a:solidFill>
              </a:rPr>
              <a:t>int</a:t>
            </a:r>
            <a:r>
              <a:rPr lang="en-US" altLang="zh-CN" sz="2400" dirty="0" smtClean="0">
                <a:solidFill>
                  <a:srgbClr val="FF0000"/>
                </a:solidFill>
              </a:rPr>
              <a:t> </a:t>
            </a:r>
            <a:r>
              <a:rPr lang="zh-CN" altLang="en-US" sz="2400" dirty="0" smtClean="0">
                <a:solidFill>
                  <a:srgbClr val="FF0000"/>
                </a:solidFill>
              </a:rPr>
              <a:t> </a:t>
            </a:r>
            <a:r>
              <a:rPr lang="en-US" altLang="zh-CN" sz="2400" dirty="0" smtClean="0">
                <a:solidFill>
                  <a:srgbClr val="FF0000"/>
                </a:solidFill>
              </a:rPr>
              <a:t>(C90) / long (C99)</a:t>
            </a:r>
          </a:p>
          <a:p>
            <a:pPr lvl="1">
              <a:lnSpc>
                <a:spcPct val="150000"/>
              </a:lnSpc>
            </a:pPr>
            <a:r>
              <a:rPr lang="en-US" altLang="zh-CN" sz="2400" dirty="0" smtClean="0">
                <a:solidFill>
                  <a:srgbClr val="FF0000"/>
                </a:solidFill>
              </a:rPr>
              <a:t>unsigned </a:t>
            </a:r>
            <a:r>
              <a:rPr lang="en-US" altLang="zh-CN" sz="2400" dirty="0" err="1" smtClean="0">
                <a:solidFill>
                  <a:srgbClr val="FF0000"/>
                </a:solidFill>
              </a:rPr>
              <a:t>int</a:t>
            </a:r>
            <a:endParaRPr lang="en-US" altLang="zh-CN" sz="2400"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语言整数运算中的类型转换</a:t>
            </a:r>
            <a:endParaRPr lang="zh-CN" altLang="en-US" dirty="0"/>
          </a:p>
        </p:txBody>
      </p:sp>
      <p:sp>
        <p:nvSpPr>
          <p:cNvPr id="3" name="内容占位符 2"/>
          <p:cNvSpPr>
            <a:spLocks noGrp="1"/>
          </p:cNvSpPr>
          <p:nvPr>
            <p:ph idx="1"/>
          </p:nvPr>
        </p:nvSpPr>
        <p:spPr/>
        <p:txBody>
          <a:bodyPr/>
          <a:lstStyle/>
          <a:p>
            <a:r>
              <a:rPr lang="zh-CN" altLang="en-US" dirty="0" smtClean="0"/>
              <a:t>三种常见转换情况：</a:t>
            </a:r>
            <a:endParaRPr lang="en-US" altLang="zh-CN" dirty="0" smtClean="0"/>
          </a:p>
          <a:p>
            <a:pPr lvl="1">
              <a:lnSpc>
                <a:spcPct val="200000"/>
              </a:lnSpc>
            </a:pPr>
            <a:r>
              <a:rPr lang="zh-CN" altLang="en-US" dirty="0" smtClean="0"/>
              <a:t>表达式中操作数类型不一致而引起的转换（</a:t>
            </a:r>
            <a:r>
              <a:rPr lang="en-US" altLang="zh-CN" dirty="0" smtClean="0"/>
              <a:t>Usual Arithmetic Conversions</a:t>
            </a:r>
            <a:r>
              <a:rPr lang="zh-CN" altLang="en-US" dirty="0" smtClean="0"/>
              <a:t>）</a:t>
            </a:r>
            <a:endParaRPr lang="en-US" altLang="zh-CN" dirty="0" smtClean="0"/>
          </a:p>
          <a:p>
            <a:pPr lvl="2">
              <a:lnSpc>
                <a:spcPct val="200000"/>
              </a:lnSpc>
            </a:pPr>
            <a:r>
              <a:rPr lang="zh-CN" altLang="en-US" dirty="0" smtClean="0"/>
              <a:t>例：</a:t>
            </a:r>
            <a:r>
              <a:rPr lang="en-US" altLang="zh-CN" dirty="0" smtClean="0"/>
              <a:t>20*1.5-199 &gt; -100U</a:t>
            </a:r>
          </a:p>
          <a:p>
            <a:pPr lvl="1">
              <a:lnSpc>
                <a:spcPct val="200000"/>
              </a:lnSpc>
            </a:pPr>
            <a:r>
              <a:rPr lang="zh-CN" altLang="en-US" dirty="0" smtClean="0"/>
              <a:t>赋值操作引发的类型转换（</a:t>
            </a:r>
            <a:r>
              <a:rPr lang="en-US" altLang="zh-CN" dirty="0" smtClean="0"/>
              <a:t>Conversion During Assignment</a:t>
            </a:r>
            <a:r>
              <a:rPr lang="zh-CN" altLang="en-US" dirty="0" smtClean="0"/>
              <a:t>）</a:t>
            </a:r>
            <a:endParaRPr lang="en-US" altLang="zh-CN" dirty="0" smtClean="0"/>
          </a:p>
          <a:p>
            <a:pPr lvl="2">
              <a:lnSpc>
                <a:spcPct val="200000"/>
              </a:lnSpc>
            </a:pPr>
            <a:r>
              <a:rPr lang="zh-CN" altLang="en-US" dirty="0" smtClean="0"/>
              <a:t>例：</a:t>
            </a:r>
            <a:r>
              <a:rPr lang="en-US" altLang="zh-CN" dirty="0" smtClean="0"/>
              <a:t>unsigned </a:t>
            </a:r>
            <a:r>
              <a:rPr lang="en-US" altLang="zh-CN" dirty="0" err="1" smtClean="0"/>
              <a:t>int</a:t>
            </a:r>
            <a:r>
              <a:rPr lang="en-US" altLang="zh-CN" dirty="0" smtClean="0"/>
              <a:t> x;  x = -1;</a:t>
            </a:r>
          </a:p>
          <a:p>
            <a:pPr lvl="1">
              <a:lnSpc>
                <a:spcPct val="200000"/>
              </a:lnSpc>
            </a:pPr>
            <a:r>
              <a:rPr lang="zh-CN" altLang="en-US" dirty="0" smtClean="0"/>
              <a:t>强制类型转换（</a:t>
            </a:r>
            <a:r>
              <a:rPr lang="en-US" altLang="zh-CN" dirty="0" smtClean="0"/>
              <a:t>Type Casting</a:t>
            </a:r>
            <a:r>
              <a:rPr lang="zh-CN" altLang="en-US" dirty="0" smtClean="0"/>
              <a:t>）</a:t>
            </a:r>
            <a:endParaRPr lang="en-US" altLang="zh-CN" dirty="0" smtClean="0"/>
          </a:p>
          <a:p>
            <a:pPr lvl="2">
              <a:lnSpc>
                <a:spcPct val="200000"/>
              </a:lnSpc>
            </a:pPr>
            <a:r>
              <a:rPr lang="zh-CN" altLang="en-US" dirty="0" smtClean="0"/>
              <a:t>例：</a:t>
            </a:r>
            <a:r>
              <a:rPr lang="en-US" altLang="zh-CN" dirty="0" smtClean="0"/>
              <a:t> (unsigned </a:t>
            </a:r>
            <a:r>
              <a:rPr lang="en-US" altLang="zh-CN" dirty="0" err="1" smtClean="0"/>
              <a:t>int</a:t>
            </a:r>
            <a:r>
              <a:rPr lang="en-US" altLang="zh-CN" dirty="0" smtClean="0"/>
              <a:t>)199</a:t>
            </a:r>
          </a:p>
          <a:p>
            <a:pPr lvl="1">
              <a:lnSpc>
                <a:spcPct val="200000"/>
              </a:lnSpc>
            </a:pP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Usual Arithmetic Conversions</a:t>
            </a:r>
            <a:endParaRPr lang="zh-CN" altLang="en-US" dirty="0"/>
          </a:p>
        </p:txBody>
      </p:sp>
      <p:sp>
        <p:nvSpPr>
          <p:cNvPr id="3" name="内容占位符 2"/>
          <p:cNvSpPr>
            <a:spLocks noGrp="1"/>
          </p:cNvSpPr>
          <p:nvPr>
            <p:ph idx="1"/>
          </p:nvPr>
        </p:nvSpPr>
        <p:spPr>
          <a:xfrm>
            <a:off x="468313" y="836612"/>
            <a:ext cx="8229600" cy="6021387"/>
          </a:xfrm>
        </p:spPr>
        <p:txBody>
          <a:bodyPr/>
          <a:lstStyle/>
          <a:p>
            <a:pPr marL="0" indent="0">
              <a:buNone/>
            </a:pPr>
            <a:r>
              <a:rPr lang="en-US" altLang="zh-CN" b="0" dirty="0" smtClean="0"/>
              <a:t>If the operands in an expression have different types, there have to be conversions</a:t>
            </a:r>
          </a:p>
          <a:p>
            <a:pPr lvl="1"/>
            <a:r>
              <a:rPr lang="en-US" altLang="zh-CN" b="0" dirty="0" smtClean="0"/>
              <a:t>to convert the operand of the </a:t>
            </a:r>
            <a:r>
              <a:rPr lang="en-US" altLang="zh-CN" b="0" i="1" u="sng" dirty="0" smtClean="0"/>
              <a:t>narrower</a:t>
            </a:r>
            <a:r>
              <a:rPr lang="en-US" altLang="zh-CN" b="0" dirty="0" smtClean="0"/>
              <a:t> type to the type of the other operand, which is the " narrowest" type that will safely accommodate both values – </a:t>
            </a:r>
            <a:r>
              <a:rPr lang="en-US" altLang="zh-CN" i="1" dirty="0" smtClean="0">
                <a:solidFill>
                  <a:srgbClr val="00B050"/>
                </a:solidFill>
              </a:rPr>
              <a:t>promotion</a:t>
            </a:r>
          </a:p>
          <a:p>
            <a:pPr marL="457200" indent="-457200">
              <a:buFont typeface="+mj-lt"/>
              <a:buAutoNum type="arabicPeriod"/>
            </a:pPr>
            <a:r>
              <a:rPr lang="en-US" altLang="zh-CN" b="0" dirty="0" smtClean="0"/>
              <a:t>If either operand is a </a:t>
            </a:r>
            <a:r>
              <a:rPr lang="en-US" altLang="zh-CN" dirty="0" smtClean="0">
                <a:solidFill>
                  <a:srgbClr val="FF0000"/>
                </a:solidFill>
              </a:rPr>
              <a:t>long double</a:t>
            </a:r>
            <a:r>
              <a:rPr lang="en-US" altLang="zh-CN" b="0" dirty="0" smtClean="0"/>
              <a:t>, then the other one is converted to </a:t>
            </a:r>
            <a:r>
              <a:rPr lang="en-US" altLang="zh-CN" dirty="0" smtClean="0">
                <a:solidFill>
                  <a:srgbClr val="FF0000"/>
                </a:solidFill>
              </a:rPr>
              <a:t>long double</a:t>
            </a:r>
            <a:r>
              <a:rPr lang="en-US" altLang="zh-CN" b="0" dirty="0" smtClean="0"/>
              <a:t> and also the type of result.</a:t>
            </a:r>
          </a:p>
          <a:p>
            <a:pPr marL="457200" indent="-457200">
              <a:buFont typeface="+mj-lt"/>
              <a:buAutoNum type="arabicPeriod"/>
            </a:pPr>
            <a:r>
              <a:rPr lang="en-US" altLang="zh-CN" b="0" dirty="0" smtClean="0"/>
              <a:t>Otherwise, </a:t>
            </a:r>
            <a:r>
              <a:rPr lang="en-US" altLang="zh-CN" dirty="0" smtClean="0">
                <a:solidFill>
                  <a:srgbClr val="FF0000"/>
                </a:solidFill>
              </a:rPr>
              <a:t>double </a:t>
            </a:r>
            <a:r>
              <a:rPr lang="en-US" altLang="zh-CN" b="0" dirty="0" smtClean="0"/>
              <a:t>…</a:t>
            </a:r>
          </a:p>
          <a:p>
            <a:pPr marL="457200" indent="-457200">
              <a:buFont typeface="+mj-lt"/>
              <a:buAutoNum type="arabicPeriod"/>
            </a:pPr>
            <a:r>
              <a:rPr lang="en-US" altLang="zh-CN" b="0" dirty="0" smtClean="0"/>
              <a:t>Otherwise, </a:t>
            </a:r>
            <a:r>
              <a:rPr lang="en-US" altLang="zh-CN" dirty="0" smtClean="0">
                <a:solidFill>
                  <a:srgbClr val="FF0000"/>
                </a:solidFill>
              </a:rPr>
              <a:t>float</a:t>
            </a:r>
            <a:r>
              <a:rPr lang="en-US" altLang="zh-CN" b="0" dirty="0" smtClean="0"/>
              <a:t> …</a:t>
            </a:r>
          </a:p>
          <a:p>
            <a:pPr marL="457200" indent="-457200">
              <a:buFont typeface="+mj-lt"/>
              <a:buAutoNum type="arabicPeriod"/>
            </a:pPr>
            <a:r>
              <a:rPr lang="en-US" altLang="zh-CN" b="0" dirty="0" smtClean="0"/>
              <a:t>Otherwise the </a:t>
            </a:r>
            <a:r>
              <a:rPr lang="en-US" altLang="zh-CN" i="1" dirty="0" smtClean="0">
                <a:solidFill>
                  <a:srgbClr val="00B050"/>
                </a:solidFill>
              </a:rPr>
              <a:t>integral promotions</a:t>
            </a:r>
            <a:r>
              <a:rPr lang="en-US" altLang="zh-CN" b="0" dirty="0" smtClean="0"/>
              <a:t> are applied:</a:t>
            </a:r>
          </a:p>
          <a:p>
            <a:pPr marL="914400" lvl="1" indent="-457200">
              <a:buFont typeface="+mj-ea"/>
              <a:buAutoNum type="circleNumDbPlain"/>
            </a:pPr>
            <a:r>
              <a:rPr lang="en-US" altLang="zh-CN" b="0" dirty="0" smtClean="0"/>
              <a:t>If either operand is an </a:t>
            </a:r>
            <a:r>
              <a:rPr lang="en-US" altLang="zh-CN" dirty="0" smtClean="0">
                <a:solidFill>
                  <a:srgbClr val="FF0000"/>
                </a:solidFill>
              </a:rPr>
              <a:t>unsigned long </a:t>
            </a:r>
            <a:r>
              <a:rPr lang="en-US" altLang="zh-CN" dirty="0" err="1" smtClean="0">
                <a:solidFill>
                  <a:srgbClr val="FF0000"/>
                </a:solidFill>
              </a:rPr>
              <a:t>int</a:t>
            </a:r>
            <a:r>
              <a:rPr lang="en-US" altLang="zh-CN" b="0" dirty="0" smtClean="0">
                <a:solidFill>
                  <a:srgbClr val="FF0000"/>
                </a:solidFill>
              </a:rPr>
              <a:t> …</a:t>
            </a:r>
            <a:endParaRPr lang="en-US" altLang="zh-CN" b="0" dirty="0" smtClean="0"/>
          </a:p>
          <a:p>
            <a:pPr marL="914400" lvl="1" indent="-457200">
              <a:buFont typeface="+mj-ea"/>
              <a:buAutoNum type="circleNumDbPlain"/>
            </a:pPr>
            <a:r>
              <a:rPr lang="en-US" altLang="zh-CN" b="0" dirty="0" smtClean="0"/>
              <a:t>Otherwise, </a:t>
            </a:r>
            <a:r>
              <a:rPr lang="en-US" altLang="zh-CN" dirty="0" smtClean="0">
                <a:solidFill>
                  <a:srgbClr val="FF0000"/>
                </a:solidFill>
              </a:rPr>
              <a:t>long </a:t>
            </a:r>
            <a:r>
              <a:rPr lang="en-US" altLang="zh-CN" dirty="0" err="1" smtClean="0">
                <a:solidFill>
                  <a:srgbClr val="FF0000"/>
                </a:solidFill>
              </a:rPr>
              <a:t>int</a:t>
            </a:r>
            <a:r>
              <a:rPr lang="en-US" altLang="zh-CN" b="0" dirty="0" smtClean="0"/>
              <a:t> ...</a:t>
            </a:r>
          </a:p>
          <a:p>
            <a:pPr marL="914400" lvl="1" indent="-457200">
              <a:buFont typeface="+mj-ea"/>
              <a:buAutoNum type="circleNumDbPlain"/>
            </a:pPr>
            <a:r>
              <a:rPr lang="en-US" altLang="zh-CN" b="0" dirty="0" smtClean="0"/>
              <a:t>Otherwise, </a:t>
            </a:r>
            <a:r>
              <a:rPr lang="en-US" altLang="zh-CN" dirty="0" smtClean="0">
                <a:solidFill>
                  <a:srgbClr val="FF0000"/>
                </a:solidFill>
              </a:rPr>
              <a:t>unsigned </a:t>
            </a:r>
            <a:r>
              <a:rPr lang="en-US" altLang="zh-CN" dirty="0" err="1" smtClean="0">
                <a:solidFill>
                  <a:srgbClr val="FF0000"/>
                </a:solidFill>
              </a:rPr>
              <a:t>int</a:t>
            </a:r>
            <a:r>
              <a:rPr lang="en-US" altLang="zh-CN" b="0" dirty="0" smtClean="0"/>
              <a:t> ...</a:t>
            </a:r>
          </a:p>
          <a:p>
            <a:pPr marL="914400" lvl="1" indent="-457200">
              <a:buFont typeface="+mj-ea"/>
              <a:buAutoNum type="circleNumDbPlain"/>
            </a:pPr>
            <a:r>
              <a:rPr lang="en-US" altLang="zh-CN" b="0" dirty="0" smtClean="0"/>
              <a:t>Finally, both operands must be of type </a:t>
            </a:r>
            <a:r>
              <a:rPr lang="en-US" altLang="zh-CN" dirty="0" err="1" smtClean="0">
                <a:solidFill>
                  <a:srgbClr val="FF0000"/>
                </a:solidFill>
              </a:rPr>
              <a:t>int</a:t>
            </a:r>
            <a:r>
              <a:rPr lang="en-US" altLang="zh-CN" b="0" dirty="0" smtClean="0"/>
              <a:t>, so that is the result.</a:t>
            </a:r>
          </a:p>
          <a:p>
            <a:endParaRPr lang="en-US" altLang="zh-CN"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Conversion During Assignment</a:t>
            </a:r>
            <a:endParaRPr lang="zh-CN" altLang="en-US" dirty="0"/>
          </a:p>
        </p:txBody>
      </p:sp>
      <p:sp>
        <p:nvSpPr>
          <p:cNvPr id="3" name="内容占位符 2"/>
          <p:cNvSpPr>
            <a:spLocks noGrp="1"/>
          </p:cNvSpPr>
          <p:nvPr>
            <p:ph idx="1"/>
          </p:nvPr>
        </p:nvSpPr>
        <p:spPr>
          <a:xfrm>
            <a:off x="468313" y="836613"/>
            <a:ext cx="8229600" cy="3392488"/>
          </a:xfrm>
        </p:spPr>
        <p:txBody>
          <a:bodyPr/>
          <a:lstStyle/>
          <a:p>
            <a:r>
              <a:rPr lang="en-US" altLang="zh-CN" sz="3200" b="0" dirty="0" smtClean="0"/>
              <a:t>The usual arithmetic conversions don't apply to assignment. Instead, C follows the simple rule: </a:t>
            </a:r>
          </a:p>
          <a:p>
            <a:pPr lvl="1"/>
            <a:r>
              <a:rPr lang="en-US" altLang="zh-CN" sz="2800" dirty="0" smtClean="0"/>
              <a:t>The expression on the right side of the assignment is converted to the type of the variable on the left side.</a:t>
            </a:r>
          </a:p>
          <a:p>
            <a:pPr lvl="1"/>
            <a:endParaRPr lang="en-US" altLang="zh-CN" sz="2800" dirty="0" smtClean="0"/>
          </a:p>
        </p:txBody>
      </p:sp>
      <p:sp>
        <p:nvSpPr>
          <p:cNvPr id="4" name="TextBox 3"/>
          <p:cNvSpPr txBox="1"/>
          <p:nvPr/>
        </p:nvSpPr>
        <p:spPr>
          <a:xfrm>
            <a:off x="171450" y="4297819"/>
            <a:ext cx="3600450" cy="1815882"/>
          </a:xfrm>
          <a:prstGeom prst="rect">
            <a:avLst/>
          </a:prstGeom>
          <a:noFill/>
        </p:spPr>
        <p:txBody>
          <a:bodyPr wrap="square" rtlCol="0">
            <a:spAutoFit/>
          </a:bodyPr>
          <a:lstStyle/>
          <a:p>
            <a:r>
              <a:rPr lang="zh-CN" altLang="en-US" sz="2800" dirty="0" smtClean="0"/>
              <a:t>下述代码有无问题？</a:t>
            </a:r>
            <a:endParaRPr lang="nn-NO" altLang="zh-CN" sz="2800" dirty="0" smtClean="0"/>
          </a:p>
          <a:p>
            <a:pPr lvl="1">
              <a:buNone/>
            </a:pPr>
            <a:r>
              <a:rPr lang="nn-NO" altLang="zh-CN" sz="2800" dirty="0" smtClean="0"/>
              <a:t>int j = 80000;</a:t>
            </a:r>
          </a:p>
          <a:p>
            <a:pPr lvl="1">
              <a:buNone/>
            </a:pPr>
            <a:r>
              <a:rPr lang="nn-NO" altLang="zh-CN" sz="2800" dirty="0" smtClean="0"/>
              <a:t>long long int i;</a:t>
            </a:r>
          </a:p>
          <a:p>
            <a:pPr lvl="1">
              <a:buNone/>
            </a:pPr>
            <a:r>
              <a:rPr lang="nn-NO" altLang="zh-CN" sz="2800" dirty="0" smtClean="0"/>
              <a:t>i = j * j;</a:t>
            </a:r>
            <a:endParaRPr lang="en-US" altLang="zh-CN" sz="2800" dirty="0" smtClean="0"/>
          </a:p>
        </p:txBody>
      </p:sp>
      <p:sp>
        <p:nvSpPr>
          <p:cNvPr id="5" name="TextBox 4"/>
          <p:cNvSpPr txBox="1"/>
          <p:nvPr/>
        </p:nvSpPr>
        <p:spPr>
          <a:xfrm>
            <a:off x="3063475" y="4744305"/>
            <a:ext cx="3173710" cy="1384995"/>
          </a:xfrm>
          <a:prstGeom prst="rect">
            <a:avLst/>
          </a:prstGeom>
          <a:noFill/>
        </p:spPr>
        <p:txBody>
          <a:bodyPr wrap="square" rtlCol="0">
            <a:spAutoFit/>
          </a:bodyPr>
          <a:lstStyle/>
          <a:p>
            <a:r>
              <a:rPr lang="en-US" altLang="zh-CN" sz="2800" b="1" dirty="0" smtClean="0">
                <a:solidFill>
                  <a:srgbClr val="FF0000"/>
                </a:solidFill>
              </a:rPr>
              <a:t>Overflow</a:t>
            </a:r>
            <a:r>
              <a:rPr lang="zh-CN" altLang="en-US" sz="2800" b="1" dirty="0" smtClean="0">
                <a:solidFill>
                  <a:srgbClr val="FF0000"/>
                </a:solidFill>
              </a:rPr>
              <a:t>！</a:t>
            </a:r>
            <a:endParaRPr lang="en-US" altLang="zh-CN" sz="2800" b="1" dirty="0" smtClean="0">
              <a:solidFill>
                <a:srgbClr val="FF0000"/>
              </a:solidFill>
            </a:endParaRPr>
          </a:p>
          <a:p>
            <a:r>
              <a:rPr lang="zh-CN" altLang="en-US" sz="2800" dirty="0" smtClean="0">
                <a:solidFill>
                  <a:srgbClr val="FF0000"/>
                </a:solidFill>
              </a:rPr>
              <a:t>可改为</a:t>
            </a:r>
            <a:r>
              <a:rPr lang="nn-NO" altLang="zh-CN" sz="2800" dirty="0">
                <a:solidFill>
                  <a:srgbClr val="FF0000"/>
                </a:solidFill>
              </a:rPr>
              <a:t> </a:t>
            </a:r>
            <a:r>
              <a:rPr lang="en-US" altLang="zh-CN" sz="2800" dirty="0" err="1" smtClean="0">
                <a:solidFill>
                  <a:srgbClr val="FF0000"/>
                </a:solidFill>
              </a:rPr>
              <a:t>i</a:t>
            </a:r>
            <a:r>
              <a:rPr lang="en-US" altLang="zh-CN" sz="2800" dirty="0" smtClean="0">
                <a:solidFill>
                  <a:srgbClr val="FF0000"/>
                </a:solidFill>
              </a:rPr>
              <a:t> = </a:t>
            </a:r>
          </a:p>
          <a:p>
            <a:r>
              <a:rPr lang="en-US" altLang="zh-CN" sz="2800" dirty="0" smtClean="0">
                <a:solidFill>
                  <a:srgbClr val="FF0000"/>
                </a:solidFill>
              </a:rPr>
              <a:t>(long </a:t>
            </a:r>
            <a:r>
              <a:rPr lang="en-US" altLang="zh-CN" sz="2800" dirty="0" err="1" smtClean="0">
                <a:solidFill>
                  <a:srgbClr val="FF0000"/>
                </a:solidFill>
              </a:rPr>
              <a:t>long</a:t>
            </a:r>
            <a:r>
              <a:rPr lang="en-US" altLang="zh-CN" sz="2800" dirty="0" smtClean="0">
                <a:solidFill>
                  <a:srgbClr val="FF0000"/>
                </a:solidFill>
              </a:rPr>
              <a:t> </a:t>
            </a:r>
            <a:r>
              <a:rPr lang="en-US" altLang="zh-CN" sz="2800" dirty="0" err="1" smtClean="0">
                <a:solidFill>
                  <a:srgbClr val="FF0000"/>
                </a:solidFill>
              </a:rPr>
              <a:t>int</a:t>
            </a:r>
            <a:r>
              <a:rPr lang="en-US" altLang="zh-CN" sz="2800" dirty="0" smtClean="0">
                <a:solidFill>
                  <a:srgbClr val="FF0000"/>
                </a:solidFill>
              </a:rPr>
              <a:t>)  j * j ;</a:t>
            </a:r>
          </a:p>
        </p:txBody>
      </p:sp>
      <p:sp>
        <p:nvSpPr>
          <p:cNvPr id="6" name="TextBox 5"/>
          <p:cNvSpPr txBox="1"/>
          <p:nvPr/>
        </p:nvSpPr>
        <p:spPr>
          <a:xfrm>
            <a:off x="6261100" y="4184650"/>
            <a:ext cx="2711450" cy="2554545"/>
          </a:xfrm>
          <a:prstGeom prst="rect">
            <a:avLst/>
          </a:prstGeom>
          <a:noFill/>
          <a:ln>
            <a:solidFill>
              <a:srgbClr val="0033CC"/>
            </a:solidFill>
          </a:ln>
        </p:spPr>
        <p:txBody>
          <a:bodyPr wrap="square" rtlCol="0">
            <a:spAutoFit/>
          </a:bodyPr>
          <a:lstStyle/>
          <a:p>
            <a:r>
              <a:rPr lang="en-US" altLang="zh-CN" sz="2000" dirty="0" smtClean="0">
                <a:solidFill>
                  <a:srgbClr val="00B050"/>
                </a:solidFill>
              </a:rPr>
              <a:t>Since the </a:t>
            </a:r>
            <a:r>
              <a:rPr lang="en-US" altLang="zh-CN" sz="2000" b="1" u="sng" dirty="0" smtClean="0">
                <a:solidFill>
                  <a:srgbClr val="00B050"/>
                </a:solidFill>
              </a:rPr>
              <a:t>cast operator takes precedence</a:t>
            </a:r>
            <a:r>
              <a:rPr lang="en-US" altLang="zh-CN" sz="2000" dirty="0" smtClean="0">
                <a:solidFill>
                  <a:srgbClr val="00B050"/>
                </a:solidFill>
              </a:rPr>
              <a:t> over *. </a:t>
            </a:r>
          </a:p>
          <a:p>
            <a:pPr lvl="1"/>
            <a:r>
              <a:rPr lang="en-US" altLang="zh-CN" sz="2000" dirty="0" smtClean="0">
                <a:solidFill>
                  <a:srgbClr val="00B050"/>
                </a:solidFill>
              </a:rPr>
              <a:t>The first j is converted to </a:t>
            </a:r>
            <a:r>
              <a:rPr lang="en-US" altLang="zh-CN" sz="2000" dirty="0" err="1" smtClean="0">
                <a:solidFill>
                  <a:srgbClr val="00B050"/>
                </a:solidFill>
              </a:rPr>
              <a:t>int</a:t>
            </a:r>
            <a:r>
              <a:rPr lang="en-US" altLang="zh-CN" sz="2000" dirty="0" smtClean="0">
                <a:solidFill>
                  <a:srgbClr val="00B050"/>
                </a:solidFill>
              </a:rPr>
              <a:t>, forcing the second j to be converted as well.</a:t>
            </a:r>
          </a:p>
        </p:txBody>
      </p:sp>
      <p:sp>
        <p:nvSpPr>
          <p:cNvPr id="7" name="TextBox 6"/>
          <p:cNvSpPr txBox="1"/>
          <p:nvPr/>
        </p:nvSpPr>
        <p:spPr>
          <a:xfrm>
            <a:off x="260349" y="6229350"/>
            <a:ext cx="5796815" cy="461665"/>
          </a:xfrm>
          <a:prstGeom prst="rect">
            <a:avLst/>
          </a:prstGeom>
          <a:noFill/>
        </p:spPr>
        <p:txBody>
          <a:bodyPr wrap="square" rtlCol="0">
            <a:spAutoFit/>
          </a:bodyPr>
          <a:lstStyle/>
          <a:p>
            <a:r>
              <a:rPr lang="zh-CN" altLang="en-US" sz="2400" b="1" dirty="0" smtClean="0">
                <a:solidFill>
                  <a:srgbClr val="0066CC"/>
                </a:solidFill>
              </a:rPr>
              <a:t>改成“</a:t>
            </a:r>
            <a:r>
              <a:rPr lang="en-US" altLang="zh-CN" sz="2400" b="1" dirty="0" err="1" smtClean="0">
                <a:solidFill>
                  <a:srgbClr val="0066CC"/>
                </a:solidFill>
              </a:rPr>
              <a:t>i</a:t>
            </a:r>
            <a:r>
              <a:rPr lang="en-US" altLang="zh-CN" sz="2400" b="1" dirty="0" smtClean="0">
                <a:solidFill>
                  <a:srgbClr val="0066CC"/>
                </a:solidFill>
              </a:rPr>
              <a:t> = </a:t>
            </a:r>
            <a:r>
              <a:rPr lang="en-US" altLang="zh-CN" sz="2400" b="1" dirty="0" smtClean="0">
                <a:solidFill>
                  <a:srgbClr val="0066CC"/>
                </a:solidFill>
              </a:rPr>
              <a:t>(long </a:t>
            </a:r>
            <a:r>
              <a:rPr lang="en-US" altLang="zh-CN" sz="2400" b="1" dirty="0" err="1" smtClean="0">
                <a:solidFill>
                  <a:srgbClr val="0066CC"/>
                </a:solidFill>
              </a:rPr>
              <a:t>long</a:t>
            </a:r>
            <a:r>
              <a:rPr lang="en-US" altLang="zh-CN" sz="2400" b="1" dirty="0" smtClean="0">
                <a:solidFill>
                  <a:srgbClr val="0066CC"/>
                </a:solidFill>
              </a:rPr>
              <a:t> </a:t>
            </a:r>
            <a:r>
              <a:rPr lang="en-US" altLang="zh-CN" sz="2400" b="1" dirty="0" err="1" smtClean="0">
                <a:solidFill>
                  <a:srgbClr val="0066CC"/>
                </a:solidFill>
              </a:rPr>
              <a:t>int</a:t>
            </a:r>
            <a:r>
              <a:rPr lang="en-US" altLang="zh-CN" sz="2400" b="1" dirty="0" smtClean="0">
                <a:solidFill>
                  <a:srgbClr val="0066CC"/>
                </a:solidFill>
              </a:rPr>
              <a:t>) </a:t>
            </a:r>
            <a:r>
              <a:rPr lang="en-US" altLang="zh-CN" sz="2400" b="1" dirty="0" smtClean="0">
                <a:solidFill>
                  <a:srgbClr val="0066CC"/>
                </a:solidFill>
              </a:rPr>
              <a:t>( j * j ) ;</a:t>
            </a:r>
            <a:r>
              <a:rPr lang="zh-CN" altLang="en-US" sz="2400" b="1" dirty="0" smtClean="0">
                <a:solidFill>
                  <a:srgbClr val="0066CC"/>
                </a:solidFill>
              </a:rPr>
              <a:t>”如何</a:t>
            </a:r>
            <a:r>
              <a:rPr lang="zh-CN" altLang="en-US" sz="2400" b="1" dirty="0" smtClean="0">
                <a:solidFill>
                  <a:srgbClr val="0066CC"/>
                </a:solidFill>
              </a:rPr>
              <a:t>？</a:t>
            </a:r>
            <a:endParaRPr lang="zh-CN" altLang="en-US" sz="2400" b="1" dirty="0">
              <a:solidFill>
                <a:srgbClr val="0066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Type Casting in C</a:t>
            </a:r>
            <a:endParaRPr lang="zh-CN" altLang="en-US" dirty="0"/>
          </a:p>
        </p:txBody>
      </p:sp>
      <p:sp>
        <p:nvSpPr>
          <p:cNvPr id="3" name="内容占位符 2"/>
          <p:cNvSpPr>
            <a:spLocks noGrp="1"/>
          </p:cNvSpPr>
          <p:nvPr>
            <p:ph idx="1"/>
          </p:nvPr>
        </p:nvSpPr>
        <p:spPr>
          <a:xfrm>
            <a:off x="468313" y="836613"/>
            <a:ext cx="4903787" cy="3525837"/>
          </a:xfrm>
        </p:spPr>
        <p:txBody>
          <a:bodyPr/>
          <a:lstStyle/>
          <a:p>
            <a:pPr>
              <a:buNone/>
            </a:pPr>
            <a:r>
              <a:rPr lang="en-US" altLang="zh-CN" b="0" dirty="0" smtClean="0">
                <a:solidFill>
                  <a:srgbClr val="00B050"/>
                </a:solidFill>
              </a:rPr>
              <a:t>float</a:t>
            </a:r>
            <a:r>
              <a:rPr lang="en-US" altLang="zh-CN" b="0" dirty="0" smtClean="0"/>
              <a:t> quotient;</a:t>
            </a:r>
          </a:p>
          <a:p>
            <a:pPr>
              <a:buNone/>
            </a:pPr>
            <a:r>
              <a:rPr lang="en-US" altLang="zh-CN" b="0" dirty="0" err="1" smtClean="0">
                <a:solidFill>
                  <a:srgbClr val="00B050"/>
                </a:solidFill>
              </a:rPr>
              <a:t>int</a:t>
            </a:r>
            <a:r>
              <a:rPr lang="en-US" altLang="zh-CN" b="0" dirty="0" smtClean="0"/>
              <a:t> dividend=30, divisor=50;</a:t>
            </a:r>
          </a:p>
          <a:p>
            <a:pPr>
              <a:buNone/>
            </a:pPr>
            <a:r>
              <a:rPr lang="en-US" altLang="zh-CN" b="0" dirty="0" smtClean="0"/>
              <a:t>quotient = dividend / divisor;</a:t>
            </a:r>
          </a:p>
          <a:p>
            <a:r>
              <a:rPr lang="en-US" altLang="zh-CN" b="0" dirty="0" smtClean="0"/>
              <a:t>quotient = ?</a:t>
            </a:r>
          </a:p>
          <a:p>
            <a:endParaRPr lang="en-US" altLang="zh-CN" b="0" dirty="0" smtClean="0"/>
          </a:p>
          <a:p>
            <a:pPr>
              <a:buNone/>
            </a:pPr>
            <a:r>
              <a:rPr lang="en-US" altLang="zh-CN" b="0" dirty="0" smtClean="0"/>
              <a:t>quotient = (float) dividend / divisor;</a:t>
            </a:r>
          </a:p>
          <a:p>
            <a:r>
              <a:rPr lang="en-US" altLang="zh-CN" b="0" dirty="0" smtClean="0"/>
              <a:t>quotient = ?</a:t>
            </a:r>
          </a:p>
        </p:txBody>
      </p:sp>
      <p:sp>
        <p:nvSpPr>
          <p:cNvPr id="4" name="TextBox 3"/>
          <p:cNvSpPr txBox="1"/>
          <p:nvPr/>
        </p:nvSpPr>
        <p:spPr>
          <a:xfrm>
            <a:off x="5372100" y="1059240"/>
            <a:ext cx="3778250" cy="1569660"/>
          </a:xfrm>
          <a:prstGeom prst="rect">
            <a:avLst/>
          </a:prstGeom>
          <a:noFill/>
        </p:spPr>
        <p:txBody>
          <a:bodyPr wrap="square" rtlCol="0">
            <a:spAutoFit/>
          </a:bodyPr>
          <a:lstStyle/>
          <a:p>
            <a:r>
              <a:rPr lang="en-US" altLang="zh-CN" sz="2400" dirty="0" smtClean="0">
                <a:solidFill>
                  <a:srgbClr val="FF0000"/>
                </a:solidFill>
              </a:rPr>
              <a:t>The result of the division-an integer - will be converted to float before being stored in quotient.</a:t>
            </a:r>
          </a:p>
        </p:txBody>
      </p:sp>
      <p:sp>
        <p:nvSpPr>
          <p:cNvPr id="5" name="TextBox 4"/>
          <p:cNvSpPr txBox="1"/>
          <p:nvPr/>
        </p:nvSpPr>
        <p:spPr>
          <a:xfrm>
            <a:off x="5372100" y="3206571"/>
            <a:ext cx="3778250" cy="1200329"/>
          </a:xfrm>
          <a:prstGeom prst="rect">
            <a:avLst/>
          </a:prstGeom>
          <a:noFill/>
        </p:spPr>
        <p:txBody>
          <a:bodyPr wrap="square" rtlCol="0">
            <a:spAutoFit/>
          </a:bodyPr>
          <a:lstStyle/>
          <a:p>
            <a:r>
              <a:rPr lang="en-US" altLang="zh-CN" sz="2400" dirty="0" smtClean="0">
                <a:solidFill>
                  <a:srgbClr val="0066FF"/>
                </a:solidFill>
              </a:rPr>
              <a:t>The dividend and divisor are converted to float before the division.</a:t>
            </a:r>
          </a:p>
        </p:txBody>
      </p:sp>
      <p:sp>
        <p:nvSpPr>
          <p:cNvPr id="6" name="内容占位符 2"/>
          <p:cNvSpPr txBox="1">
            <a:spLocks/>
          </p:cNvSpPr>
          <p:nvPr/>
        </p:nvSpPr>
        <p:spPr bwMode="auto">
          <a:xfrm>
            <a:off x="527050" y="5029200"/>
            <a:ext cx="8178799" cy="1289050"/>
          </a:xfrm>
          <a:prstGeom prst="rect">
            <a:avLst/>
          </a:prstGeom>
          <a:noFill/>
          <a:ln w="9525">
            <a:solidFill>
              <a:srgbClr val="0033CC"/>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15000"/>
              </a:lnSpc>
              <a:spcBef>
                <a:spcPct val="20000"/>
              </a:spcBef>
              <a:spcAft>
                <a:spcPct val="0"/>
              </a:spcAft>
              <a:buClrTx/>
              <a:buSzTx/>
              <a:buFontTx/>
              <a:buNone/>
              <a:tabLst/>
              <a:defRPr/>
            </a:pPr>
            <a:r>
              <a:rPr kumimoji="0" lang="en-US" altLang="zh-CN" sz="2400" b="1" i="0" u="sng" strike="noStrike" kern="0" cap="none" spc="0" normalizeH="0" baseline="0" noProof="0" dirty="0" smtClean="0">
                <a:ln>
                  <a:noFill/>
                </a:ln>
                <a:solidFill>
                  <a:srgbClr val="0066FF"/>
                </a:solidFill>
                <a:effectLst/>
                <a:uLnTx/>
                <a:uFillTx/>
                <a:latin typeface="+mn-lt"/>
                <a:ea typeface="+mn-ea"/>
                <a:cs typeface="+mn-cs"/>
              </a:rPr>
              <a:t>C regards type cast </a:t>
            </a:r>
            <a:r>
              <a:rPr kumimoji="0" lang="en-US" altLang="zh-CN" sz="2400" b="1" i="0" u="sng" strike="noStrike" kern="0" cap="none" spc="0" normalizeH="0" baseline="0" noProof="0" dirty="0" smtClean="0">
                <a:ln>
                  <a:noFill/>
                </a:ln>
                <a:solidFill>
                  <a:srgbClr val="00B050"/>
                </a:solidFill>
                <a:effectLst/>
                <a:uLnTx/>
                <a:uFillTx/>
                <a:latin typeface="+mn-lt"/>
                <a:ea typeface="+mn-ea"/>
                <a:cs typeface="+mn-cs"/>
              </a:rPr>
              <a:t>(type-name)</a:t>
            </a:r>
            <a:r>
              <a:rPr kumimoji="0" lang="en-US" altLang="zh-CN" sz="2400" b="1" i="0" u="sng" strike="noStrike" kern="0" cap="none" spc="0" normalizeH="0" baseline="0" noProof="0" dirty="0" smtClean="0">
                <a:ln>
                  <a:noFill/>
                </a:ln>
                <a:solidFill>
                  <a:srgbClr val="0066FF"/>
                </a:solidFill>
                <a:effectLst/>
                <a:uLnTx/>
                <a:uFillTx/>
                <a:latin typeface="+mn-lt"/>
                <a:ea typeface="+mn-ea"/>
                <a:cs typeface="+mn-cs"/>
              </a:rPr>
              <a:t> as a unary operator, which has higher precedence than binary operator.</a:t>
            </a:r>
            <a:endParaRPr kumimoji="0" lang="zh-CN" altLang="en-US" sz="2400" b="1" i="0" u="sng" strike="noStrike" kern="0" cap="none" spc="0" normalizeH="0" baseline="0" noProof="0" dirty="0">
              <a:ln>
                <a:noFill/>
              </a:ln>
              <a:solidFill>
                <a:srgbClr val="0066FF"/>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blinds(horizontal)">
                                      <p:cBhvr>
                                        <p:cTn id="15" dur="500"/>
                                        <p:tgtEl>
                                          <p:spTgt spid="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blinds(horizontal)">
                                      <p:cBhvr>
                                        <p:cTn id="2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476250" y="38100"/>
            <a:ext cx="8229600" cy="600075"/>
          </a:xfrm>
        </p:spPr>
        <p:txBody>
          <a:bodyPr lIns="63500" tIns="25400" rIns="63500" bIns="25400" anchor="t">
            <a:spAutoFit/>
          </a:bodyPr>
          <a:lstStyle/>
          <a:p>
            <a:r>
              <a:rPr lang="zh-CN" altLang="en-US" sz="3600" smtClean="0">
                <a:latin typeface="微软雅黑" pitchFamily="34" charset="-122"/>
                <a:ea typeface="微软雅黑" pitchFamily="34" charset="-122"/>
              </a:rPr>
              <a:t>整数的位扩展</a:t>
            </a:r>
          </a:p>
        </p:txBody>
      </p:sp>
      <p:sp>
        <p:nvSpPr>
          <p:cNvPr id="5123" name="Rectangle 3"/>
          <p:cNvSpPr>
            <a:spLocks noGrp="1" noChangeArrowheads="1"/>
          </p:cNvSpPr>
          <p:nvPr>
            <p:ph type="body" idx="4294967295"/>
          </p:nvPr>
        </p:nvSpPr>
        <p:spPr>
          <a:xfrm>
            <a:off x="404813" y="736600"/>
            <a:ext cx="6597650" cy="3571875"/>
          </a:xfrm>
        </p:spPr>
        <p:txBody>
          <a:bodyPr lIns="63500" tIns="25400" rIns="63500" bIns="25400">
            <a:spAutoFit/>
          </a:bodyPr>
          <a:lstStyle/>
          <a:p>
            <a:pPr marL="685800" lvl="1" indent="-190500">
              <a:lnSpc>
                <a:spcPct val="100000"/>
              </a:lnSpc>
              <a:buFontTx/>
              <a:buNone/>
            </a:pPr>
            <a:r>
              <a:rPr lang="zh-CN" altLang="en-US" sz="2200" dirty="0" smtClean="0">
                <a:solidFill>
                  <a:srgbClr val="CC0000"/>
                </a:solidFill>
                <a:latin typeface="微软雅黑" pitchFamily="34" charset="-122"/>
                <a:ea typeface="微软雅黑" pitchFamily="34" charset="-122"/>
              </a:rPr>
              <a:t>例</a:t>
            </a:r>
            <a:r>
              <a:rPr lang="en-US" altLang="zh-CN" sz="2200" dirty="0" smtClean="0">
                <a:solidFill>
                  <a:srgbClr val="CC0000"/>
                </a:solidFill>
                <a:latin typeface="微软雅黑" pitchFamily="34" charset="-122"/>
                <a:ea typeface="微软雅黑" pitchFamily="34" charset="-122"/>
              </a:rPr>
              <a:t>1</a:t>
            </a:r>
            <a:r>
              <a:rPr lang="zh-CN" altLang="en-US" sz="2200" dirty="0" smtClean="0">
                <a:solidFill>
                  <a:srgbClr val="CC0000"/>
                </a:solidFill>
                <a:latin typeface="微软雅黑" pitchFamily="34" charset="-122"/>
                <a:ea typeface="微软雅黑" pitchFamily="34" charset="-122"/>
              </a:rPr>
              <a:t>（扩展操作）：</a:t>
            </a:r>
          </a:p>
          <a:p>
            <a:pPr marL="685800" lvl="1" indent="-190500">
              <a:lnSpc>
                <a:spcPct val="100000"/>
              </a:lnSpc>
              <a:buFontTx/>
              <a:buNone/>
            </a:pPr>
            <a:r>
              <a:rPr lang="zh-CN" altLang="en-US" sz="2200" dirty="0" smtClean="0">
                <a:solidFill>
                  <a:srgbClr val="CC0000"/>
                </a:solidFill>
                <a:latin typeface="微软雅黑" pitchFamily="34" charset="-122"/>
                <a:ea typeface="微软雅黑" pitchFamily="34" charset="-122"/>
              </a:rPr>
              <a:t>  在大端机上输出</a:t>
            </a:r>
            <a:r>
              <a:rPr lang="en-US" altLang="zh-CN" sz="2200" dirty="0" err="1" smtClean="0">
                <a:solidFill>
                  <a:srgbClr val="CC0000"/>
                </a:solidFill>
                <a:latin typeface="微软雅黑" pitchFamily="34" charset="-122"/>
                <a:ea typeface="微软雅黑" pitchFamily="34" charset="-122"/>
              </a:rPr>
              <a:t>si</a:t>
            </a:r>
            <a:r>
              <a:rPr lang="en-US" altLang="zh-CN" sz="2200" dirty="0" smtClean="0">
                <a:solidFill>
                  <a:srgbClr val="CC0000"/>
                </a:solidFill>
                <a:latin typeface="微软雅黑" pitchFamily="34" charset="-122"/>
                <a:ea typeface="微软雅黑" pitchFamily="34" charset="-122"/>
              </a:rPr>
              <a:t>, </a:t>
            </a:r>
            <a:r>
              <a:rPr lang="en-US" altLang="zh-CN" sz="2200" dirty="0" err="1" smtClean="0">
                <a:solidFill>
                  <a:srgbClr val="CC0000"/>
                </a:solidFill>
                <a:latin typeface="微软雅黑" pitchFamily="34" charset="-122"/>
                <a:ea typeface="微软雅黑" pitchFamily="34" charset="-122"/>
              </a:rPr>
              <a:t>usi</a:t>
            </a:r>
            <a:r>
              <a:rPr lang="en-US" altLang="zh-CN" sz="2200" dirty="0" smtClean="0">
                <a:solidFill>
                  <a:srgbClr val="CC0000"/>
                </a:solidFill>
                <a:latin typeface="微软雅黑" pitchFamily="34" charset="-122"/>
                <a:ea typeface="微软雅黑" pitchFamily="34" charset="-122"/>
              </a:rPr>
              <a:t>, </a:t>
            </a:r>
            <a:r>
              <a:rPr lang="en-US" altLang="zh-CN" sz="2200" dirty="0" err="1" smtClean="0">
                <a:solidFill>
                  <a:srgbClr val="CC0000"/>
                </a:solidFill>
                <a:latin typeface="微软雅黑" pitchFamily="34" charset="-122"/>
                <a:ea typeface="微软雅黑" pitchFamily="34" charset="-122"/>
              </a:rPr>
              <a:t>i</a:t>
            </a:r>
            <a:r>
              <a:rPr lang="en-US" altLang="zh-CN" sz="2200" dirty="0" smtClean="0">
                <a:solidFill>
                  <a:srgbClr val="CC0000"/>
                </a:solidFill>
                <a:latin typeface="微软雅黑" pitchFamily="34" charset="-122"/>
                <a:ea typeface="微软雅黑" pitchFamily="34" charset="-122"/>
              </a:rPr>
              <a:t>, </a:t>
            </a:r>
            <a:r>
              <a:rPr lang="en-US" altLang="zh-CN" sz="2200" dirty="0" err="1" smtClean="0">
                <a:solidFill>
                  <a:srgbClr val="CC0000"/>
                </a:solidFill>
                <a:latin typeface="微软雅黑" pitchFamily="34" charset="-122"/>
                <a:ea typeface="微软雅黑" pitchFamily="34" charset="-122"/>
              </a:rPr>
              <a:t>ui</a:t>
            </a:r>
            <a:r>
              <a:rPr lang="zh-CN" altLang="en-US" sz="2200" dirty="0" smtClean="0">
                <a:solidFill>
                  <a:srgbClr val="CC0000"/>
                </a:solidFill>
                <a:latin typeface="微软雅黑" pitchFamily="34" charset="-122"/>
                <a:ea typeface="微软雅黑" pitchFamily="34" charset="-122"/>
              </a:rPr>
              <a:t>的十进制和十六进制值是什么？</a:t>
            </a:r>
            <a:endParaRPr lang="en-US" altLang="zh-CN" sz="2200" dirty="0" smtClean="0">
              <a:solidFill>
                <a:srgbClr val="CC0000"/>
              </a:solidFill>
              <a:latin typeface="微软雅黑" pitchFamily="34" charset="-122"/>
              <a:ea typeface="微软雅黑" pitchFamily="34" charset="-122"/>
            </a:endParaRPr>
          </a:p>
          <a:p>
            <a:pPr marL="685800" lvl="1" indent="-190500">
              <a:lnSpc>
                <a:spcPct val="100000"/>
              </a:lnSpc>
              <a:buFontTx/>
              <a:buNone/>
            </a:pPr>
            <a:endParaRPr lang="en-US" altLang="zh-CN" sz="2200" dirty="0" smtClean="0">
              <a:solidFill>
                <a:srgbClr val="CC0000"/>
              </a:solidFill>
              <a:latin typeface="微软雅黑" pitchFamily="34" charset="-122"/>
              <a:ea typeface="微软雅黑" pitchFamily="34" charset="-122"/>
            </a:endParaRPr>
          </a:p>
          <a:p>
            <a:pPr marL="685800" lvl="1" indent="-190500">
              <a:lnSpc>
                <a:spcPct val="100000"/>
              </a:lnSpc>
              <a:spcBef>
                <a:spcPct val="0"/>
              </a:spcBef>
              <a:buFontTx/>
              <a:buNone/>
            </a:pPr>
            <a:r>
              <a:rPr lang="en-US" altLang="zh-CN" sz="2200" dirty="0" smtClean="0">
                <a:latin typeface="微软雅黑" pitchFamily="34" charset="-122"/>
                <a:ea typeface="微软雅黑" pitchFamily="34" charset="-122"/>
              </a:rPr>
              <a:t>short  </a:t>
            </a:r>
            <a:r>
              <a:rPr lang="en-US" altLang="zh-CN" sz="2200" dirty="0" err="1" smtClean="0">
                <a:latin typeface="微软雅黑" pitchFamily="34" charset="-122"/>
                <a:ea typeface="微软雅黑" pitchFamily="34" charset="-122"/>
              </a:rPr>
              <a:t>si</a:t>
            </a:r>
            <a:r>
              <a:rPr lang="en-US" altLang="zh-CN" sz="2200" dirty="0" smtClean="0">
                <a:latin typeface="微软雅黑" pitchFamily="34" charset="-122"/>
                <a:ea typeface="微软雅黑" pitchFamily="34" charset="-122"/>
              </a:rPr>
              <a:t> = -32768;</a:t>
            </a:r>
          </a:p>
          <a:p>
            <a:pPr marL="685800" lvl="1" indent="-190500">
              <a:lnSpc>
                <a:spcPct val="100000"/>
              </a:lnSpc>
              <a:spcBef>
                <a:spcPct val="0"/>
              </a:spcBef>
              <a:buFontTx/>
              <a:buNone/>
            </a:pPr>
            <a:r>
              <a:rPr lang="en-US" altLang="zh-CN" sz="2200" dirty="0" smtClean="0">
                <a:latin typeface="微软雅黑" pitchFamily="34" charset="-122"/>
                <a:ea typeface="微软雅黑" pitchFamily="34" charset="-122"/>
              </a:rPr>
              <a:t>unsigned short  </a:t>
            </a:r>
            <a:r>
              <a:rPr lang="en-US" altLang="zh-CN" sz="2200" dirty="0" err="1" smtClean="0">
                <a:latin typeface="微软雅黑" pitchFamily="34" charset="-122"/>
                <a:ea typeface="微软雅黑" pitchFamily="34" charset="-122"/>
              </a:rPr>
              <a:t>usi</a:t>
            </a:r>
            <a:r>
              <a:rPr lang="en-US" altLang="zh-CN" sz="2200" dirty="0" smtClean="0">
                <a:latin typeface="微软雅黑" pitchFamily="34" charset="-122"/>
                <a:ea typeface="微软雅黑" pitchFamily="34" charset="-122"/>
              </a:rPr>
              <a:t> = </a:t>
            </a:r>
            <a:r>
              <a:rPr lang="en-US" altLang="zh-CN" sz="2200" dirty="0" err="1" smtClean="0">
                <a:latin typeface="微软雅黑" pitchFamily="34" charset="-122"/>
                <a:ea typeface="微软雅黑" pitchFamily="34" charset="-122"/>
              </a:rPr>
              <a:t>si</a:t>
            </a:r>
            <a:r>
              <a:rPr lang="en-US" altLang="zh-CN" sz="2200" dirty="0" smtClean="0">
                <a:latin typeface="微软雅黑" pitchFamily="34" charset="-122"/>
                <a:ea typeface="微软雅黑" pitchFamily="34" charset="-122"/>
              </a:rPr>
              <a:t>;</a:t>
            </a:r>
          </a:p>
          <a:p>
            <a:pPr marL="685800" lvl="1" indent="-190500">
              <a:lnSpc>
                <a:spcPct val="100000"/>
              </a:lnSpc>
              <a:spcBef>
                <a:spcPct val="0"/>
              </a:spcBef>
              <a:buFontTx/>
              <a:buNone/>
            </a:pPr>
            <a:r>
              <a:rPr lang="en-US" altLang="zh-CN" sz="2200" dirty="0" err="1" smtClean="0">
                <a:latin typeface="微软雅黑" pitchFamily="34" charset="-122"/>
                <a:ea typeface="微软雅黑" pitchFamily="34" charset="-122"/>
              </a:rPr>
              <a:t>int</a:t>
            </a:r>
            <a:r>
              <a:rPr lang="en-US" altLang="zh-CN" sz="2200" dirty="0" smtClean="0">
                <a:latin typeface="微软雅黑" pitchFamily="34" charset="-122"/>
                <a:ea typeface="微软雅黑" pitchFamily="34" charset="-122"/>
              </a:rPr>
              <a:t>  </a:t>
            </a:r>
            <a:r>
              <a:rPr lang="en-US" altLang="zh-CN" sz="2200" dirty="0" err="1" smtClean="0">
                <a:latin typeface="微软雅黑" pitchFamily="34" charset="-122"/>
                <a:ea typeface="微软雅黑" pitchFamily="34" charset="-122"/>
              </a:rPr>
              <a:t>i</a:t>
            </a:r>
            <a:r>
              <a:rPr lang="en-US" altLang="zh-CN" sz="2200" dirty="0" smtClean="0">
                <a:latin typeface="微软雅黑" pitchFamily="34" charset="-122"/>
                <a:ea typeface="微软雅黑" pitchFamily="34" charset="-122"/>
              </a:rPr>
              <a:t> = </a:t>
            </a:r>
            <a:r>
              <a:rPr lang="en-US" altLang="zh-CN" sz="2200" dirty="0" err="1" smtClean="0">
                <a:latin typeface="微软雅黑" pitchFamily="34" charset="-122"/>
                <a:ea typeface="微软雅黑" pitchFamily="34" charset="-122"/>
              </a:rPr>
              <a:t>si</a:t>
            </a:r>
            <a:r>
              <a:rPr lang="en-US" altLang="zh-CN" sz="2200" dirty="0" smtClean="0">
                <a:latin typeface="微软雅黑" pitchFamily="34" charset="-122"/>
                <a:ea typeface="微软雅黑" pitchFamily="34" charset="-122"/>
              </a:rPr>
              <a:t>;</a:t>
            </a:r>
          </a:p>
          <a:p>
            <a:pPr marL="685800" lvl="1" indent="-190500">
              <a:lnSpc>
                <a:spcPct val="100000"/>
              </a:lnSpc>
              <a:spcBef>
                <a:spcPct val="0"/>
              </a:spcBef>
              <a:buFontTx/>
              <a:buNone/>
            </a:pPr>
            <a:r>
              <a:rPr lang="en-US" altLang="zh-CN" sz="2200" dirty="0" err="1" smtClean="0">
                <a:latin typeface="微软雅黑" pitchFamily="34" charset="-122"/>
                <a:ea typeface="微软雅黑" pitchFamily="34" charset="-122"/>
              </a:rPr>
              <a:t>int</a:t>
            </a:r>
            <a:r>
              <a:rPr lang="en-US" altLang="zh-CN" sz="2200" dirty="0" smtClean="0">
                <a:latin typeface="微软雅黑" pitchFamily="34" charset="-122"/>
                <a:ea typeface="微软雅黑" pitchFamily="34" charset="-122"/>
              </a:rPr>
              <a:t>  i2 = </a:t>
            </a:r>
            <a:r>
              <a:rPr lang="en-US" altLang="zh-CN" sz="2200" dirty="0" err="1" smtClean="0">
                <a:latin typeface="微软雅黑" pitchFamily="34" charset="-122"/>
                <a:ea typeface="微软雅黑" pitchFamily="34" charset="-122"/>
              </a:rPr>
              <a:t>usi</a:t>
            </a:r>
            <a:r>
              <a:rPr lang="zh-CN" altLang="en-US" sz="2200" dirty="0" smtClean="0">
                <a:latin typeface="微软雅黑" pitchFamily="34" charset="-122"/>
                <a:ea typeface="微软雅黑" pitchFamily="34" charset="-122"/>
              </a:rPr>
              <a:t>；</a:t>
            </a:r>
            <a:endParaRPr lang="en-US" altLang="zh-CN" sz="2200" dirty="0" smtClean="0">
              <a:latin typeface="微软雅黑" pitchFamily="34" charset="-122"/>
              <a:ea typeface="微软雅黑" pitchFamily="34" charset="-122"/>
            </a:endParaRPr>
          </a:p>
          <a:p>
            <a:pPr marL="685800" lvl="1" indent="-190500">
              <a:lnSpc>
                <a:spcPct val="100000"/>
              </a:lnSpc>
              <a:spcBef>
                <a:spcPct val="0"/>
              </a:spcBef>
              <a:buFontTx/>
              <a:buNone/>
            </a:pPr>
            <a:r>
              <a:rPr lang="en-US" altLang="zh-CN" sz="2200" dirty="0" err="1" smtClean="0">
                <a:latin typeface="微软雅黑" pitchFamily="34" charset="-122"/>
                <a:ea typeface="微软雅黑" pitchFamily="34" charset="-122"/>
              </a:rPr>
              <a:t>unsingned</a:t>
            </a:r>
            <a:r>
              <a:rPr lang="en-US" altLang="zh-CN" sz="2200" dirty="0" smtClean="0">
                <a:latin typeface="微软雅黑" pitchFamily="34" charset="-122"/>
                <a:ea typeface="微软雅黑" pitchFamily="34" charset="-122"/>
              </a:rPr>
              <a:t>  </a:t>
            </a:r>
            <a:r>
              <a:rPr lang="en-US" altLang="zh-CN" sz="2200" dirty="0" err="1" smtClean="0">
                <a:latin typeface="微软雅黑" pitchFamily="34" charset="-122"/>
                <a:ea typeface="微软雅黑" pitchFamily="34" charset="-122"/>
              </a:rPr>
              <a:t>ui</a:t>
            </a:r>
            <a:r>
              <a:rPr lang="en-US" altLang="zh-CN" sz="2200" dirty="0" smtClean="0">
                <a:latin typeface="微软雅黑" pitchFamily="34" charset="-122"/>
                <a:ea typeface="微软雅黑" pitchFamily="34" charset="-122"/>
              </a:rPr>
              <a:t> = </a:t>
            </a:r>
            <a:r>
              <a:rPr lang="en-US" altLang="zh-CN" sz="2200" dirty="0" err="1" smtClean="0">
                <a:latin typeface="微软雅黑" pitchFamily="34" charset="-122"/>
                <a:ea typeface="微软雅黑" pitchFamily="34" charset="-122"/>
              </a:rPr>
              <a:t>usi</a:t>
            </a:r>
            <a:r>
              <a:rPr lang="en-US" altLang="zh-CN" sz="2200" dirty="0" smtClean="0">
                <a:latin typeface="微软雅黑" pitchFamily="34" charset="-122"/>
                <a:ea typeface="微软雅黑" pitchFamily="34" charset="-122"/>
              </a:rPr>
              <a:t> ;</a:t>
            </a:r>
          </a:p>
          <a:p>
            <a:pPr marL="685800" lvl="1" indent="-190500">
              <a:lnSpc>
                <a:spcPct val="100000"/>
              </a:lnSpc>
              <a:spcBef>
                <a:spcPct val="0"/>
              </a:spcBef>
              <a:buFontTx/>
              <a:buNone/>
            </a:pPr>
            <a:r>
              <a:rPr lang="en-US" altLang="zh-CN" sz="2200" dirty="0" err="1" smtClean="0">
                <a:latin typeface="微软雅黑" pitchFamily="34" charset="-122"/>
                <a:ea typeface="微软雅黑" pitchFamily="34" charset="-122"/>
              </a:rPr>
              <a:t>unsingned</a:t>
            </a:r>
            <a:r>
              <a:rPr lang="en-US" altLang="zh-CN" sz="2200" dirty="0" smtClean="0">
                <a:latin typeface="微软雅黑" pitchFamily="34" charset="-122"/>
                <a:ea typeface="微软雅黑" pitchFamily="34" charset="-122"/>
              </a:rPr>
              <a:t>  ui2 = </a:t>
            </a:r>
            <a:r>
              <a:rPr lang="en-US" altLang="zh-CN" sz="2200" dirty="0" err="1" smtClean="0">
                <a:latin typeface="微软雅黑" pitchFamily="34" charset="-122"/>
                <a:ea typeface="微软雅黑" pitchFamily="34" charset="-122"/>
              </a:rPr>
              <a:t>si</a:t>
            </a:r>
            <a:r>
              <a:rPr lang="en-US" altLang="zh-CN" sz="2200" dirty="0" smtClean="0">
                <a:latin typeface="微软雅黑" pitchFamily="34" charset="-122"/>
                <a:ea typeface="微软雅黑" pitchFamily="34" charset="-122"/>
              </a:rPr>
              <a:t> ;</a:t>
            </a:r>
            <a:endParaRPr lang="zh-CN" altLang="en-US" sz="2200" dirty="0" smtClean="0">
              <a:latin typeface="微软雅黑" pitchFamily="34" charset="-122"/>
              <a:ea typeface="微软雅黑" pitchFamily="34" charset="-122"/>
            </a:endParaRPr>
          </a:p>
        </p:txBody>
      </p:sp>
      <p:sp>
        <p:nvSpPr>
          <p:cNvPr id="5124" name="Rectangle 4"/>
          <p:cNvSpPr>
            <a:spLocks noChangeArrowheads="1"/>
          </p:cNvSpPr>
          <p:nvPr/>
        </p:nvSpPr>
        <p:spPr bwMode="auto">
          <a:xfrm>
            <a:off x="476250" y="4418013"/>
            <a:ext cx="4760913" cy="2308225"/>
          </a:xfrm>
          <a:prstGeom prst="rect">
            <a:avLst/>
          </a:prstGeom>
          <a:noFill/>
          <a:ln w="12700">
            <a:noFill/>
            <a:miter lim="800000"/>
            <a:headEnd/>
            <a:tailEnd/>
          </a:ln>
        </p:spPr>
        <p:txBody>
          <a:bodyPr wrap="none" anchor="ctr">
            <a:spAutoFit/>
          </a:bodyPr>
          <a:lstStyle/>
          <a:p>
            <a:pPr indent="288925" eaLnBrk="0" hangingPunct="0"/>
            <a:r>
              <a:rPr lang="pt-BR" altLang="zh-CN" sz="2400" b="1" dirty="0"/>
              <a:t>si = -32768    80 00</a:t>
            </a:r>
            <a:endParaRPr lang="en-US" altLang="zh-CN" sz="2400" b="1" dirty="0"/>
          </a:p>
          <a:p>
            <a:pPr indent="288925" eaLnBrk="0" hangingPunct="0"/>
            <a:r>
              <a:rPr lang="pt-BR" altLang="zh-CN" sz="2400" b="1" dirty="0"/>
              <a:t>usi = 32768   80 00</a:t>
            </a:r>
            <a:endParaRPr lang="en-US" altLang="zh-CN" sz="2400" b="1" dirty="0"/>
          </a:p>
          <a:p>
            <a:pPr indent="288925" eaLnBrk="0" hangingPunct="0"/>
            <a:r>
              <a:rPr lang="en-US" altLang="zh-CN" sz="2400" b="1" dirty="0" err="1"/>
              <a:t>i</a:t>
            </a:r>
            <a:r>
              <a:rPr lang="en-US" altLang="zh-CN" sz="2400" b="1" dirty="0"/>
              <a:t> = -32768     FF </a:t>
            </a:r>
            <a:r>
              <a:rPr lang="en-US" altLang="zh-CN" sz="2400" b="1" dirty="0" err="1"/>
              <a:t>FF</a:t>
            </a:r>
            <a:r>
              <a:rPr lang="en-US" altLang="zh-CN" sz="2400" b="1" dirty="0"/>
              <a:t> 80 00</a:t>
            </a:r>
          </a:p>
          <a:p>
            <a:pPr indent="288925" eaLnBrk="0" hangingPunct="0"/>
            <a:r>
              <a:rPr lang="en-US" altLang="zh-CN" sz="2400" b="1" dirty="0"/>
              <a:t>i2=32768      00 00 80 00</a:t>
            </a:r>
          </a:p>
          <a:p>
            <a:pPr indent="288925" eaLnBrk="0" hangingPunct="0"/>
            <a:r>
              <a:rPr lang="en-US" altLang="zh-CN" sz="2400" b="1" dirty="0" err="1"/>
              <a:t>ui</a:t>
            </a:r>
            <a:r>
              <a:rPr lang="en-US" altLang="zh-CN" sz="2400" b="1" dirty="0"/>
              <a:t> = 32768    00 00 80 00</a:t>
            </a:r>
          </a:p>
          <a:p>
            <a:pPr indent="288925" eaLnBrk="0" hangingPunct="0"/>
            <a:r>
              <a:rPr lang="en-US" altLang="zh-CN" sz="2400" b="1" dirty="0"/>
              <a:t>ui2 = 4294934528 FF </a:t>
            </a:r>
            <a:r>
              <a:rPr lang="en-US" altLang="zh-CN" sz="2400" b="1" dirty="0" err="1"/>
              <a:t>FF</a:t>
            </a:r>
            <a:r>
              <a:rPr lang="en-US" altLang="zh-CN" sz="2400" b="1" dirty="0"/>
              <a:t> 80 00</a:t>
            </a:r>
          </a:p>
        </p:txBody>
      </p:sp>
      <p:sp>
        <p:nvSpPr>
          <p:cNvPr id="5125" name="矩形 1"/>
          <p:cNvSpPr>
            <a:spLocks noChangeArrowheads="1"/>
          </p:cNvSpPr>
          <p:nvPr/>
        </p:nvSpPr>
        <p:spPr bwMode="auto">
          <a:xfrm>
            <a:off x="4572000" y="2543175"/>
            <a:ext cx="4572000" cy="646331"/>
          </a:xfrm>
          <a:prstGeom prst="rect">
            <a:avLst/>
          </a:prstGeom>
          <a:noFill/>
          <a:ln w="9525">
            <a:noFill/>
            <a:miter lim="800000"/>
            <a:headEnd/>
            <a:tailEnd/>
          </a:ln>
        </p:spPr>
        <p:txBody>
          <a:bodyPr>
            <a:spAutoFit/>
          </a:bodyPr>
          <a:lstStyle/>
          <a:p>
            <a:r>
              <a:rPr lang="en-US" altLang="zh-CN" b="1" dirty="0">
                <a:solidFill>
                  <a:srgbClr val="C00000"/>
                </a:solidFill>
                <a:latin typeface="微软雅黑" pitchFamily="34" charset="-122"/>
                <a:ea typeface="微软雅黑" pitchFamily="34" charset="-122"/>
              </a:rPr>
              <a:t>0 </a:t>
            </a:r>
            <a:r>
              <a:rPr lang="zh-CN" altLang="en-US" b="1" dirty="0">
                <a:solidFill>
                  <a:srgbClr val="C00000"/>
                </a:solidFill>
                <a:latin typeface="微软雅黑" pitchFamily="34" charset="-122"/>
                <a:ea typeface="微软雅黑" pitchFamily="34" charset="-122"/>
              </a:rPr>
              <a:t>扩展用于无符号数</a:t>
            </a:r>
            <a:r>
              <a:rPr lang="zh-CN" altLang="en-US" b="1" dirty="0" smtClean="0">
                <a:solidFill>
                  <a:srgbClr val="C00000"/>
                </a:solidFill>
                <a:latin typeface="微软雅黑" pitchFamily="34" charset="-122"/>
                <a:ea typeface="微软雅黑" pitchFamily="34" charset="-122"/>
              </a:rPr>
              <a:t>，在</a:t>
            </a:r>
            <a:r>
              <a:rPr lang="zh-CN" altLang="en-US" b="1" dirty="0">
                <a:solidFill>
                  <a:srgbClr val="C00000"/>
                </a:solidFill>
                <a:latin typeface="微软雅黑" pitchFamily="34" charset="-122"/>
                <a:ea typeface="微软雅黑" pitchFamily="34" charset="-122"/>
              </a:rPr>
              <a:t>短的无符号数前面添加足够的</a:t>
            </a:r>
            <a:r>
              <a:rPr lang="en-US" altLang="zh-CN" b="1" dirty="0">
                <a:solidFill>
                  <a:srgbClr val="C00000"/>
                </a:solidFill>
                <a:latin typeface="微软雅黑" pitchFamily="34" charset="-122"/>
                <a:ea typeface="微软雅黑" pitchFamily="34" charset="-122"/>
              </a:rPr>
              <a:t>0 </a:t>
            </a:r>
            <a:endParaRPr lang="zh-CN" altLang="en-US" b="1" dirty="0">
              <a:solidFill>
                <a:srgbClr val="C00000"/>
              </a:solidFill>
              <a:latin typeface="微软雅黑" pitchFamily="34" charset="-122"/>
              <a:ea typeface="微软雅黑" pitchFamily="34" charset="-122"/>
            </a:endParaRPr>
          </a:p>
        </p:txBody>
      </p:sp>
      <p:sp>
        <p:nvSpPr>
          <p:cNvPr id="5126" name="矩形 2"/>
          <p:cNvSpPr>
            <a:spLocks noChangeArrowheads="1"/>
          </p:cNvSpPr>
          <p:nvPr/>
        </p:nvSpPr>
        <p:spPr bwMode="auto">
          <a:xfrm>
            <a:off x="4578350" y="3251200"/>
            <a:ext cx="4572000" cy="646331"/>
          </a:xfrm>
          <a:prstGeom prst="rect">
            <a:avLst/>
          </a:prstGeom>
          <a:noFill/>
          <a:ln w="9525">
            <a:noFill/>
            <a:miter lim="800000"/>
            <a:headEnd/>
            <a:tailEnd/>
          </a:ln>
        </p:spPr>
        <p:txBody>
          <a:bodyPr>
            <a:spAutoFit/>
          </a:bodyPr>
          <a:lstStyle/>
          <a:p>
            <a:r>
              <a:rPr lang="zh-CN" altLang="en-US" b="1" dirty="0">
                <a:solidFill>
                  <a:srgbClr val="C00000"/>
                </a:solidFill>
                <a:latin typeface="微软雅黑" pitchFamily="34" charset="-122"/>
                <a:ea typeface="微软雅黑" pitchFamily="34" charset="-122"/>
              </a:rPr>
              <a:t>符号扩展用于补码表示的带符号整数</a:t>
            </a:r>
            <a:r>
              <a:rPr lang="zh-CN" altLang="en-US" b="1" dirty="0" smtClean="0">
                <a:solidFill>
                  <a:srgbClr val="C00000"/>
                </a:solidFill>
                <a:latin typeface="微软雅黑" pitchFamily="34" charset="-122"/>
                <a:ea typeface="微软雅黑" pitchFamily="34" charset="-122"/>
              </a:rPr>
              <a:t>，在</a:t>
            </a:r>
            <a:r>
              <a:rPr lang="zh-CN" altLang="en-US" b="1" dirty="0">
                <a:solidFill>
                  <a:srgbClr val="C00000"/>
                </a:solidFill>
                <a:latin typeface="微软雅黑" pitchFamily="34" charset="-122"/>
                <a:ea typeface="微软雅黑" pitchFamily="34" charset="-122"/>
              </a:rPr>
              <a:t>短的带符号整数前添加足够多的</a:t>
            </a:r>
            <a:r>
              <a:rPr lang="zh-CN" altLang="en-US" b="1" dirty="0" smtClean="0">
                <a:solidFill>
                  <a:srgbClr val="C00000"/>
                </a:solidFill>
                <a:latin typeface="微软雅黑" pitchFamily="34" charset="-122"/>
                <a:ea typeface="微软雅黑" pitchFamily="34" charset="-122"/>
              </a:rPr>
              <a:t>符号位。</a:t>
            </a:r>
            <a:endParaRPr lang="zh-CN" altLang="en-US" b="1" dirty="0">
              <a:solidFill>
                <a:srgbClr val="C00000"/>
              </a:solidFill>
              <a:latin typeface="微软雅黑" pitchFamily="34" charset="-122"/>
              <a:ea typeface="微软雅黑" pitchFamily="34" charset="-122"/>
            </a:endParaRPr>
          </a:p>
        </p:txBody>
      </p:sp>
      <p:sp>
        <p:nvSpPr>
          <p:cNvPr id="5127" name="矩形 6"/>
          <p:cNvSpPr>
            <a:spLocks noChangeArrowheads="1"/>
          </p:cNvSpPr>
          <p:nvPr/>
        </p:nvSpPr>
        <p:spPr bwMode="auto">
          <a:xfrm>
            <a:off x="4572000" y="1808163"/>
            <a:ext cx="4572000" cy="646331"/>
          </a:xfrm>
          <a:prstGeom prst="rect">
            <a:avLst/>
          </a:prstGeom>
          <a:noFill/>
          <a:ln w="9525">
            <a:noFill/>
            <a:miter lim="800000"/>
            <a:headEnd/>
            <a:tailEnd/>
          </a:ln>
        </p:spPr>
        <p:txBody>
          <a:bodyPr>
            <a:spAutoFit/>
          </a:bodyPr>
          <a:lstStyle/>
          <a:p>
            <a:r>
              <a:rPr lang="zh-CN" altLang="en-US" b="1" dirty="0">
                <a:solidFill>
                  <a:srgbClr val="C00000"/>
                </a:solidFill>
                <a:latin typeface="微软雅黑" pitchFamily="34" charset="-122"/>
                <a:ea typeface="微软雅黑" pitchFamily="34" charset="-122"/>
              </a:rPr>
              <a:t>宽度相同的无符号数和带符号数之间的转换原则是保持机器表示不变。</a:t>
            </a:r>
          </a:p>
        </p:txBody>
      </p:sp>
      <p:sp>
        <p:nvSpPr>
          <p:cNvPr id="10" name="TextBox 9"/>
          <p:cNvSpPr txBox="1"/>
          <p:nvPr/>
        </p:nvSpPr>
        <p:spPr>
          <a:xfrm>
            <a:off x="5105400" y="4184650"/>
            <a:ext cx="3949700" cy="2123658"/>
          </a:xfrm>
          <a:prstGeom prst="rect">
            <a:avLst/>
          </a:prstGeom>
          <a:solidFill>
            <a:srgbClr val="FFFF00"/>
          </a:solidFill>
          <a:ln w="19050">
            <a:solidFill>
              <a:srgbClr val="0033CC"/>
            </a:solidFill>
          </a:ln>
        </p:spPr>
        <p:txBody>
          <a:bodyPr wrap="square" rtlCol="0">
            <a:spAutoFit/>
          </a:bodyPr>
          <a:lstStyle/>
          <a:p>
            <a:r>
              <a:rPr lang="en-US" altLang="zh-CN" sz="2000" b="1" u="sng" dirty="0" smtClean="0">
                <a:solidFill>
                  <a:srgbClr val="0066FF"/>
                </a:solidFill>
              </a:rPr>
              <a:t>Relative order of conversion between data size and signed/unsigned:</a:t>
            </a:r>
          </a:p>
          <a:p>
            <a:r>
              <a:rPr lang="en-US" altLang="zh-CN" sz="2400" b="1" u="sng" dirty="0" smtClean="0">
                <a:solidFill>
                  <a:srgbClr val="FF0000"/>
                </a:solidFill>
              </a:rPr>
              <a:t>First change the size and then convert between signed/unsigned</a:t>
            </a:r>
            <a:endParaRPr lang="zh-CN" altLang="en-US" sz="2400" b="1" u="sng"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2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476250" y="38100"/>
            <a:ext cx="8229600" cy="600075"/>
          </a:xfrm>
        </p:spPr>
        <p:txBody>
          <a:bodyPr lIns="63500" tIns="25400" rIns="63500" bIns="25400" anchor="t">
            <a:spAutoFit/>
          </a:bodyPr>
          <a:lstStyle/>
          <a:p>
            <a:r>
              <a:rPr lang="zh-CN" altLang="en-US" sz="3600" smtClean="0">
                <a:latin typeface="微软雅黑" pitchFamily="34" charset="-122"/>
                <a:ea typeface="微软雅黑" pitchFamily="34" charset="-122"/>
              </a:rPr>
              <a:t>整数的位截断</a:t>
            </a:r>
          </a:p>
        </p:txBody>
      </p:sp>
      <p:sp>
        <p:nvSpPr>
          <p:cNvPr id="6147" name="Rectangle 6"/>
          <p:cNvSpPr>
            <a:spLocks noChangeArrowheads="1"/>
          </p:cNvSpPr>
          <p:nvPr/>
        </p:nvSpPr>
        <p:spPr bwMode="auto">
          <a:xfrm>
            <a:off x="431800" y="908050"/>
            <a:ext cx="6435725" cy="1431925"/>
          </a:xfrm>
          <a:prstGeom prst="rect">
            <a:avLst/>
          </a:prstGeom>
          <a:solidFill>
            <a:schemeClr val="bg1"/>
          </a:solidFill>
          <a:ln w="12700">
            <a:noFill/>
            <a:miter lim="800000"/>
            <a:headEnd/>
            <a:tailEnd/>
          </a:ln>
        </p:spPr>
        <p:txBody>
          <a:bodyPr>
            <a:spAutoFit/>
          </a:bodyPr>
          <a:lstStyle/>
          <a:p>
            <a:pPr marL="457200" indent="-457200" eaLnBrk="0" hangingPunct="0"/>
            <a:r>
              <a:rPr lang="zh-CN" altLang="en-US" sz="2200" b="1">
                <a:solidFill>
                  <a:srgbClr val="CC0000"/>
                </a:solidFill>
                <a:latin typeface="微软雅黑" pitchFamily="34" charset="-122"/>
                <a:ea typeface="微软雅黑" pitchFamily="34" charset="-122"/>
              </a:rPr>
              <a:t>例</a:t>
            </a:r>
            <a:r>
              <a:rPr lang="en-US" altLang="zh-CN" sz="2200" b="1">
                <a:solidFill>
                  <a:srgbClr val="CC0000"/>
                </a:solidFill>
                <a:latin typeface="微软雅黑" pitchFamily="34" charset="-122"/>
                <a:ea typeface="微软雅黑" pitchFamily="34" charset="-122"/>
              </a:rPr>
              <a:t>2</a:t>
            </a:r>
            <a:r>
              <a:rPr lang="zh-CN" altLang="en-US" sz="2200" b="1">
                <a:solidFill>
                  <a:srgbClr val="CC0000"/>
                </a:solidFill>
                <a:latin typeface="微软雅黑" pitchFamily="34" charset="-122"/>
                <a:ea typeface="微软雅黑" pitchFamily="34" charset="-122"/>
              </a:rPr>
              <a:t>（截断操作）：</a:t>
            </a:r>
            <a:r>
              <a:rPr lang="en-US" altLang="zh-CN" sz="2200" b="1">
                <a:solidFill>
                  <a:srgbClr val="CC0000"/>
                </a:solidFill>
                <a:latin typeface="微软雅黑" pitchFamily="34" charset="-122"/>
                <a:ea typeface="微软雅黑" pitchFamily="34" charset="-122"/>
              </a:rPr>
              <a:t>i </a:t>
            </a:r>
            <a:r>
              <a:rPr lang="zh-CN" altLang="en-US" sz="2200" b="1">
                <a:solidFill>
                  <a:srgbClr val="CC0000"/>
                </a:solidFill>
                <a:latin typeface="微软雅黑" pitchFamily="34" charset="-122"/>
                <a:ea typeface="微软雅黑" pitchFamily="34" charset="-122"/>
              </a:rPr>
              <a:t>和 </a:t>
            </a:r>
            <a:r>
              <a:rPr lang="en-US" altLang="zh-CN" sz="2200" b="1">
                <a:solidFill>
                  <a:srgbClr val="CC0000"/>
                </a:solidFill>
                <a:latin typeface="微软雅黑" pitchFamily="34" charset="-122"/>
                <a:ea typeface="微软雅黑" pitchFamily="34" charset="-122"/>
              </a:rPr>
              <a:t>j </a:t>
            </a:r>
            <a:r>
              <a:rPr lang="zh-CN" altLang="en-US" sz="2200" b="1">
                <a:solidFill>
                  <a:srgbClr val="CC0000"/>
                </a:solidFill>
                <a:latin typeface="微软雅黑" pitchFamily="34" charset="-122"/>
                <a:ea typeface="微软雅黑" pitchFamily="34" charset="-122"/>
              </a:rPr>
              <a:t>是否相等？</a:t>
            </a:r>
            <a:endParaRPr lang="en-US" altLang="zh-CN" sz="2200" b="1">
              <a:solidFill>
                <a:srgbClr val="CC0000"/>
              </a:solidFill>
              <a:latin typeface="微软雅黑" pitchFamily="34" charset="-122"/>
              <a:ea typeface="微软雅黑" pitchFamily="34" charset="-122"/>
            </a:endParaRPr>
          </a:p>
          <a:p>
            <a:pPr marL="457200" indent="-457200" eaLnBrk="0" hangingPunct="0"/>
            <a:r>
              <a:rPr lang="en-US" altLang="zh-CN" sz="2200" b="1">
                <a:latin typeface="微软雅黑" pitchFamily="34" charset="-122"/>
                <a:ea typeface="微软雅黑" pitchFamily="34" charset="-122"/>
              </a:rPr>
              <a:t>int i = 32768;</a:t>
            </a:r>
          </a:p>
          <a:p>
            <a:pPr marL="457200" indent="-457200" eaLnBrk="0" hangingPunct="0"/>
            <a:r>
              <a:rPr lang="en-US" altLang="zh-CN" sz="2200" b="1">
                <a:latin typeface="微软雅黑" pitchFamily="34" charset="-122"/>
                <a:ea typeface="微软雅黑" pitchFamily="34" charset="-122"/>
              </a:rPr>
              <a:t>short si = (short) i;</a:t>
            </a:r>
          </a:p>
          <a:p>
            <a:pPr marL="457200" indent="-457200" eaLnBrk="0" hangingPunct="0"/>
            <a:r>
              <a:rPr lang="en-US" altLang="zh-CN" sz="2200" b="1">
                <a:latin typeface="微软雅黑" pitchFamily="34" charset="-122"/>
                <a:ea typeface="微软雅黑" pitchFamily="34" charset="-122"/>
              </a:rPr>
              <a:t>int j = si;</a:t>
            </a:r>
          </a:p>
        </p:txBody>
      </p:sp>
      <p:sp>
        <p:nvSpPr>
          <p:cNvPr id="6148" name="Rectangle 7"/>
          <p:cNvSpPr>
            <a:spLocks noChangeArrowheads="1"/>
          </p:cNvSpPr>
          <p:nvPr/>
        </p:nvSpPr>
        <p:spPr bwMode="auto">
          <a:xfrm>
            <a:off x="250825" y="2798763"/>
            <a:ext cx="4906963" cy="1431925"/>
          </a:xfrm>
          <a:prstGeom prst="rect">
            <a:avLst/>
          </a:prstGeom>
          <a:noFill/>
          <a:ln w="12700">
            <a:noFill/>
            <a:miter lim="800000"/>
            <a:headEnd/>
            <a:tailEnd/>
          </a:ln>
        </p:spPr>
        <p:txBody>
          <a:bodyPr anchor="ctr">
            <a:spAutoFit/>
          </a:bodyPr>
          <a:lstStyle/>
          <a:p>
            <a:pPr indent="288925" eaLnBrk="0" hangingPunct="0"/>
            <a:r>
              <a:rPr lang="zh-CN" altLang="pt-BR" sz="2200" b="1">
                <a:solidFill>
                  <a:schemeClr val="accent2"/>
                </a:solidFill>
                <a:ea typeface="黑体" pitchFamily="49" charset="-122"/>
              </a:rPr>
              <a:t>不相等！</a:t>
            </a:r>
          </a:p>
          <a:p>
            <a:pPr indent="288925" eaLnBrk="0" hangingPunct="0"/>
            <a:r>
              <a:rPr lang="pt-BR" altLang="zh-CN" sz="2200" b="1">
                <a:solidFill>
                  <a:schemeClr val="accent2"/>
                </a:solidFill>
                <a:ea typeface="黑体" pitchFamily="49" charset="-122"/>
              </a:rPr>
              <a:t>i = 32768   00 00 80 00</a:t>
            </a:r>
            <a:endParaRPr lang="en-US" altLang="zh-CN" sz="2200" b="1">
              <a:solidFill>
                <a:schemeClr val="accent2"/>
              </a:solidFill>
              <a:ea typeface="黑体" pitchFamily="49" charset="-122"/>
            </a:endParaRPr>
          </a:p>
          <a:p>
            <a:pPr indent="288925" eaLnBrk="0" hangingPunct="0"/>
            <a:r>
              <a:rPr lang="en-US" altLang="zh-CN" sz="2200" b="1">
                <a:solidFill>
                  <a:schemeClr val="accent2"/>
                </a:solidFill>
                <a:ea typeface="黑体" pitchFamily="49" charset="-122"/>
              </a:rPr>
              <a:t>si = -32768   80 00 </a:t>
            </a:r>
          </a:p>
          <a:p>
            <a:pPr indent="288925" eaLnBrk="0" hangingPunct="0"/>
            <a:r>
              <a:rPr lang="en-US" altLang="zh-CN" sz="2200" b="1">
                <a:solidFill>
                  <a:schemeClr val="accent2"/>
                </a:solidFill>
                <a:ea typeface="黑体" pitchFamily="49" charset="-122"/>
              </a:rPr>
              <a:t>j = -32768     FF FF 80 00</a:t>
            </a:r>
          </a:p>
        </p:txBody>
      </p:sp>
      <p:sp>
        <p:nvSpPr>
          <p:cNvPr id="6149" name="Text Box 8"/>
          <p:cNvSpPr txBox="1">
            <a:spLocks noChangeArrowheads="1"/>
          </p:cNvSpPr>
          <p:nvPr/>
        </p:nvSpPr>
        <p:spPr bwMode="auto">
          <a:xfrm>
            <a:off x="296863" y="4733925"/>
            <a:ext cx="8415337" cy="762000"/>
          </a:xfrm>
          <a:prstGeom prst="rect">
            <a:avLst/>
          </a:prstGeom>
          <a:noFill/>
          <a:ln w="12700">
            <a:noFill/>
            <a:miter lim="800000"/>
            <a:headEnd/>
            <a:tailEnd/>
          </a:ln>
        </p:spPr>
        <p:txBody>
          <a:bodyPr>
            <a:spAutoFit/>
          </a:bodyPr>
          <a:lstStyle/>
          <a:p>
            <a:pPr eaLnBrk="0" hangingPunct="0">
              <a:spcBef>
                <a:spcPct val="50000"/>
              </a:spcBef>
            </a:pPr>
            <a:r>
              <a:rPr lang="zh-CN" altLang="en-US" sz="2200" b="1">
                <a:solidFill>
                  <a:srgbClr val="FF0066"/>
                </a:solidFill>
                <a:latin typeface="微软雅黑" pitchFamily="34" charset="-122"/>
                <a:ea typeface="微软雅黑" pitchFamily="34" charset="-122"/>
              </a:rPr>
              <a:t>原因：对</a:t>
            </a:r>
            <a:r>
              <a:rPr lang="en-US" altLang="zh-CN" sz="2200" b="1">
                <a:solidFill>
                  <a:srgbClr val="FF0066"/>
                </a:solidFill>
                <a:latin typeface="微软雅黑" pitchFamily="34" charset="-122"/>
                <a:ea typeface="微软雅黑" pitchFamily="34" charset="-122"/>
              </a:rPr>
              <a:t>i</a:t>
            </a:r>
            <a:r>
              <a:rPr lang="zh-CN" altLang="en-US" sz="2200" b="1">
                <a:solidFill>
                  <a:srgbClr val="FF0066"/>
                </a:solidFill>
                <a:latin typeface="微软雅黑" pitchFamily="34" charset="-122"/>
                <a:ea typeface="微软雅黑" pitchFamily="34" charset="-122"/>
              </a:rPr>
              <a:t>截断时发生了“溢出”，即：</a:t>
            </a:r>
            <a:r>
              <a:rPr lang="en-US" altLang="zh-CN" sz="2200" b="1">
                <a:solidFill>
                  <a:srgbClr val="FF0066"/>
                </a:solidFill>
                <a:latin typeface="微软雅黑" pitchFamily="34" charset="-122"/>
                <a:ea typeface="微软雅黑" pitchFamily="34" charset="-122"/>
              </a:rPr>
              <a:t>32768</a:t>
            </a:r>
            <a:r>
              <a:rPr lang="zh-CN" altLang="en-US" sz="2200" b="1">
                <a:solidFill>
                  <a:srgbClr val="FF0066"/>
                </a:solidFill>
                <a:latin typeface="微软雅黑" pitchFamily="34" charset="-122"/>
                <a:ea typeface="微软雅黑" pitchFamily="34" charset="-122"/>
              </a:rPr>
              <a:t>截断为</a:t>
            </a:r>
            <a:r>
              <a:rPr lang="en-US" altLang="zh-CN" sz="2200" b="1">
                <a:solidFill>
                  <a:srgbClr val="FF0066"/>
                </a:solidFill>
                <a:latin typeface="微软雅黑" pitchFamily="34" charset="-122"/>
                <a:ea typeface="微软雅黑" pitchFamily="34" charset="-122"/>
              </a:rPr>
              <a:t>16</a:t>
            </a:r>
            <a:r>
              <a:rPr lang="zh-CN" altLang="en-US" sz="2200" b="1">
                <a:solidFill>
                  <a:srgbClr val="FF0066"/>
                </a:solidFill>
                <a:latin typeface="微软雅黑" pitchFamily="34" charset="-122"/>
                <a:ea typeface="微软雅黑" pitchFamily="34" charset="-122"/>
              </a:rPr>
              <a:t>位数时，因其超出</a:t>
            </a:r>
            <a:r>
              <a:rPr lang="en-US" altLang="zh-CN" sz="2200" b="1">
                <a:solidFill>
                  <a:srgbClr val="FF0066"/>
                </a:solidFill>
                <a:latin typeface="微软雅黑" pitchFamily="34" charset="-122"/>
                <a:ea typeface="微软雅黑" pitchFamily="34" charset="-122"/>
              </a:rPr>
              <a:t>16</a:t>
            </a:r>
            <a:r>
              <a:rPr lang="zh-CN" altLang="en-US" sz="2200" b="1">
                <a:solidFill>
                  <a:srgbClr val="FF0066"/>
                </a:solidFill>
                <a:latin typeface="微软雅黑" pitchFamily="34" charset="-122"/>
                <a:ea typeface="微软雅黑" pitchFamily="34" charset="-122"/>
              </a:rPr>
              <a:t>位能表示的最大值，故无法截断为正确的</a:t>
            </a:r>
            <a:r>
              <a:rPr lang="en-US" altLang="zh-CN" sz="2200" b="1">
                <a:solidFill>
                  <a:srgbClr val="FF0066"/>
                </a:solidFill>
                <a:latin typeface="微软雅黑" pitchFamily="34" charset="-122"/>
                <a:ea typeface="微软雅黑" pitchFamily="34" charset="-122"/>
              </a:rPr>
              <a:t>16</a:t>
            </a:r>
            <a:r>
              <a:rPr lang="zh-CN" altLang="en-US" sz="2200" b="1">
                <a:solidFill>
                  <a:srgbClr val="FF0066"/>
                </a:solidFill>
                <a:latin typeface="微软雅黑" pitchFamily="34" charset="-122"/>
                <a:ea typeface="微软雅黑" pitchFamily="34" charset="-122"/>
              </a:rPr>
              <a:t>位数！</a:t>
            </a:r>
            <a:endParaRPr lang="en-US" altLang="zh-CN" sz="2200" b="1">
              <a:solidFill>
                <a:srgbClr val="FF0066"/>
              </a:solidFill>
              <a:latin typeface="微软雅黑" pitchFamily="34" charset="-122"/>
              <a:ea typeface="微软雅黑" pitchFamily="34" charset="-122"/>
            </a:endParaRPr>
          </a:p>
        </p:txBody>
      </p:sp>
      <p:sp>
        <p:nvSpPr>
          <p:cNvPr id="6150" name="矩形 1"/>
          <p:cNvSpPr>
            <a:spLocks noChangeArrowheads="1"/>
          </p:cNvSpPr>
          <p:nvPr/>
        </p:nvSpPr>
        <p:spPr bwMode="auto">
          <a:xfrm>
            <a:off x="3536950" y="1816100"/>
            <a:ext cx="5427663" cy="1016000"/>
          </a:xfrm>
          <a:prstGeom prst="rect">
            <a:avLst/>
          </a:prstGeom>
          <a:noFill/>
          <a:ln w="9525">
            <a:noFill/>
            <a:miter lim="800000"/>
            <a:headEnd/>
            <a:tailEnd/>
          </a:ln>
        </p:spPr>
        <p:txBody>
          <a:bodyPr wrap="none">
            <a:spAutoFit/>
          </a:bodyPr>
          <a:lstStyle/>
          <a:p>
            <a:r>
              <a:rPr lang="zh-CN" altLang="en-US" sz="2000" b="1">
                <a:solidFill>
                  <a:srgbClr val="C00000"/>
                </a:solidFill>
                <a:latin typeface="微软雅黑" pitchFamily="34" charset="-122"/>
                <a:ea typeface="微软雅黑" pitchFamily="34" charset="-122"/>
              </a:rPr>
              <a:t>位截断发生在将长数转换为短数时。当将一个</a:t>
            </a:r>
            <a:endParaRPr lang="en-US" altLang="zh-CN" sz="2000" b="1">
              <a:solidFill>
                <a:srgbClr val="C00000"/>
              </a:solidFill>
              <a:latin typeface="微软雅黑" pitchFamily="34" charset="-122"/>
              <a:ea typeface="微软雅黑" pitchFamily="34" charset="-122"/>
            </a:endParaRPr>
          </a:p>
          <a:p>
            <a:r>
              <a:rPr lang="zh-CN" altLang="en-US" sz="2000" b="1">
                <a:solidFill>
                  <a:srgbClr val="C00000"/>
                </a:solidFill>
                <a:latin typeface="微软雅黑" pitchFamily="34" charset="-122"/>
                <a:ea typeface="微软雅黑" pitchFamily="34" charset="-122"/>
              </a:rPr>
              <a:t>有</a:t>
            </a:r>
            <a:r>
              <a:rPr lang="en-US" altLang="zh-CN" sz="2000" b="1">
                <a:solidFill>
                  <a:srgbClr val="C00000"/>
                </a:solidFill>
                <a:latin typeface="微软雅黑" pitchFamily="34" charset="-122"/>
                <a:ea typeface="微软雅黑" pitchFamily="34" charset="-122"/>
              </a:rPr>
              <a:t>w</a:t>
            </a:r>
            <a:r>
              <a:rPr lang="zh-CN" altLang="en-US" sz="2000" b="1">
                <a:solidFill>
                  <a:srgbClr val="C00000"/>
                </a:solidFill>
                <a:latin typeface="微软雅黑" pitchFamily="34" charset="-122"/>
                <a:ea typeface="微软雅黑" pitchFamily="34" charset="-122"/>
              </a:rPr>
              <a:t>位的长数截断为</a:t>
            </a:r>
            <a:r>
              <a:rPr lang="en-US" altLang="zh-CN" sz="2000" b="1">
                <a:solidFill>
                  <a:srgbClr val="C00000"/>
                </a:solidFill>
                <a:latin typeface="微软雅黑" pitchFamily="34" charset="-122"/>
                <a:ea typeface="微软雅黑" pitchFamily="34" charset="-122"/>
              </a:rPr>
              <a:t>k</a:t>
            </a:r>
            <a:r>
              <a:rPr lang="zh-CN" altLang="en-US" sz="2000" b="1">
                <a:solidFill>
                  <a:srgbClr val="C00000"/>
                </a:solidFill>
                <a:latin typeface="微软雅黑" pitchFamily="34" charset="-122"/>
                <a:ea typeface="微软雅黑" pitchFamily="34" charset="-122"/>
              </a:rPr>
              <a:t>位的短数时，就是丢弃高</a:t>
            </a:r>
            <a:endParaRPr lang="en-US" altLang="zh-CN" sz="2000" b="1">
              <a:solidFill>
                <a:srgbClr val="C00000"/>
              </a:solidFill>
              <a:latin typeface="微软雅黑" pitchFamily="34" charset="-122"/>
              <a:ea typeface="微软雅黑" pitchFamily="34" charset="-122"/>
            </a:endParaRPr>
          </a:p>
          <a:p>
            <a:r>
              <a:rPr lang="en-US" altLang="zh-CN" sz="2000" b="1">
                <a:solidFill>
                  <a:srgbClr val="C00000"/>
                </a:solidFill>
                <a:latin typeface="微软雅黑" pitchFamily="34" charset="-122"/>
                <a:ea typeface="微软雅黑" pitchFamily="34" charset="-122"/>
              </a:rPr>
              <a:t>w-k</a:t>
            </a:r>
            <a:r>
              <a:rPr lang="zh-CN" altLang="en-US" sz="2000" b="1">
                <a:solidFill>
                  <a:srgbClr val="C00000"/>
                </a:solidFill>
                <a:latin typeface="微软雅黑" pitchFamily="34" charset="-122"/>
                <a:ea typeface="微软雅黑" pitchFamily="34" charset="-122"/>
              </a:rPr>
              <a:t>位。截断操作会产生溢出。</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341313" y="863600"/>
            <a:ext cx="8505825" cy="4456113"/>
          </a:xfrm>
          <a:prstGeom prst="rect">
            <a:avLst/>
          </a:prstGeom>
          <a:noFill/>
          <a:ln w="9525">
            <a:noFill/>
            <a:miter lim="800000"/>
            <a:headEnd/>
            <a:tailEnd/>
          </a:ln>
        </p:spPr>
        <p:txBody>
          <a:bodyPr>
            <a:spAutoFit/>
          </a:bodyPr>
          <a:lstStyle/>
          <a:p>
            <a:pPr>
              <a:lnSpc>
                <a:spcPct val="150000"/>
              </a:lnSpc>
            </a:pPr>
            <a:r>
              <a:rPr lang="zh-CN" altLang="en-US" sz="2400" dirty="0"/>
              <a:t>判断下列表达式的真假</a:t>
            </a:r>
            <a:endParaRPr lang="en-US" altLang="zh-CN" sz="2400" dirty="0"/>
          </a:p>
          <a:p>
            <a:pPr lvl="1">
              <a:lnSpc>
                <a:spcPct val="150000"/>
              </a:lnSpc>
            </a:pPr>
            <a:r>
              <a:rPr lang="en-US" altLang="zh-CN" sz="2400" dirty="0"/>
              <a:t>-2147483647-1 == </a:t>
            </a:r>
            <a:r>
              <a:rPr lang="en-US" altLang="zh-CN" sz="2400" dirty="0" smtClean="0"/>
              <a:t>2147483648</a:t>
            </a:r>
            <a:endParaRPr lang="en-US" altLang="zh-CN" sz="2400" dirty="0"/>
          </a:p>
          <a:p>
            <a:pPr lvl="1">
              <a:lnSpc>
                <a:spcPct val="150000"/>
              </a:lnSpc>
            </a:pPr>
            <a:r>
              <a:rPr lang="en-US" altLang="zh-CN" sz="2400" dirty="0"/>
              <a:t>-2147483647-1 &lt; 2147483647</a:t>
            </a:r>
          </a:p>
          <a:p>
            <a:pPr lvl="1">
              <a:lnSpc>
                <a:spcPct val="150000"/>
              </a:lnSpc>
            </a:pPr>
            <a:r>
              <a:rPr lang="en-US" altLang="zh-CN" sz="2400" dirty="0"/>
              <a:t>-2147483647-1U &lt; 2147483647</a:t>
            </a:r>
          </a:p>
          <a:p>
            <a:pPr lvl="1">
              <a:lnSpc>
                <a:spcPct val="150000"/>
              </a:lnSpc>
            </a:pPr>
            <a:r>
              <a:rPr lang="en-US" altLang="zh-CN" sz="2400" dirty="0"/>
              <a:t>-2147483647-1 &lt; -2147483647</a:t>
            </a:r>
          </a:p>
          <a:p>
            <a:pPr lvl="1">
              <a:lnSpc>
                <a:spcPct val="150000"/>
              </a:lnSpc>
            </a:pPr>
            <a:r>
              <a:rPr lang="en-US" altLang="zh-CN" sz="2400" dirty="0"/>
              <a:t>-2147483647-1U &lt; -2147483647</a:t>
            </a:r>
          </a:p>
          <a:p>
            <a:pPr>
              <a:lnSpc>
                <a:spcPct val="150000"/>
              </a:lnSpc>
            </a:pPr>
            <a:endParaRPr lang="en-US" altLang="zh-CN" sz="2400" dirty="0"/>
          </a:p>
          <a:p>
            <a:pPr>
              <a:lnSpc>
                <a:spcPct val="150000"/>
              </a:lnSpc>
            </a:pPr>
            <a:endParaRPr lang="en-US" altLang="zh-CN" sz="2400" dirty="0"/>
          </a:p>
        </p:txBody>
      </p:sp>
      <p:sp>
        <p:nvSpPr>
          <p:cNvPr id="7171" name="标题 2"/>
          <p:cNvSpPr>
            <a:spLocks noGrp="1"/>
          </p:cNvSpPr>
          <p:nvPr>
            <p:ph type="title"/>
          </p:nvPr>
        </p:nvSpPr>
        <p:spPr/>
        <p:txBody>
          <a:bodyPr/>
          <a:lstStyle/>
          <a:p>
            <a:r>
              <a:rPr lang="zh-CN" altLang="en-US" dirty="0" smtClean="0"/>
              <a:t>例题</a:t>
            </a:r>
          </a:p>
        </p:txBody>
      </p:sp>
      <p:sp>
        <p:nvSpPr>
          <p:cNvPr id="7172" name="TextBox 4"/>
          <p:cNvSpPr txBox="1">
            <a:spLocks noChangeArrowheads="1"/>
          </p:cNvSpPr>
          <p:nvPr/>
        </p:nvSpPr>
        <p:spPr bwMode="auto">
          <a:xfrm>
            <a:off x="6102350" y="1527175"/>
            <a:ext cx="944563" cy="461963"/>
          </a:xfrm>
          <a:prstGeom prst="rect">
            <a:avLst/>
          </a:prstGeom>
          <a:noFill/>
          <a:ln w="9525">
            <a:noFill/>
            <a:miter lim="800000"/>
            <a:headEnd/>
            <a:tailEnd/>
          </a:ln>
        </p:spPr>
        <p:txBody>
          <a:bodyPr>
            <a:spAutoFit/>
          </a:bodyPr>
          <a:lstStyle/>
          <a:p>
            <a:r>
              <a:rPr lang="en-US" altLang="zh-CN" sz="2400" b="1">
                <a:solidFill>
                  <a:srgbClr val="C00000"/>
                </a:solidFill>
              </a:rPr>
              <a:t>true</a:t>
            </a:r>
            <a:endParaRPr lang="zh-CN" altLang="en-US" sz="2400" b="1">
              <a:solidFill>
                <a:srgbClr val="C00000"/>
              </a:solidFill>
            </a:endParaRPr>
          </a:p>
        </p:txBody>
      </p:sp>
      <p:sp>
        <p:nvSpPr>
          <p:cNvPr id="7173" name="TextBox 5"/>
          <p:cNvSpPr txBox="1">
            <a:spLocks noChangeArrowheads="1"/>
          </p:cNvSpPr>
          <p:nvPr/>
        </p:nvSpPr>
        <p:spPr bwMode="auto">
          <a:xfrm>
            <a:off x="6102350" y="1976438"/>
            <a:ext cx="944563" cy="461962"/>
          </a:xfrm>
          <a:prstGeom prst="rect">
            <a:avLst/>
          </a:prstGeom>
          <a:noFill/>
          <a:ln w="9525">
            <a:noFill/>
            <a:miter lim="800000"/>
            <a:headEnd/>
            <a:tailEnd/>
          </a:ln>
        </p:spPr>
        <p:txBody>
          <a:bodyPr>
            <a:spAutoFit/>
          </a:bodyPr>
          <a:lstStyle/>
          <a:p>
            <a:r>
              <a:rPr lang="en-US" altLang="zh-CN" sz="2400" b="1">
                <a:solidFill>
                  <a:srgbClr val="C00000"/>
                </a:solidFill>
              </a:rPr>
              <a:t>true</a:t>
            </a:r>
            <a:endParaRPr lang="zh-CN" altLang="en-US" sz="2400" b="1">
              <a:solidFill>
                <a:srgbClr val="C00000"/>
              </a:solidFill>
            </a:endParaRPr>
          </a:p>
        </p:txBody>
      </p:sp>
      <p:sp>
        <p:nvSpPr>
          <p:cNvPr id="7174" name="TextBox 6"/>
          <p:cNvSpPr txBox="1">
            <a:spLocks noChangeArrowheads="1"/>
          </p:cNvSpPr>
          <p:nvPr/>
        </p:nvSpPr>
        <p:spPr bwMode="auto">
          <a:xfrm>
            <a:off x="6102350" y="3192463"/>
            <a:ext cx="944563" cy="461962"/>
          </a:xfrm>
          <a:prstGeom prst="rect">
            <a:avLst/>
          </a:prstGeom>
          <a:noFill/>
          <a:ln w="9525">
            <a:noFill/>
            <a:miter lim="800000"/>
            <a:headEnd/>
            <a:tailEnd/>
          </a:ln>
        </p:spPr>
        <p:txBody>
          <a:bodyPr>
            <a:spAutoFit/>
          </a:bodyPr>
          <a:lstStyle/>
          <a:p>
            <a:r>
              <a:rPr lang="en-US" altLang="zh-CN" sz="2400" b="1">
                <a:solidFill>
                  <a:srgbClr val="C00000"/>
                </a:solidFill>
              </a:rPr>
              <a:t>true</a:t>
            </a:r>
            <a:endParaRPr lang="zh-CN" altLang="en-US" sz="2400" b="1">
              <a:solidFill>
                <a:srgbClr val="C00000"/>
              </a:solidFill>
            </a:endParaRPr>
          </a:p>
        </p:txBody>
      </p:sp>
      <p:sp>
        <p:nvSpPr>
          <p:cNvPr id="7175" name="TextBox 7"/>
          <p:cNvSpPr txBox="1">
            <a:spLocks noChangeArrowheads="1"/>
          </p:cNvSpPr>
          <p:nvPr/>
        </p:nvSpPr>
        <p:spPr bwMode="auto">
          <a:xfrm>
            <a:off x="6102350" y="3698875"/>
            <a:ext cx="944563" cy="461963"/>
          </a:xfrm>
          <a:prstGeom prst="rect">
            <a:avLst/>
          </a:prstGeom>
          <a:noFill/>
          <a:ln w="9525">
            <a:noFill/>
            <a:miter lim="800000"/>
            <a:headEnd/>
            <a:tailEnd/>
          </a:ln>
        </p:spPr>
        <p:txBody>
          <a:bodyPr>
            <a:spAutoFit/>
          </a:bodyPr>
          <a:lstStyle/>
          <a:p>
            <a:r>
              <a:rPr lang="en-US" altLang="zh-CN" sz="2400" b="1">
                <a:solidFill>
                  <a:srgbClr val="C00000"/>
                </a:solidFill>
              </a:rPr>
              <a:t>true</a:t>
            </a:r>
            <a:endParaRPr lang="zh-CN" altLang="en-US" sz="2400" b="1">
              <a:solidFill>
                <a:srgbClr val="C00000"/>
              </a:solidFill>
            </a:endParaRPr>
          </a:p>
        </p:txBody>
      </p:sp>
      <p:sp>
        <p:nvSpPr>
          <p:cNvPr id="7176" name="TextBox 8"/>
          <p:cNvSpPr txBox="1">
            <a:spLocks noChangeArrowheads="1"/>
          </p:cNvSpPr>
          <p:nvPr/>
        </p:nvSpPr>
        <p:spPr bwMode="auto">
          <a:xfrm>
            <a:off x="6102350" y="2562225"/>
            <a:ext cx="944563" cy="461963"/>
          </a:xfrm>
          <a:prstGeom prst="rect">
            <a:avLst/>
          </a:prstGeom>
          <a:noFill/>
          <a:ln w="9525">
            <a:noFill/>
            <a:miter lim="800000"/>
            <a:headEnd/>
            <a:tailEnd/>
          </a:ln>
        </p:spPr>
        <p:txBody>
          <a:bodyPr>
            <a:spAutoFit/>
          </a:bodyPr>
          <a:lstStyle/>
          <a:p>
            <a:r>
              <a:rPr lang="en-US" altLang="zh-CN" sz="2400" b="1">
                <a:solidFill>
                  <a:srgbClr val="C00000"/>
                </a:solidFill>
              </a:rPr>
              <a:t>false</a:t>
            </a:r>
            <a:endParaRPr lang="zh-CN" altLang="en-US" sz="2400" b="1">
              <a:solidFill>
                <a:srgbClr val="C0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341313" y="863600"/>
            <a:ext cx="8505825" cy="4894263"/>
          </a:xfrm>
          <a:prstGeom prst="rect">
            <a:avLst/>
          </a:prstGeom>
          <a:noFill/>
          <a:ln w="9525">
            <a:noFill/>
            <a:miter lim="800000"/>
            <a:headEnd/>
            <a:tailEnd/>
          </a:ln>
        </p:spPr>
        <p:txBody>
          <a:bodyPr>
            <a:spAutoFit/>
          </a:bodyPr>
          <a:lstStyle/>
          <a:p>
            <a:r>
              <a:rPr lang="zh-CN" altLang="en-US" sz="2400" dirty="0"/>
              <a:t>如何判断一个无符号数相加没有发生溢出</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dirty="0">
                <a:solidFill>
                  <a:srgbClr val="3366FF"/>
                </a:solidFill>
              </a:rPr>
              <a:t>/* Determine whether arguments can be added without overflow */</a:t>
            </a:r>
          </a:p>
          <a:p>
            <a:r>
              <a:rPr lang="en-US" altLang="zh-CN" sz="2400" dirty="0" err="1">
                <a:solidFill>
                  <a:srgbClr val="3366FF"/>
                </a:solidFill>
              </a:rPr>
              <a:t>int</a:t>
            </a:r>
            <a:r>
              <a:rPr lang="en-US" altLang="zh-CN" sz="2400" dirty="0">
                <a:solidFill>
                  <a:srgbClr val="3366FF"/>
                </a:solidFill>
              </a:rPr>
              <a:t> </a:t>
            </a:r>
            <a:r>
              <a:rPr lang="en-US" altLang="zh-CN" sz="2400" dirty="0" err="1">
                <a:solidFill>
                  <a:srgbClr val="3366FF"/>
                </a:solidFill>
              </a:rPr>
              <a:t>uadd_ok</a:t>
            </a:r>
            <a:r>
              <a:rPr lang="en-US" altLang="zh-CN" sz="2400" dirty="0">
                <a:solidFill>
                  <a:srgbClr val="3366FF"/>
                </a:solidFill>
              </a:rPr>
              <a:t>(unsigned x, unsigned y) {</a:t>
            </a:r>
          </a:p>
          <a:p>
            <a:r>
              <a:rPr lang="en-US" altLang="zh-CN" sz="2400" dirty="0">
                <a:solidFill>
                  <a:srgbClr val="3366FF"/>
                </a:solidFill>
              </a:rPr>
              <a:t>     unsigned sum = </a:t>
            </a:r>
            <a:r>
              <a:rPr lang="en-US" altLang="zh-CN" sz="2400" dirty="0" err="1">
                <a:solidFill>
                  <a:srgbClr val="3366FF"/>
                </a:solidFill>
              </a:rPr>
              <a:t>x+y</a:t>
            </a:r>
            <a:r>
              <a:rPr lang="en-US" altLang="zh-CN" sz="2400" dirty="0">
                <a:solidFill>
                  <a:srgbClr val="3366FF"/>
                </a:solidFill>
              </a:rPr>
              <a:t>;</a:t>
            </a:r>
          </a:p>
          <a:p>
            <a:r>
              <a:rPr lang="en-US" altLang="zh-CN" sz="2400" dirty="0">
                <a:solidFill>
                  <a:srgbClr val="3366FF"/>
                </a:solidFill>
              </a:rPr>
              <a:t>     return sum &gt;= x;</a:t>
            </a:r>
          </a:p>
          <a:p>
            <a:r>
              <a:rPr lang="en-US" altLang="zh-CN" sz="2400" dirty="0">
                <a:solidFill>
                  <a:srgbClr val="3366FF"/>
                </a:solidFill>
              </a:rPr>
              <a:t>}</a:t>
            </a:r>
          </a:p>
        </p:txBody>
      </p:sp>
      <p:sp>
        <p:nvSpPr>
          <p:cNvPr id="9219" name="标题 2"/>
          <p:cNvSpPr>
            <a:spLocks noGrp="1"/>
          </p:cNvSpPr>
          <p:nvPr>
            <p:ph type="title"/>
          </p:nvPr>
        </p:nvSpPr>
        <p:spPr/>
        <p:txBody>
          <a:bodyPr/>
          <a:lstStyle/>
          <a:p>
            <a:r>
              <a:rPr lang="zh-CN" altLang="en-US" dirty="0" smtClean="0"/>
              <a:t>例题</a:t>
            </a:r>
            <a:r>
              <a:rPr lang="en-US" altLang="zh-CN" dirty="0" smtClean="0"/>
              <a:t>1</a:t>
            </a:r>
            <a:endParaRPr lang="zh-CN" altLang="en-US" dirty="0" smtClean="0"/>
          </a:p>
        </p:txBody>
      </p:sp>
      <p:pic>
        <p:nvPicPr>
          <p:cNvPr id="9220" name="Picture 4"/>
          <p:cNvPicPr>
            <a:picLocks noChangeAspect="1" noChangeArrowheads="1"/>
          </p:cNvPicPr>
          <p:nvPr/>
        </p:nvPicPr>
        <p:blipFill>
          <a:blip r:embed="rId2"/>
          <a:srcRect/>
          <a:stretch>
            <a:fillRect/>
          </a:stretch>
        </p:blipFill>
        <p:spPr bwMode="auto">
          <a:xfrm>
            <a:off x="1692275" y="1673225"/>
            <a:ext cx="5076825" cy="1320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smtClean="0"/>
              <a:t>例题</a:t>
            </a:r>
            <a:r>
              <a:rPr lang="en-US" altLang="zh-CN" dirty="0" smtClean="0"/>
              <a:t>2</a:t>
            </a:r>
            <a:endParaRPr lang="zh-CN" altLang="en-US" dirty="0" smtClean="0"/>
          </a:p>
        </p:txBody>
      </p:sp>
      <p:sp>
        <p:nvSpPr>
          <p:cNvPr id="3" name="内容占位符 2"/>
          <p:cNvSpPr>
            <a:spLocks noGrp="1"/>
          </p:cNvSpPr>
          <p:nvPr>
            <p:ph idx="1"/>
          </p:nvPr>
        </p:nvSpPr>
        <p:spPr/>
        <p:txBody>
          <a:bodyPr/>
          <a:lstStyle/>
          <a:p>
            <a:pPr>
              <a:defRPr/>
            </a:pPr>
            <a:r>
              <a:rPr lang="zh-CN" altLang="en-US" dirty="0" smtClean="0"/>
              <a:t>如何判断一个带符号数相加没有发生溢出</a:t>
            </a:r>
          </a:p>
          <a:p>
            <a:pPr>
              <a:defRPr/>
            </a:pPr>
            <a:endParaRPr lang="en-US" altLang="zh-CN" b="0" dirty="0" smtClean="0"/>
          </a:p>
          <a:p>
            <a:pPr>
              <a:defRPr/>
            </a:pPr>
            <a:endParaRPr lang="en-US" altLang="zh-CN" b="0" dirty="0"/>
          </a:p>
          <a:p>
            <a:pPr>
              <a:defRPr/>
            </a:pPr>
            <a:endParaRPr lang="en-US" altLang="zh-CN" b="0" dirty="0" smtClean="0"/>
          </a:p>
          <a:p>
            <a:pPr marL="0" indent="0">
              <a:buFontTx/>
              <a:buNone/>
              <a:defRPr/>
            </a:pPr>
            <a:r>
              <a:rPr lang="en-US" altLang="zh-CN" b="0" dirty="0" smtClean="0">
                <a:solidFill>
                  <a:srgbClr val="3366FF"/>
                </a:solidFill>
              </a:rPr>
              <a:t>/* </a:t>
            </a:r>
            <a:r>
              <a:rPr lang="en-US" altLang="zh-CN" b="0" dirty="0">
                <a:solidFill>
                  <a:srgbClr val="3366FF"/>
                </a:solidFill>
              </a:rPr>
              <a:t>Determine whether arguments can be added without overflow */</a:t>
            </a:r>
          </a:p>
          <a:p>
            <a:pPr marL="0" indent="0">
              <a:buFontTx/>
              <a:buNone/>
              <a:defRPr/>
            </a:pPr>
            <a:r>
              <a:rPr lang="en-US" altLang="zh-CN" b="0" dirty="0" err="1">
                <a:solidFill>
                  <a:srgbClr val="3366FF"/>
                </a:solidFill>
              </a:rPr>
              <a:t>int</a:t>
            </a:r>
            <a:r>
              <a:rPr lang="en-US" altLang="zh-CN" b="0" dirty="0">
                <a:solidFill>
                  <a:srgbClr val="3366FF"/>
                </a:solidFill>
              </a:rPr>
              <a:t> </a:t>
            </a:r>
            <a:r>
              <a:rPr lang="en-US" altLang="zh-CN" b="0" dirty="0" err="1">
                <a:solidFill>
                  <a:srgbClr val="3366FF"/>
                </a:solidFill>
              </a:rPr>
              <a:t>tadd_ok</a:t>
            </a:r>
            <a:r>
              <a:rPr lang="en-US" altLang="zh-CN" b="0" dirty="0">
                <a:solidFill>
                  <a:srgbClr val="3366FF"/>
                </a:solidFill>
              </a:rPr>
              <a:t>(</a:t>
            </a:r>
            <a:r>
              <a:rPr lang="en-US" altLang="zh-CN" b="0" dirty="0" err="1">
                <a:solidFill>
                  <a:srgbClr val="3366FF"/>
                </a:solidFill>
              </a:rPr>
              <a:t>int</a:t>
            </a:r>
            <a:r>
              <a:rPr lang="en-US" altLang="zh-CN" b="0" dirty="0">
                <a:solidFill>
                  <a:srgbClr val="3366FF"/>
                </a:solidFill>
              </a:rPr>
              <a:t> x, </a:t>
            </a:r>
            <a:r>
              <a:rPr lang="en-US" altLang="zh-CN" b="0" dirty="0" err="1">
                <a:solidFill>
                  <a:srgbClr val="3366FF"/>
                </a:solidFill>
              </a:rPr>
              <a:t>int</a:t>
            </a:r>
            <a:r>
              <a:rPr lang="en-US" altLang="zh-CN" b="0" dirty="0">
                <a:solidFill>
                  <a:srgbClr val="3366FF"/>
                </a:solidFill>
              </a:rPr>
              <a:t> y) {</a:t>
            </a:r>
          </a:p>
          <a:p>
            <a:pPr marL="0" indent="0">
              <a:buFontTx/>
              <a:buNone/>
              <a:defRPr/>
            </a:pPr>
            <a:r>
              <a:rPr lang="en-US" altLang="zh-CN" b="0" dirty="0" smtClean="0">
                <a:solidFill>
                  <a:srgbClr val="3366FF"/>
                </a:solidFill>
              </a:rPr>
              <a:t>	</a:t>
            </a:r>
            <a:r>
              <a:rPr lang="en-US" altLang="zh-CN" b="0" dirty="0" err="1" smtClean="0">
                <a:solidFill>
                  <a:srgbClr val="3366FF"/>
                </a:solidFill>
              </a:rPr>
              <a:t>int</a:t>
            </a:r>
            <a:r>
              <a:rPr lang="en-US" altLang="zh-CN" b="0" dirty="0" smtClean="0">
                <a:solidFill>
                  <a:srgbClr val="3366FF"/>
                </a:solidFill>
              </a:rPr>
              <a:t> </a:t>
            </a:r>
            <a:r>
              <a:rPr lang="en-US" altLang="zh-CN" b="0" dirty="0">
                <a:solidFill>
                  <a:srgbClr val="3366FF"/>
                </a:solidFill>
              </a:rPr>
              <a:t>sum = </a:t>
            </a:r>
            <a:r>
              <a:rPr lang="en-US" altLang="zh-CN" b="0" dirty="0" err="1">
                <a:solidFill>
                  <a:srgbClr val="3366FF"/>
                </a:solidFill>
              </a:rPr>
              <a:t>x+y</a:t>
            </a:r>
            <a:r>
              <a:rPr lang="en-US" altLang="zh-CN" b="0" dirty="0">
                <a:solidFill>
                  <a:srgbClr val="3366FF"/>
                </a:solidFill>
              </a:rPr>
              <a:t>;</a:t>
            </a:r>
          </a:p>
          <a:p>
            <a:pPr marL="0" indent="0">
              <a:buFontTx/>
              <a:buNone/>
              <a:defRPr/>
            </a:pPr>
            <a:r>
              <a:rPr lang="nn-NO" altLang="zh-CN" b="0" dirty="0" smtClean="0">
                <a:solidFill>
                  <a:srgbClr val="3366FF"/>
                </a:solidFill>
              </a:rPr>
              <a:t>	int </a:t>
            </a:r>
            <a:r>
              <a:rPr lang="nn-NO" altLang="zh-CN" b="0" dirty="0">
                <a:solidFill>
                  <a:srgbClr val="3366FF"/>
                </a:solidFill>
              </a:rPr>
              <a:t>neg_over = x &lt; 0 &amp;&amp; y &lt; 0 &amp;&amp; sum &gt;= 0;</a:t>
            </a:r>
          </a:p>
          <a:p>
            <a:pPr marL="0" indent="0">
              <a:buFontTx/>
              <a:buNone/>
              <a:defRPr/>
            </a:pPr>
            <a:r>
              <a:rPr lang="en-US" altLang="zh-CN" b="0" dirty="0" smtClean="0">
                <a:solidFill>
                  <a:srgbClr val="3366FF"/>
                </a:solidFill>
              </a:rPr>
              <a:t>	</a:t>
            </a:r>
            <a:r>
              <a:rPr lang="en-US" altLang="zh-CN" b="0" dirty="0" err="1" smtClean="0">
                <a:solidFill>
                  <a:srgbClr val="3366FF"/>
                </a:solidFill>
              </a:rPr>
              <a:t>int</a:t>
            </a:r>
            <a:r>
              <a:rPr lang="en-US" altLang="zh-CN" b="0" dirty="0" smtClean="0">
                <a:solidFill>
                  <a:srgbClr val="3366FF"/>
                </a:solidFill>
              </a:rPr>
              <a:t> </a:t>
            </a:r>
            <a:r>
              <a:rPr lang="en-US" altLang="zh-CN" b="0" dirty="0" err="1">
                <a:solidFill>
                  <a:srgbClr val="3366FF"/>
                </a:solidFill>
              </a:rPr>
              <a:t>pos_over</a:t>
            </a:r>
            <a:r>
              <a:rPr lang="en-US" altLang="zh-CN" b="0" dirty="0">
                <a:solidFill>
                  <a:srgbClr val="3366FF"/>
                </a:solidFill>
              </a:rPr>
              <a:t> = x &gt;= 0 &amp;&amp; y &gt;= 0 &amp;&amp; sum &lt; 0;</a:t>
            </a:r>
          </a:p>
          <a:p>
            <a:pPr marL="0" indent="0">
              <a:buFontTx/>
              <a:buNone/>
              <a:defRPr/>
            </a:pPr>
            <a:r>
              <a:rPr lang="en-US" altLang="zh-CN" b="0" dirty="0" smtClean="0">
                <a:solidFill>
                  <a:srgbClr val="3366FF"/>
                </a:solidFill>
              </a:rPr>
              <a:t>	return </a:t>
            </a:r>
            <a:r>
              <a:rPr lang="en-US" altLang="zh-CN" b="0" dirty="0">
                <a:solidFill>
                  <a:srgbClr val="3366FF"/>
                </a:solidFill>
              </a:rPr>
              <a:t>!</a:t>
            </a:r>
            <a:r>
              <a:rPr lang="en-US" altLang="zh-CN" b="0" dirty="0" err="1">
                <a:solidFill>
                  <a:srgbClr val="3366FF"/>
                </a:solidFill>
              </a:rPr>
              <a:t>neg_over</a:t>
            </a:r>
            <a:r>
              <a:rPr lang="en-US" altLang="zh-CN" b="0" dirty="0">
                <a:solidFill>
                  <a:srgbClr val="3366FF"/>
                </a:solidFill>
              </a:rPr>
              <a:t> &amp;&amp; !</a:t>
            </a:r>
            <a:r>
              <a:rPr lang="en-US" altLang="zh-CN" b="0" dirty="0" err="1">
                <a:solidFill>
                  <a:srgbClr val="3366FF"/>
                </a:solidFill>
              </a:rPr>
              <a:t>pos_over</a:t>
            </a:r>
            <a:r>
              <a:rPr lang="en-US" altLang="zh-CN" b="0" dirty="0">
                <a:solidFill>
                  <a:srgbClr val="3366FF"/>
                </a:solidFill>
              </a:rPr>
              <a:t>;</a:t>
            </a:r>
          </a:p>
          <a:p>
            <a:pPr marL="0" indent="0">
              <a:buFontTx/>
              <a:buNone/>
              <a:defRPr/>
            </a:pPr>
            <a:r>
              <a:rPr lang="en-US" altLang="zh-CN" b="0" dirty="0" smtClean="0">
                <a:solidFill>
                  <a:srgbClr val="3366FF"/>
                </a:solidFill>
              </a:rPr>
              <a:t>} </a:t>
            </a:r>
            <a:endParaRPr lang="zh-CN" altLang="en-US" dirty="0">
              <a:solidFill>
                <a:srgbClr val="3366FF"/>
              </a:solidFill>
            </a:endParaRPr>
          </a:p>
        </p:txBody>
      </p:sp>
      <p:pic>
        <p:nvPicPr>
          <p:cNvPr id="10244" name="Picture 4"/>
          <p:cNvPicPr>
            <a:picLocks noChangeAspect="1" noChangeArrowheads="1"/>
          </p:cNvPicPr>
          <p:nvPr/>
        </p:nvPicPr>
        <p:blipFill>
          <a:blip r:embed="rId2"/>
          <a:srcRect/>
          <a:stretch>
            <a:fillRect/>
          </a:stretch>
        </p:blipFill>
        <p:spPr bwMode="auto">
          <a:xfrm>
            <a:off x="1646238" y="1314450"/>
            <a:ext cx="5286375" cy="1476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dirty="0" smtClean="0"/>
              <a:t>例题</a:t>
            </a:r>
            <a:r>
              <a:rPr lang="en-US" altLang="zh-CN" dirty="0" smtClean="0"/>
              <a:t>3</a:t>
            </a:r>
            <a:endParaRPr lang="zh-CN" altLang="en-US" dirty="0" smtClean="0"/>
          </a:p>
        </p:txBody>
      </p:sp>
      <p:sp>
        <p:nvSpPr>
          <p:cNvPr id="19459" name="内容占位符 2"/>
          <p:cNvSpPr>
            <a:spLocks noGrp="1"/>
          </p:cNvSpPr>
          <p:nvPr>
            <p:ph idx="1"/>
          </p:nvPr>
        </p:nvSpPr>
        <p:spPr/>
        <p:txBody>
          <a:bodyPr/>
          <a:lstStyle/>
          <a:p>
            <a:pPr marL="0" indent="0">
              <a:buFontTx/>
              <a:buNone/>
            </a:pPr>
            <a:r>
              <a:rPr lang="zh-CN" altLang="en-US" b="0" dirty="0" smtClean="0"/>
              <a:t>本方案检查带符号数相减是否溢出有没有问题？</a:t>
            </a:r>
            <a:endParaRPr lang="en-US" altLang="zh-CN" b="0" dirty="0" smtClean="0"/>
          </a:p>
          <a:p>
            <a:pPr marL="0" indent="0">
              <a:buFontTx/>
              <a:buNone/>
            </a:pPr>
            <a:endParaRPr lang="en-US" altLang="zh-CN" b="0" dirty="0" smtClean="0"/>
          </a:p>
          <a:p>
            <a:pPr marL="0" indent="0">
              <a:buFontTx/>
              <a:buNone/>
            </a:pPr>
            <a:endParaRPr lang="en-US" altLang="zh-CN" b="0" dirty="0" smtClean="0"/>
          </a:p>
          <a:p>
            <a:pPr marL="0" indent="0">
              <a:buFontTx/>
              <a:buNone/>
            </a:pPr>
            <a:endParaRPr lang="en-US" altLang="zh-CN" b="0" dirty="0" smtClean="0"/>
          </a:p>
          <a:p>
            <a:pPr marL="0" indent="0">
              <a:buFontTx/>
              <a:buNone/>
            </a:pPr>
            <a:endParaRPr lang="en-US" altLang="zh-CN" b="0" dirty="0" smtClean="0"/>
          </a:p>
          <a:p>
            <a:pPr marL="0" indent="0">
              <a:buFontTx/>
              <a:buNone/>
            </a:pPr>
            <a:r>
              <a:rPr lang="en-US" altLang="zh-CN" b="0" dirty="0" smtClean="0">
                <a:solidFill>
                  <a:srgbClr val="3366FF"/>
                </a:solidFill>
              </a:rPr>
              <a:t>/* Determine whether arguments can be subtracted without overflow */</a:t>
            </a:r>
          </a:p>
          <a:p>
            <a:pPr marL="0" indent="0">
              <a:buFontTx/>
              <a:buNone/>
            </a:pPr>
            <a:r>
              <a:rPr lang="en-US" altLang="zh-CN" b="0" dirty="0" smtClean="0">
                <a:solidFill>
                  <a:srgbClr val="3366FF"/>
                </a:solidFill>
              </a:rPr>
              <a:t>/* WARNING: This code is buggy. */</a:t>
            </a:r>
          </a:p>
          <a:p>
            <a:pPr marL="0" indent="0">
              <a:buFontTx/>
              <a:buNone/>
            </a:pPr>
            <a:r>
              <a:rPr lang="en-US" altLang="zh-CN" b="0" dirty="0" err="1" smtClean="0">
                <a:solidFill>
                  <a:srgbClr val="3366FF"/>
                </a:solidFill>
              </a:rPr>
              <a:t>int</a:t>
            </a:r>
            <a:r>
              <a:rPr lang="en-US" altLang="zh-CN" b="0" dirty="0" smtClean="0">
                <a:solidFill>
                  <a:srgbClr val="3366FF"/>
                </a:solidFill>
              </a:rPr>
              <a:t> </a:t>
            </a:r>
            <a:r>
              <a:rPr lang="en-US" altLang="zh-CN" b="0" dirty="0" err="1" smtClean="0">
                <a:solidFill>
                  <a:srgbClr val="3366FF"/>
                </a:solidFill>
              </a:rPr>
              <a:t>tsub_ok</a:t>
            </a:r>
            <a:r>
              <a:rPr lang="en-US" altLang="zh-CN" b="0" dirty="0" smtClean="0">
                <a:solidFill>
                  <a:srgbClr val="3366FF"/>
                </a:solidFill>
              </a:rPr>
              <a:t>(</a:t>
            </a:r>
            <a:r>
              <a:rPr lang="en-US" altLang="zh-CN" b="0" dirty="0" err="1" smtClean="0">
                <a:solidFill>
                  <a:srgbClr val="3366FF"/>
                </a:solidFill>
              </a:rPr>
              <a:t>int</a:t>
            </a:r>
            <a:r>
              <a:rPr lang="en-US" altLang="zh-CN" b="0" dirty="0" smtClean="0">
                <a:solidFill>
                  <a:srgbClr val="3366FF"/>
                </a:solidFill>
              </a:rPr>
              <a:t> x, </a:t>
            </a:r>
            <a:r>
              <a:rPr lang="en-US" altLang="zh-CN" b="0" dirty="0" err="1" smtClean="0">
                <a:solidFill>
                  <a:srgbClr val="3366FF"/>
                </a:solidFill>
              </a:rPr>
              <a:t>int</a:t>
            </a:r>
            <a:r>
              <a:rPr lang="en-US" altLang="zh-CN" b="0" dirty="0" smtClean="0">
                <a:solidFill>
                  <a:srgbClr val="3366FF"/>
                </a:solidFill>
              </a:rPr>
              <a:t> y) {</a:t>
            </a:r>
          </a:p>
          <a:p>
            <a:pPr marL="0" indent="0">
              <a:buFontTx/>
              <a:buNone/>
            </a:pPr>
            <a:r>
              <a:rPr lang="en-US" altLang="zh-CN" b="0" dirty="0" smtClean="0">
                <a:solidFill>
                  <a:srgbClr val="3366FF"/>
                </a:solidFill>
              </a:rPr>
              <a:t>       return </a:t>
            </a:r>
            <a:r>
              <a:rPr lang="en-US" altLang="zh-CN" b="0" dirty="0" err="1" smtClean="0">
                <a:solidFill>
                  <a:srgbClr val="3366FF"/>
                </a:solidFill>
              </a:rPr>
              <a:t>tadd_ok</a:t>
            </a:r>
            <a:r>
              <a:rPr lang="en-US" altLang="zh-CN" b="0" dirty="0" smtClean="0">
                <a:solidFill>
                  <a:srgbClr val="3366FF"/>
                </a:solidFill>
              </a:rPr>
              <a:t>(x, -y);</a:t>
            </a:r>
          </a:p>
          <a:p>
            <a:pPr marL="0" indent="0">
              <a:buFontTx/>
              <a:buNone/>
            </a:pPr>
            <a:r>
              <a:rPr lang="en-US" altLang="zh-CN" b="0" dirty="0" smtClean="0">
                <a:solidFill>
                  <a:srgbClr val="3366FF"/>
                </a:solidFill>
              </a:rPr>
              <a:t>}  </a:t>
            </a:r>
          </a:p>
          <a:p>
            <a:pPr marL="0" indent="0">
              <a:buFontTx/>
              <a:buNone/>
            </a:pPr>
            <a:r>
              <a:rPr lang="zh-CN" altLang="en-US" dirty="0" smtClean="0">
                <a:solidFill>
                  <a:srgbClr val="C00000"/>
                </a:solidFill>
                <a:latin typeface="微软雅黑" pitchFamily="34" charset="-122"/>
                <a:ea typeface="微软雅黑" pitchFamily="34" charset="-122"/>
              </a:rPr>
              <a:t>当</a:t>
            </a:r>
            <a:r>
              <a:rPr lang="en-US" altLang="zh-CN" dirty="0" smtClean="0">
                <a:solidFill>
                  <a:srgbClr val="C00000"/>
                </a:solidFill>
                <a:latin typeface="微软雅黑" pitchFamily="34" charset="-122"/>
                <a:ea typeface="微软雅黑" pitchFamily="34" charset="-122"/>
              </a:rPr>
              <a:t>x&lt;0</a:t>
            </a:r>
            <a:r>
              <a:rPr lang="zh-CN" altLang="en-US" dirty="0" smtClean="0">
                <a:solidFill>
                  <a:srgbClr val="C00000"/>
                </a:solidFill>
                <a:latin typeface="微软雅黑" pitchFamily="34" charset="-122"/>
                <a:ea typeface="微软雅黑" pitchFamily="34" charset="-122"/>
              </a:rPr>
              <a:t>，</a:t>
            </a:r>
            <a:r>
              <a:rPr lang="en-US" altLang="zh-CN" dirty="0" smtClean="0">
                <a:solidFill>
                  <a:srgbClr val="C00000"/>
                </a:solidFill>
                <a:latin typeface="微软雅黑" pitchFamily="34" charset="-122"/>
                <a:ea typeface="微软雅黑" pitchFamily="34" charset="-122"/>
              </a:rPr>
              <a:t>y=0x80000000</a:t>
            </a:r>
            <a:r>
              <a:rPr lang="zh-CN" altLang="en-US" dirty="0" smtClean="0">
                <a:solidFill>
                  <a:srgbClr val="C00000"/>
                </a:solidFill>
                <a:latin typeface="微软雅黑" pitchFamily="34" charset="-122"/>
                <a:ea typeface="微软雅黑" pitchFamily="34" charset="-122"/>
              </a:rPr>
              <a:t>时，该函数判断错误</a:t>
            </a:r>
          </a:p>
        </p:txBody>
      </p:sp>
      <p:pic>
        <p:nvPicPr>
          <p:cNvPr id="11268" name="Picture 4"/>
          <p:cNvPicPr>
            <a:picLocks noChangeAspect="1" noChangeArrowheads="1"/>
          </p:cNvPicPr>
          <p:nvPr/>
        </p:nvPicPr>
        <p:blipFill>
          <a:blip r:embed="rId2"/>
          <a:srcRect/>
          <a:stretch>
            <a:fillRect/>
          </a:stretch>
        </p:blipFill>
        <p:spPr bwMode="auto">
          <a:xfrm>
            <a:off x="1827213" y="1628775"/>
            <a:ext cx="5172075" cy="1257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dirty="0" smtClean="0"/>
              <a:t>例题</a:t>
            </a:r>
            <a:r>
              <a:rPr lang="en-US" altLang="zh-CN" dirty="0" smtClean="0"/>
              <a:t>3</a:t>
            </a:r>
            <a:endParaRPr lang="zh-CN" altLang="en-US" dirty="0" smtClean="0"/>
          </a:p>
        </p:txBody>
      </p:sp>
      <p:sp>
        <p:nvSpPr>
          <p:cNvPr id="19459" name="内容占位符 2"/>
          <p:cNvSpPr>
            <a:spLocks noGrp="1"/>
          </p:cNvSpPr>
          <p:nvPr>
            <p:ph idx="1"/>
          </p:nvPr>
        </p:nvSpPr>
        <p:spPr>
          <a:xfrm>
            <a:off x="468313" y="836612"/>
            <a:ext cx="8229600" cy="5748337"/>
          </a:xfrm>
        </p:spPr>
        <p:txBody>
          <a:bodyPr/>
          <a:lstStyle/>
          <a:p>
            <a:pPr marL="0" indent="0">
              <a:buFontTx/>
              <a:buNone/>
            </a:pPr>
            <a:r>
              <a:rPr lang="zh-CN" altLang="en-US" b="0" dirty="0" smtClean="0"/>
              <a:t>本方案检查带符号数相减是否溢出有没有问题？</a:t>
            </a:r>
            <a:endParaRPr lang="en-US" altLang="zh-CN" b="0" dirty="0" smtClean="0"/>
          </a:p>
          <a:p>
            <a:pPr marL="0" indent="0">
              <a:buFontTx/>
              <a:buNone/>
            </a:pPr>
            <a:endParaRPr lang="en-US" altLang="zh-CN" b="0" dirty="0" smtClean="0"/>
          </a:p>
          <a:p>
            <a:pPr marL="0" indent="0">
              <a:buFontTx/>
              <a:buNone/>
            </a:pPr>
            <a:endParaRPr lang="en-US" altLang="zh-CN" b="0" dirty="0" smtClean="0"/>
          </a:p>
          <a:p>
            <a:pPr marL="0" indent="0">
              <a:buFontTx/>
              <a:buNone/>
            </a:pPr>
            <a:endParaRPr lang="en-US" altLang="zh-CN" b="0" dirty="0" smtClean="0"/>
          </a:p>
          <a:p>
            <a:pPr marL="0" indent="0">
              <a:buFontTx/>
              <a:buNone/>
            </a:pPr>
            <a:endParaRPr lang="en-US" altLang="zh-CN" b="0" dirty="0" smtClean="0"/>
          </a:p>
          <a:p>
            <a:pPr marL="0" indent="0">
              <a:buFontTx/>
              <a:buNone/>
            </a:pPr>
            <a:r>
              <a:rPr lang="en-US" altLang="zh-CN" b="0" dirty="0" smtClean="0">
                <a:solidFill>
                  <a:srgbClr val="3366FF"/>
                </a:solidFill>
              </a:rPr>
              <a:t>/* Determine whether arguments can be subtracted without overflow */</a:t>
            </a:r>
          </a:p>
          <a:p>
            <a:pPr>
              <a:buNone/>
            </a:pPr>
            <a:r>
              <a:rPr lang="en-US" altLang="zh-CN" sz="2000" dirty="0" err="1" smtClean="0">
                <a:solidFill>
                  <a:srgbClr val="3366FF"/>
                </a:solidFill>
              </a:rPr>
              <a:t>int</a:t>
            </a:r>
            <a:r>
              <a:rPr lang="en-US" altLang="zh-CN" sz="2000" dirty="0" smtClean="0">
                <a:solidFill>
                  <a:srgbClr val="3366FF"/>
                </a:solidFill>
              </a:rPr>
              <a:t> </a:t>
            </a:r>
            <a:r>
              <a:rPr lang="en-US" altLang="zh-CN" sz="2000" dirty="0" err="1" smtClean="0">
                <a:solidFill>
                  <a:srgbClr val="3366FF"/>
                </a:solidFill>
              </a:rPr>
              <a:t>tsub_ok</a:t>
            </a:r>
            <a:r>
              <a:rPr lang="en-US" altLang="zh-CN" sz="2000" dirty="0" smtClean="0">
                <a:solidFill>
                  <a:srgbClr val="3366FF"/>
                </a:solidFill>
              </a:rPr>
              <a:t>(</a:t>
            </a:r>
            <a:r>
              <a:rPr lang="en-US" altLang="zh-CN" sz="2000" dirty="0" err="1" smtClean="0">
                <a:solidFill>
                  <a:srgbClr val="3366FF"/>
                </a:solidFill>
              </a:rPr>
              <a:t>int</a:t>
            </a:r>
            <a:r>
              <a:rPr lang="en-US" altLang="zh-CN" sz="2000" dirty="0" smtClean="0">
                <a:solidFill>
                  <a:srgbClr val="3366FF"/>
                </a:solidFill>
              </a:rPr>
              <a:t> x, </a:t>
            </a:r>
            <a:r>
              <a:rPr lang="en-US" altLang="zh-CN" sz="2000" dirty="0" err="1" smtClean="0">
                <a:solidFill>
                  <a:srgbClr val="3366FF"/>
                </a:solidFill>
              </a:rPr>
              <a:t>int</a:t>
            </a:r>
            <a:r>
              <a:rPr lang="en-US" altLang="zh-CN" sz="2000" dirty="0" smtClean="0">
                <a:solidFill>
                  <a:srgbClr val="3366FF"/>
                </a:solidFill>
              </a:rPr>
              <a:t> y) {</a:t>
            </a:r>
          </a:p>
          <a:p>
            <a:pPr>
              <a:buNone/>
            </a:pPr>
            <a:r>
              <a:rPr lang="en-US" altLang="zh-CN" sz="2000" dirty="0" smtClean="0">
                <a:solidFill>
                  <a:srgbClr val="3366FF"/>
                </a:solidFill>
              </a:rPr>
              <a:t>	</a:t>
            </a:r>
            <a:r>
              <a:rPr lang="en-US" altLang="zh-CN" sz="2000" dirty="0" err="1" smtClean="0">
                <a:solidFill>
                  <a:srgbClr val="3366FF"/>
                </a:solidFill>
              </a:rPr>
              <a:t>int</a:t>
            </a:r>
            <a:r>
              <a:rPr lang="en-US" altLang="zh-CN" sz="2000" dirty="0" smtClean="0">
                <a:solidFill>
                  <a:srgbClr val="3366FF"/>
                </a:solidFill>
              </a:rPr>
              <a:t> diff = x-y;</a:t>
            </a:r>
          </a:p>
          <a:p>
            <a:pPr>
              <a:buNone/>
            </a:pPr>
            <a:r>
              <a:rPr lang="en-US" altLang="zh-CN" sz="2000" dirty="0" smtClean="0">
                <a:solidFill>
                  <a:srgbClr val="3366FF"/>
                </a:solidFill>
              </a:rPr>
              <a:t>	</a:t>
            </a:r>
            <a:r>
              <a:rPr lang="en-US" altLang="zh-CN" sz="2000" dirty="0" err="1" smtClean="0">
                <a:solidFill>
                  <a:srgbClr val="3366FF"/>
                </a:solidFill>
              </a:rPr>
              <a:t>int</a:t>
            </a:r>
            <a:r>
              <a:rPr lang="en-US" altLang="zh-CN" sz="2000" dirty="0" smtClean="0">
                <a:solidFill>
                  <a:srgbClr val="3366FF"/>
                </a:solidFill>
              </a:rPr>
              <a:t> </a:t>
            </a:r>
            <a:r>
              <a:rPr lang="en-US" altLang="zh-CN" sz="2000" dirty="0" err="1" smtClean="0">
                <a:solidFill>
                  <a:srgbClr val="3366FF"/>
                </a:solidFill>
              </a:rPr>
              <a:t>neg_over</a:t>
            </a:r>
            <a:r>
              <a:rPr lang="en-US" altLang="zh-CN" sz="2000" dirty="0" smtClean="0">
                <a:solidFill>
                  <a:srgbClr val="3366FF"/>
                </a:solidFill>
              </a:rPr>
              <a:t> = x &lt; 0 &amp;&amp; y &gt;= 0 &amp;&amp; diff &gt;= 0;</a:t>
            </a:r>
          </a:p>
          <a:p>
            <a:pPr>
              <a:buNone/>
            </a:pPr>
            <a:r>
              <a:rPr lang="en-US" altLang="zh-CN" sz="2000" dirty="0" smtClean="0">
                <a:solidFill>
                  <a:srgbClr val="3366FF"/>
                </a:solidFill>
              </a:rPr>
              <a:t>	</a:t>
            </a:r>
            <a:r>
              <a:rPr lang="en-US" altLang="zh-CN" sz="2000" dirty="0" err="1" smtClean="0">
                <a:solidFill>
                  <a:srgbClr val="3366FF"/>
                </a:solidFill>
              </a:rPr>
              <a:t>int</a:t>
            </a:r>
            <a:r>
              <a:rPr lang="en-US" altLang="zh-CN" sz="2000" dirty="0" smtClean="0">
                <a:solidFill>
                  <a:srgbClr val="3366FF"/>
                </a:solidFill>
              </a:rPr>
              <a:t> </a:t>
            </a:r>
            <a:r>
              <a:rPr lang="en-US" altLang="zh-CN" sz="2000" dirty="0" err="1" smtClean="0">
                <a:solidFill>
                  <a:srgbClr val="3366FF"/>
                </a:solidFill>
              </a:rPr>
              <a:t>pos_over</a:t>
            </a:r>
            <a:r>
              <a:rPr lang="en-US" altLang="zh-CN" sz="2000" dirty="0" smtClean="0">
                <a:solidFill>
                  <a:srgbClr val="3366FF"/>
                </a:solidFill>
              </a:rPr>
              <a:t> = x &gt;= 0 &amp;&amp; y &lt; 0 &amp;&amp; diff &lt; 0;</a:t>
            </a:r>
          </a:p>
          <a:p>
            <a:pPr>
              <a:buNone/>
            </a:pPr>
            <a:r>
              <a:rPr lang="en-US" altLang="zh-CN" sz="2000" dirty="0" smtClean="0">
                <a:solidFill>
                  <a:srgbClr val="3366FF"/>
                </a:solidFill>
              </a:rPr>
              <a:t>	return !</a:t>
            </a:r>
            <a:r>
              <a:rPr lang="en-US" altLang="zh-CN" sz="2000" dirty="0" err="1" smtClean="0">
                <a:solidFill>
                  <a:srgbClr val="3366FF"/>
                </a:solidFill>
              </a:rPr>
              <a:t>neg_over</a:t>
            </a:r>
            <a:r>
              <a:rPr lang="en-US" altLang="zh-CN" sz="2000" dirty="0" smtClean="0">
                <a:solidFill>
                  <a:srgbClr val="3366FF"/>
                </a:solidFill>
              </a:rPr>
              <a:t> &amp;&amp; !</a:t>
            </a:r>
            <a:r>
              <a:rPr lang="en-US" altLang="zh-CN" sz="2000" dirty="0" err="1" smtClean="0">
                <a:solidFill>
                  <a:srgbClr val="3366FF"/>
                </a:solidFill>
              </a:rPr>
              <a:t>pos_over</a:t>
            </a:r>
            <a:r>
              <a:rPr lang="en-US" altLang="zh-CN" sz="2000" dirty="0" smtClean="0">
                <a:solidFill>
                  <a:srgbClr val="3366FF"/>
                </a:solidFill>
              </a:rPr>
              <a:t>;</a:t>
            </a:r>
          </a:p>
          <a:p>
            <a:pPr>
              <a:buNone/>
            </a:pPr>
            <a:r>
              <a:rPr lang="en-US" altLang="zh-CN" sz="2000" dirty="0" smtClean="0">
                <a:solidFill>
                  <a:srgbClr val="3366FF"/>
                </a:solidFill>
              </a:rPr>
              <a:t>}</a:t>
            </a:r>
            <a:endParaRPr lang="zh-CN" altLang="en-US" sz="2000" dirty="0" smtClean="0">
              <a:solidFill>
                <a:srgbClr val="3366FF"/>
              </a:solidFill>
              <a:latin typeface="微软雅黑" pitchFamily="34" charset="-122"/>
              <a:ea typeface="微软雅黑" pitchFamily="34" charset="-122"/>
            </a:endParaRPr>
          </a:p>
        </p:txBody>
      </p:sp>
      <p:pic>
        <p:nvPicPr>
          <p:cNvPr id="11268" name="Picture 4"/>
          <p:cNvPicPr>
            <a:picLocks noChangeAspect="1" noChangeArrowheads="1"/>
          </p:cNvPicPr>
          <p:nvPr/>
        </p:nvPicPr>
        <p:blipFill>
          <a:blip r:embed="rId2"/>
          <a:srcRect/>
          <a:stretch>
            <a:fillRect/>
          </a:stretch>
        </p:blipFill>
        <p:spPr bwMode="auto">
          <a:xfrm>
            <a:off x="1827213" y="1628775"/>
            <a:ext cx="5172075" cy="1257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dirty="0" smtClean="0"/>
              <a:t>例题</a:t>
            </a:r>
            <a:r>
              <a:rPr lang="en-US" altLang="zh-CN" dirty="0" smtClean="0"/>
              <a:t>5</a:t>
            </a:r>
            <a:endParaRPr lang="zh-CN" altLang="en-US" dirty="0" smtClean="0"/>
          </a:p>
        </p:txBody>
      </p:sp>
      <p:sp>
        <p:nvSpPr>
          <p:cNvPr id="20483" name="内容占位符 2"/>
          <p:cNvSpPr>
            <a:spLocks noGrp="1"/>
          </p:cNvSpPr>
          <p:nvPr>
            <p:ph idx="1"/>
          </p:nvPr>
        </p:nvSpPr>
        <p:spPr/>
        <p:txBody>
          <a:bodyPr/>
          <a:lstStyle/>
          <a:p>
            <a:pPr marL="0" indent="0">
              <a:lnSpc>
                <a:spcPct val="90000"/>
              </a:lnSpc>
              <a:buFontTx/>
              <a:buNone/>
            </a:pPr>
            <a:r>
              <a:rPr lang="zh-CN" altLang="en-US" b="0" dirty="0" smtClean="0"/>
              <a:t>在</a:t>
            </a:r>
            <a:r>
              <a:rPr lang="en-US" altLang="zh-CN" b="0" dirty="0" smtClean="0"/>
              <a:t>32</a:t>
            </a:r>
            <a:r>
              <a:rPr lang="zh-CN" altLang="en-US" b="0" dirty="0" smtClean="0"/>
              <a:t>位机器上，带符号移位使用算术移位，无符号使用逻辑移位。</a:t>
            </a:r>
            <a:endParaRPr lang="en-US" altLang="zh-CN" b="0" dirty="0" smtClean="0"/>
          </a:p>
          <a:p>
            <a:pPr marL="0" indent="0">
              <a:lnSpc>
                <a:spcPct val="90000"/>
              </a:lnSpc>
              <a:buFontTx/>
              <a:buNone/>
            </a:pPr>
            <a:r>
              <a:rPr lang="en-US" altLang="zh-CN" b="0" dirty="0" err="1" smtClean="0"/>
              <a:t>int</a:t>
            </a:r>
            <a:r>
              <a:rPr lang="en-US" altLang="zh-CN" b="0" dirty="0" smtClean="0"/>
              <a:t> x = random();//</a:t>
            </a:r>
            <a:r>
              <a:rPr lang="zh-CN" altLang="en-US" b="0" dirty="0" smtClean="0"/>
              <a:t>随机值</a:t>
            </a:r>
            <a:r>
              <a:rPr lang="en-US" altLang="zh-CN" b="0" dirty="0" smtClean="0"/>
              <a:t> </a:t>
            </a:r>
          </a:p>
          <a:p>
            <a:pPr marL="0" indent="0">
              <a:lnSpc>
                <a:spcPct val="90000"/>
              </a:lnSpc>
              <a:buFontTx/>
              <a:buNone/>
            </a:pPr>
            <a:r>
              <a:rPr lang="en-US" altLang="zh-CN" b="0" dirty="0" err="1" smtClean="0"/>
              <a:t>int</a:t>
            </a:r>
            <a:r>
              <a:rPr lang="en-US" altLang="zh-CN" b="0" dirty="0" smtClean="0"/>
              <a:t> y = random(); //</a:t>
            </a:r>
            <a:r>
              <a:rPr lang="zh-CN" altLang="en-US" b="0" dirty="0" smtClean="0"/>
              <a:t>随机值</a:t>
            </a:r>
            <a:endParaRPr lang="en-US" altLang="zh-CN" b="0" dirty="0" smtClean="0"/>
          </a:p>
          <a:p>
            <a:pPr marL="0" indent="0">
              <a:lnSpc>
                <a:spcPct val="90000"/>
              </a:lnSpc>
              <a:buFontTx/>
              <a:buNone/>
            </a:pPr>
            <a:r>
              <a:rPr lang="en-US" altLang="zh-CN" b="0" dirty="0" smtClean="0"/>
              <a:t>unsigned </a:t>
            </a:r>
            <a:r>
              <a:rPr lang="en-US" altLang="zh-CN" b="0" dirty="0" err="1" smtClean="0"/>
              <a:t>ux</a:t>
            </a:r>
            <a:r>
              <a:rPr lang="en-US" altLang="zh-CN" b="0" dirty="0" smtClean="0"/>
              <a:t> = x;</a:t>
            </a:r>
          </a:p>
          <a:p>
            <a:pPr marL="0" indent="0">
              <a:lnSpc>
                <a:spcPct val="90000"/>
              </a:lnSpc>
              <a:buFontTx/>
              <a:buNone/>
            </a:pPr>
            <a:r>
              <a:rPr lang="en-US" altLang="zh-CN" b="0" dirty="0" smtClean="0"/>
              <a:t>unsigned </a:t>
            </a:r>
            <a:r>
              <a:rPr lang="en-US" altLang="zh-CN" b="0" dirty="0" err="1" smtClean="0"/>
              <a:t>uy</a:t>
            </a:r>
            <a:r>
              <a:rPr lang="en-US" altLang="zh-CN" b="0" dirty="0" smtClean="0"/>
              <a:t> = y;</a:t>
            </a:r>
          </a:p>
          <a:p>
            <a:pPr marL="0" indent="0">
              <a:lnSpc>
                <a:spcPct val="90000"/>
              </a:lnSpc>
              <a:buFontTx/>
              <a:buNone/>
            </a:pPr>
            <a:r>
              <a:rPr lang="zh-CN" altLang="en-US" b="0" dirty="0" smtClean="0"/>
              <a:t>判断下列表达式的值，为什么？</a:t>
            </a:r>
            <a:endParaRPr lang="en-US" altLang="zh-CN" b="0" dirty="0" smtClean="0"/>
          </a:p>
          <a:p>
            <a:pPr marL="0" indent="0">
              <a:lnSpc>
                <a:spcPct val="90000"/>
              </a:lnSpc>
              <a:buFontTx/>
              <a:buNone/>
            </a:pPr>
            <a:endParaRPr lang="en-US" altLang="zh-CN" b="0" dirty="0" smtClean="0"/>
          </a:p>
          <a:p>
            <a:pPr marL="0" indent="0">
              <a:lnSpc>
                <a:spcPct val="90000"/>
              </a:lnSpc>
              <a:buFontTx/>
              <a:buNone/>
            </a:pPr>
            <a:r>
              <a:rPr lang="en-US" altLang="zh-CN" b="0" dirty="0" smtClean="0"/>
              <a:t>(x &gt; 0) || (x-1 &lt; 0)</a:t>
            </a:r>
          </a:p>
          <a:p>
            <a:pPr marL="0" indent="0">
              <a:lnSpc>
                <a:spcPct val="90000"/>
              </a:lnSpc>
              <a:buFontTx/>
              <a:buNone/>
            </a:pPr>
            <a:r>
              <a:rPr lang="en-US" altLang="zh-CN" b="0" dirty="0" smtClean="0"/>
              <a:t>(x &amp; 7) != 7 || (x&lt;&lt;29 &lt; 0)</a:t>
            </a:r>
          </a:p>
          <a:p>
            <a:pPr marL="0" indent="0">
              <a:lnSpc>
                <a:spcPct val="90000"/>
              </a:lnSpc>
              <a:buFontTx/>
              <a:buNone/>
            </a:pPr>
            <a:r>
              <a:rPr lang="en-US" altLang="zh-CN" b="0" dirty="0" smtClean="0"/>
              <a:t>(x * x) &gt;= 0</a:t>
            </a:r>
          </a:p>
          <a:p>
            <a:pPr marL="0" indent="0">
              <a:lnSpc>
                <a:spcPct val="90000"/>
              </a:lnSpc>
              <a:buFontTx/>
              <a:buNone/>
            </a:pPr>
            <a:r>
              <a:rPr lang="en-US" altLang="zh-CN" b="0" dirty="0" smtClean="0"/>
              <a:t>x &lt; 0 || -x &lt;= 0</a:t>
            </a:r>
          </a:p>
          <a:p>
            <a:pPr marL="0" indent="0">
              <a:lnSpc>
                <a:spcPct val="90000"/>
              </a:lnSpc>
              <a:buFontTx/>
              <a:buNone/>
            </a:pPr>
            <a:r>
              <a:rPr lang="en-US" altLang="zh-CN" b="0" dirty="0" smtClean="0"/>
              <a:t>x &gt; 0 || -x &gt;= 0</a:t>
            </a:r>
          </a:p>
          <a:p>
            <a:pPr marL="0" indent="0">
              <a:lnSpc>
                <a:spcPct val="90000"/>
              </a:lnSpc>
              <a:buFontTx/>
              <a:buNone/>
            </a:pPr>
            <a:r>
              <a:rPr lang="en-US" altLang="zh-CN" b="0" dirty="0" err="1" smtClean="0"/>
              <a:t>x+y</a:t>
            </a:r>
            <a:r>
              <a:rPr lang="en-US" altLang="zh-CN" b="0" dirty="0" smtClean="0"/>
              <a:t> == </a:t>
            </a:r>
            <a:r>
              <a:rPr lang="en-US" altLang="zh-CN" b="0" dirty="0" err="1" smtClean="0"/>
              <a:t>uy+ux</a:t>
            </a:r>
            <a:endParaRPr lang="en-US" altLang="zh-CN" b="0" dirty="0" smtClean="0"/>
          </a:p>
        </p:txBody>
      </p:sp>
      <p:sp>
        <p:nvSpPr>
          <p:cNvPr id="4" name="TextBox 3"/>
          <p:cNvSpPr txBox="1">
            <a:spLocks noChangeArrowheads="1"/>
          </p:cNvSpPr>
          <p:nvPr/>
        </p:nvSpPr>
        <p:spPr bwMode="auto">
          <a:xfrm>
            <a:off x="4260850" y="3917950"/>
            <a:ext cx="4667250" cy="461665"/>
          </a:xfrm>
          <a:prstGeom prst="rect">
            <a:avLst/>
          </a:prstGeom>
          <a:noFill/>
          <a:ln w="9525">
            <a:noFill/>
            <a:miter lim="800000"/>
            <a:headEnd/>
            <a:tailEnd/>
          </a:ln>
        </p:spPr>
        <p:txBody>
          <a:bodyPr wrap="square">
            <a:spAutoFit/>
          </a:bodyPr>
          <a:lstStyle/>
          <a:p>
            <a:r>
              <a:rPr lang="en-US" altLang="zh-CN" sz="2400" b="1" dirty="0" smtClean="0">
                <a:solidFill>
                  <a:srgbClr val="C00000"/>
                </a:solidFill>
              </a:rPr>
              <a:t>false: x = 0x80000000</a:t>
            </a:r>
            <a:endParaRPr lang="zh-CN" altLang="en-US" sz="2400" b="1" dirty="0">
              <a:solidFill>
                <a:srgbClr val="C00000"/>
              </a:solidFill>
            </a:endParaRPr>
          </a:p>
        </p:txBody>
      </p:sp>
      <p:sp>
        <p:nvSpPr>
          <p:cNvPr id="5" name="TextBox 4"/>
          <p:cNvSpPr txBox="1">
            <a:spLocks noChangeArrowheads="1"/>
          </p:cNvSpPr>
          <p:nvPr/>
        </p:nvSpPr>
        <p:spPr bwMode="auto">
          <a:xfrm>
            <a:off x="4260850" y="4318000"/>
            <a:ext cx="946150" cy="461963"/>
          </a:xfrm>
          <a:prstGeom prst="rect">
            <a:avLst/>
          </a:prstGeom>
          <a:noFill/>
          <a:ln w="9525">
            <a:noFill/>
            <a:miter lim="800000"/>
            <a:headEnd/>
            <a:tailEnd/>
          </a:ln>
        </p:spPr>
        <p:txBody>
          <a:bodyPr>
            <a:spAutoFit/>
          </a:bodyPr>
          <a:lstStyle/>
          <a:p>
            <a:r>
              <a:rPr lang="en-US" altLang="zh-CN" sz="2400" b="1" dirty="0">
                <a:solidFill>
                  <a:srgbClr val="C00000"/>
                </a:solidFill>
              </a:rPr>
              <a:t>true</a:t>
            </a:r>
            <a:endParaRPr lang="zh-CN" altLang="en-US" sz="2400" b="1" dirty="0">
              <a:solidFill>
                <a:srgbClr val="C00000"/>
              </a:solidFill>
            </a:endParaRPr>
          </a:p>
        </p:txBody>
      </p:sp>
      <p:sp>
        <p:nvSpPr>
          <p:cNvPr id="6" name="TextBox 5"/>
          <p:cNvSpPr txBox="1">
            <a:spLocks noChangeArrowheads="1"/>
          </p:cNvSpPr>
          <p:nvPr/>
        </p:nvSpPr>
        <p:spPr bwMode="auto">
          <a:xfrm>
            <a:off x="4260850" y="4718050"/>
            <a:ext cx="4667250" cy="461665"/>
          </a:xfrm>
          <a:prstGeom prst="rect">
            <a:avLst/>
          </a:prstGeom>
          <a:noFill/>
          <a:ln w="9525">
            <a:noFill/>
            <a:miter lim="800000"/>
            <a:headEnd/>
            <a:tailEnd/>
          </a:ln>
        </p:spPr>
        <p:txBody>
          <a:bodyPr wrap="square">
            <a:spAutoFit/>
          </a:bodyPr>
          <a:lstStyle/>
          <a:p>
            <a:r>
              <a:rPr lang="en-US" altLang="zh-CN" sz="2400" b="1" dirty="0" smtClean="0">
                <a:solidFill>
                  <a:srgbClr val="C00000"/>
                </a:solidFill>
              </a:rPr>
              <a:t>false: </a:t>
            </a:r>
            <a:r>
              <a:rPr lang="nl-NL" altLang="zh-CN" sz="2000" b="1" dirty="0" smtClean="0">
                <a:solidFill>
                  <a:srgbClr val="C00000"/>
                </a:solidFill>
              </a:rPr>
              <a:t>x = 0xFFFF, x*x = 0xFFFE0001</a:t>
            </a:r>
            <a:endParaRPr lang="zh-CN" altLang="en-US" sz="2400" b="1" dirty="0">
              <a:solidFill>
                <a:srgbClr val="C00000"/>
              </a:solidFill>
            </a:endParaRPr>
          </a:p>
        </p:txBody>
      </p:sp>
      <p:sp>
        <p:nvSpPr>
          <p:cNvPr id="7" name="TextBox 6"/>
          <p:cNvSpPr txBox="1">
            <a:spLocks noChangeArrowheads="1"/>
          </p:cNvSpPr>
          <p:nvPr/>
        </p:nvSpPr>
        <p:spPr bwMode="auto">
          <a:xfrm>
            <a:off x="4260850" y="5118100"/>
            <a:ext cx="946150" cy="461963"/>
          </a:xfrm>
          <a:prstGeom prst="rect">
            <a:avLst/>
          </a:prstGeom>
          <a:noFill/>
          <a:ln w="9525">
            <a:noFill/>
            <a:miter lim="800000"/>
            <a:headEnd/>
            <a:tailEnd/>
          </a:ln>
        </p:spPr>
        <p:txBody>
          <a:bodyPr>
            <a:spAutoFit/>
          </a:bodyPr>
          <a:lstStyle/>
          <a:p>
            <a:r>
              <a:rPr lang="en-US" altLang="zh-CN" sz="2400" b="1" dirty="0">
                <a:solidFill>
                  <a:srgbClr val="C00000"/>
                </a:solidFill>
              </a:rPr>
              <a:t>true</a:t>
            </a:r>
            <a:endParaRPr lang="zh-CN" altLang="en-US" sz="2400" b="1" dirty="0">
              <a:solidFill>
                <a:srgbClr val="C00000"/>
              </a:solidFill>
            </a:endParaRPr>
          </a:p>
        </p:txBody>
      </p:sp>
      <p:sp>
        <p:nvSpPr>
          <p:cNvPr id="8" name="TextBox 7"/>
          <p:cNvSpPr txBox="1">
            <a:spLocks noChangeArrowheads="1"/>
          </p:cNvSpPr>
          <p:nvPr/>
        </p:nvSpPr>
        <p:spPr bwMode="auto">
          <a:xfrm>
            <a:off x="4260850" y="5518150"/>
            <a:ext cx="4711700" cy="461963"/>
          </a:xfrm>
          <a:prstGeom prst="rect">
            <a:avLst/>
          </a:prstGeom>
          <a:noFill/>
          <a:ln w="9525">
            <a:noFill/>
            <a:miter lim="800000"/>
            <a:headEnd/>
            <a:tailEnd/>
          </a:ln>
        </p:spPr>
        <p:txBody>
          <a:bodyPr wrap="square">
            <a:spAutoFit/>
          </a:bodyPr>
          <a:lstStyle/>
          <a:p>
            <a:r>
              <a:rPr lang="en-US" altLang="zh-CN" sz="2400" b="1" dirty="0" smtClean="0">
                <a:solidFill>
                  <a:srgbClr val="C00000"/>
                </a:solidFill>
              </a:rPr>
              <a:t>false: x = 0x80000000</a:t>
            </a:r>
            <a:endParaRPr lang="zh-CN" altLang="en-US" sz="2400" b="1" dirty="0">
              <a:solidFill>
                <a:srgbClr val="C00000"/>
              </a:solidFill>
            </a:endParaRPr>
          </a:p>
        </p:txBody>
      </p:sp>
      <p:sp>
        <p:nvSpPr>
          <p:cNvPr id="10" name="TextBox 9"/>
          <p:cNvSpPr txBox="1">
            <a:spLocks noChangeArrowheads="1"/>
          </p:cNvSpPr>
          <p:nvPr/>
        </p:nvSpPr>
        <p:spPr bwMode="auto">
          <a:xfrm>
            <a:off x="4260850" y="5945187"/>
            <a:ext cx="946150" cy="461963"/>
          </a:xfrm>
          <a:prstGeom prst="rect">
            <a:avLst/>
          </a:prstGeom>
          <a:noFill/>
          <a:ln w="9525">
            <a:noFill/>
            <a:miter lim="800000"/>
            <a:headEnd/>
            <a:tailEnd/>
          </a:ln>
        </p:spPr>
        <p:txBody>
          <a:bodyPr>
            <a:spAutoFit/>
          </a:bodyPr>
          <a:lstStyle/>
          <a:p>
            <a:r>
              <a:rPr lang="en-US" altLang="zh-CN" sz="2400" b="1" dirty="0">
                <a:solidFill>
                  <a:srgbClr val="C00000"/>
                </a:solidFill>
              </a:rPr>
              <a:t>true</a:t>
            </a:r>
            <a:endParaRPr lang="zh-CN" altLang="en-US" sz="24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a:xfrm>
            <a:off x="457200" y="98425"/>
            <a:ext cx="8229600" cy="561975"/>
          </a:xfrm>
        </p:spPr>
        <p:txBody>
          <a:bodyPr/>
          <a:lstStyle/>
          <a:p>
            <a:r>
              <a:rPr lang="zh-CN" altLang="en-US" dirty="0" smtClean="0"/>
              <a:t>整数变量与常数之间的除运算</a:t>
            </a:r>
            <a:r>
              <a:rPr lang="zh-CN" altLang="en-US" sz="3600" dirty="0" smtClean="0"/>
              <a:t> </a:t>
            </a:r>
          </a:p>
        </p:txBody>
      </p:sp>
      <p:sp>
        <p:nvSpPr>
          <p:cNvPr id="739331" name="Rectangle 3"/>
          <p:cNvSpPr>
            <a:spLocks noGrp="1" noChangeArrowheads="1"/>
          </p:cNvSpPr>
          <p:nvPr>
            <p:ph type="body" idx="1"/>
          </p:nvPr>
        </p:nvSpPr>
        <p:spPr>
          <a:xfrm>
            <a:off x="250825" y="819150"/>
            <a:ext cx="8596313" cy="5715000"/>
          </a:xfrm>
        </p:spPr>
        <p:txBody>
          <a:bodyPr/>
          <a:lstStyle/>
          <a:p>
            <a:pPr>
              <a:lnSpc>
                <a:spcPct val="110000"/>
              </a:lnSpc>
              <a:spcBef>
                <a:spcPct val="30000"/>
              </a:spcBef>
            </a:pPr>
            <a:r>
              <a:rPr lang="zh-CN" altLang="en-US" sz="2200" dirty="0" smtClean="0">
                <a:latin typeface="微软雅黑" pitchFamily="34" charset="-122"/>
                <a:ea typeface="微软雅黑" pitchFamily="34" charset="-122"/>
              </a:rPr>
              <a:t>不能整除时，采用</a:t>
            </a:r>
            <a:r>
              <a:rPr lang="zh-CN" altLang="en-US" sz="2200" dirty="0" smtClean="0">
                <a:solidFill>
                  <a:srgbClr val="CC3300"/>
                </a:solidFill>
                <a:latin typeface="微软雅黑" pitchFamily="34" charset="-122"/>
                <a:ea typeface="微软雅黑" pitchFamily="34" charset="-122"/>
              </a:rPr>
              <a:t>朝零舍入</a:t>
            </a:r>
            <a:r>
              <a:rPr lang="zh-CN" altLang="en-US" sz="2200" dirty="0" smtClean="0">
                <a:latin typeface="微软雅黑" pitchFamily="34" charset="-122"/>
                <a:ea typeface="微软雅黑" pitchFamily="34" charset="-122"/>
              </a:rPr>
              <a:t>，即</a:t>
            </a:r>
            <a:r>
              <a:rPr lang="zh-CN" altLang="en-US" sz="2200" dirty="0" smtClean="0">
                <a:solidFill>
                  <a:srgbClr val="CC3300"/>
                </a:solidFill>
                <a:latin typeface="微软雅黑" pitchFamily="34" charset="-122"/>
                <a:ea typeface="微软雅黑" pitchFamily="34" charset="-122"/>
              </a:rPr>
              <a:t>截断</a:t>
            </a:r>
            <a:r>
              <a:rPr lang="zh-CN" altLang="en-US" sz="2200" dirty="0" smtClean="0">
                <a:latin typeface="微软雅黑" pitchFamily="34" charset="-122"/>
                <a:ea typeface="微软雅黑" pitchFamily="34" charset="-122"/>
              </a:rPr>
              <a:t>方式</a:t>
            </a:r>
          </a:p>
          <a:p>
            <a:pPr lvl="1">
              <a:lnSpc>
                <a:spcPct val="110000"/>
              </a:lnSpc>
              <a:spcBef>
                <a:spcPct val="30000"/>
              </a:spcBef>
            </a:pPr>
            <a:r>
              <a:rPr lang="zh-CN" altLang="en-US" sz="2200" dirty="0" smtClean="0">
                <a:latin typeface="微软雅黑" pitchFamily="34" charset="-122"/>
                <a:ea typeface="微软雅黑" pitchFamily="34" charset="-122"/>
              </a:rPr>
              <a:t>无符号数、带符号正整数（</a:t>
            </a:r>
            <a:r>
              <a:rPr lang="en-US" altLang="zh-CN" sz="2200" dirty="0" smtClean="0">
                <a:latin typeface="微软雅黑" pitchFamily="34" charset="-122"/>
                <a:ea typeface="微软雅黑" pitchFamily="34" charset="-122"/>
              </a:rPr>
              <a:t>floor</a:t>
            </a:r>
            <a:r>
              <a:rPr lang="zh-CN" altLang="en-US" sz="2200" dirty="0" smtClean="0">
                <a:latin typeface="微软雅黑" pitchFamily="34" charset="-122"/>
                <a:ea typeface="微软雅黑" pitchFamily="34" charset="-122"/>
              </a:rPr>
              <a:t>）：</a:t>
            </a:r>
            <a:r>
              <a:rPr lang="zh-CN" altLang="en-US" sz="2200" dirty="0" smtClean="0">
                <a:solidFill>
                  <a:srgbClr val="00B050"/>
                </a:solidFill>
                <a:latin typeface="微软雅黑" pitchFamily="34" charset="-122"/>
                <a:ea typeface="微软雅黑" pitchFamily="34" charset="-122"/>
              </a:rPr>
              <a:t>移出的低位直接丢弃</a:t>
            </a:r>
          </a:p>
          <a:p>
            <a:pPr lvl="1">
              <a:lnSpc>
                <a:spcPct val="110000"/>
              </a:lnSpc>
              <a:spcBef>
                <a:spcPct val="30000"/>
              </a:spcBef>
            </a:pPr>
            <a:r>
              <a:rPr lang="zh-CN" altLang="en-US" sz="2200" dirty="0" smtClean="0">
                <a:solidFill>
                  <a:srgbClr val="0033CC"/>
                </a:solidFill>
                <a:latin typeface="微软雅黑" pitchFamily="34" charset="-122"/>
                <a:ea typeface="微软雅黑" pitchFamily="34" charset="-122"/>
              </a:rPr>
              <a:t>带符号负整数（</a:t>
            </a:r>
            <a:r>
              <a:rPr lang="en-US" altLang="zh-CN" sz="2200" dirty="0" smtClean="0">
                <a:solidFill>
                  <a:srgbClr val="0033CC"/>
                </a:solidFill>
                <a:latin typeface="微软雅黑" pitchFamily="34" charset="-122"/>
                <a:ea typeface="微软雅黑" pitchFamily="34" charset="-122"/>
              </a:rPr>
              <a:t>ceiling</a:t>
            </a:r>
            <a:r>
              <a:rPr lang="zh-CN" altLang="en-US" sz="2200" dirty="0" smtClean="0">
                <a:solidFill>
                  <a:srgbClr val="0033CC"/>
                </a:solidFill>
                <a:latin typeface="微软雅黑" pitchFamily="34" charset="-122"/>
                <a:ea typeface="微软雅黑" pitchFamily="34" charset="-122"/>
              </a:rPr>
              <a:t>）</a:t>
            </a:r>
            <a:r>
              <a:rPr lang="zh-CN" altLang="en-US" sz="2200" dirty="0" smtClean="0">
                <a:solidFill>
                  <a:srgbClr val="008000"/>
                </a:solidFill>
                <a:latin typeface="微软雅黑" pitchFamily="34" charset="-122"/>
                <a:ea typeface="微软雅黑" pitchFamily="34" charset="-122"/>
              </a:rPr>
              <a:t>：</a:t>
            </a:r>
            <a:r>
              <a:rPr lang="zh-CN" altLang="en-US" sz="2200" dirty="0" smtClean="0">
                <a:solidFill>
                  <a:srgbClr val="FF0000"/>
                </a:solidFill>
                <a:latin typeface="微软雅黑" pitchFamily="34" charset="-122"/>
                <a:ea typeface="微软雅黑" pitchFamily="34" charset="-122"/>
              </a:rPr>
              <a:t>加偏移量</a:t>
            </a:r>
            <a:r>
              <a:rPr lang="en-US" altLang="zh-CN" sz="2200" dirty="0" smtClean="0">
                <a:solidFill>
                  <a:srgbClr val="FF0000"/>
                </a:solidFill>
                <a:latin typeface="微软雅黑" pitchFamily="34" charset="-122"/>
                <a:ea typeface="微软雅黑" pitchFamily="34" charset="-122"/>
              </a:rPr>
              <a:t>(2</a:t>
            </a:r>
            <a:r>
              <a:rPr lang="en-US" altLang="zh-CN" sz="2200" i="1" baseline="30000" dirty="0" smtClean="0">
                <a:solidFill>
                  <a:srgbClr val="FF0000"/>
                </a:solidFill>
                <a:latin typeface="微软雅黑" pitchFamily="34" charset="-122"/>
                <a:ea typeface="微软雅黑" pitchFamily="34" charset="-122"/>
              </a:rPr>
              <a:t>k</a:t>
            </a:r>
            <a:r>
              <a:rPr lang="en-US" altLang="zh-CN" sz="2200" dirty="0" smtClean="0">
                <a:solidFill>
                  <a:srgbClr val="FF0000"/>
                </a:solidFill>
                <a:latin typeface="微软雅黑" pitchFamily="34" charset="-122"/>
                <a:ea typeface="微软雅黑" pitchFamily="34" charset="-122"/>
              </a:rPr>
              <a:t>-1)</a:t>
            </a:r>
            <a:r>
              <a:rPr lang="zh-CN" altLang="en-US" sz="2200" dirty="0" smtClean="0">
                <a:solidFill>
                  <a:srgbClr val="008000"/>
                </a:solidFill>
                <a:latin typeface="微软雅黑" pitchFamily="34" charset="-122"/>
                <a:ea typeface="微软雅黑" pitchFamily="34" charset="-122"/>
              </a:rPr>
              <a:t>，</a:t>
            </a:r>
            <a:r>
              <a:rPr lang="zh-CN" altLang="en-US" sz="2200" dirty="0" smtClean="0">
                <a:solidFill>
                  <a:srgbClr val="00B050"/>
                </a:solidFill>
                <a:latin typeface="微软雅黑" pitchFamily="34" charset="-122"/>
                <a:ea typeface="微软雅黑" pitchFamily="34" charset="-122"/>
              </a:rPr>
              <a:t>然后再右移</a:t>
            </a:r>
            <a:r>
              <a:rPr lang="en-US" altLang="zh-CN" sz="2200" i="1" dirty="0" smtClean="0">
                <a:solidFill>
                  <a:srgbClr val="00B050"/>
                </a:solidFill>
                <a:latin typeface="微软雅黑" pitchFamily="34" charset="-122"/>
                <a:ea typeface="微软雅黑" pitchFamily="34" charset="-122"/>
              </a:rPr>
              <a:t>k </a:t>
            </a:r>
            <a:r>
              <a:rPr lang="zh-CN" altLang="en-US" sz="2200" dirty="0" smtClean="0">
                <a:solidFill>
                  <a:srgbClr val="00B050"/>
                </a:solidFill>
                <a:latin typeface="微软雅黑" pitchFamily="34" charset="-122"/>
                <a:ea typeface="微软雅黑" pitchFamily="34" charset="-122"/>
              </a:rPr>
              <a:t>位 ，低位截断（这里</a:t>
            </a:r>
            <a:r>
              <a:rPr lang="en-US" altLang="zh-CN" sz="2200" i="1" dirty="0" smtClean="0">
                <a:solidFill>
                  <a:srgbClr val="00B050"/>
                </a:solidFill>
                <a:latin typeface="微软雅黑" pitchFamily="34" charset="-122"/>
                <a:ea typeface="微软雅黑" pitchFamily="34" charset="-122"/>
              </a:rPr>
              <a:t>K </a:t>
            </a:r>
            <a:r>
              <a:rPr lang="zh-CN" altLang="en-US" sz="2200" dirty="0" smtClean="0">
                <a:solidFill>
                  <a:srgbClr val="00B050"/>
                </a:solidFill>
                <a:latin typeface="微软雅黑" pitchFamily="34" charset="-122"/>
                <a:ea typeface="微软雅黑" pitchFamily="34" charset="-122"/>
              </a:rPr>
              <a:t>是右移位数）</a:t>
            </a:r>
          </a:p>
          <a:p>
            <a:pPr>
              <a:lnSpc>
                <a:spcPct val="110000"/>
              </a:lnSpc>
              <a:spcBef>
                <a:spcPct val="30000"/>
              </a:spcBef>
              <a:buFontTx/>
              <a:buNone/>
            </a:pPr>
            <a:r>
              <a:rPr lang="zh-CN" altLang="en-US" sz="2200" dirty="0" smtClean="0">
                <a:latin typeface="微软雅黑" pitchFamily="34" charset="-122"/>
                <a:ea typeface="微软雅黑" pitchFamily="34" charset="-122"/>
              </a:rPr>
              <a:t>     举例： </a:t>
            </a:r>
          </a:p>
          <a:p>
            <a:pPr>
              <a:lnSpc>
                <a:spcPct val="110000"/>
              </a:lnSpc>
              <a:spcBef>
                <a:spcPct val="30000"/>
              </a:spcBef>
              <a:buFontTx/>
              <a:buNone/>
            </a:pPr>
            <a:r>
              <a:rPr lang="zh-CN" altLang="en-US" sz="2200" dirty="0" smtClean="0">
                <a:latin typeface="微软雅黑" pitchFamily="34" charset="-122"/>
                <a:ea typeface="微软雅黑" pitchFamily="34" charset="-122"/>
              </a:rPr>
              <a:t>     </a:t>
            </a:r>
            <a:r>
              <a:rPr lang="zh-CN" altLang="en-US" sz="2200" dirty="0" smtClean="0">
                <a:solidFill>
                  <a:srgbClr val="0033CC"/>
                </a:solidFill>
                <a:latin typeface="微软雅黑" pitchFamily="34" charset="-122"/>
                <a:ea typeface="微软雅黑" pitchFamily="34" charset="-122"/>
              </a:rPr>
              <a:t>无符号数   </a:t>
            </a:r>
            <a:r>
              <a:rPr lang="en-US" altLang="zh-CN" sz="2200" dirty="0" smtClean="0">
                <a:solidFill>
                  <a:srgbClr val="0033CC"/>
                </a:solidFill>
                <a:latin typeface="微软雅黑" pitchFamily="34" charset="-122"/>
                <a:ea typeface="微软雅黑" pitchFamily="34" charset="-122"/>
              </a:rPr>
              <a:t>14/4=3</a:t>
            </a:r>
            <a:r>
              <a:rPr lang="zh-CN" altLang="en-US" sz="2200" dirty="0" smtClean="0">
                <a:solidFill>
                  <a:srgbClr val="0033CC"/>
                </a:solidFill>
                <a:latin typeface="微软雅黑" pitchFamily="34" charset="-122"/>
                <a:ea typeface="微软雅黑" pitchFamily="34" charset="-122"/>
              </a:rPr>
              <a:t>：</a:t>
            </a:r>
            <a:r>
              <a:rPr lang="en-US" altLang="zh-CN" sz="2200" dirty="0" smtClean="0">
                <a:solidFill>
                  <a:srgbClr val="0033CC"/>
                </a:solidFill>
                <a:latin typeface="微软雅黑" pitchFamily="34" charset="-122"/>
                <a:ea typeface="微软雅黑" pitchFamily="34" charset="-122"/>
              </a:rPr>
              <a:t>0000 1110&gt;&gt;2=0000 0011</a:t>
            </a:r>
            <a:endParaRPr lang="zh-CN" altLang="en-US" sz="2200" dirty="0" smtClean="0">
              <a:solidFill>
                <a:srgbClr val="0033CC"/>
              </a:solidFill>
              <a:latin typeface="微软雅黑" pitchFamily="34" charset="-122"/>
              <a:ea typeface="微软雅黑" pitchFamily="34" charset="-122"/>
            </a:endParaRPr>
          </a:p>
          <a:p>
            <a:pPr>
              <a:lnSpc>
                <a:spcPct val="110000"/>
              </a:lnSpc>
              <a:spcBef>
                <a:spcPct val="30000"/>
              </a:spcBef>
              <a:buFontTx/>
              <a:buNone/>
            </a:pPr>
            <a:r>
              <a:rPr lang="en-US" altLang="zh-CN" sz="2200" dirty="0" smtClean="0">
                <a:solidFill>
                  <a:srgbClr val="0033CC"/>
                </a:solidFill>
                <a:latin typeface="微软雅黑" pitchFamily="34" charset="-122"/>
                <a:ea typeface="微软雅黑" pitchFamily="34" charset="-122"/>
              </a:rPr>
              <a:t>     </a:t>
            </a:r>
            <a:r>
              <a:rPr lang="zh-CN" altLang="en-US" sz="2200" dirty="0" smtClean="0">
                <a:solidFill>
                  <a:srgbClr val="0033CC"/>
                </a:solidFill>
                <a:latin typeface="微软雅黑" pitchFamily="34" charset="-122"/>
                <a:ea typeface="微软雅黑" pitchFamily="34" charset="-122"/>
              </a:rPr>
              <a:t>带符号负整数  </a:t>
            </a:r>
            <a:r>
              <a:rPr lang="en-US" altLang="zh-CN" sz="2200" dirty="0" smtClean="0">
                <a:solidFill>
                  <a:srgbClr val="0033CC"/>
                </a:solidFill>
                <a:latin typeface="微软雅黑" pitchFamily="34" charset="-122"/>
                <a:ea typeface="微软雅黑" pitchFamily="34" charset="-122"/>
              </a:rPr>
              <a:t>-14/4=-3</a:t>
            </a:r>
            <a:endParaRPr lang="zh-CN" altLang="en-US" sz="2200" dirty="0" smtClean="0">
              <a:solidFill>
                <a:srgbClr val="0033CC"/>
              </a:solidFill>
              <a:latin typeface="微软雅黑" pitchFamily="34" charset="-122"/>
              <a:ea typeface="微软雅黑" pitchFamily="34" charset="-122"/>
            </a:endParaRPr>
          </a:p>
          <a:p>
            <a:pPr>
              <a:lnSpc>
                <a:spcPct val="110000"/>
              </a:lnSpc>
              <a:spcBef>
                <a:spcPct val="30000"/>
              </a:spcBef>
              <a:buFontTx/>
              <a:buNone/>
            </a:pPr>
            <a:r>
              <a:rPr lang="zh-CN" altLang="en-US" sz="2200" dirty="0" smtClean="0">
                <a:solidFill>
                  <a:srgbClr val="0033CC"/>
                </a:solidFill>
                <a:latin typeface="微软雅黑" pitchFamily="34" charset="-122"/>
                <a:ea typeface="微软雅黑" pitchFamily="34" charset="-122"/>
              </a:rPr>
              <a:t>     </a:t>
            </a:r>
            <a:r>
              <a:rPr lang="zh-CN" altLang="en-US" sz="2200" dirty="0" smtClean="0">
                <a:solidFill>
                  <a:srgbClr val="CC3300"/>
                </a:solidFill>
                <a:latin typeface="微软雅黑" pitchFamily="34" charset="-122"/>
                <a:ea typeface="微软雅黑" pitchFamily="34" charset="-122"/>
              </a:rPr>
              <a:t>若直接截断，则 </a:t>
            </a:r>
            <a:r>
              <a:rPr lang="en-US" altLang="zh-CN" sz="2200" dirty="0" smtClean="0">
                <a:solidFill>
                  <a:srgbClr val="CC3300"/>
                </a:solidFill>
                <a:latin typeface="微软雅黑" pitchFamily="34" charset="-122"/>
                <a:ea typeface="微软雅黑" pitchFamily="34" charset="-122"/>
              </a:rPr>
              <a:t>1111 0010 &gt;&gt;2=1111 1100=-4</a:t>
            </a:r>
            <a:r>
              <a:rPr lang="en-US" altLang="zh-CN" sz="2200" dirty="0" smtClean="0">
                <a:solidFill>
                  <a:srgbClr val="CC3300"/>
                </a:solidFill>
                <a:latin typeface="微软雅黑" pitchFamily="34" charset="-122"/>
                <a:ea typeface="微软雅黑" pitchFamily="34" charset="-122"/>
                <a:cs typeface="Arial" pitchFamily="34" charset="0"/>
              </a:rPr>
              <a:t>≠-3</a:t>
            </a:r>
          </a:p>
          <a:p>
            <a:pPr>
              <a:lnSpc>
                <a:spcPct val="110000"/>
              </a:lnSpc>
              <a:spcBef>
                <a:spcPct val="30000"/>
              </a:spcBef>
              <a:buFontTx/>
              <a:buNone/>
            </a:pPr>
            <a:r>
              <a:rPr lang="en-US" altLang="zh-CN" sz="2200" dirty="0" smtClean="0">
                <a:solidFill>
                  <a:srgbClr val="0033CC"/>
                </a:solidFill>
                <a:latin typeface="微软雅黑" pitchFamily="34" charset="-122"/>
                <a:ea typeface="微软雅黑" pitchFamily="34" charset="-122"/>
                <a:cs typeface="Arial" pitchFamily="34" charset="0"/>
              </a:rPr>
              <a:t>     </a:t>
            </a:r>
            <a:r>
              <a:rPr lang="zh-CN" altLang="en-US" sz="2200" dirty="0" smtClean="0">
                <a:solidFill>
                  <a:srgbClr val="0033CC"/>
                </a:solidFill>
                <a:latin typeface="微软雅黑" pitchFamily="34" charset="-122"/>
                <a:ea typeface="微软雅黑" pitchFamily="34" charset="-122"/>
                <a:cs typeface="Arial" pitchFamily="34" charset="0"/>
              </a:rPr>
              <a:t>应先</a:t>
            </a:r>
            <a:r>
              <a:rPr lang="zh-CN" altLang="en-US" sz="2200" dirty="0" smtClean="0">
                <a:solidFill>
                  <a:srgbClr val="CC3300"/>
                </a:solidFill>
                <a:latin typeface="微软雅黑" pitchFamily="34" charset="-122"/>
                <a:ea typeface="微软雅黑" pitchFamily="34" charset="-122"/>
                <a:cs typeface="Arial" pitchFamily="34" charset="0"/>
              </a:rPr>
              <a:t>纠偏，再右移</a:t>
            </a:r>
            <a:r>
              <a:rPr lang="en-US" altLang="zh-CN" sz="2200" dirty="0" smtClean="0">
                <a:solidFill>
                  <a:srgbClr val="CC3300"/>
                </a:solidFill>
                <a:latin typeface="微软雅黑" pitchFamily="34" charset="-122"/>
                <a:ea typeface="微软雅黑" pitchFamily="34" charset="-122"/>
                <a:cs typeface="Arial" pitchFamily="34" charset="0"/>
              </a:rPr>
              <a:t>:</a:t>
            </a:r>
            <a:r>
              <a:rPr lang="en-US" altLang="zh-CN" sz="2200" dirty="0" smtClean="0">
                <a:solidFill>
                  <a:srgbClr val="0033CC"/>
                </a:solidFill>
                <a:latin typeface="微软雅黑" pitchFamily="34" charset="-122"/>
                <a:ea typeface="微软雅黑" pitchFamily="34" charset="-122"/>
                <a:cs typeface="Arial" pitchFamily="34" charset="0"/>
              </a:rPr>
              <a:t> k=2, </a:t>
            </a:r>
            <a:r>
              <a:rPr lang="zh-CN" altLang="en-US" sz="2200" dirty="0" smtClean="0">
                <a:solidFill>
                  <a:srgbClr val="0033CC"/>
                </a:solidFill>
                <a:latin typeface="微软雅黑" pitchFamily="34" charset="-122"/>
                <a:ea typeface="微软雅黑" pitchFamily="34" charset="-122"/>
                <a:cs typeface="Arial" pitchFamily="34" charset="0"/>
              </a:rPr>
              <a:t>故</a:t>
            </a:r>
            <a:r>
              <a:rPr lang="en-US" altLang="zh-CN" sz="2200" dirty="0" smtClean="0">
                <a:solidFill>
                  <a:srgbClr val="0033CC"/>
                </a:solidFill>
                <a:latin typeface="微软雅黑" pitchFamily="34" charset="-122"/>
                <a:ea typeface="微软雅黑" pitchFamily="34" charset="-122"/>
                <a:cs typeface="Arial" pitchFamily="34" charset="0"/>
              </a:rPr>
              <a:t>(-14</a:t>
            </a:r>
            <a:r>
              <a:rPr lang="en-US" altLang="zh-CN" sz="2200" dirty="0" smtClean="0">
                <a:solidFill>
                  <a:srgbClr val="CC3300"/>
                </a:solidFill>
                <a:latin typeface="微软雅黑" pitchFamily="34" charset="-122"/>
                <a:ea typeface="微软雅黑" pitchFamily="34" charset="-122"/>
                <a:cs typeface="Arial" pitchFamily="34" charset="0"/>
              </a:rPr>
              <a:t>+2</a:t>
            </a:r>
            <a:r>
              <a:rPr lang="en-US" altLang="zh-CN" sz="2200" baseline="30000" dirty="0" smtClean="0">
                <a:solidFill>
                  <a:srgbClr val="CC3300"/>
                </a:solidFill>
                <a:latin typeface="微软雅黑" pitchFamily="34" charset="-122"/>
                <a:ea typeface="微软雅黑" pitchFamily="34" charset="-122"/>
                <a:cs typeface="Arial" pitchFamily="34" charset="0"/>
              </a:rPr>
              <a:t>2</a:t>
            </a:r>
            <a:r>
              <a:rPr lang="en-US" altLang="zh-CN" sz="2200" dirty="0" smtClean="0">
                <a:solidFill>
                  <a:srgbClr val="CC3300"/>
                </a:solidFill>
                <a:latin typeface="微软雅黑" pitchFamily="34" charset="-122"/>
                <a:ea typeface="微软雅黑" pitchFamily="34" charset="-122"/>
                <a:cs typeface="Arial" pitchFamily="34" charset="0"/>
              </a:rPr>
              <a:t>-1</a:t>
            </a:r>
            <a:r>
              <a:rPr lang="en-US" altLang="zh-CN" sz="2200" dirty="0" smtClean="0">
                <a:solidFill>
                  <a:srgbClr val="0033CC"/>
                </a:solidFill>
                <a:latin typeface="微软雅黑" pitchFamily="34" charset="-122"/>
                <a:ea typeface="微软雅黑" pitchFamily="34" charset="-122"/>
                <a:cs typeface="Arial" pitchFamily="34" charset="0"/>
              </a:rPr>
              <a:t>)/4=-3</a:t>
            </a:r>
            <a:endParaRPr lang="zh-CN" altLang="en-US" sz="2200" dirty="0" smtClean="0">
              <a:solidFill>
                <a:srgbClr val="0033CC"/>
              </a:solidFill>
              <a:latin typeface="微软雅黑" pitchFamily="34" charset="-122"/>
              <a:ea typeface="微软雅黑" pitchFamily="34" charset="-122"/>
              <a:cs typeface="Arial" pitchFamily="34" charset="0"/>
            </a:endParaRPr>
          </a:p>
          <a:p>
            <a:pPr>
              <a:lnSpc>
                <a:spcPct val="110000"/>
              </a:lnSpc>
              <a:spcBef>
                <a:spcPct val="30000"/>
              </a:spcBef>
              <a:buFontTx/>
              <a:buNone/>
            </a:pPr>
            <a:r>
              <a:rPr lang="en-US" altLang="zh-CN" sz="2200" dirty="0" smtClean="0">
                <a:solidFill>
                  <a:srgbClr val="0033CC"/>
                </a:solidFill>
                <a:latin typeface="微软雅黑" pitchFamily="34" charset="-122"/>
                <a:ea typeface="微软雅黑" pitchFamily="34" charset="-122"/>
                <a:cs typeface="Arial" pitchFamily="34" charset="0"/>
              </a:rPr>
              <a:t>     </a:t>
            </a:r>
            <a:r>
              <a:rPr lang="zh-CN" altLang="en-US" sz="2200" dirty="0" smtClean="0">
                <a:solidFill>
                  <a:srgbClr val="0033CC"/>
                </a:solidFill>
                <a:latin typeface="微软雅黑" pitchFamily="34" charset="-122"/>
                <a:ea typeface="微软雅黑" pitchFamily="34" charset="-122"/>
                <a:cs typeface="Arial" pitchFamily="34" charset="0"/>
              </a:rPr>
              <a:t>即： </a:t>
            </a:r>
            <a:r>
              <a:rPr lang="en-US" altLang="zh-CN" sz="2200" dirty="0" smtClean="0">
                <a:solidFill>
                  <a:srgbClr val="0033CC"/>
                </a:solidFill>
                <a:latin typeface="微软雅黑" pitchFamily="34" charset="-122"/>
                <a:ea typeface="微软雅黑" pitchFamily="34" charset="-122"/>
              </a:rPr>
              <a:t>1111 0010</a:t>
            </a:r>
            <a:r>
              <a:rPr lang="en-US" altLang="zh-CN" sz="2200" dirty="0" smtClean="0">
                <a:solidFill>
                  <a:srgbClr val="CC3300"/>
                </a:solidFill>
                <a:latin typeface="微软雅黑" pitchFamily="34" charset="-122"/>
                <a:ea typeface="微软雅黑" pitchFamily="34" charset="-122"/>
              </a:rPr>
              <a:t>+0000 0011</a:t>
            </a:r>
            <a:r>
              <a:rPr lang="en-US" altLang="zh-CN" sz="2200" dirty="0" smtClean="0">
                <a:solidFill>
                  <a:srgbClr val="0033CC"/>
                </a:solidFill>
                <a:latin typeface="微软雅黑" pitchFamily="34" charset="-122"/>
                <a:ea typeface="微软雅黑" pitchFamily="34" charset="-122"/>
              </a:rPr>
              <a:t>=1111 0101</a:t>
            </a:r>
            <a:endParaRPr lang="zh-CN" altLang="en-US" sz="2200" dirty="0" smtClean="0">
              <a:solidFill>
                <a:srgbClr val="0033CC"/>
              </a:solidFill>
              <a:latin typeface="微软雅黑" pitchFamily="34" charset="-122"/>
              <a:ea typeface="微软雅黑" pitchFamily="34" charset="-122"/>
            </a:endParaRPr>
          </a:p>
          <a:p>
            <a:pPr>
              <a:lnSpc>
                <a:spcPct val="110000"/>
              </a:lnSpc>
              <a:spcBef>
                <a:spcPct val="30000"/>
              </a:spcBef>
              <a:buFontTx/>
              <a:buNone/>
            </a:pPr>
            <a:r>
              <a:rPr lang="en-US" altLang="zh-CN" sz="2200" dirty="0" smtClean="0">
                <a:solidFill>
                  <a:srgbClr val="0033CC"/>
                </a:solidFill>
                <a:latin typeface="微软雅黑" pitchFamily="34" charset="-122"/>
                <a:ea typeface="微软雅黑" pitchFamily="34" charset="-122"/>
              </a:rPr>
              <a:t>     1111 0101&gt;&gt;2=1111 1101=-3</a:t>
            </a:r>
            <a:endParaRPr lang="zh-CN" altLang="en-US" sz="2200" dirty="0" smtClean="0">
              <a:solidFill>
                <a:srgbClr val="0033CC"/>
              </a:solidFill>
              <a:latin typeface="微软雅黑" pitchFamily="34" charset="-122"/>
              <a:ea typeface="微软雅黑" pitchFamily="34" charset="-122"/>
            </a:endParaRPr>
          </a:p>
        </p:txBody>
      </p:sp>
    </p:spTree>
    <p:extLst>
      <p:ext uri="{BB962C8B-B14F-4D97-AF65-F5344CB8AC3E}">
        <p14:creationId xmlns:p14="http://schemas.microsoft.com/office/powerpoint/2010/main" val="408856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9331">
                                            <p:txEl>
                                              <p:pRg st="0" end="0"/>
                                            </p:txEl>
                                          </p:spTgt>
                                        </p:tgtEl>
                                        <p:attrNameLst>
                                          <p:attrName>style.visibility</p:attrName>
                                        </p:attrNameLst>
                                      </p:cBhvr>
                                      <p:to>
                                        <p:strVal val="visible"/>
                                      </p:to>
                                    </p:set>
                                    <p:animEffect transition="in" filter="blinds(horizontal)">
                                      <p:cBhvr>
                                        <p:cTn id="7" dur="500"/>
                                        <p:tgtEl>
                                          <p:spTgt spid="73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9331">
                                            <p:txEl>
                                              <p:pRg st="1" end="1"/>
                                            </p:txEl>
                                          </p:spTgt>
                                        </p:tgtEl>
                                        <p:attrNameLst>
                                          <p:attrName>style.visibility</p:attrName>
                                        </p:attrNameLst>
                                      </p:cBhvr>
                                      <p:to>
                                        <p:strVal val="visible"/>
                                      </p:to>
                                    </p:set>
                                    <p:animEffect transition="in" filter="blinds(horizontal)">
                                      <p:cBhvr>
                                        <p:cTn id="12" dur="500"/>
                                        <p:tgtEl>
                                          <p:spTgt spid="73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39331">
                                            <p:txEl>
                                              <p:pRg st="2" end="2"/>
                                            </p:txEl>
                                          </p:spTgt>
                                        </p:tgtEl>
                                        <p:attrNameLst>
                                          <p:attrName>style.visibility</p:attrName>
                                        </p:attrNameLst>
                                      </p:cBhvr>
                                      <p:to>
                                        <p:strVal val="visible"/>
                                      </p:to>
                                    </p:set>
                                    <p:animEffect transition="in" filter="blinds(horizontal)">
                                      <p:cBhvr>
                                        <p:cTn id="17" dur="500"/>
                                        <p:tgtEl>
                                          <p:spTgt spid="73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39331">
                                            <p:txEl>
                                              <p:pRg st="3" end="3"/>
                                            </p:txEl>
                                          </p:spTgt>
                                        </p:tgtEl>
                                        <p:attrNameLst>
                                          <p:attrName>style.visibility</p:attrName>
                                        </p:attrNameLst>
                                      </p:cBhvr>
                                      <p:to>
                                        <p:strVal val="visible"/>
                                      </p:to>
                                    </p:set>
                                    <p:animEffect transition="in" filter="blinds(horizontal)">
                                      <p:cBhvr>
                                        <p:cTn id="22" dur="500"/>
                                        <p:tgtEl>
                                          <p:spTgt spid="73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39331">
                                            <p:txEl>
                                              <p:pRg st="4" end="4"/>
                                            </p:txEl>
                                          </p:spTgt>
                                        </p:tgtEl>
                                        <p:attrNameLst>
                                          <p:attrName>style.visibility</p:attrName>
                                        </p:attrNameLst>
                                      </p:cBhvr>
                                      <p:to>
                                        <p:strVal val="visible"/>
                                      </p:to>
                                    </p:set>
                                    <p:animEffect transition="in" filter="blinds(horizontal)">
                                      <p:cBhvr>
                                        <p:cTn id="27" dur="500"/>
                                        <p:tgtEl>
                                          <p:spTgt spid="7393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39331">
                                            <p:txEl>
                                              <p:pRg st="5" end="5"/>
                                            </p:txEl>
                                          </p:spTgt>
                                        </p:tgtEl>
                                        <p:attrNameLst>
                                          <p:attrName>style.visibility</p:attrName>
                                        </p:attrNameLst>
                                      </p:cBhvr>
                                      <p:to>
                                        <p:strVal val="visible"/>
                                      </p:to>
                                    </p:set>
                                    <p:animEffect transition="in" filter="blinds(horizontal)">
                                      <p:cBhvr>
                                        <p:cTn id="32" dur="500"/>
                                        <p:tgtEl>
                                          <p:spTgt spid="7393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39331">
                                            <p:txEl>
                                              <p:pRg st="6" end="6"/>
                                            </p:txEl>
                                          </p:spTgt>
                                        </p:tgtEl>
                                        <p:attrNameLst>
                                          <p:attrName>style.visibility</p:attrName>
                                        </p:attrNameLst>
                                      </p:cBhvr>
                                      <p:to>
                                        <p:strVal val="visible"/>
                                      </p:to>
                                    </p:set>
                                    <p:animEffect transition="in" filter="blinds(horizontal)">
                                      <p:cBhvr>
                                        <p:cTn id="37" dur="500"/>
                                        <p:tgtEl>
                                          <p:spTgt spid="7393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39331">
                                            <p:txEl>
                                              <p:pRg st="7" end="7"/>
                                            </p:txEl>
                                          </p:spTgt>
                                        </p:tgtEl>
                                        <p:attrNameLst>
                                          <p:attrName>style.visibility</p:attrName>
                                        </p:attrNameLst>
                                      </p:cBhvr>
                                      <p:to>
                                        <p:strVal val="visible"/>
                                      </p:to>
                                    </p:set>
                                    <p:animEffect transition="in" filter="blinds(horizontal)">
                                      <p:cBhvr>
                                        <p:cTn id="42" dur="500"/>
                                        <p:tgtEl>
                                          <p:spTgt spid="7393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39331">
                                            <p:txEl>
                                              <p:pRg st="8" end="8"/>
                                            </p:txEl>
                                          </p:spTgt>
                                        </p:tgtEl>
                                        <p:attrNameLst>
                                          <p:attrName>style.visibility</p:attrName>
                                        </p:attrNameLst>
                                      </p:cBhvr>
                                      <p:to>
                                        <p:strVal val="visible"/>
                                      </p:to>
                                    </p:set>
                                    <p:animEffect transition="in" filter="blinds(horizontal)">
                                      <p:cBhvr>
                                        <p:cTn id="47" dur="500"/>
                                        <p:tgtEl>
                                          <p:spTgt spid="7393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739331">
                                            <p:txEl>
                                              <p:pRg st="9" end="9"/>
                                            </p:txEl>
                                          </p:spTgt>
                                        </p:tgtEl>
                                        <p:attrNameLst>
                                          <p:attrName>style.visibility</p:attrName>
                                        </p:attrNameLst>
                                      </p:cBhvr>
                                      <p:to>
                                        <p:strVal val="visible"/>
                                      </p:to>
                                    </p:set>
                                    <p:animEffect transition="in" filter="blinds(horizontal)">
                                      <p:cBhvr>
                                        <p:cTn id="52" dur="500"/>
                                        <p:tgtEl>
                                          <p:spTgt spid="7393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smtClean="0"/>
              <a:t>例题</a:t>
            </a:r>
            <a:r>
              <a:rPr lang="en-US" altLang="zh-CN" smtClean="0"/>
              <a:t>5</a:t>
            </a:r>
            <a:endParaRPr lang="zh-CN" altLang="en-US" smtClean="0"/>
          </a:p>
        </p:txBody>
      </p:sp>
      <p:sp>
        <p:nvSpPr>
          <p:cNvPr id="3" name="内容占位符 2"/>
          <p:cNvSpPr>
            <a:spLocks noGrp="1"/>
          </p:cNvSpPr>
          <p:nvPr>
            <p:ph idx="1"/>
          </p:nvPr>
        </p:nvSpPr>
        <p:spPr/>
        <p:txBody>
          <a:bodyPr/>
          <a:lstStyle/>
          <a:p>
            <a:pPr marL="0" indent="0">
              <a:buFontTx/>
              <a:buNone/>
            </a:pPr>
            <a:r>
              <a:rPr lang="zh-CN" altLang="en-US" b="0" smtClean="0"/>
              <a:t>写一段实现</a:t>
            </a:r>
            <a:r>
              <a:rPr lang="en-US" altLang="zh-CN" b="0" smtClean="0"/>
              <a:t>x/16</a:t>
            </a:r>
            <a:r>
              <a:rPr lang="zh-CN" altLang="en-US" b="0" smtClean="0"/>
              <a:t>功能的代码，不允许用乘、除、取模、条件、比较或循环语句。</a:t>
            </a:r>
            <a:endParaRPr lang="zh-CN" altLang="en-US" smtClean="0"/>
          </a:p>
          <a:p>
            <a:pPr marL="0" indent="0">
              <a:buFontTx/>
              <a:buNone/>
            </a:pPr>
            <a:r>
              <a:rPr lang="en-US" altLang="zh-CN" b="0" smtClean="0"/>
              <a:t>int div16(int x) {</a:t>
            </a:r>
          </a:p>
          <a:p>
            <a:pPr marL="0" indent="0">
              <a:buFontTx/>
              <a:buNone/>
            </a:pPr>
            <a:r>
              <a:rPr lang="en-US" altLang="zh-CN" b="0" smtClean="0"/>
              <a:t>      /* Compute bias to be either 0 (x &gt;= 0) or 15 (x &lt; 0) */</a:t>
            </a:r>
          </a:p>
          <a:p>
            <a:pPr marL="0" indent="0">
              <a:buFontTx/>
              <a:buNone/>
            </a:pPr>
            <a:r>
              <a:rPr lang="fr-FR" altLang="zh-CN" b="0" smtClean="0"/>
              <a:t>      int bias = (x &gt;&gt; 31) &amp; 0xF;</a:t>
            </a:r>
          </a:p>
          <a:p>
            <a:pPr marL="0" indent="0">
              <a:buFontTx/>
              <a:buNone/>
            </a:pPr>
            <a:r>
              <a:rPr lang="en-US" altLang="zh-CN" b="0" smtClean="0"/>
              <a:t>      return (x + bias) &gt;&gt; 4;</a:t>
            </a:r>
          </a:p>
          <a:p>
            <a:pPr marL="0" indent="0">
              <a:buFontTx/>
              <a:buNone/>
            </a:pPr>
            <a:r>
              <a:rPr lang="en-US" altLang="zh-CN" b="0" smtClean="0"/>
              <a:t>}</a:t>
            </a:r>
            <a:endParaRPr lang="zh-CN" altLang="en-US" smtClean="0"/>
          </a:p>
        </p:txBody>
      </p:sp>
      <p:sp>
        <p:nvSpPr>
          <p:cNvPr id="4" name="Rectangle 3"/>
          <p:cNvSpPr txBox="1">
            <a:spLocks noChangeArrowheads="1"/>
          </p:cNvSpPr>
          <p:nvPr/>
        </p:nvSpPr>
        <p:spPr bwMode="auto">
          <a:xfrm>
            <a:off x="215900" y="4229100"/>
            <a:ext cx="8640763" cy="21145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20000"/>
              </a:lnSpc>
              <a:spcBef>
                <a:spcPct val="20000"/>
              </a:spcBef>
              <a:spcAft>
                <a:spcPct val="0"/>
              </a:spcAft>
              <a:buClrTx/>
              <a:buSzTx/>
              <a:buFontTx/>
              <a:buNone/>
              <a:tabLst/>
              <a:defRPr/>
            </a:pP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若</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x</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为正数，则将</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x</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右移</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k</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位得到商；若</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x</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为负数，则</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x</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需要</a:t>
            </a:r>
            <a:r>
              <a:rPr kumimoji="0" lang="zh-CN" altLang="en-US" sz="2000" b="1" i="0" u="none" strike="noStrike" kern="0" cap="none" spc="0" normalizeH="0" baseline="0" noProof="0" dirty="0" smtClean="0">
                <a:ln>
                  <a:noFill/>
                </a:ln>
                <a:solidFill>
                  <a:srgbClr val="FF0000"/>
                </a:solidFill>
                <a:effectLst/>
                <a:uLnTx/>
                <a:uFillTx/>
                <a:latin typeface="微软雅黑" pitchFamily="34" charset="-122"/>
                <a:ea typeface="微软雅黑" pitchFamily="34" charset="-122"/>
                <a:cs typeface="+mn-cs"/>
              </a:rPr>
              <a:t>加一个偏移量</a:t>
            </a:r>
            <a:r>
              <a:rPr kumimoji="0" lang="en-US" altLang="zh-CN" sz="2000" b="1" i="0" u="none" strike="noStrike" kern="0" cap="none" spc="0" normalizeH="0" baseline="0" noProof="0" dirty="0" smtClean="0">
                <a:ln>
                  <a:noFill/>
                </a:ln>
                <a:solidFill>
                  <a:srgbClr val="FF0000"/>
                </a:solidFill>
                <a:effectLst/>
                <a:uLnTx/>
                <a:uFillTx/>
                <a:latin typeface="微软雅黑" pitchFamily="34" charset="-122"/>
                <a:ea typeface="微软雅黑" pitchFamily="34" charset="-122"/>
                <a:cs typeface="+mn-cs"/>
              </a:rPr>
              <a:t>(2</a:t>
            </a:r>
            <a:r>
              <a:rPr kumimoji="0" lang="en-US" altLang="zh-CN" sz="2000" b="1" i="0" u="none" strike="noStrike" kern="0" cap="none" spc="0" normalizeH="0" baseline="30000" noProof="0" dirty="0" smtClean="0">
                <a:ln>
                  <a:noFill/>
                </a:ln>
                <a:solidFill>
                  <a:srgbClr val="FF0000"/>
                </a:solidFill>
                <a:effectLst/>
                <a:uLnTx/>
                <a:uFillTx/>
                <a:latin typeface="微软雅黑" pitchFamily="34" charset="-122"/>
                <a:ea typeface="微软雅黑" pitchFamily="34" charset="-122"/>
                <a:cs typeface="+mn-cs"/>
              </a:rPr>
              <a:t>k</a:t>
            </a:r>
            <a:r>
              <a:rPr kumimoji="0" lang="en-US" altLang="zh-CN" sz="2000" b="1" i="0" u="none" strike="noStrike" kern="0" cap="none" spc="0" normalizeH="0" baseline="0" noProof="0" dirty="0" smtClean="0">
                <a:ln>
                  <a:noFill/>
                </a:ln>
                <a:solidFill>
                  <a:srgbClr val="FF0000"/>
                </a:solidFill>
                <a:effectLst/>
                <a:uLnTx/>
                <a:uFillTx/>
                <a:latin typeface="微软雅黑" pitchFamily="34" charset="-122"/>
                <a:ea typeface="微软雅黑" pitchFamily="34" charset="-122"/>
                <a:cs typeface="+mn-cs"/>
              </a:rPr>
              <a:t>-1)</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后再右移</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k</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位得到商。因为</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16=2</a:t>
            </a:r>
            <a:r>
              <a:rPr kumimoji="0" lang="en-US" altLang="zh-CN" sz="2000" b="1" i="0" u="none" strike="noStrike" kern="0" cap="none" spc="0" normalizeH="0" baseline="30000" noProof="0" dirty="0" smtClean="0">
                <a:ln>
                  <a:noFill/>
                </a:ln>
                <a:solidFill>
                  <a:srgbClr val="0033CC"/>
                </a:solidFill>
                <a:effectLst/>
                <a:uLnTx/>
                <a:uFillTx/>
                <a:latin typeface="微软雅黑" pitchFamily="34" charset="-122"/>
                <a:ea typeface="微软雅黑" pitchFamily="34" charset="-122"/>
                <a:cs typeface="+mn-cs"/>
              </a:rPr>
              <a:t>4</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，所以 </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k=4</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a:t>
            </a:r>
          </a:p>
          <a:p>
            <a:pPr marL="342900" marR="0" lvl="0" indent="-342900" algn="l" defTabSz="914400" rtl="0" eaLnBrk="0" fontAlgn="base" latinLnBrk="0" hangingPunct="0">
              <a:lnSpc>
                <a:spcPct val="120000"/>
              </a:lnSpc>
              <a:spcBef>
                <a:spcPct val="20000"/>
              </a:spcBef>
              <a:spcAft>
                <a:spcPct val="0"/>
              </a:spcAft>
              <a:buClrTx/>
              <a:buSzTx/>
              <a:buFontTx/>
              <a:buNone/>
              <a:tabLst/>
              <a:defRPr/>
            </a:pP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     即结果为</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sym typeface="Wingdings" pitchFamily="2" charset="2"/>
              </a:rPr>
              <a:t>: ( </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x&gt;=0 ? x : (x+15))&gt;&gt;4</a:t>
            </a:r>
          </a:p>
          <a:p>
            <a:pPr marL="342900" marR="0" lvl="0" indent="-342900" algn="l" defTabSz="914400" rtl="0" eaLnBrk="0" fontAlgn="base" latinLnBrk="0" hangingPunct="0">
              <a:lnSpc>
                <a:spcPct val="120000"/>
              </a:lnSpc>
              <a:spcBef>
                <a:spcPct val="20000"/>
              </a:spcBef>
              <a:spcAft>
                <a:spcPct val="0"/>
              </a:spcAft>
              <a:buClrTx/>
              <a:buSzTx/>
              <a:buFontTx/>
              <a:buNone/>
              <a:tabLst/>
              <a:defRPr/>
            </a:pP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     但题目要求不能用比较和条件语句，要找一个计算</a:t>
            </a:r>
            <a:r>
              <a:rPr kumimoji="0" lang="zh-CN" altLang="en-US"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偏移量</a:t>
            </a:r>
            <a:r>
              <a:rPr kumimoji="0" lang="en-US" altLang="zh-CN"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bias</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的方式</a:t>
            </a:r>
          </a:p>
          <a:p>
            <a:pPr marL="342900" marR="0" lvl="0" indent="-342900" algn="l" defTabSz="914400" rtl="0" eaLnBrk="0" fontAlgn="base" latinLnBrk="0" hangingPunct="0">
              <a:lnSpc>
                <a:spcPct val="120000"/>
              </a:lnSpc>
              <a:spcBef>
                <a:spcPct val="20000"/>
              </a:spcBef>
              <a:spcAft>
                <a:spcPct val="0"/>
              </a:spcAft>
              <a:buClrTx/>
              <a:buSzTx/>
              <a:buFontTx/>
              <a:buNone/>
              <a:tabLst/>
              <a:defRPr/>
            </a:pP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     </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这里，</a:t>
            </a:r>
            <a:r>
              <a:rPr kumimoji="0" lang="en-US" altLang="zh-CN"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x</a:t>
            </a:r>
            <a:r>
              <a:rPr kumimoji="0" lang="zh-CN" altLang="en-US"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为正时</a:t>
            </a:r>
            <a:r>
              <a:rPr kumimoji="0" lang="en-US" altLang="zh-CN"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bias=0</a:t>
            </a:r>
            <a:r>
              <a:rPr kumimoji="0" lang="zh-CN" altLang="en-US"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a:t>
            </a:r>
            <a:r>
              <a:rPr kumimoji="0" lang="en-US" altLang="zh-CN"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x</a:t>
            </a:r>
            <a:r>
              <a:rPr kumimoji="0" lang="zh-CN" altLang="en-US"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为负时</a:t>
            </a:r>
            <a:r>
              <a:rPr kumimoji="0" lang="en-US" altLang="zh-CN" sz="2000" b="1" i="0" u="none" strike="noStrike" kern="0" cap="none" spc="0" normalizeH="0" baseline="0" noProof="0" dirty="0" smtClean="0">
                <a:ln>
                  <a:noFill/>
                </a:ln>
                <a:solidFill>
                  <a:srgbClr val="CC3300"/>
                </a:solidFill>
                <a:effectLst/>
                <a:uLnTx/>
                <a:uFillTx/>
                <a:latin typeface="微软雅黑" pitchFamily="34" charset="-122"/>
                <a:ea typeface="微软雅黑" pitchFamily="34" charset="-122"/>
                <a:cs typeface="+mn-cs"/>
              </a:rPr>
              <a:t>bias=15</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 </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可以从</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x</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的符号得到</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bias</a:t>
            </a:r>
          </a:p>
          <a:p>
            <a:pPr marL="342900" marR="0" lvl="0" indent="-342900" algn="l" defTabSz="914400" rtl="0" eaLnBrk="0" fontAlgn="base" latinLnBrk="0" hangingPunct="0">
              <a:lnSpc>
                <a:spcPct val="120000"/>
              </a:lnSpc>
              <a:spcBef>
                <a:spcPct val="20000"/>
              </a:spcBef>
              <a:spcAft>
                <a:spcPct val="0"/>
              </a:spcAft>
              <a:buClrTx/>
              <a:buSzTx/>
              <a:buFontTx/>
              <a:buNone/>
              <a:tabLst/>
              <a:defRPr/>
            </a:pP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     x&gt;&gt;31 </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得到的是</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32</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位符号，取出最低</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4</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位，就是偏移量</a:t>
            </a:r>
            <a:r>
              <a:rPr kumimoji="0" lang="en-US" altLang="zh-CN"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b</a:t>
            </a:r>
            <a:r>
              <a:rPr kumimoji="0" lang="zh-CN" altLang="en-US" sz="2000" b="1" i="0" u="none" strike="noStrike" kern="0" cap="none" spc="0" normalizeH="0" baseline="0" noProof="0" dirty="0" smtClean="0">
                <a:ln>
                  <a:noFill/>
                </a:ln>
                <a:solidFill>
                  <a:srgbClr val="0033CC"/>
                </a:solidFill>
                <a:effectLst/>
                <a:uLnTx/>
                <a:uFillTx/>
                <a:latin typeface="微软雅黑" pitchFamily="34" charset="-122"/>
                <a:ea typeface="微软雅黑" pitchFamily="34" charset="-122"/>
                <a:cs typeface="+mn-cs"/>
              </a:rPr>
              <a:t>。</a:t>
            </a:r>
            <a:r>
              <a:rPr kumimoji="0" lang="zh-CN" altLang="en-US" sz="1800" b="1" i="0" u="none" strike="noStrike" kern="0" cap="none" spc="0" normalizeH="0" baseline="0" noProof="0" dirty="0" smtClean="0">
                <a:ln>
                  <a:noFill/>
                </a:ln>
                <a:solidFill>
                  <a:schemeClr val="tx1"/>
                </a:solidFill>
                <a:effectLst/>
                <a:uLnTx/>
                <a:uFillTx/>
                <a:latin typeface="微软雅黑" pitchFamily="34" charset="-122"/>
                <a:ea typeface="微软雅黑" pitchFamily="34" charset="-122"/>
                <a:cs typeface="+mn-cs"/>
              </a:rPr>
              <a:t>    </a:t>
            </a:r>
          </a:p>
        </p:txBody>
      </p:sp>
    </p:spTree>
    <p:extLst>
      <p:ext uri="{BB962C8B-B14F-4D97-AF65-F5344CB8AC3E}">
        <p14:creationId xmlns:p14="http://schemas.microsoft.com/office/powerpoint/2010/main" val="24413204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blinds(horizontal)">
                                      <p:cBhvr>
                                        <p:cTn id="19" dur="500"/>
                                        <p:tgtEl>
                                          <p:spTgt spid="4">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Effect transition="in" filter="blinds(horizontal)">
                                      <p:cBhvr>
                                        <p:cTn id="24" dur="500"/>
                                        <p:tgtEl>
                                          <p:spTgt spid="4">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Effect transition="in" filter="blinds(horizontal)">
                                      <p:cBhvr>
                                        <p:cTn id="29" dur="500"/>
                                        <p:tgtEl>
                                          <p:spTgt spid="4">
                                            <p:txEl>
                                              <p:pRg st="2" end="2"/>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blinds(horizontal)">
                                      <p:cBhvr>
                                        <p:cTn id="32" dur="500"/>
                                        <p:tgtEl>
                                          <p:spTgt spid="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blinds(horizontal)">
                                      <p:cBhvr>
                                        <p:cTn id="3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整数变量与常数之间的乘运算</a:t>
            </a:r>
            <a:endParaRPr lang="zh-CN" altLang="en-US" dirty="0"/>
          </a:p>
        </p:txBody>
      </p:sp>
      <p:sp>
        <p:nvSpPr>
          <p:cNvPr id="3" name="内容占位符 2"/>
          <p:cNvSpPr>
            <a:spLocks noGrp="1"/>
          </p:cNvSpPr>
          <p:nvPr>
            <p:ph idx="1"/>
          </p:nvPr>
        </p:nvSpPr>
        <p:spPr/>
        <p:txBody>
          <a:bodyPr/>
          <a:lstStyle/>
          <a:p>
            <a:r>
              <a:rPr lang="zh-CN" altLang="en-US" dirty="0" smtClean="0"/>
              <a:t>考虑计算整数变量</a:t>
            </a:r>
            <a:r>
              <a:rPr lang="en-US" altLang="zh-CN" dirty="0" smtClean="0"/>
              <a:t>x</a:t>
            </a:r>
            <a:r>
              <a:rPr lang="zh-CN" altLang="en-US" dirty="0" smtClean="0"/>
              <a:t>乘上常量</a:t>
            </a:r>
            <a:r>
              <a:rPr lang="en-US" altLang="zh-CN" dirty="0" smtClean="0"/>
              <a:t>K</a:t>
            </a:r>
            <a:r>
              <a:rPr lang="zh-CN" altLang="en-US" dirty="0" smtClean="0"/>
              <a:t>的表达式</a:t>
            </a:r>
            <a:r>
              <a:rPr lang="en-US" altLang="zh-CN" dirty="0" smtClean="0"/>
              <a:t> x * K</a:t>
            </a:r>
            <a:r>
              <a:rPr lang="zh-CN" altLang="en-US" dirty="0" smtClean="0"/>
              <a:t>。其中，</a:t>
            </a:r>
            <a:r>
              <a:rPr lang="en-US" altLang="zh-CN" dirty="0" smtClean="0"/>
              <a:t>K</a:t>
            </a:r>
            <a:r>
              <a:rPr lang="zh-CN" altLang="en-US" dirty="0" smtClean="0"/>
              <a:t>的二进制表示为（连续</a:t>
            </a:r>
            <a:r>
              <a:rPr lang="en-US" altLang="zh-CN" dirty="0" smtClean="0"/>
              <a:t>0</a:t>
            </a:r>
            <a:r>
              <a:rPr lang="zh-CN" altLang="en-US" dirty="0" smtClean="0"/>
              <a:t>或</a:t>
            </a:r>
            <a:r>
              <a:rPr lang="en-US" altLang="zh-CN" dirty="0" smtClean="0"/>
              <a:t>1</a:t>
            </a:r>
            <a:r>
              <a:rPr lang="zh-CN" altLang="en-US" dirty="0" smtClean="0"/>
              <a:t>的子串的组合）</a:t>
            </a:r>
            <a:endParaRPr lang="en-US" altLang="zh-CN" dirty="0" smtClean="0"/>
          </a:p>
          <a:p>
            <a:pPr algn="ctr">
              <a:buNone/>
            </a:pPr>
            <a:r>
              <a:rPr lang="en-US" altLang="zh-CN" dirty="0" smtClean="0"/>
              <a:t> [(0 . . . 0)(1 . . . 1)(0 . . . 0) . . . (1 . . . 1)].</a:t>
            </a:r>
          </a:p>
          <a:p>
            <a:pPr algn="ctr">
              <a:buNone/>
            </a:pPr>
            <a:r>
              <a:rPr lang="zh-CN" altLang="en-US" dirty="0" smtClean="0"/>
              <a:t>例如</a:t>
            </a:r>
            <a:r>
              <a:rPr lang="en-US" altLang="zh-CN" dirty="0" smtClean="0"/>
              <a:t>14</a:t>
            </a:r>
            <a:r>
              <a:rPr lang="zh-CN" altLang="en-US" dirty="0" smtClean="0"/>
              <a:t>可表示为</a:t>
            </a:r>
            <a:r>
              <a:rPr lang="en-US" altLang="zh-CN" dirty="0" smtClean="0"/>
              <a:t>[(0 . . . 0)(111)(0)]</a:t>
            </a:r>
          </a:p>
          <a:p>
            <a:r>
              <a:rPr lang="zh-CN" altLang="en-US" dirty="0" smtClean="0"/>
              <a:t>对</a:t>
            </a:r>
            <a:r>
              <a:rPr lang="en-US" altLang="zh-CN" dirty="0" smtClean="0"/>
              <a:t>K</a:t>
            </a:r>
            <a:r>
              <a:rPr lang="zh-CN" altLang="en-US" dirty="0" smtClean="0"/>
              <a:t>中从高第</a:t>
            </a:r>
            <a:r>
              <a:rPr lang="en-US" altLang="zh-CN" dirty="0" smtClean="0"/>
              <a:t>n</a:t>
            </a:r>
            <a:r>
              <a:rPr lang="zh-CN" altLang="en-US" dirty="0" smtClean="0"/>
              <a:t>位到低第</a:t>
            </a:r>
            <a:r>
              <a:rPr lang="en-US" altLang="zh-CN" dirty="0" smtClean="0"/>
              <a:t> m</a:t>
            </a:r>
            <a:r>
              <a:rPr lang="zh-CN" altLang="en-US" dirty="0" smtClean="0"/>
              <a:t>位的连续</a:t>
            </a:r>
            <a:r>
              <a:rPr lang="en-US" altLang="zh-CN" dirty="0" smtClean="0"/>
              <a:t>1</a:t>
            </a:r>
            <a:r>
              <a:rPr lang="zh-CN" altLang="en-US" dirty="0" smtClean="0"/>
              <a:t>串，可以表示为：</a:t>
            </a:r>
            <a:endParaRPr lang="en-US" altLang="zh-CN" dirty="0" smtClean="0"/>
          </a:p>
          <a:p>
            <a:pPr lvl="1"/>
            <a:r>
              <a:rPr lang="en-US" altLang="zh-CN" dirty="0" smtClean="0"/>
              <a:t>2^n + 2^(n-1) + … + 2^m</a:t>
            </a:r>
          </a:p>
          <a:p>
            <a:pPr lvl="1"/>
            <a:r>
              <a:rPr lang="en-US" altLang="zh-CN" dirty="0" smtClean="0"/>
              <a:t>2^(n+1) – 2^m </a:t>
            </a:r>
          </a:p>
          <a:p>
            <a:r>
              <a:rPr lang="zh-CN" altLang="en-US" dirty="0" smtClean="0"/>
              <a:t>因此，</a:t>
            </a:r>
            <a:r>
              <a:rPr lang="en-US" altLang="zh-CN" dirty="0" smtClean="0"/>
              <a:t>x*K </a:t>
            </a:r>
            <a:r>
              <a:rPr lang="zh-CN" altLang="en-US" dirty="0" smtClean="0"/>
              <a:t>可通过组合以下移位实现：</a:t>
            </a:r>
            <a:endParaRPr lang="en-US" altLang="zh-CN" dirty="0" smtClean="0"/>
          </a:p>
          <a:p>
            <a:pPr lvl="1"/>
            <a:r>
              <a:rPr lang="en-US" altLang="zh-CN" dirty="0" smtClean="0"/>
              <a:t>(x&lt;&lt;n) + (x&lt;&lt;n−1) + . . . + (x&lt;&lt;m)</a:t>
            </a:r>
          </a:p>
          <a:p>
            <a:pPr lvl="1"/>
            <a:r>
              <a:rPr lang="en-US" altLang="zh-CN" dirty="0" smtClean="0"/>
              <a:t>(x&lt;&lt;n+1) - (x&lt;&lt;m)</a:t>
            </a:r>
          </a:p>
        </p:txBody>
      </p:sp>
    </p:spTree>
    <p:extLst>
      <p:ext uri="{BB962C8B-B14F-4D97-AF65-F5344CB8AC3E}">
        <p14:creationId xmlns:p14="http://schemas.microsoft.com/office/powerpoint/2010/main" val="33004399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浮点数表示</a:t>
            </a:r>
            <a:endParaRPr lang="zh-CN" altLang="en-US" dirty="0"/>
          </a:p>
        </p:txBody>
      </p:sp>
      <p:sp>
        <p:nvSpPr>
          <p:cNvPr id="3" name="内容占位符 2"/>
          <p:cNvSpPr>
            <a:spLocks noGrp="1"/>
          </p:cNvSpPr>
          <p:nvPr>
            <p:ph idx="1"/>
          </p:nvPr>
        </p:nvSpPr>
        <p:spPr>
          <a:xfrm>
            <a:off x="468313" y="2747963"/>
            <a:ext cx="8229600" cy="1303337"/>
          </a:xfrm>
        </p:spPr>
        <p:txBody>
          <a:bodyPr/>
          <a:lstStyle/>
          <a:p>
            <a:pPr marL="0" lvl="0" indent="0">
              <a:buNone/>
            </a:pPr>
            <a:r>
              <a:rPr lang="en-US" dirty="0" smtClean="0"/>
              <a:t>123456789 == (</a:t>
            </a:r>
            <a:r>
              <a:rPr lang="en-US" dirty="0" err="1" smtClean="0"/>
              <a:t>int</a:t>
            </a:r>
            <a:r>
              <a:rPr lang="en-US" dirty="0" smtClean="0"/>
              <a:t>)(float)123456789	</a:t>
            </a:r>
            <a:r>
              <a:rPr lang="en-US" altLang="zh-CN" dirty="0" smtClean="0">
                <a:solidFill>
                  <a:srgbClr val="FF0000"/>
                </a:solidFill>
              </a:rPr>
              <a:t>True or False?</a:t>
            </a:r>
          </a:p>
          <a:p>
            <a:pPr marL="0" lvl="0" indent="0">
              <a:buNone/>
            </a:pPr>
            <a:r>
              <a:rPr lang="en-US" altLang="zh-CN" sz="2000" dirty="0" smtClean="0">
                <a:solidFill>
                  <a:srgbClr val="0066FF"/>
                </a:solidFill>
              </a:rPr>
              <a:t>False</a:t>
            </a:r>
            <a:r>
              <a:rPr lang="zh-CN" altLang="en-US" sz="2000" dirty="0" smtClean="0">
                <a:solidFill>
                  <a:srgbClr val="0066FF"/>
                </a:solidFill>
              </a:rPr>
              <a:t>。整数</a:t>
            </a:r>
            <a:r>
              <a:rPr lang="en-US" sz="2000" dirty="0" smtClean="0">
                <a:solidFill>
                  <a:srgbClr val="0066FF"/>
                </a:solidFill>
              </a:rPr>
              <a:t>123456789</a:t>
            </a:r>
            <a:r>
              <a:rPr lang="zh-CN" altLang="en-US" sz="2000" dirty="0" smtClean="0">
                <a:solidFill>
                  <a:srgbClr val="0066FF"/>
                </a:solidFill>
              </a:rPr>
              <a:t>的有效位数为</a:t>
            </a:r>
            <a:r>
              <a:rPr lang="en-US" sz="2000" dirty="0" smtClean="0">
                <a:solidFill>
                  <a:srgbClr val="0066FF"/>
                </a:solidFill>
              </a:rPr>
              <a:t>9</a:t>
            </a:r>
            <a:r>
              <a:rPr lang="zh-CN" altLang="en-US" sz="2000" dirty="0" smtClean="0">
                <a:solidFill>
                  <a:srgbClr val="0066FF"/>
                </a:solidFill>
              </a:rPr>
              <a:t>位，转换为</a:t>
            </a:r>
            <a:r>
              <a:rPr lang="en-US" sz="2000" dirty="0" smtClean="0">
                <a:solidFill>
                  <a:srgbClr val="0066FF"/>
                </a:solidFill>
              </a:rPr>
              <a:t>float</a:t>
            </a:r>
            <a:r>
              <a:rPr lang="zh-CN" altLang="en-US" sz="2000" dirty="0" smtClean="0">
                <a:solidFill>
                  <a:srgbClr val="0066FF"/>
                </a:solidFill>
              </a:rPr>
              <a:t>型数据后肯定发生了有效位数丢失，再转换为</a:t>
            </a:r>
            <a:r>
              <a:rPr lang="en-US" sz="2000" dirty="0" err="1" smtClean="0">
                <a:solidFill>
                  <a:srgbClr val="0066FF"/>
                </a:solidFill>
              </a:rPr>
              <a:t>int</a:t>
            </a:r>
            <a:r>
              <a:rPr lang="zh-CN" altLang="en-US" sz="2000" dirty="0" smtClean="0">
                <a:solidFill>
                  <a:srgbClr val="0066FF"/>
                </a:solidFill>
              </a:rPr>
              <a:t>型数据时，已经不是</a:t>
            </a:r>
            <a:r>
              <a:rPr lang="en-US" sz="2000" dirty="0" smtClean="0">
                <a:solidFill>
                  <a:srgbClr val="0066FF"/>
                </a:solidFill>
              </a:rPr>
              <a:t>123456789</a:t>
            </a:r>
            <a:r>
              <a:rPr lang="zh-CN" altLang="en-US" sz="2000" dirty="0" smtClean="0">
                <a:solidFill>
                  <a:srgbClr val="0066FF"/>
                </a:solidFill>
              </a:rPr>
              <a:t>了。</a:t>
            </a:r>
            <a:endParaRPr lang="en-US" altLang="zh-CN" sz="2000" dirty="0" smtClean="0">
              <a:solidFill>
                <a:srgbClr val="0066FF"/>
              </a:solidFill>
            </a:endParaRPr>
          </a:p>
        </p:txBody>
      </p:sp>
      <p:sp>
        <p:nvSpPr>
          <p:cNvPr id="5" name="内容占位符 2"/>
          <p:cNvSpPr txBox="1">
            <a:spLocks/>
          </p:cNvSpPr>
          <p:nvPr/>
        </p:nvSpPr>
        <p:spPr bwMode="auto">
          <a:xfrm>
            <a:off x="527050" y="4140200"/>
            <a:ext cx="8229600" cy="13335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eaLnBrk="0" hangingPunct="0">
              <a:lnSpc>
                <a:spcPct val="115000"/>
              </a:lnSpc>
              <a:spcBef>
                <a:spcPct val="20000"/>
              </a:spcBef>
            </a:pPr>
            <a:r>
              <a:rPr kumimoji="0" lang="en-US" sz="2400" b="1" i="0" u="none" strike="noStrike" kern="0" cap="none" spc="0" normalizeH="0" baseline="0" noProof="0" dirty="0" smtClean="0">
                <a:ln>
                  <a:noFill/>
                </a:ln>
                <a:solidFill>
                  <a:schemeClr val="tx1"/>
                </a:solidFill>
                <a:effectLst/>
                <a:uLnTx/>
                <a:uFillTx/>
                <a:latin typeface="+mn-lt"/>
                <a:ea typeface="+mn-ea"/>
                <a:cs typeface="+mn-cs"/>
              </a:rPr>
              <a:t>123456 == (</a:t>
            </a:r>
            <a:r>
              <a:rPr kumimoji="0" lang="en-US" sz="2400" b="1" i="0" u="none" strike="noStrike" kern="0" cap="none" spc="0" normalizeH="0" baseline="0" noProof="0" dirty="0" err="1" smtClean="0">
                <a:ln>
                  <a:noFill/>
                </a:ln>
                <a:solidFill>
                  <a:schemeClr val="tx1"/>
                </a:solidFill>
                <a:effectLst/>
                <a:uLnTx/>
                <a:uFillTx/>
                <a:latin typeface="+mn-lt"/>
                <a:ea typeface="+mn-ea"/>
                <a:cs typeface="+mn-cs"/>
              </a:rPr>
              <a:t>int</a:t>
            </a:r>
            <a:r>
              <a:rPr kumimoji="0" lang="en-US" sz="2400" b="1" i="0" u="none" strike="noStrike" kern="0" cap="none" spc="0" normalizeH="0" baseline="0" noProof="0" dirty="0" smtClean="0">
                <a:ln>
                  <a:noFill/>
                </a:ln>
                <a:solidFill>
                  <a:schemeClr val="tx1"/>
                </a:solidFill>
                <a:effectLst/>
                <a:uLnTx/>
                <a:uFillTx/>
                <a:latin typeface="+mn-lt"/>
                <a:ea typeface="+mn-ea"/>
                <a:cs typeface="+mn-cs"/>
              </a:rPr>
              <a:t>)(float)123456	</a:t>
            </a:r>
            <a:r>
              <a:rPr lang="en-US" altLang="zh-CN" sz="2400" b="1" dirty="0" smtClean="0">
                <a:solidFill>
                  <a:srgbClr val="FF0000"/>
                </a:solidFill>
              </a:rPr>
              <a:t> True or False?</a:t>
            </a:r>
          </a:p>
          <a:p>
            <a:pPr lvl="0" eaLnBrk="0" hangingPunct="0">
              <a:lnSpc>
                <a:spcPct val="115000"/>
              </a:lnSpc>
              <a:spcBef>
                <a:spcPct val="20000"/>
              </a:spcBef>
            </a:pPr>
            <a:r>
              <a:rPr kumimoji="0" lang="en-US" altLang="zh-CN" sz="2000" b="1" i="0" u="none" strike="noStrike" kern="0" cap="none" spc="0" normalizeH="0" baseline="0" noProof="0" dirty="0" smtClean="0">
                <a:ln>
                  <a:noFill/>
                </a:ln>
                <a:solidFill>
                  <a:srgbClr val="0066FF"/>
                </a:solidFill>
                <a:effectLst/>
                <a:uLnTx/>
                <a:uFillTx/>
                <a:latin typeface="+mn-lt"/>
                <a:ea typeface="+mn-ea"/>
                <a:cs typeface="+mn-cs"/>
              </a:rPr>
              <a:t>True</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a:t>
            </a:r>
            <a:r>
              <a:rPr lang="zh-CN" altLang="en-US" sz="2000" b="1" dirty="0" smtClean="0">
                <a:solidFill>
                  <a:srgbClr val="0066FF"/>
                </a:solidFill>
              </a:rPr>
              <a:t>数据改为</a:t>
            </a:r>
            <a:r>
              <a:rPr lang="en-US" sz="2000" b="1" dirty="0" smtClean="0">
                <a:solidFill>
                  <a:srgbClr val="0066FF"/>
                </a:solidFill>
              </a:rPr>
              <a:t>123456</a:t>
            </a:r>
            <a:r>
              <a:rPr lang="zh-CN" altLang="en-US" sz="2000" b="1" dirty="0" smtClean="0">
                <a:solidFill>
                  <a:srgbClr val="0066FF"/>
                </a:solidFill>
              </a:rPr>
              <a:t>后，有效位数只有</a:t>
            </a:r>
            <a:r>
              <a:rPr lang="en-US" sz="2000" b="1" dirty="0" smtClean="0">
                <a:solidFill>
                  <a:srgbClr val="0066FF"/>
                </a:solidFill>
              </a:rPr>
              <a:t>6</a:t>
            </a:r>
            <a:r>
              <a:rPr lang="zh-CN" altLang="en-US" sz="2000" b="1" dirty="0" smtClean="0">
                <a:solidFill>
                  <a:srgbClr val="0066FF"/>
                </a:solidFill>
              </a:rPr>
              <a:t>位，转换为</a:t>
            </a:r>
            <a:r>
              <a:rPr lang="en-US" sz="2000" b="1" dirty="0" smtClean="0">
                <a:solidFill>
                  <a:srgbClr val="0066FF"/>
                </a:solidFill>
              </a:rPr>
              <a:t>float</a:t>
            </a:r>
            <a:r>
              <a:rPr lang="zh-CN" altLang="en-US" sz="2000" b="1" dirty="0" smtClean="0">
                <a:solidFill>
                  <a:srgbClr val="0066FF"/>
                </a:solidFill>
              </a:rPr>
              <a:t>型数据后有效位数没有丢失，因而数据没变，再转换为</a:t>
            </a:r>
            <a:r>
              <a:rPr lang="en-US" sz="2000" b="1" dirty="0" err="1" smtClean="0">
                <a:solidFill>
                  <a:srgbClr val="0066FF"/>
                </a:solidFill>
              </a:rPr>
              <a:t>int</a:t>
            </a:r>
            <a:r>
              <a:rPr lang="zh-CN" altLang="en-US" sz="2000" b="1" dirty="0" smtClean="0">
                <a:solidFill>
                  <a:srgbClr val="0066FF"/>
                </a:solidFill>
              </a:rPr>
              <a:t>型数据时，还是</a:t>
            </a:r>
            <a:r>
              <a:rPr lang="en-US" sz="2000" b="1" dirty="0" smtClean="0">
                <a:solidFill>
                  <a:srgbClr val="0066FF"/>
                </a:solidFill>
              </a:rPr>
              <a:t>123456</a:t>
            </a:r>
            <a:r>
              <a:rPr lang="zh-CN" altLang="en-US" sz="2000" b="1" dirty="0" smtClean="0">
                <a:solidFill>
                  <a:srgbClr val="0066FF"/>
                </a:solidFill>
              </a:rPr>
              <a:t>。</a:t>
            </a:r>
            <a:endParaRPr kumimoji="0" lang="en-US" sz="2000" b="1" i="0" u="none" strike="noStrike" kern="0" cap="none" spc="0" normalizeH="0" baseline="0" noProof="0" dirty="0" smtClean="0">
              <a:ln>
                <a:noFill/>
              </a:ln>
              <a:solidFill>
                <a:srgbClr val="0066FF"/>
              </a:solidFill>
              <a:effectLst/>
              <a:uLnTx/>
              <a:uFillTx/>
              <a:latin typeface="+mn-lt"/>
              <a:ea typeface="+mn-ea"/>
              <a:cs typeface="+mn-cs"/>
            </a:endParaRPr>
          </a:p>
        </p:txBody>
      </p:sp>
      <p:sp>
        <p:nvSpPr>
          <p:cNvPr id="6" name="内容占位符 2"/>
          <p:cNvSpPr txBox="1">
            <a:spLocks/>
          </p:cNvSpPr>
          <p:nvPr/>
        </p:nvSpPr>
        <p:spPr bwMode="auto">
          <a:xfrm>
            <a:off x="571500" y="5429250"/>
            <a:ext cx="8229600" cy="12588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eaLnBrk="0" hangingPunct="0">
              <a:lnSpc>
                <a:spcPct val="115000"/>
              </a:lnSpc>
              <a:spcBef>
                <a:spcPct val="20000"/>
              </a:spcBef>
            </a:pPr>
            <a:r>
              <a:rPr kumimoji="0" lang="en-US" sz="2400" b="1" i="0" u="none" strike="noStrike" kern="0" cap="none" spc="0" normalizeH="0" baseline="0" noProof="0" dirty="0" smtClean="0">
                <a:ln>
                  <a:noFill/>
                </a:ln>
                <a:solidFill>
                  <a:schemeClr val="tx1"/>
                </a:solidFill>
                <a:effectLst/>
                <a:uLnTx/>
                <a:uFillTx/>
                <a:latin typeface="+mn-lt"/>
                <a:ea typeface="+mn-ea"/>
                <a:cs typeface="+mn-cs"/>
              </a:rPr>
              <a:t>123456789 == (</a:t>
            </a:r>
            <a:r>
              <a:rPr kumimoji="0" lang="en-US" sz="2400" b="1" i="0" u="none" strike="noStrike" kern="0" cap="none" spc="0" normalizeH="0" baseline="0" noProof="0" dirty="0" err="1" smtClean="0">
                <a:ln>
                  <a:noFill/>
                </a:ln>
                <a:solidFill>
                  <a:schemeClr val="tx1"/>
                </a:solidFill>
                <a:effectLst/>
                <a:uLnTx/>
                <a:uFillTx/>
                <a:latin typeface="+mn-lt"/>
                <a:ea typeface="+mn-ea"/>
                <a:cs typeface="+mn-cs"/>
              </a:rPr>
              <a:t>int</a:t>
            </a:r>
            <a:r>
              <a:rPr kumimoji="0" lang="en-US" sz="2400" b="1" i="0" u="none" strike="noStrike" kern="0" cap="none" spc="0" normalizeH="0" baseline="0" noProof="0" dirty="0" smtClean="0">
                <a:ln>
                  <a:noFill/>
                </a:ln>
                <a:solidFill>
                  <a:schemeClr val="tx1"/>
                </a:solidFill>
                <a:effectLst/>
                <a:uLnTx/>
                <a:uFillTx/>
                <a:latin typeface="+mn-lt"/>
                <a:ea typeface="+mn-ea"/>
                <a:cs typeface="+mn-cs"/>
              </a:rPr>
              <a:t>)(double)123456789</a:t>
            </a:r>
            <a:r>
              <a:rPr lang="en-US" sz="2400" b="1" kern="0" dirty="0" smtClean="0"/>
              <a:t>	</a:t>
            </a:r>
            <a:r>
              <a:rPr lang="en-US" altLang="zh-CN" sz="2400" b="1" dirty="0" smtClean="0">
                <a:solidFill>
                  <a:srgbClr val="FF0000"/>
                </a:solidFill>
              </a:rPr>
              <a:t> True or False?</a:t>
            </a:r>
          </a:p>
          <a:p>
            <a:pPr lvl="0" eaLnBrk="0" hangingPunct="0">
              <a:lnSpc>
                <a:spcPct val="115000"/>
              </a:lnSpc>
              <a:spcBef>
                <a:spcPct val="20000"/>
              </a:spcBef>
            </a:pPr>
            <a:r>
              <a:rPr lang="en-US" altLang="zh-CN" sz="2000" b="1" dirty="0" smtClean="0">
                <a:solidFill>
                  <a:srgbClr val="0066FF"/>
                </a:solidFill>
              </a:rPr>
              <a:t>True</a:t>
            </a:r>
            <a:r>
              <a:rPr lang="zh-CN" altLang="en-US" sz="2000" b="1" dirty="0" smtClean="0">
                <a:solidFill>
                  <a:srgbClr val="0066FF"/>
                </a:solidFill>
              </a:rPr>
              <a:t>。整数</a:t>
            </a:r>
            <a:r>
              <a:rPr lang="en-US" sz="2000" b="1" dirty="0" smtClean="0">
                <a:solidFill>
                  <a:srgbClr val="0066FF"/>
                </a:solidFill>
              </a:rPr>
              <a:t>123456789</a:t>
            </a:r>
            <a:r>
              <a:rPr lang="zh-CN" altLang="en-US" sz="2000" b="1" dirty="0" smtClean="0">
                <a:solidFill>
                  <a:srgbClr val="0066FF"/>
                </a:solidFill>
              </a:rPr>
              <a:t>的有效位数为</a:t>
            </a:r>
            <a:r>
              <a:rPr lang="en-US" sz="2000" b="1" dirty="0" smtClean="0">
                <a:solidFill>
                  <a:srgbClr val="0066FF"/>
                </a:solidFill>
              </a:rPr>
              <a:t>9</a:t>
            </a:r>
            <a:r>
              <a:rPr lang="zh-CN" altLang="en-US" sz="2000" b="1" dirty="0" smtClean="0">
                <a:solidFill>
                  <a:srgbClr val="0066FF"/>
                </a:solidFill>
              </a:rPr>
              <a:t>位，转换为</a:t>
            </a:r>
            <a:r>
              <a:rPr lang="en-US" sz="2000" b="1" dirty="0" smtClean="0">
                <a:solidFill>
                  <a:srgbClr val="0066FF"/>
                </a:solidFill>
              </a:rPr>
              <a:t>double</a:t>
            </a:r>
            <a:r>
              <a:rPr lang="zh-CN" altLang="en-US" sz="2000" b="1" dirty="0" smtClean="0">
                <a:solidFill>
                  <a:srgbClr val="0066FF"/>
                </a:solidFill>
              </a:rPr>
              <a:t>型数据后，不会发生有效位数丢失，再转换为</a:t>
            </a:r>
            <a:r>
              <a:rPr lang="en-US" sz="2000" b="1" dirty="0" err="1" smtClean="0">
                <a:solidFill>
                  <a:srgbClr val="0066FF"/>
                </a:solidFill>
              </a:rPr>
              <a:t>int</a:t>
            </a:r>
            <a:r>
              <a:rPr lang="zh-CN" altLang="en-US" sz="2000" b="1" dirty="0" smtClean="0">
                <a:solidFill>
                  <a:srgbClr val="0066FF"/>
                </a:solidFill>
              </a:rPr>
              <a:t>型数据时，还是</a:t>
            </a:r>
            <a:r>
              <a:rPr lang="en-US" sz="2000" b="1" dirty="0" smtClean="0">
                <a:solidFill>
                  <a:srgbClr val="0066FF"/>
                </a:solidFill>
              </a:rPr>
              <a:t>123456789</a:t>
            </a:r>
            <a:r>
              <a:rPr lang="zh-CN" altLang="en-US" sz="2000" b="1" dirty="0" smtClean="0">
                <a:solidFill>
                  <a:srgbClr val="0066FF"/>
                </a:solidFill>
              </a:rPr>
              <a:t>。</a:t>
            </a:r>
            <a:endParaRPr kumimoji="0" lang="zh-CN" altLang="en-US" sz="2000" b="1" i="0" u="none" strike="noStrike" kern="0" cap="none" spc="0" normalizeH="0" baseline="0" noProof="0" dirty="0" smtClean="0">
              <a:ln>
                <a:noFill/>
              </a:ln>
              <a:solidFill>
                <a:srgbClr val="0066FF"/>
              </a:solidFill>
              <a:effectLst/>
              <a:uLnTx/>
              <a:uFillTx/>
              <a:latin typeface="+mn-lt"/>
              <a:ea typeface="+mn-ea"/>
              <a:cs typeface="+mn-cs"/>
            </a:endParaRPr>
          </a:p>
        </p:txBody>
      </p:sp>
      <p:sp>
        <p:nvSpPr>
          <p:cNvPr id="7" name="内容占位符 2"/>
          <p:cNvSpPr txBox="1">
            <a:spLocks/>
          </p:cNvSpPr>
          <p:nvPr/>
        </p:nvSpPr>
        <p:spPr bwMode="auto">
          <a:xfrm>
            <a:off x="476250" y="806450"/>
            <a:ext cx="8229600" cy="1822450"/>
          </a:xfrm>
          <a:prstGeom prst="rect">
            <a:avLst/>
          </a:prstGeom>
          <a:noFill/>
          <a:ln w="9525">
            <a:solidFill>
              <a:srgbClr val="008000"/>
            </a:solidFill>
            <a:miter lim="800000"/>
            <a:headEnd/>
            <a:tailEnd/>
          </a:ln>
        </p:spPr>
        <p:txBody>
          <a:bodyPr vert="horz" wrap="square" lIns="91440" tIns="45720" rIns="91440" bIns="45720" numCol="1" anchor="t" anchorCtr="0" compatLnSpc="1">
            <a:prstTxWarp prst="textNoShape">
              <a:avLst/>
            </a:prstTxWarp>
          </a:bodyPr>
          <a:lstStyle/>
          <a:p>
            <a:pPr lvl="0" eaLnBrk="0" hangingPunct="0">
              <a:lnSpc>
                <a:spcPct val="115000"/>
              </a:lnSpc>
              <a:spcBef>
                <a:spcPct val="20000"/>
              </a:spcBef>
            </a:pPr>
            <a:r>
              <a:rPr lang="zh-CN" altLang="en-US" sz="2000" dirty="0" smtClean="0">
                <a:solidFill>
                  <a:srgbClr val="008000"/>
                </a:solidFill>
              </a:rPr>
              <a:t>在</a:t>
            </a:r>
            <a:r>
              <a:rPr lang="en-US" sz="2000" dirty="0" smtClean="0">
                <a:solidFill>
                  <a:srgbClr val="008000"/>
                </a:solidFill>
              </a:rPr>
              <a:t>C</a:t>
            </a:r>
            <a:r>
              <a:rPr lang="zh-CN" altLang="en-US" sz="2000" dirty="0" smtClean="0">
                <a:solidFill>
                  <a:srgbClr val="008000"/>
                </a:solidFill>
              </a:rPr>
              <a:t>语言中， </a:t>
            </a:r>
            <a:r>
              <a:rPr lang="en-US" sz="2000" dirty="0" smtClean="0">
                <a:solidFill>
                  <a:srgbClr val="008000"/>
                </a:solidFill>
              </a:rPr>
              <a:t>float</a:t>
            </a:r>
            <a:r>
              <a:rPr lang="zh-CN" altLang="en-US" sz="2000" dirty="0" smtClean="0">
                <a:solidFill>
                  <a:srgbClr val="008000"/>
                </a:solidFill>
              </a:rPr>
              <a:t>类型对应</a:t>
            </a:r>
            <a:r>
              <a:rPr lang="en-US" sz="2000" dirty="0" smtClean="0">
                <a:solidFill>
                  <a:srgbClr val="008000"/>
                </a:solidFill>
              </a:rPr>
              <a:t>IEEE 754</a:t>
            </a:r>
            <a:r>
              <a:rPr lang="zh-CN" altLang="en-US" sz="2000" dirty="0" smtClean="0">
                <a:solidFill>
                  <a:srgbClr val="008000"/>
                </a:solidFill>
              </a:rPr>
              <a:t>单精度浮点数格式，也即</a:t>
            </a:r>
            <a:r>
              <a:rPr lang="en-US" sz="2000" dirty="0" smtClean="0">
                <a:solidFill>
                  <a:srgbClr val="008000"/>
                </a:solidFill>
              </a:rPr>
              <a:t>float</a:t>
            </a:r>
            <a:r>
              <a:rPr lang="zh-CN" altLang="en-US" sz="2000" dirty="0" smtClean="0">
                <a:solidFill>
                  <a:srgbClr val="008000"/>
                </a:solidFill>
              </a:rPr>
              <a:t>型数据的有效位数只有</a:t>
            </a:r>
            <a:r>
              <a:rPr lang="en-US" sz="2000" dirty="0" smtClean="0">
                <a:solidFill>
                  <a:srgbClr val="008000"/>
                </a:solidFill>
              </a:rPr>
              <a:t>24</a:t>
            </a:r>
            <a:r>
              <a:rPr lang="zh-CN" altLang="en-US" sz="2000" dirty="0" smtClean="0">
                <a:solidFill>
                  <a:srgbClr val="008000"/>
                </a:solidFill>
              </a:rPr>
              <a:t>位（相当于有</a:t>
            </a:r>
            <a:r>
              <a:rPr lang="en-US" sz="2000" dirty="0" smtClean="0">
                <a:solidFill>
                  <a:srgbClr val="008000"/>
                </a:solidFill>
              </a:rPr>
              <a:t>7</a:t>
            </a:r>
            <a:r>
              <a:rPr lang="zh-CN" altLang="en-US" sz="2000" dirty="0" smtClean="0">
                <a:solidFill>
                  <a:srgbClr val="008000"/>
                </a:solidFill>
              </a:rPr>
              <a:t>位十进制有效位数）；</a:t>
            </a:r>
            <a:r>
              <a:rPr lang="en-US" sz="2000" dirty="0" smtClean="0">
                <a:solidFill>
                  <a:srgbClr val="008000"/>
                </a:solidFill>
              </a:rPr>
              <a:t>double</a:t>
            </a:r>
            <a:r>
              <a:rPr lang="zh-CN" altLang="en-US" sz="2000" dirty="0" smtClean="0">
                <a:solidFill>
                  <a:srgbClr val="008000"/>
                </a:solidFill>
              </a:rPr>
              <a:t>类型对应</a:t>
            </a:r>
            <a:r>
              <a:rPr lang="en-US" sz="2000" dirty="0" smtClean="0">
                <a:solidFill>
                  <a:srgbClr val="008000"/>
                </a:solidFill>
              </a:rPr>
              <a:t>IEEE 754</a:t>
            </a:r>
            <a:r>
              <a:rPr lang="zh-CN" altLang="en-US" sz="2000" dirty="0" smtClean="0">
                <a:solidFill>
                  <a:srgbClr val="008000"/>
                </a:solidFill>
              </a:rPr>
              <a:t>双精度浮点数格式，有效位数有</a:t>
            </a:r>
            <a:r>
              <a:rPr lang="en-US" sz="2000" dirty="0" smtClean="0">
                <a:solidFill>
                  <a:srgbClr val="008000"/>
                </a:solidFill>
              </a:rPr>
              <a:t>53</a:t>
            </a:r>
            <a:r>
              <a:rPr lang="zh-CN" altLang="en-US" sz="2000" dirty="0" smtClean="0">
                <a:solidFill>
                  <a:srgbClr val="008000"/>
                </a:solidFill>
              </a:rPr>
              <a:t>位（相当于有</a:t>
            </a:r>
            <a:r>
              <a:rPr lang="en-US" sz="2000" dirty="0" smtClean="0">
                <a:solidFill>
                  <a:srgbClr val="008000"/>
                </a:solidFill>
              </a:rPr>
              <a:t>17</a:t>
            </a:r>
            <a:r>
              <a:rPr lang="zh-CN" altLang="en-US" sz="2000" dirty="0" smtClean="0">
                <a:solidFill>
                  <a:srgbClr val="008000"/>
                </a:solidFill>
              </a:rPr>
              <a:t>位十进制有效位数）；</a:t>
            </a:r>
            <a:r>
              <a:rPr lang="en-US" sz="2000" dirty="0" err="1" smtClean="0">
                <a:solidFill>
                  <a:srgbClr val="008000"/>
                </a:solidFill>
              </a:rPr>
              <a:t>int</a:t>
            </a:r>
            <a:r>
              <a:rPr lang="zh-CN" altLang="en-US" sz="2000" dirty="0" smtClean="0">
                <a:solidFill>
                  <a:srgbClr val="008000"/>
                </a:solidFill>
              </a:rPr>
              <a:t>类型为</a:t>
            </a:r>
            <a:r>
              <a:rPr lang="en-US" sz="2000" dirty="0" smtClean="0">
                <a:solidFill>
                  <a:srgbClr val="008000"/>
                </a:solidFill>
              </a:rPr>
              <a:t>32</a:t>
            </a:r>
            <a:r>
              <a:rPr lang="zh-CN" altLang="en-US" sz="2000" dirty="0" smtClean="0">
                <a:solidFill>
                  <a:srgbClr val="008000"/>
                </a:solidFill>
              </a:rPr>
              <a:t>位整数，其有效位数为</a:t>
            </a:r>
            <a:r>
              <a:rPr lang="en-US" sz="2000" dirty="0" smtClean="0">
                <a:solidFill>
                  <a:srgbClr val="008000"/>
                </a:solidFill>
              </a:rPr>
              <a:t>31</a:t>
            </a:r>
            <a:r>
              <a:rPr lang="zh-CN" altLang="en-US" sz="2000" dirty="0" smtClean="0">
                <a:solidFill>
                  <a:srgbClr val="008000"/>
                </a:solidFill>
              </a:rPr>
              <a:t>位（最大数为</a:t>
            </a:r>
            <a:r>
              <a:rPr lang="en-US" sz="2000" dirty="0" smtClean="0">
                <a:solidFill>
                  <a:srgbClr val="008000"/>
                </a:solidFill>
              </a:rPr>
              <a:t>2147483647</a:t>
            </a:r>
            <a:r>
              <a:rPr lang="zh-CN" altLang="en-US" sz="2000" dirty="0" smtClean="0">
                <a:solidFill>
                  <a:srgbClr val="008000"/>
                </a:solidFill>
              </a:rPr>
              <a:t>，相当于</a:t>
            </a:r>
            <a:r>
              <a:rPr lang="en-US" sz="2000" dirty="0" smtClean="0">
                <a:solidFill>
                  <a:srgbClr val="008000"/>
                </a:solidFill>
              </a:rPr>
              <a:t>10</a:t>
            </a:r>
            <a:r>
              <a:rPr lang="zh-CN" altLang="en-US" sz="2000" dirty="0" smtClean="0">
                <a:solidFill>
                  <a:srgbClr val="008000"/>
                </a:solidFill>
              </a:rPr>
              <a:t>位十进制有效位数）。</a:t>
            </a:r>
            <a:endParaRPr kumimoji="0" lang="en-US" altLang="zh-CN" b="1" i="0" u="none" strike="noStrike" kern="0" cap="none" spc="0" normalizeH="0" baseline="0" noProof="0" dirty="0" smtClean="0">
              <a:ln>
                <a:noFill/>
              </a:ln>
              <a:solidFill>
                <a:srgbClr val="008000"/>
              </a:solidFill>
              <a:effectLst/>
              <a:uLnTx/>
              <a:uFillTx/>
              <a:latin typeface="+mn-lt"/>
              <a:ea typeface="+mn-ea"/>
              <a:cs typeface="+mn-cs"/>
            </a:endParaRPr>
          </a:p>
        </p:txBody>
      </p:sp>
    </p:spTree>
    <p:extLst>
      <p:ext uri="{BB962C8B-B14F-4D97-AF65-F5344CB8AC3E}">
        <p14:creationId xmlns:p14="http://schemas.microsoft.com/office/powerpoint/2010/main" val="254318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blinds(horizontal)">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blinds(horizontal)">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blinds(horizontal)">
                                      <p:cBhvr>
                                        <p:cTn id="3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title" idx="4294967295"/>
          </p:nvPr>
        </p:nvSpPr>
        <p:spPr>
          <a:xfrm>
            <a:off x="836613" y="84138"/>
            <a:ext cx="6651625" cy="600075"/>
          </a:xfrm>
          <a:noFill/>
        </p:spPr>
        <p:txBody>
          <a:bodyPr lIns="63500" tIns="25400" rIns="63500" bIns="25400" anchor="t">
            <a:spAutoFit/>
          </a:bodyPr>
          <a:lstStyle/>
          <a:p>
            <a:r>
              <a:rPr lang="zh-CN" altLang="en-US" dirty="0" smtClean="0">
                <a:latin typeface="黑体" pitchFamily="49" charset="-122"/>
              </a:rPr>
              <a:t>浮点数加减法基本要点</a:t>
            </a:r>
            <a:r>
              <a:rPr lang="en-US" altLang="zh-CN" dirty="0" smtClean="0">
                <a:ea typeface="宋体" pitchFamily="2" charset="-122"/>
              </a:rPr>
              <a:t> </a:t>
            </a:r>
            <a:endParaRPr lang="en-US" altLang="zh-CN" sz="2400" dirty="0" smtClean="0">
              <a:ea typeface="宋体" pitchFamily="2" charset="-122"/>
            </a:endParaRPr>
          </a:p>
        </p:txBody>
      </p:sp>
      <p:sp>
        <p:nvSpPr>
          <p:cNvPr id="189443" name="Rectangle 3"/>
          <p:cNvSpPr>
            <a:spLocks noChangeArrowheads="1"/>
          </p:cNvSpPr>
          <p:nvPr/>
        </p:nvSpPr>
        <p:spPr bwMode="auto">
          <a:xfrm>
            <a:off x="296863" y="950913"/>
            <a:ext cx="8732837" cy="5129212"/>
          </a:xfrm>
          <a:prstGeom prst="rect">
            <a:avLst/>
          </a:prstGeom>
          <a:noFill/>
          <a:ln w="12700">
            <a:noFill/>
            <a:miter lim="800000"/>
            <a:headEnd/>
            <a:tailEnd/>
          </a:ln>
        </p:spPr>
        <p:txBody>
          <a:bodyPr lIns="63500" tIns="25400" rIns="63500" bIns="25400">
            <a:spAutoFit/>
          </a:bodyPr>
          <a:lstStyle/>
          <a:p>
            <a:pPr marL="457200" indent="-457200" eaLnBrk="0" hangingPunct="0">
              <a:lnSpc>
                <a:spcPct val="110000"/>
              </a:lnSpc>
              <a:spcBef>
                <a:spcPct val="20000"/>
              </a:spcBef>
            </a:pPr>
            <a:r>
              <a:rPr lang="zh-CN" altLang="en-US" sz="2000" b="1">
                <a:solidFill>
                  <a:schemeClr val="accent2"/>
                </a:solidFill>
                <a:latin typeface="微软雅黑" pitchFamily="34" charset="-122"/>
                <a:ea typeface="微软雅黑" pitchFamily="34" charset="-122"/>
                <a:cs typeface="Arial" pitchFamily="34" charset="0"/>
              </a:rPr>
              <a:t>（假定：</a:t>
            </a:r>
            <a:r>
              <a:rPr lang="en-US" altLang="zh-CN" sz="2000" b="1">
                <a:solidFill>
                  <a:schemeClr val="accent2"/>
                </a:solidFill>
                <a:latin typeface="微软雅黑" pitchFamily="34" charset="-122"/>
                <a:ea typeface="微软雅黑" pitchFamily="34" charset="-122"/>
                <a:cs typeface="Arial" pitchFamily="34" charset="0"/>
              </a:rPr>
              <a:t>Xm</a:t>
            </a:r>
            <a:r>
              <a:rPr lang="zh-CN" altLang="en-US" sz="2000" b="1">
                <a:solidFill>
                  <a:schemeClr val="accent2"/>
                </a:solidFill>
                <a:latin typeface="微软雅黑" pitchFamily="34" charset="-122"/>
                <a:ea typeface="微软雅黑" pitchFamily="34" charset="-122"/>
                <a:cs typeface="Arial" pitchFamily="34" charset="0"/>
              </a:rPr>
              <a:t>、</a:t>
            </a:r>
            <a:r>
              <a:rPr lang="en-US" altLang="zh-CN" sz="2000" b="1">
                <a:solidFill>
                  <a:schemeClr val="accent2"/>
                </a:solidFill>
                <a:latin typeface="微软雅黑" pitchFamily="34" charset="-122"/>
                <a:ea typeface="微软雅黑" pitchFamily="34" charset="-122"/>
                <a:cs typeface="Arial" pitchFamily="34" charset="0"/>
              </a:rPr>
              <a:t>Ym</a:t>
            </a:r>
            <a:r>
              <a:rPr lang="zh-CN" altLang="en-US" sz="2000" b="1">
                <a:solidFill>
                  <a:schemeClr val="accent2"/>
                </a:solidFill>
                <a:latin typeface="微软雅黑" pitchFamily="34" charset="-122"/>
                <a:ea typeface="微软雅黑" pitchFamily="34" charset="-122"/>
                <a:cs typeface="Arial" pitchFamily="34" charset="0"/>
              </a:rPr>
              <a:t>分别是</a:t>
            </a:r>
            <a:r>
              <a:rPr lang="en-US" altLang="zh-CN" sz="2000" b="1">
                <a:solidFill>
                  <a:schemeClr val="accent2"/>
                </a:solidFill>
                <a:latin typeface="微软雅黑" pitchFamily="34" charset="-122"/>
                <a:ea typeface="微软雅黑" pitchFamily="34" charset="-122"/>
                <a:cs typeface="Arial" pitchFamily="34" charset="0"/>
              </a:rPr>
              <a:t>X</a:t>
            </a:r>
            <a:r>
              <a:rPr lang="zh-CN" altLang="en-US" sz="2000" b="1">
                <a:solidFill>
                  <a:schemeClr val="accent2"/>
                </a:solidFill>
                <a:latin typeface="微软雅黑" pitchFamily="34" charset="-122"/>
                <a:ea typeface="微软雅黑" pitchFamily="34" charset="-122"/>
                <a:cs typeface="Arial" pitchFamily="34" charset="0"/>
              </a:rPr>
              <a:t>和</a:t>
            </a:r>
            <a:r>
              <a:rPr lang="en-US" altLang="zh-CN" sz="2000" b="1">
                <a:solidFill>
                  <a:schemeClr val="accent2"/>
                </a:solidFill>
                <a:latin typeface="微软雅黑" pitchFamily="34" charset="-122"/>
                <a:ea typeface="微软雅黑" pitchFamily="34" charset="-122"/>
                <a:cs typeface="Arial" pitchFamily="34" charset="0"/>
              </a:rPr>
              <a:t>Y</a:t>
            </a:r>
            <a:r>
              <a:rPr lang="zh-CN" altLang="en-US" sz="2000" b="1">
                <a:solidFill>
                  <a:schemeClr val="accent2"/>
                </a:solidFill>
                <a:latin typeface="微软雅黑" pitchFamily="34" charset="-122"/>
                <a:ea typeface="微软雅黑" pitchFamily="34" charset="-122"/>
                <a:cs typeface="Arial" pitchFamily="34" charset="0"/>
              </a:rPr>
              <a:t>的尾数， </a:t>
            </a:r>
            <a:r>
              <a:rPr lang="en-US" altLang="zh-CN" sz="2000" b="1">
                <a:solidFill>
                  <a:schemeClr val="accent2"/>
                </a:solidFill>
                <a:latin typeface="微软雅黑" pitchFamily="34" charset="-122"/>
                <a:ea typeface="微软雅黑" pitchFamily="34" charset="-122"/>
                <a:cs typeface="Arial" pitchFamily="34" charset="0"/>
              </a:rPr>
              <a:t> Xe</a:t>
            </a:r>
            <a:r>
              <a:rPr lang="zh-CN" altLang="en-US" sz="2000" b="1">
                <a:solidFill>
                  <a:schemeClr val="accent2"/>
                </a:solidFill>
                <a:latin typeface="微软雅黑" pitchFamily="34" charset="-122"/>
                <a:ea typeface="微软雅黑" pitchFamily="34" charset="-122"/>
                <a:cs typeface="Arial" pitchFamily="34" charset="0"/>
              </a:rPr>
              <a:t>和</a:t>
            </a:r>
            <a:r>
              <a:rPr lang="en-US" altLang="zh-CN" sz="2000" b="1">
                <a:solidFill>
                  <a:schemeClr val="accent2"/>
                </a:solidFill>
                <a:latin typeface="微软雅黑" pitchFamily="34" charset="-122"/>
                <a:ea typeface="微软雅黑" pitchFamily="34" charset="-122"/>
                <a:cs typeface="Arial" pitchFamily="34" charset="0"/>
              </a:rPr>
              <a:t>Ye </a:t>
            </a:r>
            <a:r>
              <a:rPr lang="zh-CN" altLang="en-US" sz="2000" b="1">
                <a:solidFill>
                  <a:schemeClr val="accent2"/>
                </a:solidFill>
                <a:latin typeface="微软雅黑" pitchFamily="34" charset="-122"/>
                <a:ea typeface="微软雅黑" pitchFamily="34" charset="-122"/>
                <a:cs typeface="Arial" pitchFamily="34" charset="0"/>
              </a:rPr>
              <a:t>分别是</a:t>
            </a:r>
            <a:r>
              <a:rPr lang="en-US" altLang="zh-CN" sz="2000" b="1">
                <a:solidFill>
                  <a:schemeClr val="accent2"/>
                </a:solidFill>
                <a:latin typeface="微软雅黑" pitchFamily="34" charset="-122"/>
                <a:ea typeface="微软雅黑" pitchFamily="34" charset="-122"/>
                <a:cs typeface="Arial" pitchFamily="34" charset="0"/>
              </a:rPr>
              <a:t>X</a:t>
            </a:r>
            <a:r>
              <a:rPr lang="zh-CN" altLang="en-US" sz="2000" b="1">
                <a:solidFill>
                  <a:schemeClr val="accent2"/>
                </a:solidFill>
                <a:latin typeface="微软雅黑" pitchFamily="34" charset="-122"/>
                <a:ea typeface="微软雅黑" pitchFamily="34" charset="-122"/>
                <a:cs typeface="Arial" pitchFamily="34" charset="0"/>
              </a:rPr>
              <a:t>和</a:t>
            </a:r>
            <a:r>
              <a:rPr lang="en-US" altLang="zh-CN" sz="2000" b="1">
                <a:solidFill>
                  <a:schemeClr val="accent2"/>
                </a:solidFill>
                <a:latin typeface="微软雅黑" pitchFamily="34" charset="-122"/>
                <a:ea typeface="微软雅黑" pitchFamily="34" charset="-122"/>
                <a:cs typeface="Arial" pitchFamily="34" charset="0"/>
              </a:rPr>
              <a:t>Y</a:t>
            </a:r>
            <a:r>
              <a:rPr lang="zh-CN" altLang="en-US" sz="2000" b="1">
                <a:solidFill>
                  <a:schemeClr val="accent2"/>
                </a:solidFill>
                <a:latin typeface="微软雅黑" pitchFamily="34" charset="-122"/>
                <a:ea typeface="微软雅黑" pitchFamily="34" charset="-122"/>
                <a:cs typeface="Arial" pitchFamily="34" charset="0"/>
              </a:rPr>
              <a:t>的阶码 ）</a:t>
            </a:r>
            <a:endParaRPr lang="en-US" altLang="zh-CN" sz="2000" b="1">
              <a:solidFill>
                <a:schemeClr val="accent2"/>
              </a:solidFill>
              <a:latin typeface="微软雅黑" pitchFamily="34" charset="-122"/>
              <a:ea typeface="微软雅黑" pitchFamily="34" charset="-122"/>
              <a:cs typeface="Arial" pitchFamily="34" charset="0"/>
            </a:endParaRPr>
          </a:p>
          <a:p>
            <a:pPr marL="457200" indent="-457200" eaLnBrk="0" hangingPunct="0">
              <a:lnSpc>
                <a:spcPct val="110000"/>
              </a:lnSpc>
              <a:spcBef>
                <a:spcPct val="20000"/>
              </a:spcBef>
            </a:pPr>
            <a:r>
              <a:rPr lang="en-US" altLang="zh-CN" sz="2000" b="1">
                <a:latin typeface="微软雅黑" pitchFamily="34" charset="-122"/>
                <a:ea typeface="微软雅黑" pitchFamily="34" charset="-122"/>
                <a:cs typeface="Arial" pitchFamily="34" charset="0"/>
              </a:rPr>
              <a:t>(1)  </a:t>
            </a:r>
            <a:r>
              <a:rPr lang="zh-CN" altLang="en-US" sz="2000" b="1">
                <a:latin typeface="微软雅黑" pitchFamily="34" charset="-122"/>
                <a:ea typeface="微软雅黑" pitchFamily="34" charset="-122"/>
                <a:cs typeface="Arial" pitchFamily="34" charset="0"/>
              </a:rPr>
              <a:t>求阶差：</a:t>
            </a:r>
            <a:r>
              <a:rPr lang="en-US" altLang="zh-CN" sz="2000" b="1">
                <a:latin typeface="微软雅黑" pitchFamily="34" charset="-122"/>
                <a:ea typeface="微软雅黑" pitchFamily="34" charset="-122"/>
                <a:cs typeface="Arial" pitchFamily="34" charset="0"/>
              </a:rPr>
              <a:t>∆e=Ye – Xe  (</a:t>
            </a:r>
            <a:r>
              <a:rPr lang="zh-CN" altLang="en-US" sz="2000" b="1">
                <a:latin typeface="微软雅黑" pitchFamily="34" charset="-122"/>
                <a:ea typeface="微软雅黑" pitchFamily="34" charset="-122"/>
                <a:cs typeface="Arial" pitchFamily="34" charset="0"/>
              </a:rPr>
              <a:t>若</a:t>
            </a:r>
            <a:r>
              <a:rPr lang="en-US" altLang="zh-CN" sz="2000" b="1">
                <a:latin typeface="微软雅黑" pitchFamily="34" charset="-122"/>
                <a:ea typeface="微软雅黑" pitchFamily="34" charset="-122"/>
                <a:cs typeface="Arial" pitchFamily="34" charset="0"/>
              </a:rPr>
              <a:t>Ye &gt; Xe</a:t>
            </a:r>
            <a:r>
              <a:rPr lang="zh-CN" altLang="en-US" sz="2000" b="1">
                <a:latin typeface="微软雅黑" pitchFamily="34" charset="-122"/>
                <a:ea typeface="微软雅黑" pitchFamily="34" charset="-122"/>
                <a:cs typeface="Arial" pitchFamily="34" charset="0"/>
              </a:rPr>
              <a:t>，则结果的阶码为</a:t>
            </a:r>
            <a:r>
              <a:rPr lang="en-US" altLang="zh-CN" sz="2000" b="1">
                <a:latin typeface="微软雅黑" pitchFamily="34" charset="-122"/>
                <a:ea typeface="微软雅黑" pitchFamily="34" charset="-122"/>
                <a:cs typeface="Arial" pitchFamily="34" charset="0"/>
              </a:rPr>
              <a:t>Ye)</a:t>
            </a:r>
          </a:p>
          <a:p>
            <a:pPr marL="457200" indent="-457200" eaLnBrk="0" hangingPunct="0">
              <a:lnSpc>
                <a:spcPct val="110000"/>
              </a:lnSpc>
              <a:spcBef>
                <a:spcPct val="20000"/>
              </a:spcBef>
            </a:pPr>
            <a:r>
              <a:rPr lang="en-US" altLang="zh-CN" sz="2000" b="1">
                <a:latin typeface="微软雅黑" pitchFamily="34" charset="-122"/>
                <a:ea typeface="微软雅黑" pitchFamily="34" charset="-122"/>
                <a:cs typeface="Arial" pitchFamily="34" charset="0"/>
              </a:rPr>
              <a:t>(2)  </a:t>
            </a:r>
            <a:r>
              <a:rPr lang="zh-CN" altLang="en-US" sz="2000" b="1">
                <a:latin typeface="微软雅黑" pitchFamily="34" charset="-122"/>
                <a:ea typeface="微软雅黑" pitchFamily="34" charset="-122"/>
                <a:cs typeface="Arial" pitchFamily="34" charset="0"/>
              </a:rPr>
              <a:t>对阶：将</a:t>
            </a:r>
            <a:r>
              <a:rPr lang="en-US" altLang="zh-CN" sz="2000" b="1">
                <a:latin typeface="微软雅黑" pitchFamily="34" charset="-122"/>
                <a:ea typeface="微软雅黑" pitchFamily="34" charset="-122"/>
                <a:cs typeface="Arial" pitchFamily="34" charset="0"/>
              </a:rPr>
              <a:t>Xm</a:t>
            </a:r>
            <a:r>
              <a:rPr lang="zh-CN" altLang="en-US" sz="2000" b="1">
                <a:latin typeface="微软雅黑" pitchFamily="34" charset="-122"/>
                <a:ea typeface="微软雅黑" pitchFamily="34" charset="-122"/>
                <a:cs typeface="Arial" pitchFamily="34" charset="0"/>
              </a:rPr>
              <a:t>右移</a:t>
            </a:r>
            <a:r>
              <a:rPr lang="en-US" altLang="zh-CN" sz="2000" b="1">
                <a:latin typeface="微软雅黑" pitchFamily="34" charset="-122"/>
                <a:ea typeface="微软雅黑" pitchFamily="34" charset="-122"/>
                <a:cs typeface="Arial" pitchFamily="34" charset="0"/>
              </a:rPr>
              <a:t>∆e</a:t>
            </a:r>
            <a:r>
              <a:rPr lang="zh-CN" altLang="en-US" sz="2000" b="1">
                <a:latin typeface="微软雅黑" pitchFamily="34" charset="-122"/>
                <a:ea typeface="微软雅黑" pitchFamily="34" charset="-122"/>
                <a:cs typeface="Arial" pitchFamily="34" charset="0"/>
              </a:rPr>
              <a:t>位，尾数变为</a:t>
            </a:r>
            <a:r>
              <a:rPr lang="en-US" altLang="zh-CN" sz="2000" b="1">
                <a:latin typeface="微软雅黑" pitchFamily="34" charset="-122"/>
                <a:ea typeface="微软雅黑" pitchFamily="34" charset="-122"/>
                <a:cs typeface="Arial" pitchFamily="34" charset="0"/>
              </a:rPr>
              <a:t> Xm*2</a:t>
            </a:r>
            <a:r>
              <a:rPr lang="en-US" altLang="zh-CN" sz="2200" b="1" baseline="30000">
                <a:latin typeface="微软雅黑" pitchFamily="34" charset="-122"/>
                <a:ea typeface="微软雅黑" pitchFamily="34" charset="-122"/>
                <a:cs typeface="Arial" pitchFamily="34" charset="0"/>
              </a:rPr>
              <a:t>Xe-Ye</a:t>
            </a:r>
            <a:r>
              <a:rPr lang="zh-CN" altLang="en-US" sz="2000" b="1">
                <a:latin typeface="微软雅黑" pitchFamily="34" charset="-122"/>
                <a:ea typeface="微软雅黑" pitchFamily="34" charset="-122"/>
                <a:cs typeface="Arial" pitchFamily="34" charset="0"/>
              </a:rPr>
              <a:t>（保留右移部分</a:t>
            </a:r>
            <a:r>
              <a:rPr lang="zh-CN" altLang="en-US" sz="2000" b="1">
                <a:solidFill>
                  <a:srgbClr val="FF0000"/>
                </a:solidFill>
                <a:latin typeface="微软雅黑" pitchFamily="34" charset="-122"/>
                <a:ea typeface="微软雅黑" pitchFamily="34" charset="-122"/>
                <a:cs typeface="Arial" pitchFamily="34" charset="0"/>
              </a:rPr>
              <a:t>附加位</a:t>
            </a:r>
            <a:r>
              <a:rPr lang="zh-CN" altLang="en-US" sz="2000" b="1">
                <a:latin typeface="微软雅黑" pitchFamily="34" charset="-122"/>
                <a:ea typeface="微软雅黑" pitchFamily="34" charset="-122"/>
                <a:cs typeface="Arial" pitchFamily="34" charset="0"/>
              </a:rPr>
              <a:t>）</a:t>
            </a:r>
          </a:p>
          <a:p>
            <a:pPr marL="457200" indent="-457200" eaLnBrk="0" hangingPunct="0">
              <a:lnSpc>
                <a:spcPct val="110000"/>
              </a:lnSpc>
              <a:spcBef>
                <a:spcPct val="20000"/>
              </a:spcBef>
            </a:pPr>
            <a:r>
              <a:rPr lang="en-US" altLang="zh-CN" sz="2000" b="1">
                <a:latin typeface="微软雅黑" pitchFamily="34" charset="-122"/>
                <a:ea typeface="微软雅黑" pitchFamily="34" charset="-122"/>
                <a:cs typeface="Arial" pitchFamily="34" charset="0"/>
              </a:rPr>
              <a:t>(3)  </a:t>
            </a:r>
            <a:r>
              <a:rPr lang="zh-CN" altLang="en-US" sz="2000" b="1">
                <a:latin typeface="微软雅黑" pitchFamily="34" charset="-122"/>
                <a:ea typeface="微软雅黑" pitchFamily="34" charset="-122"/>
                <a:cs typeface="Arial" pitchFamily="34" charset="0"/>
              </a:rPr>
              <a:t>尾数加减： </a:t>
            </a:r>
            <a:r>
              <a:rPr lang="en-US" altLang="zh-CN" sz="2000" b="1">
                <a:latin typeface="微软雅黑" pitchFamily="34" charset="-122"/>
                <a:ea typeface="微软雅黑" pitchFamily="34" charset="-122"/>
                <a:cs typeface="Arial" pitchFamily="34" charset="0"/>
              </a:rPr>
              <a:t>Xm*2</a:t>
            </a:r>
            <a:r>
              <a:rPr lang="en-US" altLang="zh-CN" sz="2200" b="1" baseline="30000">
                <a:latin typeface="微软雅黑" pitchFamily="34" charset="-122"/>
                <a:ea typeface="微软雅黑" pitchFamily="34" charset="-122"/>
                <a:cs typeface="Arial" pitchFamily="34" charset="0"/>
              </a:rPr>
              <a:t>Xe-Ye</a:t>
            </a:r>
            <a:r>
              <a:rPr lang="en-US" altLang="zh-CN" sz="2000" b="1">
                <a:latin typeface="微软雅黑" pitchFamily="34" charset="-122"/>
                <a:ea typeface="微软雅黑" pitchFamily="34" charset="-122"/>
                <a:cs typeface="Arial" pitchFamily="34" charset="0"/>
              </a:rPr>
              <a:t> ± Ym</a:t>
            </a:r>
          </a:p>
          <a:p>
            <a:pPr marL="457200" indent="-457200" eaLnBrk="0" hangingPunct="0">
              <a:lnSpc>
                <a:spcPct val="110000"/>
              </a:lnSpc>
              <a:spcBef>
                <a:spcPct val="20000"/>
              </a:spcBef>
            </a:pPr>
            <a:r>
              <a:rPr lang="en-US" altLang="zh-CN" sz="2000" b="1">
                <a:latin typeface="微软雅黑" pitchFamily="34" charset="-122"/>
                <a:ea typeface="微软雅黑" pitchFamily="34" charset="-122"/>
                <a:cs typeface="Arial" pitchFamily="34" charset="0"/>
              </a:rPr>
              <a:t>(4) </a:t>
            </a:r>
            <a:r>
              <a:rPr lang="zh-CN" altLang="en-US" sz="2000" b="1">
                <a:latin typeface="微软雅黑" pitchFamily="34" charset="-122"/>
                <a:ea typeface="微软雅黑" pitchFamily="34" charset="-122"/>
                <a:cs typeface="Arial" pitchFamily="34" charset="0"/>
              </a:rPr>
              <a:t>规格化：</a:t>
            </a:r>
          </a:p>
          <a:p>
            <a:pPr marL="457200" indent="-457200" eaLnBrk="0" hangingPunct="0">
              <a:lnSpc>
                <a:spcPct val="110000"/>
              </a:lnSpc>
              <a:spcBef>
                <a:spcPct val="20000"/>
              </a:spcBef>
            </a:pPr>
            <a:r>
              <a:rPr lang="zh-CN" altLang="en-US" sz="2000" b="1">
                <a:latin typeface="微软雅黑" pitchFamily="34" charset="-122"/>
                <a:ea typeface="微软雅黑" pitchFamily="34" charset="-122"/>
                <a:cs typeface="Arial" pitchFamily="34" charset="0"/>
              </a:rPr>
              <a:t>      当尾数高位为</a:t>
            </a:r>
            <a:r>
              <a:rPr lang="en-US" altLang="zh-CN" sz="2000" b="1">
                <a:latin typeface="微软雅黑" pitchFamily="34" charset="-122"/>
                <a:ea typeface="微软雅黑" pitchFamily="34" charset="-122"/>
                <a:cs typeface="Arial" pitchFamily="34" charset="0"/>
              </a:rPr>
              <a:t>0</a:t>
            </a:r>
            <a:r>
              <a:rPr lang="zh-CN" altLang="en-US" sz="2000" b="1">
                <a:latin typeface="微软雅黑" pitchFamily="34" charset="-122"/>
                <a:ea typeface="微软雅黑" pitchFamily="34" charset="-122"/>
                <a:cs typeface="Arial" pitchFamily="34" charset="0"/>
              </a:rPr>
              <a:t>，则需左规：</a:t>
            </a:r>
            <a:r>
              <a:rPr lang="zh-CN" altLang="en-US" sz="2000" b="1">
                <a:solidFill>
                  <a:srgbClr val="008000"/>
                </a:solidFill>
                <a:latin typeface="微软雅黑" pitchFamily="34" charset="-122"/>
                <a:ea typeface="微软雅黑" pitchFamily="34" charset="-122"/>
                <a:cs typeface="Arial" pitchFamily="34" charset="0"/>
              </a:rPr>
              <a:t>尾数左移一次，阶码减</a:t>
            </a:r>
            <a:r>
              <a:rPr lang="en-US" altLang="zh-CN" sz="2000" b="1">
                <a:solidFill>
                  <a:srgbClr val="008000"/>
                </a:solidFill>
                <a:latin typeface="微软雅黑" pitchFamily="34" charset="-122"/>
                <a:ea typeface="微软雅黑" pitchFamily="34" charset="-122"/>
                <a:cs typeface="Arial" pitchFamily="34" charset="0"/>
              </a:rPr>
              <a:t>1</a:t>
            </a:r>
            <a:r>
              <a:rPr lang="zh-CN" altLang="en-US" sz="2000" b="1">
                <a:solidFill>
                  <a:srgbClr val="008000"/>
                </a:solidFill>
                <a:latin typeface="微软雅黑" pitchFamily="34" charset="-122"/>
                <a:ea typeface="微软雅黑" pitchFamily="34" charset="-122"/>
                <a:cs typeface="Arial" pitchFamily="34" charset="0"/>
              </a:rPr>
              <a:t>，直到</a:t>
            </a:r>
            <a:r>
              <a:rPr lang="en-US" altLang="zh-CN" sz="2000" b="1">
                <a:solidFill>
                  <a:srgbClr val="008000"/>
                </a:solidFill>
                <a:latin typeface="微软雅黑" pitchFamily="34" charset="-122"/>
                <a:ea typeface="微软雅黑" pitchFamily="34" charset="-122"/>
                <a:cs typeface="Arial" pitchFamily="34" charset="0"/>
              </a:rPr>
              <a:t>MSB</a:t>
            </a:r>
            <a:r>
              <a:rPr lang="zh-CN" altLang="en-US" sz="2000" b="1">
                <a:solidFill>
                  <a:srgbClr val="008000"/>
                </a:solidFill>
                <a:latin typeface="微软雅黑" pitchFamily="34" charset="-122"/>
                <a:ea typeface="微软雅黑" pitchFamily="34" charset="-122"/>
                <a:cs typeface="Arial" pitchFamily="34" charset="0"/>
              </a:rPr>
              <a:t>为</a:t>
            </a:r>
            <a:r>
              <a:rPr lang="en-US" altLang="zh-CN" sz="2000" b="1">
                <a:solidFill>
                  <a:srgbClr val="008000"/>
                </a:solidFill>
                <a:latin typeface="微软雅黑" pitchFamily="34" charset="-122"/>
                <a:ea typeface="微软雅黑" pitchFamily="34" charset="-122"/>
                <a:cs typeface="Arial" pitchFamily="34" charset="0"/>
              </a:rPr>
              <a:t>1</a:t>
            </a:r>
            <a:endParaRPr lang="zh-CN" altLang="en-US" sz="2000" b="1">
              <a:solidFill>
                <a:srgbClr val="008000"/>
              </a:solidFill>
              <a:latin typeface="微软雅黑" pitchFamily="34" charset="-122"/>
              <a:ea typeface="微软雅黑" pitchFamily="34" charset="-122"/>
              <a:cs typeface="Arial" pitchFamily="34" charset="0"/>
            </a:endParaRPr>
          </a:p>
          <a:p>
            <a:pPr marL="457200" indent="-457200" eaLnBrk="0" hangingPunct="0">
              <a:lnSpc>
                <a:spcPct val="110000"/>
              </a:lnSpc>
              <a:spcBef>
                <a:spcPct val="20000"/>
              </a:spcBef>
            </a:pPr>
            <a:r>
              <a:rPr lang="zh-CN" altLang="en-US" sz="2000" b="1">
                <a:solidFill>
                  <a:srgbClr val="CC0000"/>
                </a:solidFill>
                <a:latin typeface="微软雅黑" pitchFamily="34" charset="-122"/>
                <a:ea typeface="微软雅黑" pitchFamily="34" charset="-122"/>
                <a:cs typeface="Arial" pitchFamily="34" charset="0"/>
              </a:rPr>
              <a:t>      </a:t>
            </a:r>
            <a:r>
              <a:rPr lang="zh-CN" altLang="en-US" sz="2000" b="1">
                <a:solidFill>
                  <a:srgbClr val="FF0066"/>
                </a:solidFill>
                <a:latin typeface="微软雅黑" pitchFamily="34" charset="-122"/>
                <a:ea typeface="微软雅黑" pitchFamily="34" charset="-122"/>
                <a:cs typeface="Arial" pitchFamily="34" charset="0"/>
              </a:rPr>
              <a:t>每次阶码减</a:t>
            </a:r>
            <a:r>
              <a:rPr lang="en-US" altLang="zh-CN" sz="2000" b="1">
                <a:solidFill>
                  <a:srgbClr val="FF0066"/>
                </a:solidFill>
                <a:latin typeface="微软雅黑" pitchFamily="34" charset="-122"/>
                <a:ea typeface="微软雅黑" pitchFamily="34" charset="-122"/>
                <a:cs typeface="Arial" pitchFamily="34" charset="0"/>
              </a:rPr>
              <a:t>1</a:t>
            </a:r>
            <a:r>
              <a:rPr lang="zh-CN" altLang="en-US" sz="2000" b="1">
                <a:solidFill>
                  <a:srgbClr val="FF0066"/>
                </a:solidFill>
                <a:latin typeface="微软雅黑" pitchFamily="34" charset="-122"/>
                <a:ea typeface="微软雅黑" pitchFamily="34" charset="-122"/>
                <a:cs typeface="Arial" pitchFamily="34" charset="0"/>
              </a:rPr>
              <a:t>后要判断阶码是否下溢（比最小可表示的阶码还要小）</a:t>
            </a:r>
          </a:p>
          <a:p>
            <a:pPr marL="457200" indent="-457200" eaLnBrk="0" hangingPunct="0">
              <a:lnSpc>
                <a:spcPct val="110000"/>
              </a:lnSpc>
              <a:spcBef>
                <a:spcPct val="20000"/>
              </a:spcBef>
            </a:pPr>
            <a:r>
              <a:rPr lang="en-US" altLang="zh-CN" sz="2000" b="1">
                <a:latin typeface="微软雅黑" pitchFamily="34" charset="-122"/>
                <a:ea typeface="微软雅黑" pitchFamily="34" charset="-122"/>
                <a:cs typeface="Arial" pitchFamily="34" charset="0"/>
              </a:rPr>
              <a:t>      </a:t>
            </a:r>
            <a:r>
              <a:rPr lang="zh-CN" altLang="en-US" sz="2000" b="1">
                <a:latin typeface="微软雅黑" pitchFamily="34" charset="-122"/>
                <a:ea typeface="微软雅黑" pitchFamily="34" charset="-122"/>
                <a:cs typeface="Arial" pitchFamily="34" charset="0"/>
              </a:rPr>
              <a:t>当尾数最高位有进位，需右规：</a:t>
            </a:r>
            <a:r>
              <a:rPr lang="zh-CN" altLang="en-US" sz="2000" b="1">
                <a:solidFill>
                  <a:srgbClr val="008000"/>
                </a:solidFill>
                <a:latin typeface="微软雅黑" pitchFamily="34" charset="-122"/>
                <a:ea typeface="微软雅黑" pitchFamily="34" charset="-122"/>
                <a:cs typeface="Arial" pitchFamily="34" charset="0"/>
              </a:rPr>
              <a:t>尾数右移一次，阶码加</a:t>
            </a:r>
            <a:r>
              <a:rPr lang="en-US" altLang="zh-CN" sz="2000" b="1">
                <a:solidFill>
                  <a:srgbClr val="008000"/>
                </a:solidFill>
                <a:latin typeface="微软雅黑" pitchFamily="34" charset="-122"/>
                <a:ea typeface="微软雅黑" pitchFamily="34" charset="-122"/>
                <a:cs typeface="Arial" pitchFamily="34" charset="0"/>
              </a:rPr>
              <a:t>1</a:t>
            </a:r>
            <a:r>
              <a:rPr lang="zh-CN" altLang="en-US" sz="2000" b="1">
                <a:solidFill>
                  <a:srgbClr val="008000"/>
                </a:solidFill>
                <a:latin typeface="微软雅黑" pitchFamily="34" charset="-122"/>
                <a:ea typeface="微软雅黑" pitchFamily="34" charset="-122"/>
                <a:cs typeface="Arial" pitchFamily="34" charset="0"/>
              </a:rPr>
              <a:t>，直到</a:t>
            </a:r>
            <a:r>
              <a:rPr lang="en-US" altLang="zh-CN" sz="2000" b="1">
                <a:solidFill>
                  <a:srgbClr val="008000"/>
                </a:solidFill>
                <a:latin typeface="微软雅黑" pitchFamily="34" charset="-122"/>
                <a:ea typeface="微软雅黑" pitchFamily="34" charset="-122"/>
                <a:cs typeface="Arial" pitchFamily="34" charset="0"/>
              </a:rPr>
              <a:t>MSB</a:t>
            </a:r>
            <a:r>
              <a:rPr lang="zh-CN" altLang="en-US" sz="2000" b="1">
                <a:solidFill>
                  <a:srgbClr val="008000"/>
                </a:solidFill>
                <a:latin typeface="微软雅黑" pitchFamily="34" charset="-122"/>
                <a:ea typeface="微软雅黑" pitchFamily="34" charset="-122"/>
                <a:cs typeface="Arial" pitchFamily="34" charset="0"/>
              </a:rPr>
              <a:t>为</a:t>
            </a:r>
            <a:r>
              <a:rPr lang="en-US" altLang="zh-CN" sz="2000" b="1">
                <a:solidFill>
                  <a:srgbClr val="008000"/>
                </a:solidFill>
                <a:latin typeface="微软雅黑" pitchFamily="34" charset="-122"/>
                <a:ea typeface="微软雅黑" pitchFamily="34" charset="-122"/>
                <a:cs typeface="Arial" pitchFamily="34" charset="0"/>
              </a:rPr>
              <a:t>1</a:t>
            </a:r>
            <a:endParaRPr lang="zh-CN" altLang="en-US" sz="2000" b="1">
              <a:solidFill>
                <a:srgbClr val="008000"/>
              </a:solidFill>
              <a:latin typeface="微软雅黑" pitchFamily="34" charset="-122"/>
              <a:ea typeface="微软雅黑" pitchFamily="34" charset="-122"/>
              <a:cs typeface="Arial" pitchFamily="34" charset="0"/>
            </a:endParaRPr>
          </a:p>
          <a:p>
            <a:pPr marL="457200" indent="-457200" eaLnBrk="0" hangingPunct="0">
              <a:lnSpc>
                <a:spcPct val="110000"/>
              </a:lnSpc>
              <a:spcBef>
                <a:spcPct val="20000"/>
              </a:spcBef>
            </a:pPr>
            <a:r>
              <a:rPr lang="zh-CN" altLang="en-US" sz="2000" b="1">
                <a:solidFill>
                  <a:srgbClr val="CC0000"/>
                </a:solidFill>
                <a:latin typeface="微软雅黑" pitchFamily="34" charset="-122"/>
                <a:ea typeface="微软雅黑" pitchFamily="34" charset="-122"/>
                <a:cs typeface="Arial" pitchFamily="34" charset="0"/>
              </a:rPr>
              <a:t>      </a:t>
            </a:r>
            <a:r>
              <a:rPr lang="zh-CN" altLang="en-US" sz="2000" b="1">
                <a:solidFill>
                  <a:srgbClr val="FF0066"/>
                </a:solidFill>
                <a:latin typeface="微软雅黑" pitchFamily="34" charset="-122"/>
                <a:ea typeface="微软雅黑" pitchFamily="34" charset="-122"/>
                <a:cs typeface="Arial" pitchFamily="34" charset="0"/>
              </a:rPr>
              <a:t>每次阶码加</a:t>
            </a:r>
            <a:r>
              <a:rPr lang="en-US" altLang="zh-CN" sz="2000" b="1">
                <a:solidFill>
                  <a:srgbClr val="FF0066"/>
                </a:solidFill>
                <a:latin typeface="微软雅黑" pitchFamily="34" charset="-122"/>
                <a:ea typeface="微软雅黑" pitchFamily="34" charset="-122"/>
                <a:cs typeface="Arial" pitchFamily="34" charset="0"/>
              </a:rPr>
              <a:t>1</a:t>
            </a:r>
            <a:r>
              <a:rPr lang="zh-CN" altLang="en-US" sz="2000" b="1">
                <a:solidFill>
                  <a:srgbClr val="FF0066"/>
                </a:solidFill>
                <a:latin typeface="微软雅黑" pitchFamily="34" charset="-122"/>
                <a:ea typeface="微软雅黑" pitchFamily="34" charset="-122"/>
                <a:cs typeface="Arial" pitchFamily="34" charset="0"/>
              </a:rPr>
              <a:t>后要判断阶码是否上溢（比最大可表示的阶码还要大</a:t>
            </a:r>
            <a:r>
              <a:rPr lang="zh-CN" altLang="en-US" sz="2000" b="1">
                <a:solidFill>
                  <a:srgbClr val="006600"/>
                </a:solidFill>
                <a:latin typeface="微软雅黑" pitchFamily="34" charset="-122"/>
                <a:ea typeface="微软雅黑" pitchFamily="34" charset="-122"/>
                <a:cs typeface="Arial" pitchFamily="34" charset="0"/>
              </a:rPr>
              <a:t>）</a:t>
            </a:r>
          </a:p>
          <a:p>
            <a:pPr marL="457200" indent="-457200" eaLnBrk="0" hangingPunct="0">
              <a:lnSpc>
                <a:spcPct val="110000"/>
              </a:lnSpc>
              <a:spcBef>
                <a:spcPct val="20000"/>
              </a:spcBef>
            </a:pPr>
            <a:endParaRPr lang="en-US" altLang="zh-CN" sz="2000" b="1">
              <a:solidFill>
                <a:srgbClr val="006600"/>
              </a:solidFill>
              <a:latin typeface="微软雅黑" pitchFamily="34" charset="-122"/>
              <a:ea typeface="微软雅黑" pitchFamily="34" charset="-122"/>
              <a:cs typeface="Arial" pitchFamily="34" charset="0"/>
            </a:endParaRPr>
          </a:p>
          <a:p>
            <a:pPr marL="457200" indent="-457200" eaLnBrk="0" hangingPunct="0">
              <a:lnSpc>
                <a:spcPct val="110000"/>
              </a:lnSpc>
              <a:spcBef>
                <a:spcPct val="20000"/>
              </a:spcBef>
            </a:pPr>
            <a:endParaRPr lang="en-US" altLang="zh-CN" sz="2000" b="1">
              <a:solidFill>
                <a:srgbClr val="006600"/>
              </a:solidFill>
              <a:latin typeface="微软雅黑" pitchFamily="34" charset="-122"/>
              <a:ea typeface="微软雅黑" pitchFamily="34" charset="-122"/>
              <a:cs typeface="Arial" pitchFamily="34" charset="0"/>
            </a:endParaRPr>
          </a:p>
          <a:p>
            <a:pPr marL="457200" indent="-457200" eaLnBrk="0" hangingPunct="0">
              <a:lnSpc>
                <a:spcPct val="110000"/>
              </a:lnSpc>
              <a:spcBef>
                <a:spcPct val="20000"/>
              </a:spcBef>
              <a:buFontTx/>
              <a:buAutoNum type="arabicParenBoth" startAt="5"/>
            </a:pPr>
            <a:r>
              <a:rPr lang="zh-CN" altLang="en-US" sz="2000" b="1">
                <a:solidFill>
                  <a:schemeClr val="accent2"/>
                </a:solidFill>
                <a:latin typeface="微软雅黑" pitchFamily="34" charset="-122"/>
                <a:ea typeface="微软雅黑" pitchFamily="34" charset="-122"/>
                <a:cs typeface="Arial" pitchFamily="34" charset="0"/>
              </a:rPr>
              <a:t>如果尾数比规定位数长（有附加位），则需考虑舍入（有多种舍入方式）</a:t>
            </a:r>
            <a:endParaRPr lang="en-US" altLang="zh-CN" sz="2000" b="1">
              <a:latin typeface="微软雅黑" pitchFamily="34" charset="-122"/>
              <a:ea typeface="微软雅黑" pitchFamily="34" charset="-122"/>
              <a:cs typeface="Arial" pitchFamily="34" charset="0"/>
            </a:endParaRPr>
          </a:p>
          <a:p>
            <a:pPr marL="457200" indent="-457200" eaLnBrk="0" hangingPunct="0">
              <a:lnSpc>
                <a:spcPct val="110000"/>
              </a:lnSpc>
              <a:spcBef>
                <a:spcPct val="20000"/>
              </a:spcBef>
              <a:buFontTx/>
              <a:buAutoNum type="arabicParenBoth" startAt="6"/>
            </a:pPr>
            <a:r>
              <a:rPr lang="zh-CN" altLang="en-US" sz="2000" b="1">
                <a:solidFill>
                  <a:schemeClr val="accent2"/>
                </a:solidFill>
                <a:latin typeface="微软雅黑" pitchFamily="34" charset="-122"/>
                <a:ea typeface="微软雅黑" pitchFamily="34" charset="-122"/>
                <a:cs typeface="Arial" pitchFamily="34" charset="0"/>
              </a:rPr>
              <a:t>若</a:t>
            </a:r>
            <a:r>
              <a:rPr lang="zh-CN" altLang="en-US" sz="2000" b="1">
                <a:solidFill>
                  <a:srgbClr val="FF0000"/>
                </a:solidFill>
                <a:latin typeface="微软雅黑" pitchFamily="34" charset="-122"/>
                <a:ea typeface="微软雅黑" pitchFamily="34" charset="-122"/>
                <a:cs typeface="Arial" pitchFamily="34" charset="0"/>
              </a:rPr>
              <a:t>运算结果尾数</a:t>
            </a:r>
            <a:r>
              <a:rPr lang="zh-CN" altLang="en-US" sz="2000" b="1">
                <a:solidFill>
                  <a:schemeClr val="accent2"/>
                </a:solidFill>
                <a:latin typeface="微软雅黑" pitchFamily="34" charset="-122"/>
                <a:ea typeface="微软雅黑" pitchFamily="34" charset="-122"/>
                <a:cs typeface="Arial" pitchFamily="34" charset="0"/>
              </a:rPr>
              <a:t>是</a:t>
            </a:r>
            <a:r>
              <a:rPr lang="en-US" altLang="zh-CN" sz="2000" b="1">
                <a:solidFill>
                  <a:schemeClr val="accent2"/>
                </a:solidFill>
                <a:latin typeface="微软雅黑" pitchFamily="34" charset="-122"/>
                <a:ea typeface="微软雅黑" pitchFamily="34" charset="-122"/>
                <a:cs typeface="Arial" pitchFamily="34" charset="0"/>
              </a:rPr>
              <a:t>0</a:t>
            </a:r>
            <a:r>
              <a:rPr lang="zh-CN" altLang="en-US" sz="2000" b="1">
                <a:solidFill>
                  <a:schemeClr val="accent2"/>
                </a:solidFill>
                <a:latin typeface="微软雅黑" pitchFamily="34" charset="-122"/>
                <a:ea typeface="微软雅黑" pitchFamily="34" charset="-122"/>
                <a:cs typeface="Arial" pitchFamily="34" charset="0"/>
              </a:rPr>
              <a:t>，则需要将阶码也置</a:t>
            </a:r>
            <a:r>
              <a:rPr lang="en-US" altLang="zh-CN" sz="2000" b="1">
                <a:solidFill>
                  <a:schemeClr val="accent2"/>
                </a:solidFill>
                <a:latin typeface="微软雅黑" pitchFamily="34" charset="-122"/>
                <a:ea typeface="微软雅黑" pitchFamily="34" charset="-122"/>
                <a:cs typeface="Arial" pitchFamily="34" charset="0"/>
              </a:rPr>
              <a:t>0</a:t>
            </a:r>
            <a:r>
              <a:rPr lang="zh-CN" altLang="en-US" sz="2000" b="1">
                <a:solidFill>
                  <a:schemeClr val="accent2"/>
                </a:solidFill>
                <a:latin typeface="微软雅黑" pitchFamily="34" charset="-122"/>
                <a:ea typeface="微软雅黑" pitchFamily="34" charset="-122"/>
                <a:cs typeface="Arial" pitchFamily="34" charset="0"/>
              </a:rPr>
              <a:t>。为什么？</a:t>
            </a:r>
            <a:endParaRPr lang="en-US" altLang="zh-CN" sz="2000" b="1">
              <a:solidFill>
                <a:schemeClr val="accent2"/>
              </a:solidFill>
              <a:latin typeface="微软雅黑" pitchFamily="34" charset="-122"/>
              <a:ea typeface="微软雅黑" pitchFamily="34" charset="-122"/>
              <a:cs typeface="Arial" pitchFamily="34" charset="0"/>
            </a:endParaRPr>
          </a:p>
        </p:txBody>
      </p:sp>
      <p:sp>
        <p:nvSpPr>
          <p:cNvPr id="189448" name="Text Box 8"/>
          <p:cNvSpPr txBox="1">
            <a:spLocks noChangeArrowheads="1"/>
          </p:cNvSpPr>
          <p:nvPr/>
        </p:nvSpPr>
        <p:spPr bwMode="auto">
          <a:xfrm>
            <a:off x="746125" y="4572000"/>
            <a:ext cx="7848600" cy="701675"/>
          </a:xfrm>
          <a:prstGeom prst="rect">
            <a:avLst/>
          </a:prstGeom>
          <a:noFill/>
          <a:ln w="12700">
            <a:noFill/>
            <a:miter lim="800000"/>
            <a:headEnd/>
            <a:tailEnd/>
          </a:ln>
        </p:spPr>
        <p:txBody>
          <a:bodyPr>
            <a:spAutoFit/>
          </a:bodyPr>
          <a:lstStyle/>
          <a:p>
            <a:pPr eaLnBrk="0" hangingPunct="0">
              <a:spcBef>
                <a:spcPct val="50000"/>
              </a:spcBef>
            </a:pPr>
            <a:r>
              <a:rPr lang="zh-CN" altLang="en-US" sz="2000" b="1">
                <a:latin typeface="微软雅黑" pitchFamily="34" charset="-122"/>
                <a:ea typeface="微软雅黑" pitchFamily="34" charset="-122"/>
              </a:rPr>
              <a:t>阶码溢出异常处理：阶码上溢，则结果溢出；阶码下溢到无法用非规格化数表示，则结果为</a:t>
            </a:r>
            <a:r>
              <a:rPr lang="en-US" altLang="zh-CN" sz="2000" b="1">
                <a:latin typeface="微软雅黑" pitchFamily="34" charset="-122"/>
                <a:ea typeface="微软雅黑" pitchFamily="34" charset="-122"/>
              </a:rPr>
              <a:t>0</a:t>
            </a:r>
          </a:p>
        </p:txBody>
      </p:sp>
      <p:sp>
        <p:nvSpPr>
          <p:cNvPr id="189449" name="Text Box 9"/>
          <p:cNvSpPr txBox="1">
            <a:spLocks noChangeArrowheads="1"/>
          </p:cNvSpPr>
          <p:nvPr/>
        </p:nvSpPr>
        <p:spPr bwMode="auto">
          <a:xfrm>
            <a:off x="711200" y="6242050"/>
            <a:ext cx="7118350" cy="427038"/>
          </a:xfrm>
          <a:prstGeom prst="rect">
            <a:avLst/>
          </a:prstGeom>
          <a:noFill/>
          <a:ln w="12700">
            <a:noFill/>
            <a:miter lim="800000"/>
            <a:headEnd/>
            <a:tailEnd/>
          </a:ln>
        </p:spPr>
        <p:txBody>
          <a:bodyPr>
            <a:spAutoFit/>
          </a:bodyPr>
          <a:lstStyle/>
          <a:p>
            <a:pPr eaLnBrk="0" hangingPunct="0">
              <a:spcBef>
                <a:spcPct val="50000"/>
              </a:spcBef>
            </a:pPr>
            <a:r>
              <a:rPr lang="zh-CN" altLang="en-US" sz="2200" b="1">
                <a:solidFill>
                  <a:srgbClr val="008000"/>
                </a:solidFill>
                <a:latin typeface="微软雅黑" pitchFamily="34" charset="-122"/>
                <a:ea typeface="微软雅黑" pitchFamily="34" charset="-122"/>
              </a:rPr>
              <a:t>尾数为</a:t>
            </a:r>
            <a:r>
              <a:rPr lang="en-US" altLang="zh-CN" sz="2200" b="1">
                <a:solidFill>
                  <a:srgbClr val="008000"/>
                </a:solidFill>
                <a:latin typeface="微软雅黑" pitchFamily="34" charset="-122"/>
                <a:ea typeface="微软雅黑" pitchFamily="34" charset="-122"/>
              </a:rPr>
              <a:t>0</a:t>
            </a:r>
            <a:r>
              <a:rPr lang="zh-CN" altLang="en-US" sz="2200" b="1">
                <a:solidFill>
                  <a:srgbClr val="008000"/>
                </a:solidFill>
                <a:latin typeface="微软雅黑" pitchFamily="34" charset="-122"/>
                <a:ea typeface="微软雅黑" pitchFamily="34" charset="-122"/>
              </a:rPr>
              <a:t>说明结果应该为</a:t>
            </a:r>
            <a:r>
              <a:rPr lang="en-US" altLang="zh-CN" sz="2200" b="1">
                <a:solidFill>
                  <a:srgbClr val="008000"/>
                </a:solidFill>
                <a:latin typeface="微软雅黑" pitchFamily="34" charset="-122"/>
                <a:ea typeface="微软雅黑" pitchFamily="34" charset="-122"/>
              </a:rPr>
              <a:t>0</a:t>
            </a:r>
            <a:r>
              <a:rPr lang="zh-CN" altLang="en-US" sz="2200" b="1">
                <a:solidFill>
                  <a:srgbClr val="008000"/>
                </a:solidFill>
                <a:latin typeface="微软雅黑" pitchFamily="34" charset="-122"/>
                <a:ea typeface="微软雅黑" pitchFamily="34" charset="-122"/>
              </a:rPr>
              <a:t>（阶码和尾数为全</a:t>
            </a:r>
            <a:r>
              <a:rPr lang="en-US" altLang="zh-CN" sz="2200" b="1">
                <a:solidFill>
                  <a:srgbClr val="008000"/>
                </a:solidFill>
                <a:latin typeface="微软雅黑" pitchFamily="34" charset="-122"/>
                <a:ea typeface="微软雅黑" pitchFamily="34" charset="-122"/>
              </a:rPr>
              <a:t>0</a:t>
            </a:r>
            <a:r>
              <a:rPr lang="zh-CN" altLang="en-US" sz="2200" b="1">
                <a:solidFill>
                  <a:srgbClr val="008000"/>
                </a:solidFill>
                <a:latin typeface="微软雅黑" pitchFamily="34" charset="-122"/>
                <a:ea typeface="微软雅黑" pitchFamily="34" charset="-122"/>
              </a:rPr>
              <a:t>）。</a:t>
            </a:r>
          </a:p>
        </p:txBody>
      </p:sp>
    </p:spTree>
    <p:extLst>
      <p:ext uri="{BB962C8B-B14F-4D97-AF65-F5344CB8AC3E}">
        <p14:creationId xmlns:p14="http://schemas.microsoft.com/office/powerpoint/2010/main" val="25402720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9443">
                                            <p:txEl>
                                              <p:pRg st="1" end="1"/>
                                            </p:txEl>
                                          </p:spTgt>
                                        </p:tgtEl>
                                        <p:attrNameLst>
                                          <p:attrName>style.visibility</p:attrName>
                                        </p:attrNameLst>
                                      </p:cBhvr>
                                      <p:to>
                                        <p:strVal val="visible"/>
                                      </p:to>
                                    </p:set>
                                    <p:animEffect transition="in" filter="blinds(horizontal)">
                                      <p:cBhvr>
                                        <p:cTn id="7" dur="500"/>
                                        <p:tgtEl>
                                          <p:spTgt spid="1894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9443">
                                            <p:txEl>
                                              <p:pRg st="2" end="2"/>
                                            </p:txEl>
                                          </p:spTgt>
                                        </p:tgtEl>
                                        <p:attrNameLst>
                                          <p:attrName>style.visibility</p:attrName>
                                        </p:attrNameLst>
                                      </p:cBhvr>
                                      <p:to>
                                        <p:strVal val="visible"/>
                                      </p:to>
                                    </p:set>
                                    <p:animEffect transition="in" filter="blinds(horizontal)">
                                      <p:cBhvr>
                                        <p:cTn id="12" dur="500"/>
                                        <p:tgtEl>
                                          <p:spTgt spid="1894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9443">
                                            <p:txEl>
                                              <p:pRg st="3" end="3"/>
                                            </p:txEl>
                                          </p:spTgt>
                                        </p:tgtEl>
                                        <p:attrNameLst>
                                          <p:attrName>style.visibility</p:attrName>
                                        </p:attrNameLst>
                                      </p:cBhvr>
                                      <p:to>
                                        <p:strVal val="visible"/>
                                      </p:to>
                                    </p:set>
                                    <p:animEffect transition="in" filter="blinds(horizontal)">
                                      <p:cBhvr>
                                        <p:cTn id="17" dur="500"/>
                                        <p:tgtEl>
                                          <p:spTgt spid="1894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9443">
                                            <p:txEl>
                                              <p:pRg st="4" end="4"/>
                                            </p:txEl>
                                          </p:spTgt>
                                        </p:tgtEl>
                                        <p:attrNameLst>
                                          <p:attrName>style.visibility</p:attrName>
                                        </p:attrNameLst>
                                      </p:cBhvr>
                                      <p:to>
                                        <p:strVal val="visible"/>
                                      </p:to>
                                    </p:set>
                                    <p:animEffect transition="in" filter="blinds(horizontal)">
                                      <p:cBhvr>
                                        <p:cTn id="22" dur="500"/>
                                        <p:tgtEl>
                                          <p:spTgt spid="18944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9443">
                                            <p:txEl>
                                              <p:pRg st="5" end="5"/>
                                            </p:txEl>
                                          </p:spTgt>
                                        </p:tgtEl>
                                        <p:attrNameLst>
                                          <p:attrName>style.visibility</p:attrName>
                                        </p:attrNameLst>
                                      </p:cBhvr>
                                      <p:to>
                                        <p:strVal val="visible"/>
                                      </p:to>
                                    </p:set>
                                    <p:animEffect transition="in" filter="blinds(horizontal)">
                                      <p:cBhvr>
                                        <p:cTn id="27" dur="500"/>
                                        <p:tgtEl>
                                          <p:spTgt spid="189443">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89443">
                                            <p:txEl>
                                              <p:pRg st="6" end="6"/>
                                            </p:txEl>
                                          </p:spTgt>
                                        </p:tgtEl>
                                        <p:attrNameLst>
                                          <p:attrName>style.visibility</p:attrName>
                                        </p:attrNameLst>
                                      </p:cBhvr>
                                      <p:to>
                                        <p:strVal val="visible"/>
                                      </p:to>
                                    </p:set>
                                    <p:animEffect transition="in" filter="blinds(horizontal)">
                                      <p:cBhvr>
                                        <p:cTn id="30" dur="500"/>
                                        <p:tgtEl>
                                          <p:spTgt spid="18944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89443">
                                            <p:txEl>
                                              <p:pRg st="7" end="7"/>
                                            </p:txEl>
                                          </p:spTgt>
                                        </p:tgtEl>
                                        <p:attrNameLst>
                                          <p:attrName>style.visibility</p:attrName>
                                        </p:attrNameLst>
                                      </p:cBhvr>
                                      <p:to>
                                        <p:strVal val="visible"/>
                                      </p:to>
                                    </p:set>
                                    <p:animEffect transition="in" filter="blinds(horizontal)">
                                      <p:cBhvr>
                                        <p:cTn id="35" dur="500"/>
                                        <p:tgtEl>
                                          <p:spTgt spid="189443">
                                            <p:txEl>
                                              <p:pRg st="7" end="7"/>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89443">
                                            <p:txEl>
                                              <p:pRg st="8" end="8"/>
                                            </p:txEl>
                                          </p:spTgt>
                                        </p:tgtEl>
                                        <p:attrNameLst>
                                          <p:attrName>style.visibility</p:attrName>
                                        </p:attrNameLst>
                                      </p:cBhvr>
                                      <p:to>
                                        <p:strVal val="visible"/>
                                      </p:to>
                                    </p:set>
                                    <p:animEffect transition="in" filter="blinds(horizontal)">
                                      <p:cBhvr>
                                        <p:cTn id="38" dur="500"/>
                                        <p:tgtEl>
                                          <p:spTgt spid="18944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89448"/>
                                        </p:tgtEl>
                                        <p:attrNameLst>
                                          <p:attrName>style.visibility</p:attrName>
                                        </p:attrNameLst>
                                      </p:cBhvr>
                                      <p:to>
                                        <p:strVal val="visible"/>
                                      </p:to>
                                    </p:set>
                                    <p:animEffect transition="in" filter="blinds(horizontal)">
                                      <p:cBhvr>
                                        <p:cTn id="43" dur="500"/>
                                        <p:tgtEl>
                                          <p:spTgt spid="189448"/>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89443">
                                            <p:txEl>
                                              <p:pRg st="11" end="11"/>
                                            </p:txEl>
                                          </p:spTgt>
                                        </p:tgtEl>
                                        <p:attrNameLst>
                                          <p:attrName>style.visibility</p:attrName>
                                        </p:attrNameLst>
                                      </p:cBhvr>
                                      <p:to>
                                        <p:strVal val="visible"/>
                                      </p:to>
                                    </p:set>
                                    <p:animEffect transition="in" filter="blinds(horizontal)">
                                      <p:cBhvr>
                                        <p:cTn id="48" dur="500"/>
                                        <p:tgtEl>
                                          <p:spTgt spid="189443">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89443">
                                            <p:txEl>
                                              <p:pRg st="12" end="12"/>
                                            </p:txEl>
                                          </p:spTgt>
                                        </p:tgtEl>
                                        <p:attrNameLst>
                                          <p:attrName>style.visibility</p:attrName>
                                        </p:attrNameLst>
                                      </p:cBhvr>
                                      <p:to>
                                        <p:strVal val="visible"/>
                                      </p:to>
                                    </p:set>
                                    <p:animEffect transition="in" filter="blinds(horizontal)">
                                      <p:cBhvr>
                                        <p:cTn id="53" dur="500"/>
                                        <p:tgtEl>
                                          <p:spTgt spid="189443">
                                            <p:txEl>
                                              <p:pRg st="12" end="1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89449">
                                            <p:txEl>
                                              <p:pRg st="0" end="0"/>
                                            </p:txEl>
                                          </p:spTgt>
                                        </p:tgtEl>
                                        <p:attrNameLst>
                                          <p:attrName>style.visibility</p:attrName>
                                        </p:attrNameLst>
                                      </p:cBhvr>
                                      <p:to>
                                        <p:strVal val="visible"/>
                                      </p:to>
                                    </p:set>
                                    <p:animEffect transition="in" filter="blinds(horizontal)">
                                      <p:cBhvr>
                                        <p:cTn id="58" dur="500"/>
                                        <p:tgtEl>
                                          <p:spTgt spid="1894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495300" y="53975"/>
            <a:ext cx="8305800" cy="604838"/>
          </a:xfrm>
        </p:spPr>
        <p:txBody>
          <a:bodyPr lIns="63500" tIns="25400" rIns="63500" bIns="25400" anchor="t">
            <a:spAutoFit/>
          </a:bodyPr>
          <a:lstStyle/>
          <a:p>
            <a:r>
              <a:rPr lang="en-US" altLang="zh-CN" sz="3600" smtClean="0">
                <a:latin typeface="微软雅黑" pitchFamily="34" charset="-122"/>
                <a:ea typeface="微软雅黑" pitchFamily="34" charset="-122"/>
              </a:rPr>
              <a:t>IEEE 754</a:t>
            </a:r>
            <a:r>
              <a:rPr lang="zh-CN" altLang="en-US" sz="3600" smtClean="0">
                <a:latin typeface="微软雅黑" pitchFamily="34" charset="-122"/>
                <a:ea typeface="微软雅黑" pitchFamily="34" charset="-122"/>
              </a:rPr>
              <a:t>的舍入方式的说明</a:t>
            </a:r>
          </a:p>
        </p:txBody>
      </p:sp>
      <p:sp>
        <p:nvSpPr>
          <p:cNvPr id="216067" name="Rectangle 3"/>
          <p:cNvSpPr>
            <a:spLocks noGrp="1" noChangeArrowheads="1"/>
          </p:cNvSpPr>
          <p:nvPr>
            <p:ph type="body" idx="4294967295"/>
          </p:nvPr>
        </p:nvSpPr>
        <p:spPr>
          <a:xfrm>
            <a:off x="635000" y="733425"/>
            <a:ext cx="8186738" cy="5757474"/>
          </a:xfrm>
        </p:spPr>
        <p:txBody>
          <a:bodyPr lIns="63500" tIns="25400" rIns="63500" bIns="25400">
            <a:spAutoFit/>
          </a:bodyPr>
          <a:lstStyle/>
          <a:p>
            <a:pPr>
              <a:lnSpc>
                <a:spcPct val="125000"/>
              </a:lnSpc>
              <a:buFont typeface="Monotype Sorts" pitchFamily="2" charset="2"/>
              <a:buChar char=" "/>
              <a:defRPr/>
            </a:pPr>
            <a:r>
              <a:rPr lang="en-US" altLang="zh-CN" sz="2200" dirty="0" smtClean="0">
                <a:effectLst>
                  <a:outerShdw blurRad="38100" dist="38100" dir="2700000" algn="tl">
                    <a:srgbClr val="C0C0C0"/>
                  </a:outerShdw>
                </a:effectLst>
                <a:ea typeface="黑体" pitchFamily="49" charset="-122"/>
              </a:rPr>
              <a:t>IEEE 754</a:t>
            </a:r>
            <a:r>
              <a:rPr lang="zh-CN" altLang="en-US" sz="2200" dirty="0" smtClean="0">
                <a:effectLst>
                  <a:outerShdw blurRad="38100" dist="38100" dir="2700000" algn="tl">
                    <a:srgbClr val="C0C0C0"/>
                  </a:outerShdw>
                </a:effectLst>
                <a:ea typeface="黑体" pitchFamily="49" charset="-122"/>
              </a:rPr>
              <a:t>的舍入方式</a:t>
            </a:r>
            <a:endParaRPr lang="zh-CN" altLang="en-US" sz="2200" dirty="0" smtClean="0">
              <a:ea typeface="黑体" pitchFamily="49" charset="-122"/>
            </a:endParaRPr>
          </a:p>
          <a:p>
            <a:pPr>
              <a:lnSpc>
                <a:spcPct val="125000"/>
              </a:lnSpc>
              <a:buFont typeface="Monotype Sorts" pitchFamily="2" charset="2"/>
              <a:buChar char=" "/>
              <a:defRPr/>
            </a:pPr>
            <a:endParaRPr lang="zh-CN" altLang="en-US" sz="2200" dirty="0" smtClean="0">
              <a:ea typeface="黑体" pitchFamily="49" charset="-122"/>
            </a:endParaRPr>
          </a:p>
          <a:p>
            <a:pPr>
              <a:lnSpc>
                <a:spcPct val="125000"/>
              </a:lnSpc>
              <a:buFont typeface="Monotype Sorts" pitchFamily="2" charset="2"/>
              <a:buChar char=" "/>
              <a:defRPr/>
            </a:pPr>
            <a:r>
              <a:rPr lang="zh-CN" altLang="zh-CN" sz="2200" dirty="0" smtClean="0">
                <a:solidFill>
                  <a:srgbClr val="0000FF"/>
                </a:solidFill>
                <a:ea typeface="黑体" pitchFamily="49" charset="-122"/>
              </a:rPr>
              <a:t>(</a:t>
            </a:r>
            <a:r>
              <a:rPr lang="zh-CN" altLang="en-US" sz="2200" dirty="0" smtClean="0">
                <a:solidFill>
                  <a:srgbClr val="0000FF"/>
                </a:solidFill>
                <a:ea typeface="黑体" pitchFamily="49" charset="-122"/>
              </a:rPr>
              <a:t> </a:t>
            </a:r>
            <a:r>
              <a:rPr lang="en-US" altLang="zh-CN" sz="2200" dirty="0" smtClean="0">
                <a:solidFill>
                  <a:srgbClr val="0000FF"/>
                </a:solidFill>
                <a:ea typeface="黑体" pitchFamily="49" charset="-122"/>
              </a:rPr>
              <a:t>Z1</a:t>
            </a:r>
            <a:r>
              <a:rPr lang="zh-CN" altLang="en-US" sz="2200" dirty="0" smtClean="0">
                <a:solidFill>
                  <a:srgbClr val="0000FF"/>
                </a:solidFill>
                <a:ea typeface="黑体" pitchFamily="49" charset="-122"/>
              </a:rPr>
              <a:t>和</a:t>
            </a:r>
            <a:r>
              <a:rPr lang="en-US" altLang="zh-CN" sz="2200" dirty="0" smtClean="0">
                <a:solidFill>
                  <a:srgbClr val="0000FF"/>
                </a:solidFill>
                <a:ea typeface="黑体" pitchFamily="49" charset="-122"/>
              </a:rPr>
              <a:t>Z2</a:t>
            </a:r>
            <a:r>
              <a:rPr lang="zh-CN" altLang="en-US" sz="2200" dirty="0" smtClean="0">
                <a:solidFill>
                  <a:srgbClr val="0000FF"/>
                </a:solidFill>
                <a:ea typeface="黑体" pitchFamily="49" charset="-122"/>
              </a:rPr>
              <a:t>分别是结果</a:t>
            </a:r>
            <a:r>
              <a:rPr lang="en-US" altLang="en-US" sz="2200" dirty="0" smtClean="0">
                <a:solidFill>
                  <a:srgbClr val="0000FF"/>
                </a:solidFill>
                <a:ea typeface="黑体" pitchFamily="49" charset="-122"/>
              </a:rPr>
              <a:t>Z</a:t>
            </a:r>
            <a:r>
              <a:rPr lang="zh-CN" altLang="en-US" sz="2200" dirty="0" smtClean="0">
                <a:solidFill>
                  <a:srgbClr val="0000FF"/>
                </a:solidFill>
                <a:ea typeface="黑体" pitchFamily="49" charset="-122"/>
              </a:rPr>
              <a:t>的最近的可表示的左、右两个数 )</a:t>
            </a:r>
          </a:p>
          <a:p>
            <a:pPr>
              <a:lnSpc>
                <a:spcPct val="125000"/>
              </a:lnSpc>
              <a:buFont typeface="Monotype Sorts" pitchFamily="2" charset="2"/>
              <a:buChar char=" "/>
              <a:defRPr/>
            </a:pPr>
            <a:r>
              <a:rPr lang="zh-CN" altLang="zh-CN" sz="2200" dirty="0" smtClean="0">
                <a:solidFill>
                  <a:schemeClr val="accent2"/>
                </a:solidFill>
                <a:ea typeface="黑体" pitchFamily="49" charset="-122"/>
              </a:rPr>
              <a:t>(1)</a:t>
            </a:r>
            <a:r>
              <a:rPr lang="zh-CN" altLang="en-US" sz="2200" dirty="0" smtClean="0">
                <a:solidFill>
                  <a:schemeClr val="accent2"/>
                </a:solidFill>
                <a:ea typeface="黑体" pitchFamily="49" charset="-122"/>
              </a:rPr>
              <a:t> 就近舍入：</a:t>
            </a:r>
            <a:r>
              <a:rPr lang="zh-CN" altLang="en-US" sz="2200" dirty="0" smtClean="0">
                <a:ea typeface="黑体" pitchFamily="49" charset="-122"/>
              </a:rPr>
              <a:t>舍入为最近可表示的数</a:t>
            </a:r>
          </a:p>
          <a:p>
            <a:pPr>
              <a:lnSpc>
                <a:spcPct val="125000"/>
              </a:lnSpc>
              <a:buFont typeface="Monotype Sorts" pitchFamily="2" charset="2"/>
              <a:buChar char=" "/>
              <a:defRPr/>
            </a:pPr>
            <a:r>
              <a:rPr lang="zh-CN" altLang="en-US" sz="2200" dirty="0" smtClean="0">
                <a:ea typeface="黑体" pitchFamily="49" charset="-122"/>
              </a:rPr>
              <a:t>      非中间值：0舍1入</a:t>
            </a:r>
            <a:r>
              <a:rPr lang="en-US" altLang="zh-CN" sz="2200" dirty="0" smtClean="0">
                <a:ea typeface="黑体" pitchFamily="49" charset="-122"/>
              </a:rPr>
              <a:t>；</a:t>
            </a:r>
          </a:p>
          <a:p>
            <a:pPr>
              <a:lnSpc>
                <a:spcPct val="125000"/>
              </a:lnSpc>
              <a:buFont typeface="Monotype Sorts" pitchFamily="2" charset="2"/>
              <a:buChar char=" "/>
              <a:defRPr/>
            </a:pPr>
            <a:r>
              <a:rPr lang="en-US" altLang="zh-CN" sz="2200" dirty="0" smtClean="0">
                <a:ea typeface="黑体" pitchFamily="49" charset="-122"/>
              </a:rPr>
              <a:t>      </a:t>
            </a:r>
            <a:r>
              <a:rPr lang="zh-CN" altLang="en-US" sz="2200" dirty="0" smtClean="0">
                <a:ea typeface="黑体" pitchFamily="49" charset="-122"/>
              </a:rPr>
              <a:t>中间值：</a:t>
            </a:r>
            <a:r>
              <a:rPr lang="zh-CN" altLang="en-US" sz="2200" dirty="0" smtClean="0">
                <a:solidFill>
                  <a:srgbClr val="CC0000"/>
                </a:solidFill>
                <a:ea typeface="黑体" pitchFamily="49" charset="-122"/>
              </a:rPr>
              <a:t>强迫结果为偶数</a:t>
            </a:r>
            <a:endParaRPr lang="zh-CN" altLang="en-US" sz="2200" dirty="0" smtClean="0">
              <a:ea typeface="黑体" pitchFamily="49" charset="-122"/>
            </a:endParaRPr>
          </a:p>
          <a:p>
            <a:pPr>
              <a:lnSpc>
                <a:spcPct val="125000"/>
              </a:lnSpc>
              <a:buFont typeface="Monotype Sorts" pitchFamily="2" charset="2"/>
              <a:buChar char=" "/>
              <a:defRPr/>
            </a:pPr>
            <a:endParaRPr lang="zh-CN" altLang="en-US" sz="2200" dirty="0" smtClean="0">
              <a:solidFill>
                <a:schemeClr val="accent2"/>
              </a:solidFill>
              <a:ea typeface="黑体" pitchFamily="49" charset="-122"/>
            </a:endParaRPr>
          </a:p>
          <a:p>
            <a:pPr>
              <a:lnSpc>
                <a:spcPct val="125000"/>
              </a:lnSpc>
              <a:buFont typeface="Monotype Sorts" pitchFamily="2" charset="2"/>
              <a:buChar char=" "/>
              <a:defRPr/>
            </a:pPr>
            <a:endParaRPr lang="zh-CN" altLang="en-US" sz="2200" dirty="0" smtClean="0">
              <a:solidFill>
                <a:schemeClr val="accent2"/>
              </a:solidFill>
              <a:ea typeface="黑体" pitchFamily="49" charset="-122"/>
            </a:endParaRPr>
          </a:p>
          <a:p>
            <a:pPr>
              <a:lnSpc>
                <a:spcPct val="125000"/>
              </a:lnSpc>
              <a:buFont typeface="Monotype Sorts" pitchFamily="2" charset="2"/>
              <a:buChar char=" "/>
              <a:defRPr/>
            </a:pPr>
            <a:r>
              <a:rPr lang="zh-CN" altLang="en-US" sz="2200" dirty="0" smtClean="0">
                <a:solidFill>
                  <a:schemeClr val="accent2"/>
                </a:solidFill>
                <a:ea typeface="黑体" pitchFamily="49" charset="-122"/>
              </a:rPr>
              <a:t>(2) 朝+∞方向舍入:</a:t>
            </a:r>
            <a:r>
              <a:rPr lang="zh-CN" altLang="en-US" sz="2200" dirty="0" smtClean="0">
                <a:ea typeface="黑体" pitchFamily="49" charset="-122"/>
              </a:rPr>
              <a:t>舍入为</a:t>
            </a:r>
            <a:r>
              <a:rPr lang="en-US" altLang="en-US" sz="2200" dirty="0" smtClean="0">
                <a:ea typeface="黑体" pitchFamily="49" charset="-122"/>
              </a:rPr>
              <a:t>Z2(</a:t>
            </a:r>
            <a:r>
              <a:rPr lang="zh-CN" altLang="en-US" sz="2200" dirty="0" smtClean="0">
                <a:ea typeface="黑体" pitchFamily="49" charset="-122"/>
              </a:rPr>
              <a:t>正向舍入)</a:t>
            </a:r>
          </a:p>
          <a:p>
            <a:pPr>
              <a:lnSpc>
                <a:spcPct val="125000"/>
              </a:lnSpc>
              <a:buFont typeface="Monotype Sorts" pitchFamily="2" charset="2"/>
              <a:buChar char=" "/>
              <a:defRPr/>
            </a:pPr>
            <a:r>
              <a:rPr lang="zh-CN" altLang="en-US" sz="2200" dirty="0" smtClean="0">
                <a:solidFill>
                  <a:schemeClr val="accent2"/>
                </a:solidFill>
                <a:ea typeface="黑体" pitchFamily="49" charset="-122"/>
              </a:rPr>
              <a:t>(3) 朝-∞方向舍入:</a:t>
            </a:r>
            <a:r>
              <a:rPr lang="zh-CN" altLang="en-US" sz="2200" dirty="0" smtClean="0">
                <a:ea typeface="黑体" pitchFamily="49" charset="-122"/>
              </a:rPr>
              <a:t>舍入为</a:t>
            </a:r>
            <a:r>
              <a:rPr lang="en-US" altLang="en-US" sz="2200" dirty="0" smtClean="0">
                <a:ea typeface="黑体" pitchFamily="49" charset="-122"/>
              </a:rPr>
              <a:t>Z1(</a:t>
            </a:r>
            <a:r>
              <a:rPr lang="zh-CN" altLang="en-US" sz="2200" dirty="0" smtClean="0">
                <a:ea typeface="黑体" pitchFamily="49" charset="-122"/>
              </a:rPr>
              <a:t>负向舍入)</a:t>
            </a:r>
          </a:p>
          <a:p>
            <a:pPr>
              <a:lnSpc>
                <a:spcPct val="125000"/>
              </a:lnSpc>
              <a:buFont typeface="Monotype Sorts" pitchFamily="2" charset="2"/>
              <a:buChar char=" "/>
              <a:defRPr/>
            </a:pPr>
            <a:r>
              <a:rPr lang="zh-CN" altLang="en-US" sz="2200" dirty="0" smtClean="0">
                <a:solidFill>
                  <a:schemeClr val="accent2"/>
                </a:solidFill>
                <a:ea typeface="黑体" pitchFamily="49" charset="-122"/>
              </a:rPr>
              <a:t>(4) 朝0方向舍入：</a:t>
            </a:r>
            <a:r>
              <a:rPr lang="zh-CN" altLang="en-US" sz="2200" dirty="0" smtClean="0">
                <a:ea typeface="黑体" pitchFamily="49" charset="-122"/>
              </a:rPr>
              <a:t>截去。正数：取</a:t>
            </a:r>
            <a:r>
              <a:rPr lang="en-US" altLang="en-US" sz="2200" dirty="0" smtClean="0">
                <a:ea typeface="黑体" pitchFamily="49" charset="-122"/>
              </a:rPr>
              <a:t>Z1;</a:t>
            </a:r>
            <a:r>
              <a:rPr lang="en-US" altLang="zh-CN" sz="2200" dirty="0" smtClean="0">
                <a:ea typeface="黑体" pitchFamily="49" charset="-122"/>
              </a:rPr>
              <a:t>  </a:t>
            </a:r>
            <a:r>
              <a:rPr lang="zh-CN" altLang="en-US" sz="2200" dirty="0" smtClean="0">
                <a:ea typeface="黑体" pitchFamily="49" charset="-122"/>
              </a:rPr>
              <a:t>负数：取</a:t>
            </a:r>
            <a:r>
              <a:rPr lang="en-US" altLang="en-US" sz="2200" dirty="0" smtClean="0">
                <a:ea typeface="黑体" pitchFamily="49" charset="-122"/>
              </a:rPr>
              <a:t>Z2</a:t>
            </a:r>
            <a:endParaRPr lang="en-US" altLang="zh-CN" sz="2200" dirty="0" smtClean="0">
              <a:ea typeface="黑体" pitchFamily="49" charset="-122"/>
            </a:endParaRPr>
          </a:p>
          <a:p>
            <a:pPr lvl="1">
              <a:buFont typeface="Monotype Sorts" pitchFamily="2" charset="2"/>
              <a:buChar char=" "/>
              <a:defRPr/>
            </a:pPr>
            <a:r>
              <a:rPr lang="en-US" altLang="zh-CN" sz="1800" dirty="0" smtClean="0">
                <a:latin typeface="宋体" pitchFamily="2" charset="-122"/>
              </a:rPr>
              <a:t>       </a:t>
            </a:r>
            <a:endParaRPr lang="zh-CN" altLang="en-US" sz="1800" dirty="0" smtClean="0">
              <a:latin typeface="宋体" pitchFamily="2" charset="-122"/>
            </a:endParaRPr>
          </a:p>
        </p:txBody>
      </p:sp>
      <p:sp>
        <p:nvSpPr>
          <p:cNvPr id="29700" name="Line 4"/>
          <p:cNvSpPr>
            <a:spLocks noChangeShapeType="1"/>
          </p:cNvSpPr>
          <p:nvPr/>
        </p:nvSpPr>
        <p:spPr bwMode="auto">
          <a:xfrm>
            <a:off x="1524000" y="1279525"/>
            <a:ext cx="6553200" cy="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9701" name="Line 5"/>
          <p:cNvSpPr>
            <a:spLocks noChangeShapeType="1"/>
          </p:cNvSpPr>
          <p:nvPr/>
        </p:nvSpPr>
        <p:spPr bwMode="auto">
          <a:xfrm>
            <a:off x="2438400" y="1203325"/>
            <a:ext cx="0" cy="76200"/>
          </a:xfrm>
          <a:prstGeom prst="line">
            <a:avLst/>
          </a:prstGeom>
          <a:noFill/>
          <a:ln w="38100">
            <a:solidFill>
              <a:schemeClr val="tx1"/>
            </a:solidFill>
            <a:round/>
            <a:headEnd/>
            <a:tailEnd/>
          </a:ln>
        </p:spPr>
        <p:txBody>
          <a:bodyPr wrap="none" anchor="ctr"/>
          <a:lstStyle/>
          <a:p>
            <a:endParaRPr lang="zh-CN" altLang="en-US"/>
          </a:p>
        </p:txBody>
      </p:sp>
      <p:sp>
        <p:nvSpPr>
          <p:cNvPr id="29702" name="Line 6"/>
          <p:cNvSpPr>
            <a:spLocks noChangeShapeType="1"/>
          </p:cNvSpPr>
          <p:nvPr/>
        </p:nvSpPr>
        <p:spPr bwMode="auto">
          <a:xfrm>
            <a:off x="6324600" y="1203325"/>
            <a:ext cx="0" cy="76200"/>
          </a:xfrm>
          <a:prstGeom prst="line">
            <a:avLst/>
          </a:prstGeom>
          <a:noFill/>
          <a:ln w="38100">
            <a:solidFill>
              <a:schemeClr val="tx1"/>
            </a:solidFill>
            <a:round/>
            <a:headEnd/>
            <a:tailEnd/>
          </a:ln>
        </p:spPr>
        <p:txBody>
          <a:bodyPr wrap="none" anchor="ctr"/>
          <a:lstStyle/>
          <a:p>
            <a:endParaRPr lang="zh-CN" altLang="en-US"/>
          </a:p>
        </p:txBody>
      </p:sp>
      <p:sp>
        <p:nvSpPr>
          <p:cNvPr id="29703" name="Text Box 7"/>
          <p:cNvSpPr txBox="1">
            <a:spLocks noChangeArrowheads="1"/>
          </p:cNvSpPr>
          <p:nvPr/>
        </p:nvSpPr>
        <p:spPr bwMode="auto">
          <a:xfrm>
            <a:off x="6172200" y="1228725"/>
            <a:ext cx="431800" cy="457200"/>
          </a:xfrm>
          <a:prstGeom prst="rect">
            <a:avLst/>
          </a:prstGeom>
          <a:noFill/>
          <a:ln w="38100">
            <a:noFill/>
            <a:miter lim="800000"/>
            <a:headEnd/>
            <a:tailEnd/>
          </a:ln>
        </p:spPr>
        <p:txBody>
          <a:bodyPr>
            <a:spAutoFit/>
          </a:bodyPr>
          <a:lstStyle/>
          <a:p>
            <a:pPr>
              <a:spcBef>
                <a:spcPct val="50000"/>
              </a:spcBef>
            </a:pPr>
            <a:r>
              <a:rPr kumimoji="1" lang="zh-CN" altLang="en-US" sz="2400" b="1">
                <a:solidFill>
                  <a:srgbClr val="FF0066"/>
                </a:solidFill>
              </a:rPr>
              <a:t>0</a:t>
            </a:r>
          </a:p>
        </p:txBody>
      </p:sp>
      <p:sp>
        <p:nvSpPr>
          <p:cNvPr id="29704" name="Text Box 8"/>
          <p:cNvSpPr txBox="1">
            <a:spLocks noChangeArrowheads="1"/>
          </p:cNvSpPr>
          <p:nvPr/>
        </p:nvSpPr>
        <p:spPr bwMode="auto">
          <a:xfrm>
            <a:off x="2273300" y="1228725"/>
            <a:ext cx="400050" cy="457200"/>
          </a:xfrm>
          <a:prstGeom prst="rect">
            <a:avLst/>
          </a:prstGeom>
          <a:noFill/>
          <a:ln w="38100">
            <a:noFill/>
            <a:miter lim="800000"/>
            <a:headEnd/>
            <a:tailEnd/>
          </a:ln>
        </p:spPr>
        <p:txBody>
          <a:bodyPr>
            <a:spAutoFit/>
          </a:bodyPr>
          <a:lstStyle/>
          <a:p>
            <a:r>
              <a:rPr kumimoji="1" lang="zh-CN" altLang="en-US" sz="2400" b="1">
                <a:solidFill>
                  <a:srgbClr val="FF0066"/>
                </a:solidFill>
              </a:rPr>
              <a:t>0</a:t>
            </a:r>
          </a:p>
        </p:txBody>
      </p:sp>
      <p:sp>
        <p:nvSpPr>
          <p:cNvPr id="29705" name="Line 9"/>
          <p:cNvSpPr>
            <a:spLocks noChangeShapeType="1"/>
          </p:cNvSpPr>
          <p:nvPr/>
        </p:nvSpPr>
        <p:spPr bwMode="auto">
          <a:xfrm flipH="1">
            <a:off x="4508500" y="1127125"/>
            <a:ext cx="0" cy="152400"/>
          </a:xfrm>
          <a:prstGeom prst="line">
            <a:avLst/>
          </a:prstGeom>
          <a:noFill/>
          <a:ln w="38100">
            <a:solidFill>
              <a:schemeClr val="tx1"/>
            </a:solidFill>
            <a:round/>
            <a:headEnd/>
            <a:tailEnd/>
          </a:ln>
        </p:spPr>
        <p:txBody>
          <a:bodyPr wrap="none" anchor="ctr"/>
          <a:lstStyle/>
          <a:p>
            <a:endParaRPr lang="zh-CN" altLang="en-US"/>
          </a:p>
        </p:txBody>
      </p:sp>
      <p:sp>
        <p:nvSpPr>
          <p:cNvPr id="29706" name="Text Box 10"/>
          <p:cNvSpPr txBox="1">
            <a:spLocks noChangeArrowheads="1"/>
          </p:cNvSpPr>
          <p:nvPr/>
        </p:nvSpPr>
        <p:spPr bwMode="auto">
          <a:xfrm>
            <a:off x="4321175" y="1279525"/>
            <a:ext cx="381000" cy="457200"/>
          </a:xfrm>
          <a:prstGeom prst="rect">
            <a:avLst/>
          </a:prstGeom>
          <a:noFill/>
          <a:ln w="38100">
            <a:noFill/>
            <a:miter lim="800000"/>
            <a:headEnd/>
            <a:tailEnd/>
          </a:ln>
        </p:spPr>
        <p:txBody>
          <a:bodyPr>
            <a:spAutoFit/>
          </a:bodyPr>
          <a:lstStyle/>
          <a:p>
            <a:pPr>
              <a:spcBef>
                <a:spcPct val="50000"/>
              </a:spcBef>
            </a:pPr>
            <a:r>
              <a:rPr kumimoji="1" lang="en-US" altLang="en-US" sz="2400" b="1"/>
              <a:t>Z</a:t>
            </a:r>
            <a:endParaRPr kumimoji="1" lang="en-US" altLang="zh-CN" sz="2400" b="1"/>
          </a:p>
        </p:txBody>
      </p:sp>
      <p:sp>
        <p:nvSpPr>
          <p:cNvPr id="29707" name="Line 11"/>
          <p:cNvSpPr>
            <a:spLocks noChangeShapeType="1"/>
          </p:cNvSpPr>
          <p:nvPr/>
        </p:nvSpPr>
        <p:spPr bwMode="auto">
          <a:xfrm>
            <a:off x="3886200" y="1203325"/>
            <a:ext cx="0" cy="76200"/>
          </a:xfrm>
          <a:prstGeom prst="line">
            <a:avLst/>
          </a:prstGeom>
          <a:noFill/>
          <a:ln w="38100">
            <a:solidFill>
              <a:schemeClr val="tx1"/>
            </a:solidFill>
            <a:round/>
            <a:headEnd/>
            <a:tailEnd/>
          </a:ln>
        </p:spPr>
        <p:txBody>
          <a:bodyPr wrap="none" anchor="ctr"/>
          <a:lstStyle/>
          <a:p>
            <a:endParaRPr lang="zh-CN" altLang="en-US"/>
          </a:p>
        </p:txBody>
      </p:sp>
      <p:sp>
        <p:nvSpPr>
          <p:cNvPr id="29708" name="Line 12"/>
          <p:cNvSpPr>
            <a:spLocks noChangeShapeType="1"/>
          </p:cNvSpPr>
          <p:nvPr/>
        </p:nvSpPr>
        <p:spPr bwMode="auto">
          <a:xfrm flipH="1">
            <a:off x="5080000" y="1190625"/>
            <a:ext cx="0" cy="114300"/>
          </a:xfrm>
          <a:prstGeom prst="line">
            <a:avLst/>
          </a:prstGeom>
          <a:noFill/>
          <a:ln w="38100">
            <a:solidFill>
              <a:schemeClr val="tx1"/>
            </a:solidFill>
            <a:round/>
            <a:headEnd/>
            <a:tailEnd/>
          </a:ln>
        </p:spPr>
        <p:txBody>
          <a:bodyPr wrap="none" anchor="ctr"/>
          <a:lstStyle/>
          <a:p>
            <a:endParaRPr lang="zh-CN" altLang="en-US"/>
          </a:p>
        </p:txBody>
      </p:sp>
      <p:sp>
        <p:nvSpPr>
          <p:cNvPr id="29709" name="Text Box 13"/>
          <p:cNvSpPr txBox="1">
            <a:spLocks noChangeArrowheads="1"/>
          </p:cNvSpPr>
          <p:nvPr/>
        </p:nvSpPr>
        <p:spPr bwMode="auto">
          <a:xfrm>
            <a:off x="3632200" y="1266825"/>
            <a:ext cx="546100" cy="457200"/>
          </a:xfrm>
          <a:prstGeom prst="rect">
            <a:avLst/>
          </a:prstGeom>
          <a:noFill/>
          <a:ln w="38100">
            <a:noFill/>
            <a:miter lim="800000"/>
            <a:headEnd/>
            <a:tailEnd/>
          </a:ln>
        </p:spPr>
        <p:txBody>
          <a:bodyPr>
            <a:spAutoFit/>
          </a:bodyPr>
          <a:lstStyle/>
          <a:p>
            <a:pPr>
              <a:spcBef>
                <a:spcPct val="50000"/>
              </a:spcBef>
            </a:pPr>
            <a:r>
              <a:rPr kumimoji="1" lang="en-US" altLang="zh-CN" sz="2400" b="1"/>
              <a:t>Z1</a:t>
            </a:r>
          </a:p>
        </p:txBody>
      </p:sp>
      <p:sp>
        <p:nvSpPr>
          <p:cNvPr id="29710" name="Text Box 14"/>
          <p:cNvSpPr txBox="1">
            <a:spLocks noChangeArrowheads="1"/>
          </p:cNvSpPr>
          <p:nvPr/>
        </p:nvSpPr>
        <p:spPr bwMode="auto">
          <a:xfrm>
            <a:off x="4889500" y="1279525"/>
            <a:ext cx="647700" cy="457200"/>
          </a:xfrm>
          <a:prstGeom prst="rect">
            <a:avLst/>
          </a:prstGeom>
          <a:noFill/>
          <a:ln w="38100">
            <a:noFill/>
            <a:miter lim="800000"/>
            <a:headEnd/>
            <a:tailEnd/>
          </a:ln>
        </p:spPr>
        <p:txBody>
          <a:bodyPr>
            <a:spAutoFit/>
          </a:bodyPr>
          <a:lstStyle/>
          <a:p>
            <a:pPr>
              <a:spcBef>
                <a:spcPct val="50000"/>
              </a:spcBef>
            </a:pPr>
            <a:r>
              <a:rPr kumimoji="1" lang="en-US" altLang="zh-CN" sz="2400" b="1"/>
              <a:t>Z2</a:t>
            </a:r>
          </a:p>
        </p:txBody>
      </p:sp>
      <p:grpSp>
        <p:nvGrpSpPr>
          <p:cNvPr id="2" name="Group 21"/>
          <p:cNvGrpSpPr>
            <a:grpSpLocks/>
          </p:cNvGrpSpPr>
          <p:nvPr/>
        </p:nvGrpSpPr>
        <p:grpSpPr bwMode="auto">
          <a:xfrm>
            <a:off x="5507038" y="2573338"/>
            <a:ext cx="3430587" cy="1320800"/>
            <a:chOff x="3368" y="1346"/>
            <a:chExt cx="2161" cy="832"/>
          </a:xfrm>
        </p:grpSpPr>
        <p:sp>
          <p:nvSpPr>
            <p:cNvPr id="29713" name="Text Box 16"/>
            <p:cNvSpPr txBox="1">
              <a:spLocks noChangeArrowheads="1"/>
            </p:cNvSpPr>
            <p:nvPr/>
          </p:nvSpPr>
          <p:spPr bwMode="auto">
            <a:xfrm>
              <a:off x="3550" y="1346"/>
              <a:ext cx="1979" cy="832"/>
            </a:xfrm>
            <a:prstGeom prst="rect">
              <a:avLst/>
            </a:prstGeom>
            <a:solidFill>
              <a:srgbClr val="CCFFFF"/>
            </a:solidFill>
            <a:ln w="9525">
              <a:solidFill>
                <a:srgbClr val="0000FF"/>
              </a:solidFill>
              <a:miter lim="800000"/>
              <a:headEnd/>
              <a:tailEnd/>
            </a:ln>
          </p:spPr>
          <p:txBody>
            <a:bodyPr>
              <a:spAutoFit/>
            </a:bodyPr>
            <a:lstStyle/>
            <a:p>
              <a:pPr eaLnBrk="0" hangingPunct="0"/>
              <a:r>
                <a:rPr lang="zh-CN" altLang="en-US" sz="2000" b="1">
                  <a:solidFill>
                    <a:srgbClr val="0000FF"/>
                  </a:solidFill>
                  <a:ea typeface="黑体" pitchFamily="49" charset="-122"/>
                </a:rPr>
                <a:t>例如：附加位为</a:t>
              </a:r>
            </a:p>
            <a:p>
              <a:pPr eaLnBrk="0" hangingPunct="0"/>
              <a:r>
                <a:rPr lang="zh-CN" altLang="en-US" sz="2000" b="1">
                  <a:ea typeface="黑体" pitchFamily="49" charset="-122"/>
                </a:rPr>
                <a:t>01：舍</a:t>
              </a:r>
            </a:p>
            <a:p>
              <a:pPr eaLnBrk="0" hangingPunct="0"/>
              <a:r>
                <a:rPr lang="zh-CN" altLang="en-US" sz="2000" b="1">
                  <a:ea typeface="黑体" pitchFamily="49" charset="-122"/>
                </a:rPr>
                <a:t>11：入</a:t>
              </a:r>
            </a:p>
            <a:p>
              <a:pPr eaLnBrk="0" hangingPunct="0"/>
              <a:r>
                <a:rPr lang="zh-CN" altLang="en-US" sz="2000" b="1">
                  <a:ea typeface="黑体" pitchFamily="49" charset="-122"/>
                </a:rPr>
                <a:t>10</a:t>
              </a:r>
              <a:r>
                <a:rPr lang="zh-CN" altLang="en-US" sz="2000" b="1">
                  <a:ea typeface="黑体" pitchFamily="49" charset="-122"/>
                  <a:sym typeface="Wingdings" pitchFamily="2" charset="2"/>
                </a:rPr>
                <a:t>：(强迫结果为偶数)</a:t>
              </a:r>
              <a:endParaRPr lang="zh-CN" altLang="en-US" sz="2000" b="1">
                <a:ea typeface="黑体" pitchFamily="49" charset="-122"/>
              </a:endParaRPr>
            </a:p>
          </p:txBody>
        </p:sp>
        <p:sp>
          <p:nvSpPr>
            <p:cNvPr id="29714" name="AutoShape 17"/>
            <p:cNvSpPr>
              <a:spLocks/>
            </p:cNvSpPr>
            <p:nvPr/>
          </p:nvSpPr>
          <p:spPr bwMode="auto">
            <a:xfrm>
              <a:off x="3368" y="1477"/>
              <a:ext cx="118" cy="541"/>
            </a:xfrm>
            <a:prstGeom prst="rightBrace">
              <a:avLst>
                <a:gd name="adj1" fmla="val 38206"/>
                <a:gd name="adj2" fmla="val 50000"/>
              </a:avLst>
            </a:prstGeom>
            <a:noFill/>
            <a:ln w="28575">
              <a:solidFill>
                <a:srgbClr val="0000FF"/>
              </a:solidFill>
              <a:round/>
              <a:headEnd/>
              <a:tailEnd/>
            </a:ln>
          </p:spPr>
          <p:txBody>
            <a:bodyPr wrap="none" anchor="ctr"/>
            <a:lstStyle/>
            <a:p>
              <a:pPr eaLnBrk="0" hangingPunct="0"/>
              <a:endParaRPr lang="zh-CN" altLang="en-US" sz="1600" b="1">
                <a:latin typeface="Times New Roman" pitchFamily="18" charset="0"/>
              </a:endParaRPr>
            </a:p>
          </p:txBody>
        </p:sp>
      </p:grpSp>
      <p:sp>
        <p:nvSpPr>
          <p:cNvPr id="216082" name="Text Box 18"/>
          <p:cNvSpPr txBox="1">
            <a:spLocks noChangeArrowheads="1"/>
          </p:cNvSpPr>
          <p:nvPr/>
        </p:nvSpPr>
        <p:spPr bwMode="auto">
          <a:xfrm>
            <a:off x="468313" y="3921125"/>
            <a:ext cx="6378575" cy="762000"/>
          </a:xfrm>
          <a:prstGeom prst="rect">
            <a:avLst/>
          </a:prstGeom>
          <a:noFill/>
          <a:ln w="12700">
            <a:noFill/>
            <a:miter lim="800000"/>
            <a:headEnd/>
            <a:tailEnd/>
          </a:ln>
        </p:spPr>
        <p:txBody>
          <a:bodyPr>
            <a:spAutoFit/>
          </a:bodyPr>
          <a:lstStyle/>
          <a:p>
            <a:pPr eaLnBrk="0" hangingPunct="0"/>
            <a:r>
              <a:rPr lang="zh-CN" altLang="en-US" sz="2200" b="1">
                <a:cs typeface="Times New Roman" pitchFamily="18" charset="0"/>
              </a:rPr>
              <a:t>例：</a:t>
            </a:r>
            <a:r>
              <a:rPr lang="en-US" altLang="zh-CN" sz="2200" b="1">
                <a:cs typeface="Times New Roman" pitchFamily="18" charset="0"/>
              </a:rPr>
              <a:t>1.1101</a:t>
            </a:r>
            <a:r>
              <a:rPr lang="en-US" altLang="zh-CN" sz="2200" b="1">
                <a:solidFill>
                  <a:srgbClr val="CC0000"/>
                </a:solidFill>
                <a:cs typeface="Times New Roman" pitchFamily="18" charset="0"/>
              </a:rPr>
              <a:t>11</a:t>
            </a:r>
            <a:r>
              <a:rPr lang="en-US" altLang="zh-CN" sz="2200" b="1">
                <a:cs typeface="Times New Roman" pitchFamily="18" charset="0"/>
              </a:rPr>
              <a:t> </a:t>
            </a:r>
            <a:r>
              <a:rPr lang="en-US" altLang="zh-CN" sz="2200" b="1">
                <a:latin typeface="Times New Roman" pitchFamily="18" charset="0"/>
                <a:ea typeface="黑体" pitchFamily="49" charset="-122"/>
                <a:cs typeface="Times New Roman" pitchFamily="18" charset="0"/>
              </a:rPr>
              <a:t>→</a:t>
            </a:r>
            <a:r>
              <a:rPr lang="en-US" altLang="zh-CN" sz="2200" b="1">
                <a:cs typeface="Times New Roman" pitchFamily="18" charset="0"/>
              </a:rPr>
              <a:t> 1.1110;    1.1101</a:t>
            </a:r>
            <a:r>
              <a:rPr lang="en-US" altLang="zh-CN" sz="2200" b="1">
                <a:solidFill>
                  <a:srgbClr val="CC0000"/>
                </a:solidFill>
                <a:cs typeface="Times New Roman" pitchFamily="18" charset="0"/>
              </a:rPr>
              <a:t>01</a:t>
            </a:r>
            <a:r>
              <a:rPr lang="en-US" altLang="zh-CN" sz="2200" b="1">
                <a:cs typeface="Times New Roman" pitchFamily="18" charset="0"/>
              </a:rPr>
              <a:t> </a:t>
            </a:r>
            <a:r>
              <a:rPr lang="en-US" altLang="zh-CN" sz="2200" b="1">
                <a:latin typeface="Times New Roman" pitchFamily="18" charset="0"/>
                <a:ea typeface="黑体" pitchFamily="49" charset="-122"/>
              </a:rPr>
              <a:t>→</a:t>
            </a:r>
            <a:r>
              <a:rPr lang="en-US" altLang="zh-CN" sz="1600" b="1">
                <a:latin typeface="Times New Roman" pitchFamily="18" charset="0"/>
              </a:rPr>
              <a:t> </a:t>
            </a:r>
            <a:r>
              <a:rPr lang="en-US" altLang="zh-CN" sz="2200" b="1"/>
              <a:t>1.1101;    </a:t>
            </a:r>
          </a:p>
          <a:p>
            <a:pPr eaLnBrk="0" hangingPunct="0"/>
            <a:r>
              <a:rPr lang="en-US" altLang="zh-CN" sz="2200" b="1"/>
              <a:t>        1.1101</a:t>
            </a:r>
            <a:r>
              <a:rPr lang="en-US" altLang="zh-CN" sz="2200" b="1">
                <a:solidFill>
                  <a:srgbClr val="CC0000"/>
                </a:solidFill>
              </a:rPr>
              <a:t>10</a:t>
            </a:r>
            <a:r>
              <a:rPr lang="en-US" altLang="zh-CN" sz="2200" b="1"/>
              <a:t> </a:t>
            </a:r>
            <a:r>
              <a:rPr lang="en-US" altLang="zh-CN" sz="2200" b="1">
                <a:latin typeface="Times New Roman" pitchFamily="18" charset="0"/>
                <a:ea typeface="黑体" pitchFamily="49" charset="-122"/>
              </a:rPr>
              <a:t>→</a:t>
            </a:r>
            <a:r>
              <a:rPr lang="en-US" altLang="zh-CN" sz="1600" b="1">
                <a:latin typeface="Times New Roman" pitchFamily="18" charset="0"/>
              </a:rPr>
              <a:t> </a:t>
            </a:r>
            <a:r>
              <a:rPr lang="en-US" altLang="zh-CN" sz="2200" b="1"/>
              <a:t>1.1110;    1.1111</a:t>
            </a:r>
            <a:r>
              <a:rPr lang="en-US" altLang="zh-CN" sz="2200" b="1">
                <a:solidFill>
                  <a:srgbClr val="CC0000"/>
                </a:solidFill>
              </a:rPr>
              <a:t>10</a:t>
            </a:r>
            <a:r>
              <a:rPr lang="en-US" altLang="zh-CN" sz="2200" b="1"/>
              <a:t> </a:t>
            </a:r>
            <a:r>
              <a:rPr lang="en-US" altLang="zh-CN" sz="2200" b="1">
                <a:latin typeface="Times New Roman" pitchFamily="18" charset="0"/>
                <a:ea typeface="黑体" pitchFamily="49" charset="-122"/>
              </a:rPr>
              <a:t>→</a:t>
            </a:r>
            <a:r>
              <a:rPr lang="en-US" altLang="zh-CN" sz="2200" b="1"/>
              <a:t> 10.0000; </a:t>
            </a:r>
            <a:endParaRPr lang="en-US" altLang="en-US" sz="2200" b="1"/>
          </a:p>
        </p:txBody>
      </p:sp>
    </p:spTree>
    <p:extLst>
      <p:ext uri="{BB962C8B-B14F-4D97-AF65-F5344CB8AC3E}">
        <p14:creationId xmlns:p14="http://schemas.microsoft.com/office/powerpoint/2010/main" val="2323235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6067">
                                            <p:txEl>
                                              <p:pRg st="3" end="3"/>
                                            </p:txEl>
                                          </p:spTgt>
                                        </p:tgtEl>
                                        <p:attrNameLst>
                                          <p:attrName>style.visibility</p:attrName>
                                        </p:attrNameLst>
                                      </p:cBhvr>
                                      <p:to>
                                        <p:strVal val="visible"/>
                                      </p:to>
                                    </p:set>
                                    <p:animEffect transition="in" filter="blinds(horizontal)">
                                      <p:cBhvr>
                                        <p:cTn id="7" dur="500"/>
                                        <p:tgtEl>
                                          <p:spTgt spid="216067">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6067">
                                            <p:txEl>
                                              <p:pRg st="4" end="4"/>
                                            </p:txEl>
                                          </p:spTgt>
                                        </p:tgtEl>
                                        <p:attrNameLst>
                                          <p:attrName>style.visibility</p:attrName>
                                        </p:attrNameLst>
                                      </p:cBhvr>
                                      <p:to>
                                        <p:strVal val="visible"/>
                                      </p:to>
                                    </p:set>
                                    <p:animEffect transition="in" filter="blinds(horizontal)">
                                      <p:cBhvr>
                                        <p:cTn id="12" dur="500"/>
                                        <p:tgtEl>
                                          <p:spTgt spid="216067">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6067">
                                            <p:txEl>
                                              <p:pRg st="5" end="5"/>
                                            </p:txEl>
                                          </p:spTgt>
                                        </p:tgtEl>
                                        <p:attrNameLst>
                                          <p:attrName>style.visibility</p:attrName>
                                        </p:attrNameLst>
                                      </p:cBhvr>
                                      <p:to>
                                        <p:strVal val="visible"/>
                                      </p:to>
                                    </p:set>
                                    <p:animEffect transition="in" filter="blinds(horizontal)">
                                      <p:cBhvr>
                                        <p:cTn id="17" dur="500"/>
                                        <p:tgtEl>
                                          <p:spTgt spid="216067">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6082"/>
                                        </p:tgtEl>
                                        <p:attrNameLst>
                                          <p:attrName>style.visibility</p:attrName>
                                        </p:attrNameLst>
                                      </p:cBhvr>
                                      <p:to>
                                        <p:strVal val="visible"/>
                                      </p:to>
                                    </p:set>
                                    <p:animEffect transition="in" filter="blinds(horizontal)">
                                      <p:cBhvr>
                                        <p:cTn id="27" dur="500"/>
                                        <p:tgtEl>
                                          <p:spTgt spid="2160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16067">
                                            <p:txEl>
                                              <p:pRg st="8" end="8"/>
                                            </p:txEl>
                                          </p:spTgt>
                                        </p:tgtEl>
                                        <p:attrNameLst>
                                          <p:attrName>style.visibility</p:attrName>
                                        </p:attrNameLst>
                                      </p:cBhvr>
                                      <p:to>
                                        <p:strVal val="visible"/>
                                      </p:to>
                                    </p:set>
                                    <p:animEffect transition="in" filter="blinds(horizontal)">
                                      <p:cBhvr>
                                        <p:cTn id="32" dur="500"/>
                                        <p:tgtEl>
                                          <p:spTgt spid="216067">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16067">
                                            <p:txEl>
                                              <p:pRg st="9" end="9"/>
                                            </p:txEl>
                                          </p:spTgt>
                                        </p:tgtEl>
                                        <p:attrNameLst>
                                          <p:attrName>style.visibility</p:attrName>
                                        </p:attrNameLst>
                                      </p:cBhvr>
                                      <p:to>
                                        <p:strVal val="visible"/>
                                      </p:to>
                                    </p:set>
                                    <p:animEffect transition="in" filter="blinds(horizontal)">
                                      <p:cBhvr>
                                        <p:cTn id="37" dur="500"/>
                                        <p:tgtEl>
                                          <p:spTgt spid="216067">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16067">
                                            <p:txEl>
                                              <p:pRg st="10" end="10"/>
                                            </p:txEl>
                                          </p:spTgt>
                                        </p:tgtEl>
                                        <p:attrNameLst>
                                          <p:attrName>style.visibility</p:attrName>
                                        </p:attrNameLst>
                                      </p:cBhvr>
                                      <p:to>
                                        <p:strVal val="visible"/>
                                      </p:to>
                                    </p:set>
                                    <p:animEffect transition="in" filter="blinds(horizontal)">
                                      <p:cBhvr>
                                        <p:cTn id="42" dur="500"/>
                                        <p:tgtEl>
                                          <p:spTgt spid="2160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8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itchFamily="49" charset="-122"/>
              </a:rPr>
              <a:t>浮点数加减</a:t>
            </a:r>
            <a:endParaRPr lang="zh-CN" altLang="en-US" dirty="0"/>
          </a:p>
        </p:txBody>
      </p:sp>
      <p:sp>
        <p:nvSpPr>
          <p:cNvPr id="3" name="内容占位符 2"/>
          <p:cNvSpPr>
            <a:spLocks noGrp="1"/>
          </p:cNvSpPr>
          <p:nvPr>
            <p:ph idx="1"/>
          </p:nvPr>
        </p:nvSpPr>
        <p:spPr>
          <a:xfrm>
            <a:off x="468313" y="836613"/>
            <a:ext cx="8229600" cy="1925637"/>
          </a:xfrm>
        </p:spPr>
        <p:txBody>
          <a:bodyPr/>
          <a:lstStyle/>
          <a:p>
            <a:pPr marL="0" lvl="0" indent="0">
              <a:buNone/>
            </a:pPr>
            <a:r>
              <a:rPr lang="zh-CN" altLang="en-US" dirty="0" smtClean="0"/>
              <a:t>在</a:t>
            </a:r>
            <a:r>
              <a:rPr lang="en-US" dirty="0" smtClean="0"/>
              <a:t>C</a:t>
            </a:r>
            <a:r>
              <a:rPr lang="zh-CN" altLang="en-US" dirty="0" smtClean="0"/>
              <a:t>语言程序中，为什么以下程序段最终的</a:t>
            </a:r>
            <a:r>
              <a:rPr lang="en-US" dirty="0" smtClean="0"/>
              <a:t>f</a:t>
            </a:r>
            <a:r>
              <a:rPr lang="zh-CN" altLang="en-US" dirty="0" smtClean="0"/>
              <a:t>值是多少？为什么？</a:t>
            </a:r>
          </a:p>
          <a:p>
            <a:pPr marL="0" indent="0" algn="ctr">
              <a:buNone/>
            </a:pPr>
            <a:r>
              <a:rPr lang="pt-BR" dirty="0" smtClean="0">
                <a:solidFill>
                  <a:srgbClr val="FF0000"/>
                </a:solidFill>
              </a:rPr>
              <a:t>float f = 2.5 + 1e10;</a:t>
            </a:r>
            <a:endParaRPr lang="zh-CN" altLang="en-US" dirty="0" smtClean="0">
              <a:solidFill>
                <a:srgbClr val="FF0000"/>
              </a:solidFill>
            </a:endParaRPr>
          </a:p>
          <a:p>
            <a:pPr marL="0" indent="0" algn="ctr">
              <a:buNone/>
            </a:pPr>
            <a:r>
              <a:rPr lang="pt-BR" dirty="0" smtClean="0">
                <a:solidFill>
                  <a:srgbClr val="FF0000"/>
                </a:solidFill>
              </a:rPr>
              <a:t>f = f - 1e10 ;</a:t>
            </a:r>
            <a:endParaRPr lang="zh-CN" altLang="en-US" dirty="0" smtClean="0">
              <a:solidFill>
                <a:srgbClr val="FF0000"/>
              </a:solidFill>
            </a:endParaRPr>
          </a:p>
        </p:txBody>
      </p:sp>
      <p:sp>
        <p:nvSpPr>
          <p:cNvPr id="4" name="内容占位符 2"/>
          <p:cNvSpPr txBox="1">
            <a:spLocks/>
          </p:cNvSpPr>
          <p:nvPr/>
        </p:nvSpPr>
        <p:spPr bwMode="auto">
          <a:xfrm>
            <a:off x="527050" y="2584450"/>
            <a:ext cx="8229600" cy="42735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50000"/>
              </a:lnSpc>
              <a:spcBef>
                <a:spcPct val="20000"/>
              </a:spcBef>
              <a:spcAft>
                <a:spcPct val="0"/>
              </a:spcAft>
              <a:buClrTx/>
              <a:buSzTx/>
              <a:tabLst/>
              <a:defRPr/>
            </a:pP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答：是</a:t>
            </a:r>
            <a:r>
              <a:rPr kumimoji="0" lang="en-US" altLang="zh-CN" sz="2000" b="1" i="0" u="none" strike="noStrike" kern="0" cap="none" spc="0" normalizeH="0" baseline="0" noProof="0" dirty="0" smtClean="0">
                <a:ln>
                  <a:noFill/>
                </a:ln>
                <a:solidFill>
                  <a:srgbClr val="0066FF"/>
                </a:solidFill>
                <a:effectLst/>
                <a:uLnTx/>
                <a:uFillTx/>
                <a:latin typeface="+mn-lt"/>
                <a:ea typeface="+mn-ea"/>
                <a:cs typeface="+mn-cs"/>
              </a:rPr>
              <a:t>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a:t>
            </a:r>
            <a:endParaRPr kumimoji="0" lang="en-US" altLang="zh-CN" sz="2000" b="1" i="0" u="none" strike="noStrike" kern="0" cap="none" spc="0" normalizeH="0" baseline="0" noProof="0" dirty="0" smtClean="0">
              <a:ln>
                <a:noFill/>
              </a:ln>
              <a:solidFill>
                <a:srgbClr val="0066FF"/>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tabLst/>
              <a:defRPr/>
            </a:pP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首先，</a:t>
            </a:r>
            <a:r>
              <a:rPr kumimoji="0" lang="pt-BR" sz="2000" b="1" i="0" u="none" strike="noStrike" kern="0" cap="none" spc="0" normalizeH="0" baseline="0" noProof="0" dirty="0" smtClean="0">
                <a:ln>
                  <a:noFill/>
                </a:ln>
                <a:solidFill>
                  <a:srgbClr val="0066FF"/>
                </a:solidFill>
                <a:effectLst/>
                <a:uLnTx/>
                <a:uFillTx/>
                <a:latin typeface="+mn-lt"/>
                <a:ea typeface="+mn-ea"/>
                <a:cs typeface="+mn-cs"/>
              </a:rPr>
              <a:t>float</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类型采用</a:t>
            </a:r>
            <a:r>
              <a:rPr kumimoji="0" lang="en-US" sz="2000" b="1" i="0" u="none" strike="noStrike" kern="0" cap="none" spc="0" normalizeH="0" baseline="0" noProof="0" dirty="0" smtClean="0">
                <a:ln>
                  <a:noFill/>
                </a:ln>
                <a:solidFill>
                  <a:srgbClr val="0066FF"/>
                </a:solidFill>
                <a:effectLst/>
                <a:uLnTx/>
                <a:uFillTx/>
                <a:latin typeface="+mn-lt"/>
                <a:ea typeface="+mn-ea"/>
                <a:cs typeface="+mn-cs"/>
              </a:rPr>
              <a:t>IEEE 754</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单精度浮点数格式表示，因此，最多有</a:t>
            </a:r>
            <a:r>
              <a:rPr kumimoji="0" lang="en-US" sz="2000" b="1" i="0" u="none" strike="noStrike" kern="0" cap="none" spc="0" normalizeH="0" baseline="0" noProof="0" dirty="0" smtClean="0">
                <a:ln>
                  <a:noFill/>
                </a:ln>
                <a:solidFill>
                  <a:srgbClr val="0066FF"/>
                </a:solidFill>
                <a:effectLst/>
                <a:uLnTx/>
                <a:uFillTx/>
                <a:latin typeface="+mn-lt"/>
                <a:ea typeface="+mn-ea"/>
                <a:cs typeface="+mn-cs"/>
              </a:rPr>
              <a:t>24</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位二进制有效位数。因为</a:t>
            </a:r>
            <a:r>
              <a:rPr kumimoji="0" lang="pt-BR" sz="2000" b="1" i="0" u="none" strike="noStrike" kern="0" cap="none" spc="0" normalizeH="0" baseline="0" noProof="0" dirty="0" smtClean="0">
                <a:ln>
                  <a:noFill/>
                </a:ln>
                <a:solidFill>
                  <a:srgbClr val="0066FF"/>
                </a:solidFill>
                <a:effectLst/>
                <a:uLnTx/>
                <a:uFillTx/>
                <a:latin typeface="+mn-lt"/>
                <a:ea typeface="+mn-ea"/>
                <a:cs typeface="+mn-cs"/>
              </a:rPr>
              <a:t>1e10 = 10</a:t>
            </a:r>
            <a:r>
              <a:rPr kumimoji="0" lang="pt-BR" sz="2000" b="1" i="0" u="none" strike="noStrike" kern="0" cap="none" spc="0" normalizeH="0" baseline="30000" noProof="0" dirty="0" smtClean="0">
                <a:ln>
                  <a:noFill/>
                </a:ln>
                <a:solidFill>
                  <a:srgbClr val="0066FF"/>
                </a:solidFill>
                <a:effectLst/>
                <a:uLnTx/>
                <a:uFillTx/>
                <a:latin typeface="+mn-lt"/>
                <a:ea typeface="+mn-ea"/>
                <a:cs typeface="+mn-cs"/>
              </a:rPr>
              <a:t>10</a:t>
            </a:r>
            <a:r>
              <a:rPr kumimoji="0" lang="pt-BR" sz="2000" b="1" i="0" u="none" strike="noStrike" kern="0" cap="none" spc="0" normalizeH="0" baseline="0" noProof="0" dirty="0" smtClean="0">
                <a:ln>
                  <a:noFill/>
                </a:ln>
                <a:solidFill>
                  <a:srgbClr val="0066FF"/>
                </a:solidFill>
                <a:effectLst/>
                <a:uLnTx/>
                <a:uFillTx/>
                <a:latin typeface="+mn-lt"/>
                <a:ea typeface="+mn-ea"/>
                <a:cs typeface="+mn-cs"/>
              </a:rPr>
              <a:t>= 10</a:t>
            </a:r>
            <a:r>
              <a:rPr kumimoji="0" lang="en-US" sz="2000" b="1" i="0" u="none" strike="noStrike" kern="0" cap="none" spc="0" normalizeH="0" baseline="0" noProof="0" dirty="0" smtClean="0">
                <a:ln>
                  <a:noFill/>
                </a:ln>
                <a:solidFill>
                  <a:srgbClr val="0066FF"/>
                </a:solidFill>
                <a:effectLst/>
                <a:uLnTx/>
                <a:uFillTx/>
                <a:latin typeface="+mn-lt"/>
                <a:ea typeface="+mn-ea"/>
                <a:cs typeface="+mn-cs"/>
              </a:rPr>
              <a:t>×</a:t>
            </a:r>
            <a:r>
              <a:rPr kumimoji="0" lang="pt-BR" sz="2000" b="1" i="0" u="none" strike="noStrike" kern="0" cap="none" spc="0" normalizeH="0" baseline="0" noProof="0" dirty="0" smtClean="0">
                <a:ln>
                  <a:noFill/>
                </a:ln>
                <a:solidFill>
                  <a:srgbClr val="0066FF"/>
                </a:solidFill>
                <a:effectLst/>
                <a:uLnTx/>
                <a:uFillTx/>
                <a:latin typeface="+mn-lt"/>
                <a:ea typeface="+mn-ea"/>
                <a:cs typeface="+mn-cs"/>
              </a:rPr>
              <a:t>10</a:t>
            </a:r>
            <a:r>
              <a:rPr kumimoji="0" lang="pt-BR" sz="2000" b="1" i="0" u="none" strike="noStrike" kern="0" cap="none" spc="0" normalizeH="0" baseline="30000" noProof="0" dirty="0" smtClean="0">
                <a:ln>
                  <a:noFill/>
                </a:ln>
                <a:solidFill>
                  <a:srgbClr val="0066FF"/>
                </a:solidFill>
                <a:effectLst/>
                <a:uLnTx/>
                <a:uFillTx/>
                <a:latin typeface="+mn-lt"/>
                <a:ea typeface="+mn-ea"/>
                <a:cs typeface="+mn-cs"/>
              </a:rPr>
              <a:t>3</a:t>
            </a:r>
            <a:r>
              <a:rPr kumimoji="0" lang="en-US" sz="2000" b="1" i="0" u="none" strike="noStrike" kern="0" cap="none" spc="0" normalizeH="0" baseline="0" noProof="0" dirty="0" smtClean="0">
                <a:ln>
                  <a:noFill/>
                </a:ln>
                <a:solidFill>
                  <a:srgbClr val="0066FF"/>
                </a:solidFill>
                <a:effectLst/>
                <a:uLnTx/>
                <a:uFillTx/>
                <a:latin typeface="+mn-lt"/>
                <a:ea typeface="+mn-ea"/>
                <a:cs typeface="+mn-cs"/>
              </a:rPr>
              <a:t>×</a:t>
            </a:r>
            <a:r>
              <a:rPr kumimoji="0" lang="pt-BR" sz="2000" b="1" i="0" u="none" strike="noStrike" kern="0" cap="none" spc="0" normalizeH="0" baseline="0" noProof="0" dirty="0" smtClean="0">
                <a:ln>
                  <a:noFill/>
                </a:ln>
                <a:solidFill>
                  <a:srgbClr val="0066FF"/>
                </a:solidFill>
                <a:effectLst/>
                <a:uLnTx/>
                <a:uFillTx/>
                <a:latin typeface="+mn-lt"/>
                <a:ea typeface="+mn-ea"/>
                <a:cs typeface="+mn-cs"/>
              </a:rPr>
              <a:t>10</a:t>
            </a:r>
            <a:r>
              <a:rPr kumimoji="0" lang="pt-BR" sz="2000" b="1" i="0" u="none" strike="noStrike" kern="0" cap="none" spc="0" normalizeH="0" baseline="30000" noProof="0" dirty="0" smtClean="0">
                <a:ln>
                  <a:noFill/>
                </a:ln>
                <a:solidFill>
                  <a:srgbClr val="0066FF"/>
                </a:solidFill>
                <a:effectLst/>
                <a:uLnTx/>
                <a:uFillTx/>
                <a:latin typeface="+mn-lt"/>
                <a:ea typeface="+mn-ea"/>
                <a:cs typeface="+mn-cs"/>
              </a:rPr>
              <a:t>6</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，在数量级上大约相当于</a:t>
            </a:r>
            <a:r>
              <a:rPr kumimoji="0" lang="pt-BR" sz="2000" b="1" i="0" u="none" strike="noStrike" kern="0" cap="none" spc="0" normalizeH="0" baseline="0" noProof="0" dirty="0" smtClean="0">
                <a:ln>
                  <a:noFill/>
                </a:ln>
                <a:solidFill>
                  <a:srgbClr val="0066FF"/>
                </a:solidFill>
                <a:effectLst/>
                <a:uLnTx/>
                <a:uFillTx/>
                <a:latin typeface="+mn-lt"/>
                <a:ea typeface="+mn-ea"/>
                <a:cs typeface="+mn-cs"/>
              </a:rPr>
              <a:t>2</a:t>
            </a:r>
            <a:r>
              <a:rPr kumimoji="0" lang="pt-BR" sz="2000" b="1" i="0" u="none" strike="noStrike" kern="0" cap="none" spc="0" normalizeH="0" baseline="30000" noProof="0" dirty="0" smtClean="0">
                <a:ln>
                  <a:noFill/>
                </a:ln>
                <a:solidFill>
                  <a:srgbClr val="0066FF"/>
                </a:solidFill>
                <a:effectLst/>
                <a:uLnTx/>
                <a:uFillTx/>
                <a:latin typeface="+mn-lt"/>
                <a:ea typeface="+mn-ea"/>
                <a:cs typeface="+mn-cs"/>
              </a:rPr>
              <a:t>3</a:t>
            </a:r>
            <a:r>
              <a:rPr kumimoji="0" lang="en-US" sz="2000" b="1" i="0" u="none" strike="noStrike" kern="0" cap="none" spc="0" normalizeH="0" baseline="0" noProof="0" dirty="0" smtClean="0">
                <a:ln>
                  <a:noFill/>
                </a:ln>
                <a:solidFill>
                  <a:srgbClr val="0066FF"/>
                </a:solidFill>
                <a:effectLst/>
                <a:uLnTx/>
                <a:uFillTx/>
                <a:latin typeface="+mn-lt"/>
                <a:ea typeface="+mn-ea"/>
                <a:cs typeface="+mn-cs"/>
              </a:rPr>
              <a:t>×</a:t>
            </a:r>
            <a:r>
              <a:rPr kumimoji="0" lang="pt-BR" sz="2000" b="1" i="0" u="none" strike="noStrike" kern="0" cap="none" spc="0" normalizeH="0" baseline="0" noProof="0" dirty="0" smtClean="0">
                <a:ln>
                  <a:noFill/>
                </a:ln>
                <a:solidFill>
                  <a:srgbClr val="0066FF"/>
                </a:solidFill>
                <a:effectLst/>
                <a:uLnTx/>
                <a:uFillTx/>
                <a:latin typeface="+mn-lt"/>
                <a:ea typeface="+mn-ea"/>
                <a:cs typeface="+mn-cs"/>
              </a:rPr>
              <a:t>2</a:t>
            </a:r>
            <a:r>
              <a:rPr kumimoji="0" lang="pt-BR" sz="2000" b="1" i="0" u="none" strike="noStrike" kern="0" cap="none" spc="0" normalizeH="0" baseline="30000" noProof="0" dirty="0" smtClean="0">
                <a:ln>
                  <a:noFill/>
                </a:ln>
                <a:solidFill>
                  <a:srgbClr val="0066FF"/>
                </a:solidFill>
                <a:effectLst/>
                <a:uLnTx/>
                <a:uFillTx/>
                <a:latin typeface="+mn-lt"/>
                <a:ea typeface="+mn-ea"/>
                <a:cs typeface="+mn-cs"/>
              </a:rPr>
              <a:t>10</a:t>
            </a:r>
            <a:r>
              <a:rPr kumimoji="0" lang="en-US" sz="2000" b="1" i="0" u="none" strike="noStrike" kern="0" cap="none" spc="0" normalizeH="0" baseline="0" noProof="0" dirty="0" smtClean="0">
                <a:ln>
                  <a:noFill/>
                </a:ln>
                <a:solidFill>
                  <a:srgbClr val="0066FF"/>
                </a:solidFill>
                <a:effectLst/>
                <a:uLnTx/>
                <a:uFillTx/>
                <a:latin typeface="+mn-lt"/>
                <a:ea typeface="+mn-ea"/>
                <a:cs typeface="+mn-cs"/>
              </a:rPr>
              <a:t>×</a:t>
            </a:r>
            <a:r>
              <a:rPr kumimoji="0" lang="pt-BR" sz="2000" b="1" i="0" u="none" strike="noStrike" kern="0" cap="none" spc="0" normalizeH="0" baseline="0" noProof="0" dirty="0" smtClean="0">
                <a:ln>
                  <a:noFill/>
                </a:ln>
                <a:solidFill>
                  <a:srgbClr val="0066FF"/>
                </a:solidFill>
                <a:effectLst/>
                <a:uLnTx/>
                <a:uFillTx/>
                <a:latin typeface="+mn-lt"/>
                <a:ea typeface="+mn-ea"/>
                <a:cs typeface="+mn-cs"/>
              </a:rPr>
              <a:t>2</a:t>
            </a:r>
            <a:r>
              <a:rPr kumimoji="0" lang="pt-BR" sz="2000" b="1" i="0" u="none" strike="noStrike" kern="0" cap="none" spc="0" normalizeH="0" baseline="30000" noProof="0" dirty="0" smtClean="0">
                <a:ln>
                  <a:noFill/>
                </a:ln>
                <a:solidFill>
                  <a:srgbClr val="0066FF"/>
                </a:solidFill>
                <a:effectLst/>
                <a:uLnTx/>
                <a:uFillTx/>
                <a:latin typeface="+mn-lt"/>
                <a:ea typeface="+mn-ea"/>
                <a:cs typeface="+mn-cs"/>
              </a:rPr>
              <a:t>20</a:t>
            </a:r>
            <a:r>
              <a:rPr kumimoji="0" lang="pt-BR" sz="2000" b="1" i="0" u="none" strike="noStrike" kern="0" cap="none" spc="0" normalizeH="0" baseline="0" noProof="0" dirty="0" smtClean="0">
                <a:ln>
                  <a:noFill/>
                </a:ln>
                <a:solidFill>
                  <a:srgbClr val="0066FF"/>
                </a:solidFill>
                <a:effectLst/>
                <a:uLnTx/>
                <a:uFillTx/>
                <a:latin typeface="+mn-lt"/>
                <a:ea typeface="+mn-ea"/>
                <a:cs typeface="+mn-cs"/>
              </a:rPr>
              <a:t>=2</a:t>
            </a:r>
            <a:r>
              <a:rPr kumimoji="0" lang="pt-BR" sz="2000" b="1" i="0" u="none" strike="noStrike" kern="0" cap="none" spc="0" normalizeH="0" baseline="30000" noProof="0" dirty="0" smtClean="0">
                <a:ln>
                  <a:noFill/>
                </a:ln>
                <a:solidFill>
                  <a:srgbClr val="0066FF"/>
                </a:solidFill>
                <a:effectLst/>
                <a:uLnTx/>
                <a:uFillTx/>
                <a:latin typeface="+mn-lt"/>
                <a:ea typeface="+mn-ea"/>
                <a:cs typeface="+mn-cs"/>
              </a:rPr>
              <a:t>33</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，而</a:t>
            </a:r>
            <a:r>
              <a:rPr kumimoji="0" lang="pt-BR" sz="2000" b="1" i="0" u="none" strike="noStrike" kern="0" cap="none" spc="0" normalizeH="0" baseline="0" noProof="0" dirty="0" smtClean="0">
                <a:ln>
                  <a:noFill/>
                </a:ln>
                <a:solidFill>
                  <a:srgbClr val="0066FF"/>
                </a:solidFill>
                <a:effectLst/>
                <a:uLnTx/>
                <a:uFillTx/>
                <a:latin typeface="+mn-lt"/>
                <a:ea typeface="+mn-ea"/>
                <a:cs typeface="+mn-cs"/>
              </a:rPr>
              <a:t>2.5</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的数量级为</a:t>
            </a:r>
            <a:r>
              <a:rPr kumimoji="0" lang="pt-BR" sz="2000" b="1" i="0" u="none" strike="noStrike" kern="0" cap="none" spc="0" normalizeH="0" baseline="0" noProof="0" dirty="0" smtClean="0">
                <a:ln>
                  <a:noFill/>
                </a:ln>
                <a:solidFill>
                  <a:srgbClr val="0066FF"/>
                </a:solidFill>
                <a:effectLst/>
                <a:uLnTx/>
                <a:uFillTx/>
                <a:latin typeface="+mn-lt"/>
                <a:ea typeface="+mn-ea"/>
                <a:cs typeface="+mn-cs"/>
              </a:rPr>
              <a:t>2</a:t>
            </a:r>
            <a:r>
              <a:rPr kumimoji="0" lang="pt-BR" sz="2000" b="1" i="0" u="none" strike="noStrike" kern="0" cap="none" spc="0" normalizeH="0" baseline="30000" noProof="0" dirty="0" smtClean="0">
                <a:ln>
                  <a:noFill/>
                </a:ln>
                <a:solidFill>
                  <a:srgbClr val="0066FF"/>
                </a:solidFill>
                <a:effectLst/>
                <a:uLnTx/>
                <a:uFillTx/>
                <a:latin typeface="+mn-lt"/>
                <a:ea typeface="+mn-ea"/>
                <a:cs typeface="+mn-cs"/>
              </a:rPr>
              <a:t>1</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，因此，在计算</a:t>
            </a:r>
            <a:r>
              <a:rPr kumimoji="0" lang="pt-BR" sz="2000" b="1" i="0" u="none" strike="noStrike" kern="0" cap="none" spc="0" normalizeH="0" baseline="0" noProof="0" dirty="0" smtClean="0">
                <a:ln>
                  <a:noFill/>
                </a:ln>
                <a:solidFill>
                  <a:srgbClr val="0066FF"/>
                </a:solidFill>
                <a:effectLst/>
                <a:uLnTx/>
                <a:uFillTx/>
                <a:latin typeface="+mn-lt"/>
                <a:ea typeface="+mn-ea"/>
                <a:cs typeface="+mn-cs"/>
              </a:rPr>
              <a:t>2.5 + 1e10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进行对阶时，两数阶码的差为</a:t>
            </a:r>
            <a:r>
              <a:rPr kumimoji="0" lang="en-US" sz="2000" b="1" i="0" u="none" strike="noStrike" kern="0" cap="none" spc="0" normalizeH="0" baseline="0" noProof="0" dirty="0" smtClean="0">
                <a:ln>
                  <a:noFill/>
                </a:ln>
                <a:solidFill>
                  <a:srgbClr val="0066FF"/>
                </a:solidFill>
                <a:effectLst/>
                <a:uLnTx/>
                <a:uFillTx/>
                <a:latin typeface="+mn-lt"/>
                <a:ea typeface="+mn-ea"/>
                <a:cs typeface="+mn-cs"/>
              </a:rPr>
              <a:t>32</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，也就是说，</a:t>
            </a:r>
            <a:r>
              <a:rPr kumimoji="0" lang="en-US" sz="2000" b="1" i="0" u="none" strike="noStrike" kern="0" cap="none" spc="0" normalizeH="0" baseline="0" noProof="0" dirty="0" smtClean="0">
                <a:ln>
                  <a:noFill/>
                </a:ln>
                <a:solidFill>
                  <a:srgbClr val="0066FF"/>
                </a:solidFill>
                <a:effectLst/>
                <a:uLnTx/>
                <a:uFillTx/>
                <a:latin typeface="+mn-lt"/>
                <a:ea typeface="+mn-ea"/>
                <a:cs typeface="+mn-cs"/>
              </a:rPr>
              <a:t>2.5</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的尾数要向右移</a:t>
            </a:r>
            <a:r>
              <a:rPr kumimoji="0" lang="en-US" sz="2000" b="1" i="0" u="none" strike="noStrike" kern="0" cap="none" spc="0" normalizeH="0" baseline="0" noProof="0" dirty="0" smtClean="0">
                <a:ln>
                  <a:noFill/>
                </a:ln>
                <a:solidFill>
                  <a:srgbClr val="0066FF"/>
                </a:solidFill>
                <a:effectLst/>
                <a:uLnTx/>
                <a:uFillTx/>
                <a:latin typeface="+mn-lt"/>
                <a:ea typeface="+mn-ea"/>
                <a:cs typeface="+mn-cs"/>
              </a:rPr>
              <a:t>32</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位从而使得</a:t>
            </a:r>
            <a:r>
              <a:rPr kumimoji="0" lang="en-US" sz="2000" b="1" i="0" u="none" strike="noStrike" kern="0" cap="none" spc="0" normalizeH="0" baseline="0" noProof="0" dirty="0" smtClean="0">
                <a:ln>
                  <a:noFill/>
                </a:ln>
                <a:solidFill>
                  <a:srgbClr val="0066FF"/>
                </a:solidFill>
                <a:effectLst/>
                <a:uLnTx/>
                <a:uFillTx/>
                <a:latin typeface="+mn-lt"/>
                <a:ea typeface="+mn-ea"/>
                <a:cs typeface="+mn-cs"/>
              </a:rPr>
              <a:t>24</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位有效数字全部丢失，尾数变为全</a:t>
            </a:r>
            <a:r>
              <a:rPr kumimoji="0" lang="pt-BR" sz="2000" b="1" i="0" u="none" strike="noStrike" kern="0" cap="none" spc="0" normalizeH="0" baseline="0" noProof="0" dirty="0" smtClean="0">
                <a:ln>
                  <a:noFill/>
                </a:ln>
                <a:solidFill>
                  <a:srgbClr val="0066FF"/>
                </a:solidFill>
                <a:effectLst/>
                <a:uLnTx/>
                <a:uFillTx/>
                <a:latin typeface="+mn-lt"/>
                <a:ea typeface="+mn-ea"/>
                <a:cs typeface="+mn-cs"/>
              </a:rPr>
              <a:t>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，再与</a:t>
            </a:r>
            <a:r>
              <a:rPr kumimoji="0" lang="pt-BR" sz="2000" b="1" i="0" u="none" strike="noStrike" kern="0" cap="none" spc="0" normalizeH="0" baseline="0" noProof="0" dirty="0" smtClean="0">
                <a:ln>
                  <a:noFill/>
                </a:ln>
                <a:solidFill>
                  <a:srgbClr val="0066FF"/>
                </a:solidFill>
                <a:effectLst/>
                <a:uLnTx/>
                <a:uFillTx/>
                <a:latin typeface="+mn-lt"/>
                <a:ea typeface="+mn-ea"/>
                <a:cs typeface="+mn-cs"/>
              </a:rPr>
              <a:t>1e10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的尾数相加时结果就是</a:t>
            </a:r>
            <a:r>
              <a:rPr kumimoji="0" lang="pt-BR" sz="2000" b="1" i="0" u="none" strike="noStrike" kern="0" cap="none" spc="0" normalizeH="0" baseline="0" noProof="0" dirty="0" smtClean="0">
                <a:ln>
                  <a:noFill/>
                </a:ln>
                <a:solidFill>
                  <a:srgbClr val="0066FF"/>
                </a:solidFill>
                <a:effectLst/>
                <a:uLnTx/>
                <a:uFillTx/>
                <a:latin typeface="+mn-lt"/>
                <a:ea typeface="+mn-ea"/>
                <a:cs typeface="+mn-cs"/>
              </a:rPr>
              <a:t>1e10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的尾数，因此</a:t>
            </a:r>
            <a:r>
              <a:rPr kumimoji="0" lang="pt-BR" sz="2000" b="1" i="0" u="none" strike="noStrike" kern="0" cap="none" spc="0" normalizeH="0" baseline="0" noProof="0" dirty="0" smtClean="0">
                <a:ln>
                  <a:noFill/>
                </a:ln>
                <a:solidFill>
                  <a:srgbClr val="0066FF"/>
                </a:solidFill>
                <a:effectLst/>
                <a:uLnTx/>
                <a:uFillTx/>
                <a:latin typeface="+mn-lt"/>
                <a:ea typeface="+mn-ea"/>
                <a:cs typeface="+mn-cs"/>
              </a:rPr>
              <a:t>f=2.5+1e10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的运算结果仍为</a:t>
            </a:r>
            <a:r>
              <a:rPr kumimoji="0" lang="pt-BR" sz="2000" b="1" i="0" u="none" strike="noStrike" kern="0" cap="none" spc="0" normalizeH="0" baseline="0" noProof="0" dirty="0" smtClean="0">
                <a:ln>
                  <a:noFill/>
                </a:ln>
                <a:solidFill>
                  <a:srgbClr val="0066FF"/>
                </a:solidFill>
                <a:effectLst/>
                <a:uLnTx/>
                <a:uFillTx/>
                <a:latin typeface="+mn-lt"/>
                <a:ea typeface="+mn-ea"/>
                <a:cs typeface="+mn-cs"/>
              </a:rPr>
              <a:t>1e10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，这样，再执行</a:t>
            </a:r>
            <a:r>
              <a:rPr kumimoji="0" lang="pt-BR" sz="2000" b="1" i="0" u="none" strike="noStrike" kern="0" cap="none" spc="0" normalizeH="0" baseline="0" noProof="0" dirty="0" smtClean="0">
                <a:ln>
                  <a:noFill/>
                </a:ln>
                <a:solidFill>
                  <a:srgbClr val="0066FF"/>
                </a:solidFill>
                <a:effectLst/>
                <a:uLnTx/>
                <a:uFillTx/>
                <a:latin typeface="+mn-lt"/>
                <a:ea typeface="+mn-ea"/>
                <a:cs typeface="+mn-cs"/>
              </a:rPr>
              <a:t>f = f - 1e10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时结果就为</a:t>
            </a:r>
            <a:r>
              <a:rPr kumimoji="0" lang="pt-BR" sz="2000" b="1" i="0" u="none" strike="noStrike" kern="0" cap="none" spc="0" normalizeH="0" baseline="0" noProof="0" dirty="0" smtClean="0">
                <a:ln>
                  <a:noFill/>
                </a:ln>
                <a:solidFill>
                  <a:srgbClr val="0066FF"/>
                </a:solidFill>
                <a:effectLst/>
                <a:uLnTx/>
                <a:uFillTx/>
                <a:latin typeface="+mn-lt"/>
                <a:ea typeface="+mn-ea"/>
                <a:cs typeface="+mn-cs"/>
              </a:rPr>
              <a:t>0</a:t>
            </a:r>
            <a:r>
              <a:rPr kumimoji="0" lang="zh-CN" altLang="en-US" sz="2000" b="1" i="0" u="none" strike="noStrike" kern="0" cap="none" spc="0" normalizeH="0" baseline="0" noProof="0" dirty="0" smtClean="0">
                <a:ln>
                  <a:noFill/>
                </a:ln>
                <a:solidFill>
                  <a:srgbClr val="0066FF"/>
                </a:solidFill>
                <a:effectLst/>
                <a:uLnTx/>
                <a:uFillTx/>
                <a:latin typeface="+mn-lt"/>
                <a:ea typeface="+mn-ea"/>
                <a:cs typeface="+mn-cs"/>
              </a:rPr>
              <a:t>。这个例子就是典型的“大数吃小数”的例子。</a:t>
            </a:r>
            <a:endParaRPr kumimoji="0" lang="zh-CN" altLang="en-US" sz="2000" b="1" i="0" u="none" strike="noStrike" kern="0" cap="none" spc="0" normalizeH="0" baseline="0" noProof="0" dirty="0">
              <a:ln>
                <a:noFill/>
              </a:ln>
              <a:solidFill>
                <a:srgbClr val="0066FF"/>
              </a:solidFill>
              <a:effectLst/>
              <a:uLnTx/>
              <a:uFillTx/>
              <a:latin typeface="+mn-lt"/>
              <a:ea typeface="+mn-ea"/>
              <a:cs typeface="+mn-cs"/>
            </a:endParaRPr>
          </a:p>
        </p:txBody>
      </p:sp>
    </p:spTree>
    <p:extLst>
      <p:ext uri="{BB962C8B-B14F-4D97-AF65-F5344CB8AC3E}">
        <p14:creationId xmlns:p14="http://schemas.microsoft.com/office/powerpoint/2010/main" val="113564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浮点数运算</a:t>
            </a:r>
            <a:endParaRPr lang="zh-CN" altLang="en-US" dirty="0"/>
          </a:p>
        </p:txBody>
      </p:sp>
      <p:sp>
        <p:nvSpPr>
          <p:cNvPr id="3" name="内容占位符 2"/>
          <p:cNvSpPr>
            <a:spLocks noGrp="1"/>
          </p:cNvSpPr>
          <p:nvPr>
            <p:ph idx="1"/>
          </p:nvPr>
        </p:nvSpPr>
        <p:spPr>
          <a:xfrm>
            <a:off x="468313" y="836613"/>
            <a:ext cx="8229600" cy="547687"/>
          </a:xfrm>
        </p:spPr>
        <p:txBody>
          <a:bodyPr/>
          <a:lstStyle/>
          <a:p>
            <a:pPr marL="0" lvl="0" indent="0">
              <a:buNone/>
            </a:pPr>
            <a:r>
              <a:rPr lang="zh-CN" altLang="en-US" dirty="0" smtClean="0"/>
              <a:t>计算浮点数</a:t>
            </a:r>
            <a:r>
              <a:rPr lang="en-US" i="1" dirty="0" smtClean="0"/>
              <a:t>f</a:t>
            </a:r>
            <a:r>
              <a:rPr lang="zh-CN" altLang="en-US" dirty="0" smtClean="0"/>
              <a:t>的负数</a:t>
            </a:r>
            <a:r>
              <a:rPr lang="en-US" dirty="0" smtClean="0"/>
              <a:t>-</a:t>
            </a:r>
            <a:r>
              <a:rPr lang="en-US" i="1" dirty="0" smtClean="0"/>
              <a:t>f</a:t>
            </a:r>
            <a:r>
              <a:rPr lang="zh-CN" altLang="en-US" dirty="0" smtClean="0"/>
              <a:t>。若</a:t>
            </a:r>
            <a:r>
              <a:rPr lang="en-US" i="1" dirty="0" smtClean="0"/>
              <a:t>f</a:t>
            </a:r>
            <a:r>
              <a:rPr lang="zh-CN" altLang="en-US" dirty="0" smtClean="0"/>
              <a:t>为</a:t>
            </a:r>
            <a:r>
              <a:rPr lang="en-US" dirty="0" err="1" smtClean="0"/>
              <a:t>NaN</a:t>
            </a:r>
            <a:r>
              <a:rPr lang="zh-CN" altLang="en-US" dirty="0" smtClean="0"/>
              <a:t>，则返回</a:t>
            </a:r>
            <a:r>
              <a:rPr lang="en-US" i="1" dirty="0" smtClean="0"/>
              <a:t>f</a:t>
            </a:r>
            <a:r>
              <a:rPr lang="zh-CN" altLang="en-US" dirty="0" smtClean="0"/>
              <a:t>，否则返回</a:t>
            </a:r>
            <a:r>
              <a:rPr lang="en-US" dirty="0" smtClean="0"/>
              <a:t>-</a:t>
            </a:r>
            <a:r>
              <a:rPr lang="en-US" i="1" dirty="0" smtClean="0"/>
              <a:t>f</a:t>
            </a:r>
            <a:r>
              <a:rPr lang="zh-CN" altLang="en-US" dirty="0" smtClean="0"/>
              <a:t>。</a:t>
            </a:r>
            <a:endParaRPr lang="zh-CN" altLang="en-US" dirty="0" smtClean="0">
              <a:solidFill>
                <a:srgbClr val="FF0000"/>
              </a:solidFill>
            </a:endParaRPr>
          </a:p>
        </p:txBody>
      </p:sp>
      <p:sp>
        <p:nvSpPr>
          <p:cNvPr id="4" name="内容占位符 2"/>
          <p:cNvSpPr txBox="1">
            <a:spLocks/>
          </p:cNvSpPr>
          <p:nvPr/>
        </p:nvSpPr>
        <p:spPr bwMode="auto">
          <a:xfrm>
            <a:off x="527050" y="2051050"/>
            <a:ext cx="8229600" cy="4806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nSpc>
                <a:spcPct val="150000"/>
              </a:lnSpc>
            </a:pPr>
            <a:r>
              <a:rPr lang="en-US" sz="2000" dirty="0" err="1" smtClean="0">
                <a:solidFill>
                  <a:srgbClr val="0066FF"/>
                </a:solidFill>
              </a:rPr>
              <a:t>float_bits</a:t>
            </a:r>
            <a:r>
              <a:rPr lang="en-US" sz="2000" dirty="0" smtClean="0">
                <a:solidFill>
                  <a:srgbClr val="0066FF"/>
                </a:solidFill>
              </a:rPr>
              <a:t> </a:t>
            </a:r>
            <a:r>
              <a:rPr lang="en-US" sz="2000" dirty="0" err="1" smtClean="0">
                <a:solidFill>
                  <a:srgbClr val="0066FF"/>
                </a:solidFill>
              </a:rPr>
              <a:t>float_neg</a:t>
            </a:r>
            <a:r>
              <a:rPr lang="en-US" sz="2000" dirty="0" smtClean="0">
                <a:solidFill>
                  <a:srgbClr val="0066FF"/>
                </a:solidFill>
              </a:rPr>
              <a:t>(</a:t>
            </a:r>
            <a:r>
              <a:rPr lang="en-US" sz="2000" dirty="0" err="1" smtClean="0">
                <a:solidFill>
                  <a:srgbClr val="0066FF"/>
                </a:solidFill>
              </a:rPr>
              <a:t>float_bits</a:t>
            </a:r>
            <a:r>
              <a:rPr lang="en-US" sz="2000" dirty="0" smtClean="0">
                <a:solidFill>
                  <a:srgbClr val="0066FF"/>
                </a:solidFill>
              </a:rPr>
              <a:t> f) {</a:t>
            </a:r>
            <a:endParaRPr lang="zh-CN" altLang="en-US" sz="2000" dirty="0" smtClean="0">
              <a:solidFill>
                <a:srgbClr val="0066FF"/>
              </a:solidFill>
            </a:endParaRPr>
          </a:p>
          <a:p>
            <a:pPr>
              <a:lnSpc>
                <a:spcPct val="150000"/>
              </a:lnSpc>
            </a:pPr>
            <a:r>
              <a:rPr lang="en-US" sz="2000" dirty="0" smtClean="0">
                <a:solidFill>
                  <a:srgbClr val="0066FF"/>
                </a:solidFill>
              </a:rPr>
              <a:t>	unsigned exp=f&gt;&gt;23&amp;0xFF;</a:t>
            </a:r>
            <a:endParaRPr lang="zh-CN" altLang="en-US" sz="2000" dirty="0" smtClean="0">
              <a:solidFill>
                <a:srgbClr val="0066FF"/>
              </a:solidFill>
            </a:endParaRPr>
          </a:p>
          <a:p>
            <a:pPr>
              <a:lnSpc>
                <a:spcPct val="150000"/>
              </a:lnSpc>
            </a:pPr>
            <a:r>
              <a:rPr lang="en-US" sz="2000" dirty="0" smtClean="0">
                <a:solidFill>
                  <a:srgbClr val="0066FF"/>
                </a:solidFill>
              </a:rPr>
              <a:t>	unsigned </a:t>
            </a:r>
            <a:r>
              <a:rPr lang="en-US" sz="2000" dirty="0" err="1" smtClean="0">
                <a:solidFill>
                  <a:srgbClr val="0066FF"/>
                </a:solidFill>
              </a:rPr>
              <a:t>frac</a:t>
            </a:r>
            <a:r>
              <a:rPr lang="en-US" sz="2000" dirty="0" smtClean="0">
                <a:solidFill>
                  <a:srgbClr val="0066FF"/>
                </a:solidFill>
              </a:rPr>
              <a:t>=f&amp;0x7FFFFF;</a:t>
            </a:r>
            <a:endParaRPr lang="zh-CN" altLang="en-US" sz="2000" dirty="0" smtClean="0">
              <a:solidFill>
                <a:srgbClr val="0066FF"/>
              </a:solidFill>
            </a:endParaRPr>
          </a:p>
          <a:p>
            <a:pPr>
              <a:lnSpc>
                <a:spcPct val="150000"/>
              </a:lnSpc>
            </a:pPr>
            <a:r>
              <a:rPr lang="en-US" sz="2000" dirty="0" smtClean="0">
                <a:solidFill>
                  <a:srgbClr val="0066FF"/>
                </a:solidFill>
              </a:rPr>
              <a:t>	if (exp==0xFF)&amp;&amp;(</a:t>
            </a:r>
            <a:r>
              <a:rPr lang="en-US" sz="2000" dirty="0" err="1" smtClean="0">
                <a:solidFill>
                  <a:srgbClr val="0066FF"/>
                </a:solidFill>
              </a:rPr>
              <a:t>frac</a:t>
            </a:r>
            <a:r>
              <a:rPr lang="en-US" sz="2000" dirty="0" smtClean="0">
                <a:solidFill>
                  <a:srgbClr val="0066FF"/>
                </a:solidFill>
              </a:rPr>
              <a:t>!=0)  /* f</a:t>
            </a:r>
            <a:r>
              <a:rPr lang="zh-CN" altLang="en-US" sz="2000" dirty="0" smtClean="0">
                <a:solidFill>
                  <a:srgbClr val="0066FF"/>
                </a:solidFill>
              </a:rPr>
              <a:t>为</a:t>
            </a:r>
            <a:r>
              <a:rPr lang="en-US" sz="2000" dirty="0" err="1" smtClean="0">
                <a:solidFill>
                  <a:srgbClr val="0066FF"/>
                </a:solidFill>
              </a:rPr>
              <a:t>NaN</a:t>
            </a:r>
            <a:r>
              <a:rPr lang="en-US" sz="2000" dirty="0" smtClean="0">
                <a:solidFill>
                  <a:srgbClr val="0066FF"/>
                </a:solidFill>
              </a:rPr>
              <a:t> */</a:t>
            </a:r>
            <a:endParaRPr lang="zh-CN" altLang="en-US" sz="2000" dirty="0" smtClean="0">
              <a:solidFill>
                <a:srgbClr val="0066FF"/>
              </a:solidFill>
            </a:endParaRPr>
          </a:p>
          <a:p>
            <a:pPr>
              <a:lnSpc>
                <a:spcPct val="150000"/>
              </a:lnSpc>
            </a:pPr>
            <a:r>
              <a:rPr lang="en-US" sz="2000" dirty="0" smtClean="0">
                <a:solidFill>
                  <a:srgbClr val="0066FF"/>
                </a:solidFill>
              </a:rPr>
              <a:t>		return f;</a:t>
            </a:r>
            <a:endParaRPr lang="zh-CN" altLang="en-US" sz="2000" dirty="0" smtClean="0">
              <a:solidFill>
                <a:srgbClr val="0066FF"/>
              </a:solidFill>
            </a:endParaRPr>
          </a:p>
          <a:p>
            <a:pPr>
              <a:lnSpc>
                <a:spcPct val="150000"/>
              </a:lnSpc>
            </a:pPr>
            <a:r>
              <a:rPr lang="en-US" sz="2000" dirty="0" smtClean="0">
                <a:solidFill>
                  <a:srgbClr val="0066FF"/>
                </a:solidFill>
              </a:rPr>
              <a:t>	else </a:t>
            </a:r>
            <a:endParaRPr lang="zh-CN" altLang="en-US" sz="2000" dirty="0" smtClean="0">
              <a:solidFill>
                <a:srgbClr val="0066FF"/>
              </a:solidFill>
            </a:endParaRPr>
          </a:p>
          <a:p>
            <a:pPr>
              <a:lnSpc>
                <a:spcPct val="150000"/>
              </a:lnSpc>
            </a:pPr>
            <a:r>
              <a:rPr lang="en-US" sz="2000" dirty="0" smtClean="0">
                <a:solidFill>
                  <a:srgbClr val="0066FF"/>
                </a:solidFill>
              </a:rPr>
              <a:t>	return f ^ 0x80000000;</a:t>
            </a:r>
            <a:endParaRPr lang="zh-CN" altLang="en-US" sz="2000" dirty="0" smtClean="0">
              <a:solidFill>
                <a:srgbClr val="0066FF"/>
              </a:solidFill>
            </a:endParaRPr>
          </a:p>
          <a:p>
            <a:pPr>
              <a:lnSpc>
                <a:spcPct val="150000"/>
              </a:lnSpc>
            </a:pPr>
            <a:r>
              <a:rPr lang="en-US" sz="2000" dirty="0" smtClean="0">
                <a:solidFill>
                  <a:srgbClr val="0066FF"/>
                </a:solidFill>
              </a:rPr>
              <a:t>}</a:t>
            </a:r>
            <a:endParaRPr kumimoji="0" lang="zh-CN" altLang="en-US" sz="2000" b="1" i="0" u="none" strike="noStrike" kern="0" cap="none" spc="0" normalizeH="0" baseline="0" noProof="0" dirty="0">
              <a:ln>
                <a:noFill/>
              </a:ln>
              <a:solidFill>
                <a:srgbClr val="0066FF"/>
              </a:solidFill>
              <a:effectLst/>
              <a:uLnTx/>
              <a:uFillTx/>
              <a:latin typeface="+mn-lt"/>
              <a:ea typeface="+mn-ea"/>
              <a:cs typeface="+mn-cs"/>
            </a:endParaRPr>
          </a:p>
        </p:txBody>
      </p:sp>
    </p:spTree>
    <p:extLst>
      <p:ext uri="{BB962C8B-B14F-4D97-AF65-F5344CB8AC3E}">
        <p14:creationId xmlns:p14="http://schemas.microsoft.com/office/powerpoint/2010/main" val="253025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浮点数运算</a:t>
            </a:r>
            <a:endParaRPr lang="zh-CN" altLang="en-US" dirty="0"/>
          </a:p>
        </p:txBody>
      </p:sp>
      <p:sp>
        <p:nvSpPr>
          <p:cNvPr id="3" name="内容占位符 2"/>
          <p:cNvSpPr>
            <a:spLocks noGrp="1"/>
          </p:cNvSpPr>
          <p:nvPr>
            <p:ph idx="1"/>
          </p:nvPr>
        </p:nvSpPr>
        <p:spPr>
          <a:xfrm>
            <a:off x="468313" y="836613"/>
            <a:ext cx="8229600" cy="547687"/>
          </a:xfrm>
        </p:spPr>
        <p:txBody>
          <a:bodyPr/>
          <a:lstStyle/>
          <a:p>
            <a:pPr marL="0" lvl="0" indent="0">
              <a:buNone/>
            </a:pPr>
            <a:r>
              <a:rPr lang="zh-CN" altLang="en-US" dirty="0" smtClean="0"/>
              <a:t>计算</a:t>
            </a:r>
            <a:r>
              <a:rPr lang="en-US" dirty="0" smtClean="0"/>
              <a:t>0.5*</a:t>
            </a:r>
            <a:r>
              <a:rPr lang="en-US" i="1" dirty="0" smtClean="0"/>
              <a:t>f</a:t>
            </a:r>
            <a:r>
              <a:rPr lang="zh-CN" altLang="en-US" dirty="0" smtClean="0"/>
              <a:t>。若</a:t>
            </a:r>
            <a:r>
              <a:rPr lang="en-US" i="1" dirty="0" smtClean="0"/>
              <a:t>f</a:t>
            </a:r>
            <a:r>
              <a:rPr lang="zh-CN" altLang="en-US" dirty="0" smtClean="0"/>
              <a:t>为</a:t>
            </a:r>
            <a:r>
              <a:rPr lang="en-US" dirty="0" err="1" smtClean="0"/>
              <a:t>NaN</a:t>
            </a:r>
            <a:r>
              <a:rPr lang="zh-CN" altLang="en-US" dirty="0" smtClean="0"/>
              <a:t>，则返回</a:t>
            </a:r>
            <a:r>
              <a:rPr lang="en-US" i="1" dirty="0" smtClean="0"/>
              <a:t>f</a:t>
            </a:r>
            <a:r>
              <a:rPr lang="zh-CN" altLang="en-US" dirty="0" smtClean="0"/>
              <a:t>，否则返回</a:t>
            </a:r>
            <a:r>
              <a:rPr lang="en-US" dirty="0" smtClean="0"/>
              <a:t>0.5*</a:t>
            </a:r>
            <a:r>
              <a:rPr lang="en-US" i="1" dirty="0" smtClean="0"/>
              <a:t>f</a:t>
            </a:r>
            <a:r>
              <a:rPr lang="zh-CN" altLang="en-US" dirty="0" smtClean="0"/>
              <a:t>。</a:t>
            </a:r>
            <a:endParaRPr lang="zh-CN" altLang="en-US" dirty="0" smtClean="0">
              <a:solidFill>
                <a:srgbClr val="FF0000"/>
              </a:solidFill>
            </a:endParaRPr>
          </a:p>
        </p:txBody>
      </p:sp>
      <p:sp>
        <p:nvSpPr>
          <p:cNvPr id="4" name="内容占位符 2"/>
          <p:cNvSpPr txBox="1">
            <a:spLocks/>
          </p:cNvSpPr>
          <p:nvPr/>
        </p:nvSpPr>
        <p:spPr bwMode="auto">
          <a:xfrm>
            <a:off x="527050" y="1517650"/>
            <a:ext cx="8229600" cy="5340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r>
              <a:rPr lang="en-US" dirty="0" err="1" smtClean="0">
                <a:solidFill>
                  <a:srgbClr val="0066FF"/>
                </a:solidFill>
              </a:rPr>
              <a:t>float_bits</a:t>
            </a:r>
            <a:r>
              <a:rPr lang="en-US" dirty="0" smtClean="0">
                <a:solidFill>
                  <a:srgbClr val="0066FF"/>
                </a:solidFill>
              </a:rPr>
              <a:t> </a:t>
            </a:r>
            <a:r>
              <a:rPr lang="en-US" dirty="0" err="1" smtClean="0">
                <a:solidFill>
                  <a:srgbClr val="0066FF"/>
                </a:solidFill>
              </a:rPr>
              <a:t>float_half</a:t>
            </a:r>
            <a:r>
              <a:rPr lang="en-US" dirty="0" smtClean="0">
                <a:solidFill>
                  <a:srgbClr val="0066FF"/>
                </a:solidFill>
              </a:rPr>
              <a:t>(</a:t>
            </a:r>
            <a:r>
              <a:rPr lang="en-US" dirty="0" err="1" smtClean="0">
                <a:solidFill>
                  <a:srgbClr val="0066FF"/>
                </a:solidFill>
              </a:rPr>
              <a:t>float_bits</a:t>
            </a:r>
            <a:r>
              <a:rPr lang="en-US" dirty="0" smtClean="0">
                <a:solidFill>
                  <a:srgbClr val="0066FF"/>
                </a:solidFill>
              </a:rPr>
              <a:t> f) {</a:t>
            </a:r>
            <a:endParaRPr lang="zh-CN" altLang="en-US" dirty="0" smtClean="0">
              <a:solidFill>
                <a:srgbClr val="0066FF"/>
              </a:solidFill>
            </a:endParaRPr>
          </a:p>
          <a:p>
            <a:r>
              <a:rPr lang="en-US" dirty="0" smtClean="0">
                <a:solidFill>
                  <a:srgbClr val="0066FF"/>
                </a:solidFill>
              </a:rPr>
              <a:t>	unsigned sign=f&gt;&gt;31;</a:t>
            </a:r>
            <a:endParaRPr lang="zh-CN" altLang="en-US" dirty="0" smtClean="0">
              <a:solidFill>
                <a:srgbClr val="0066FF"/>
              </a:solidFill>
            </a:endParaRPr>
          </a:p>
          <a:p>
            <a:r>
              <a:rPr lang="en-US" dirty="0" smtClean="0">
                <a:solidFill>
                  <a:srgbClr val="0066FF"/>
                </a:solidFill>
              </a:rPr>
              <a:t>	unsigned exp=f&gt;&gt;23&amp;0xFF;</a:t>
            </a:r>
            <a:endParaRPr lang="zh-CN" altLang="en-US" dirty="0" smtClean="0">
              <a:solidFill>
                <a:srgbClr val="0066FF"/>
              </a:solidFill>
            </a:endParaRPr>
          </a:p>
          <a:p>
            <a:r>
              <a:rPr lang="en-US" dirty="0" smtClean="0">
                <a:solidFill>
                  <a:srgbClr val="0066FF"/>
                </a:solidFill>
              </a:rPr>
              <a:t>	unsigned </a:t>
            </a:r>
            <a:r>
              <a:rPr lang="en-US" dirty="0" err="1" smtClean="0">
                <a:solidFill>
                  <a:srgbClr val="0066FF"/>
                </a:solidFill>
              </a:rPr>
              <a:t>frac</a:t>
            </a:r>
            <a:r>
              <a:rPr lang="en-US" dirty="0" smtClean="0">
                <a:solidFill>
                  <a:srgbClr val="0066FF"/>
                </a:solidFill>
              </a:rPr>
              <a:t>=f&amp;0x7FFFFF;</a:t>
            </a:r>
            <a:endParaRPr lang="zh-CN" altLang="en-US" dirty="0" smtClean="0">
              <a:solidFill>
                <a:srgbClr val="0066FF"/>
              </a:solidFill>
            </a:endParaRPr>
          </a:p>
          <a:p>
            <a:r>
              <a:rPr lang="en-US" dirty="0" smtClean="0">
                <a:solidFill>
                  <a:srgbClr val="0066FF"/>
                </a:solidFill>
              </a:rPr>
              <a:t>	if (exp==0xFF)&amp;&amp;(</a:t>
            </a:r>
            <a:r>
              <a:rPr lang="en-US" dirty="0" err="1" smtClean="0">
                <a:solidFill>
                  <a:srgbClr val="0066FF"/>
                </a:solidFill>
              </a:rPr>
              <a:t>frac</a:t>
            </a:r>
            <a:r>
              <a:rPr lang="en-US" dirty="0" smtClean="0">
                <a:solidFill>
                  <a:srgbClr val="0066FF"/>
                </a:solidFill>
              </a:rPr>
              <a:t>!=0)  /* f</a:t>
            </a:r>
            <a:r>
              <a:rPr lang="zh-CN" altLang="en-US" dirty="0" smtClean="0">
                <a:solidFill>
                  <a:srgbClr val="0066FF"/>
                </a:solidFill>
              </a:rPr>
              <a:t>为</a:t>
            </a:r>
            <a:r>
              <a:rPr lang="en-US" dirty="0" err="1" smtClean="0">
                <a:solidFill>
                  <a:srgbClr val="0066FF"/>
                </a:solidFill>
              </a:rPr>
              <a:t>NaN</a:t>
            </a:r>
            <a:r>
              <a:rPr lang="en-US" dirty="0" smtClean="0">
                <a:solidFill>
                  <a:srgbClr val="0066FF"/>
                </a:solidFill>
              </a:rPr>
              <a:t> */</a:t>
            </a:r>
            <a:endParaRPr lang="zh-CN" altLang="en-US" dirty="0" smtClean="0">
              <a:solidFill>
                <a:srgbClr val="0066FF"/>
              </a:solidFill>
            </a:endParaRPr>
          </a:p>
          <a:p>
            <a:r>
              <a:rPr lang="en-US" dirty="0" smtClean="0">
                <a:solidFill>
                  <a:srgbClr val="0066FF"/>
                </a:solidFill>
              </a:rPr>
              <a:t>		return f;</a:t>
            </a:r>
            <a:endParaRPr lang="zh-CN" altLang="en-US" dirty="0" smtClean="0">
              <a:solidFill>
                <a:srgbClr val="0066FF"/>
              </a:solidFill>
            </a:endParaRPr>
          </a:p>
          <a:p>
            <a:r>
              <a:rPr lang="en-US" dirty="0" smtClean="0">
                <a:solidFill>
                  <a:srgbClr val="0066FF"/>
                </a:solidFill>
              </a:rPr>
              <a:t>	else if ((exp==0)||(exp==0xFF)) &amp;&amp; (</a:t>
            </a:r>
            <a:r>
              <a:rPr lang="en-US" dirty="0" err="1" smtClean="0">
                <a:solidFill>
                  <a:srgbClr val="0066FF"/>
                </a:solidFill>
              </a:rPr>
              <a:t>frac</a:t>
            </a:r>
            <a:r>
              <a:rPr lang="en-US" dirty="0" smtClean="0">
                <a:solidFill>
                  <a:srgbClr val="0066FF"/>
                </a:solidFill>
              </a:rPr>
              <a:t>==0)  /* f</a:t>
            </a:r>
            <a:r>
              <a:rPr lang="zh-CN" altLang="en-US" dirty="0" smtClean="0">
                <a:solidFill>
                  <a:srgbClr val="0066FF"/>
                </a:solidFill>
              </a:rPr>
              <a:t>为</a:t>
            </a:r>
            <a:r>
              <a:rPr lang="en-US" dirty="0" smtClean="0">
                <a:solidFill>
                  <a:srgbClr val="0066FF"/>
                </a:solidFill>
              </a:rPr>
              <a:t>0 </a:t>
            </a:r>
            <a:r>
              <a:rPr lang="zh-CN" altLang="en-US" dirty="0" smtClean="0">
                <a:solidFill>
                  <a:srgbClr val="0066FF"/>
                </a:solidFill>
              </a:rPr>
              <a:t>或∞</a:t>
            </a:r>
            <a:r>
              <a:rPr lang="en-US" dirty="0" smtClean="0">
                <a:solidFill>
                  <a:srgbClr val="0066FF"/>
                </a:solidFill>
              </a:rPr>
              <a:t>*/</a:t>
            </a:r>
            <a:endParaRPr lang="zh-CN" altLang="en-US" dirty="0" smtClean="0">
              <a:solidFill>
                <a:srgbClr val="0066FF"/>
              </a:solidFill>
            </a:endParaRPr>
          </a:p>
          <a:p>
            <a:r>
              <a:rPr lang="en-US" dirty="0" smtClean="0">
                <a:solidFill>
                  <a:srgbClr val="0066FF"/>
                </a:solidFill>
              </a:rPr>
              <a:t>		return f;</a:t>
            </a:r>
            <a:endParaRPr lang="zh-CN" altLang="en-US" dirty="0" smtClean="0">
              <a:solidFill>
                <a:srgbClr val="0066FF"/>
              </a:solidFill>
            </a:endParaRPr>
          </a:p>
          <a:p>
            <a:r>
              <a:rPr lang="en-US" dirty="0" smtClean="0">
                <a:solidFill>
                  <a:srgbClr val="0066FF"/>
                </a:solidFill>
              </a:rPr>
              <a:t>	else if (exp==0) &amp;&amp; (</a:t>
            </a:r>
            <a:r>
              <a:rPr lang="en-US" dirty="0" err="1" smtClean="0">
                <a:solidFill>
                  <a:srgbClr val="0066FF"/>
                </a:solidFill>
              </a:rPr>
              <a:t>frac</a:t>
            </a:r>
            <a:r>
              <a:rPr lang="en-US" dirty="0" smtClean="0">
                <a:solidFill>
                  <a:srgbClr val="0066FF"/>
                </a:solidFill>
              </a:rPr>
              <a:t>!=0)  /* f</a:t>
            </a:r>
            <a:r>
              <a:rPr lang="zh-CN" altLang="en-US" dirty="0" smtClean="0">
                <a:solidFill>
                  <a:srgbClr val="0066FF"/>
                </a:solidFill>
              </a:rPr>
              <a:t>为非规格化数</a:t>
            </a:r>
            <a:r>
              <a:rPr lang="en-US" dirty="0" smtClean="0">
                <a:solidFill>
                  <a:srgbClr val="0066FF"/>
                </a:solidFill>
              </a:rPr>
              <a:t> */</a:t>
            </a:r>
            <a:endParaRPr lang="zh-CN" altLang="en-US" dirty="0" smtClean="0">
              <a:solidFill>
                <a:srgbClr val="0066FF"/>
              </a:solidFill>
            </a:endParaRPr>
          </a:p>
          <a:p>
            <a:r>
              <a:rPr lang="en-US" dirty="0" smtClean="0">
                <a:solidFill>
                  <a:srgbClr val="0066FF"/>
                </a:solidFill>
              </a:rPr>
              <a:t>		return sign&lt;&lt;31 | </a:t>
            </a:r>
            <a:r>
              <a:rPr lang="en-US" dirty="0" err="1" smtClean="0">
                <a:solidFill>
                  <a:srgbClr val="0066FF"/>
                </a:solidFill>
              </a:rPr>
              <a:t>frac</a:t>
            </a:r>
            <a:r>
              <a:rPr lang="en-US" dirty="0" smtClean="0">
                <a:solidFill>
                  <a:srgbClr val="0066FF"/>
                </a:solidFill>
              </a:rPr>
              <a:t>&gt;&gt;1;</a:t>
            </a:r>
            <a:endParaRPr lang="zh-CN" altLang="en-US" dirty="0" smtClean="0">
              <a:solidFill>
                <a:srgbClr val="0066FF"/>
              </a:solidFill>
            </a:endParaRPr>
          </a:p>
          <a:p>
            <a:r>
              <a:rPr lang="en-US" dirty="0" smtClean="0">
                <a:solidFill>
                  <a:srgbClr val="0066FF"/>
                </a:solidFill>
              </a:rPr>
              <a:t>	else {  /* f</a:t>
            </a:r>
            <a:r>
              <a:rPr lang="zh-CN" altLang="en-US" dirty="0" smtClean="0">
                <a:solidFill>
                  <a:srgbClr val="0066FF"/>
                </a:solidFill>
              </a:rPr>
              <a:t>为规格化数</a:t>
            </a:r>
            <a:r>
              <a:rPr lang="en-US" dirty="0" smtClean="0">
                <a:solidFill>
                  <a:srgbClr val="0066FF"/>
                </a:solidFill>
              </a:rPr>
              <a:t> */</a:t>
            </a:r>
            <a:endParaRPr lang="zh-CN" altLang="en-US" dirty="0" smtClean="0">
              <a:solidFill>
                <a:srgbClr val="0066FF"/>
              </a:solidFill>
            </a:endParaRPr>
          </a:p>
          <a:p>
            <a:r>
              <a:rPr lang="en-US" dirty="0" smtClean="0">
                <a:solidFill>
                  <a:srgbClr val="0066FF"/>
                </a:solidFill>
              </a:rPr>
              <a:t>		exp=exp+0xFF;</a:t>
            </a:r>
            <a:endParaRPr lang="zh-CN" altLang="en-US" dirty="0" smtClean="0">
              <a:solidFill>
                <a:srgbClr val="0066FF"/>
              </a:solidFill>
            </a:endParaRPr>
          </a:p>
          <a:p>
            <a:r>
              <a:rPr lang="en-US" dirty="0" smtClean="0">
                <a:solidFill>
                  <a:srgbClr val="0066FF"/>
                </a:solidFill>
              </a:rPr>
              <a:t>		if (exp!=0)  /* 0.5*f</a:t>
            </a:r>
            <a:r>
              <a:rPr lang="zh-CN" altLang="en-US" dirty="0" smtClean="0">
                <a:solidFill>
                  <a:srgbClr val="0066FF"/>
                </a:solidFill>
              </a:rPr>
              <a:t>为规格化数</a:t>
            </a:r>
            <a:r>
              <a:rPr lang="en-US" dirty="0" smtClean="0">
                <a:solidFill>
                  <a:srgbClr val="0066FF"/>
                </a:solidFill>
              </a:rPr>
              <a:t>*/</a:t>
            </a:r>
            <a:endParaRPr lang="zh-CN" altLang="en-US" dirty="0" smtClean="0">
              <a:solidFill>
                <a:srgbClr val="0066FF"/>
              </a:solidFill>
            </a:endParaRPr>
          </a:p>
          <a:p>
            <a:r>
              <a:rPr lang="en-US" dirty="0" smtClean="0">
                <a:solidFill>
                  <a:srgbClr val="0066FF"/>
                </a:solidFill>
              </a:rPr>
              <a:t>			return  sign&lt;&lt;31 | exp &lt;&lt; 23 | </a:t>
            </a:r>
            <a:r>
              <a:rPr lang="en-US" dirty="0" err="1" smtClean="0">
                <a:solidFill>
                  <a:srgbClr val="0066FF"/>
                </a:solidFill>
              </a:rPr>
              <a:t>frac</a:t>
            </a:r>
            <a:r>
              <a:rPr lang="en-US" dirty="0" smtClean="0">
                <a:solidFill>
                  <a:srgbClr val="0066FF"/>
                </a:solidFill>
              </a:rPr>
              <a:t>;</a:t>
            </a:r>
            <a:endParaRPr lang="zh-CN" altLang="en-US" dirty="0" smtClean="0">
              <a:solidFill>
                <a:srgbClr val="0066FF"/>
              </a:solidFill>
            </a:endParaRPr>
          </a:p>
          <a:p>
            <a:r>
              <a:rPr lang="en-US" dirty="0" smtClean="0">
                <a:solidFill>
                  <a:srgbClr val="0066FF"/>
                </a:solidFill>
              </a:rPr>
              <a:t>		else  /* 0.5*f</a:t>
            </a:r>
            <a:r>
              <a:rPr lang="zh-CN" altLang="en-US" dirty="0" smtClean="0">
                <a:solidFill>
                  <a:srgbClr val="0066FF"/>
                </a:solidFill>
              </a:rPr>
              <a:t>为非规格化数</a:t>
            </a:r>
            <a:r>
              <a:rPr lang="en-US" dirty="0" smtClean="0">
                <a:solidFill>
                  <a:srgbClr val="0066FF"/>
                </a:solidFill>
              </a:rPr>
              <a:t>*/</a:t>
            </a:r>
            <a:endParaRPr lang="zh-CN" altLang="en-US" dirty="0" smtClean="0">
              <a:solidFill>
                <a:srgbClr val="0066FF"/>
              </a:solidFill>
            </a:endParaRPr>
          </a:p>
          <a:p>
            <a:r>
              <a:rPr lang="en-US" dirty="0" smtClean="0">
                <a:solidFill>
                  <a:srgbClr val="0066FF"/>
                </a:solidFill>
              </a:rPr>
              <a:t>			return sign&lt;&lt;31 | (</a:t>
            </a:r>
            <a:r>
              <a:rPr lang="en-US" dirty="0" err="1" smtClean="0">
                <a:solidFill>
                  <a:srgbClr val="0066FF"/>
                </a:solidFill>
              </a:rPr>
              <a:t>frac</a:t>
            </a:r>
            <a:r>
              <a:rPr lang="en-US" dirty="0" smtClean="0">
                <a:solidFill>
                  <a:srgbClr val="0066FF"/>
                </a:solidFill>
              </a:rPr>
              <a:t> | 0x800000)&gt;&gt;1;</a:t>
            </a:r>
            <a:endParaRPr lang="zh-CN" altLang="en-US" dirty="0" smtClean="0">
              <a:solidFill>
                <a:srgbClr val="0066FF"/>
              </a:solidFill>
            </a:endParaRPr>
          </a:p>
          <a:p>
            <a:r>
              <a:rPr lang="en-US" dirty="0" smtClean="0">
                <a:solidFill>
                  <a:srgbClr val="0066FF"/>
                </a:solidFill>
              </a:rPr>
              <a:t>		}</a:t>
            </a:r>
            <a:endParaRPr lang="zh-CN" altLang="en-US" dirty="0" smtClean="0">
              <a:solidFill>
                <a:srgbClr val="0066FF"/>
              </a:solidFill>
            </a:endParaRPr>
          </a:p>
          <a:p>
            <a:r>
              <a:rPr lang="en-US" dirty="0" smtClean="0">
                <a:solidFill>
                  <a:srgbClr val="0066FF"/>
                </a:solidFill>
              </a:rPr>
              <a:t>}</a:t>
            </a:r>
            <a:endParaRPr kumimoji="0" lang="zh-CN" altLang="en-US" b="1" i="0" u="none" strike="noStrike" kern="0" cap="none" spc="0" normalizeH="0" baseline="0" noProof="0" dirty="0">
              <a:ln>
                <a:noFill/>
              </a:ln>
              <a:solidFill>
                <a:srgbClr val="0066FF"/>
              </a:solidFill>
              <a:effectLst/>
              <a:uLnTx/>
              <a:uFillTx/>
              <a:latin typeface="+mn-lt"/>
              <a:ea typeface="+mn-ea"/>
              <a:cs typeface="+mn-cs"/>
            </a:endParaRPr>
          </a:p>
        </p:txBody>
      </p:sp>
    </p:spTree>
    <p:extLst>
      <p:ext uri="{BB962C8B-B14F-4D97-AF65-F5344CB8AC3E}">
        <p14:creationId xmlns:p14="http://schemas.microsoft.com/office/powerpoint/2010/main" val="368920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浮点数运算</a:t>
            </a:r>
            <a:endParaRPr lang="zh-CN" altLang="en-US" dirty="0"/>
          </a:p>
        </p:txBody>
      </p:sp>
      <p:sp>
        <p:nvSpPr>
          <p:cNvPr id="3" name="内容占位符 2"/>
          <p:cNvSpPr>
            <a:spLocks noGrp="1"/>
          </p:cNvSpPr>
          <p:nvPr>
            <p:ph idx="1"/>
          </p:nvPr>
        </p:nvSpPr>
        <p:spPr>
          <a:xfrm>
            <a:off x="468313" y="836613"/>
            <a:ext cx="8229600" cy="547687"/>
          </a:xfrm>
        </p:spPr>
        <p:txBody>
          <a:bodyPr/>
          <a:lstStyle/>
          <a:p>
            <a:pPr marL="0" lvl="0" indent="0">
              <a:buNone/>
            </a:pPr>
            <a:r>
              <a:rPr lang="zh-CN" altLang="en-US" dirty="0" smtClean="0"/>
              <a:t>计算</a:t>
            </a:r>
            <a:r>
              <a:rPr lang="en-US" dirty="0" smtClean="0"/>
              <a:t>2.0*</a:t>
            </a:r>
            <a:r>
              <a:rPr lang="en-US" i="1" dirty="0" smtClean="0"/>
              <a:t>f</a:t>
            </a:r>
            <a:r>
              <a:rPr lang="zh-CN" altLang="en-US" dirty="0" smtClean="0"/>
              <a:t>。若</a:t>
            </a:r>
            <a:r>
              <a:rPr lang="en-US" i="1" dirty="0" smtClean="0"/>
              <a:t>f</a:t>
            </a:r>
            <a:r>
              <a:rPr lang="zh-CN" altLang="en-US" dirty="0" smtClean="0"/>
              <a:t>为</a:t>
            </a:r>
            <a:r>
              <a:rPr lang="en-US" dirty="0" err="1" smtClean="0"/>
              <a:t>NaN</a:t>
            </a:r>
            <a:r>
              <a:rPr lang="zh-CN" altLang="en-US" dirty="0" smtClean="0"/>
              <a:t>，则返回</a:t>
            </a:r>
            <a:r>
              <a:rPr lang="en-US" i="1" dirty="0" smtClean="0"/>
              <a:t>f</a:t>
            </a:r>
            <a:r>
              <a:rPr lang="zh-CN" altLang="en-US" dirty="0" smtClean="0"/>
              <a:t>，否则返回</a:t>
            </a:r>
            <a:r>
              <a:rPr lang="en-US" dirty="0" smtClean="0"/>
              <a:t>2.0*</a:t>
            </a:r>
            <a:r>
              <a:rPr lang="en-US" i="1" dirty="0" smtClean="0"/>
              <a:t>f</a:t>
            </a:r>
            <a:r>
              <a:rPr lang="zh-CN" altLang="en-US" dirty="0" smtClean="0"/>
              <a:t>。</a:t>
            </a:r>
            <a:endParaRPr lang="zh-CN" altLang="en-US" dirty="0" smtClean="0">
              <a:solidFill>
                <a:srgbClr val="FF0000"/>
              </a:solidFill>
            </a:endParaRPr>
          </a:p>
        </p:txBody>
      </p:sp>
      <p:sp>
        <p:nvSpPr>
          <p:cNvPr id="4" name="内容占位符 2"/>
          <p:cNvSpPr txBox="1">
            <a:spLocks/>
          </p:cNvSpPr>
          <p:nvPr/>
        </p:nvSpPr>
        <p:spPr bwMode="auto">
          <a:xfrm>
            <a:off x="527050" y="1517650"/>
            <a:ext cx="8229600" cy="5340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r>
              <a:rPr lang="en-US" sz="1600" dirty="0" err="1" smtClean="0">
                <a:solidFill>
                  <a:srgbClr val="0066FF"/>
                </a:solidFill>
              </a:rPr>
              <a:t>float_bits</a:t>
            </a:r>
            <a:r>
              <a:rPr lang="en-US" sz="1600" dirty="0" smtClean="0">
                <a:solidFill>
                  <a:srgbClr val="0066FF"/>
                </a:solidFill>
              </a:rPr>
              <a:t> </a:t>
            </a:r>
            <a:r>
              <a:rPr lang="en-US" sz="1600" dirty="0" err="1" smtClean="0">
                <a:solidFill>
                  <a:srgbClr val="0066FF"/>
                </a:solidFill>
              </a:rPr>
              <a:t>float_twice</a:t>
            </a:r>
            <a:r>
              <a:rPr lang="en-US" sz="1600" dirty="0" smtClean="0">
                <a:solidFill>
                  <a:srgbClr val="0066FF"/>
                </a:solidFill>
              </a:rPr>
              <a:t>(</a:t>
            </a:r>
            <a:r>
              <a:rPr lang="en-US" sz="1600" dirty="0" err="1" smtClean="0">
                <a:solidFill>
                  <a:srgbClr val="0066FF"/>
                </a:solidFill>
              </a:rPr>
              <a:t>float_bits</a:t>
            </a:r>
            <a:r>
              <a:rPr lang="en-US" sz="1600" dirty="0" smtClean="0">
                <a:solidFill>
                  <a:srgbClr val="0066FF"/>
                </a:solidFill>
              </a:rPr>
              <a:t> f) {</a:t>
            </a:r>
            <a:endParaRPr lang="zh-CN" altLang="en-US" sz="1600" dirty="0" smtClean="0">
              <a:solidFill>
                <a:srgbClr val="0066FF"/>
              </a:solidFill>
            </a:endParaRPr>
          </a:p>
          <a:p>
            <a:r>
              <a:rPr lang="en-US" sz="1600" dirty="0" smtClean="0">
                <a:solidFill>
                  <a:srgbClr val="0066FF"/>
                </a:solidFill>
              </a:rPr>
              <a:t>    unsigned sign=f&gt;&gt;31;</a:t>
            </a:r>
            <a:endParaRPr lang="zh-CN" altLang="en-US" sz="1600" dirty="0" smtClean="0">
              <a:solidFill>
                <a:srgbClr val="0066FF"/>
              </a:solidFill>
            </a:endParaRPr>
          </a:p>
          <a:p>
            <a:r>
              <a:rPr lang="en-US" sz="1600" dirty="0" smtClean="0">
                <a:solidFill>
                  <a:srgbClr val="0066FF"/>
                </a:solidFill>
              </a:rPr>
              <a:t>    unsigned exp=f&gt;&gt;23&amp;0xFF;</a:t>
            </a:r>
            <a:endParaRPr lang="zh-CN" altLang="en-US" sz="1600" dirty="0" smtClean="0">
              <a:solidFill>
                <a:srgbClr val="0066FF"/>
              </a:solidFill>
            </a:endParaRPr>
          </a:p>
          <a:p>
            <a:r>
              <a:rPr lang="en-US" sz="1600" dirty="0" smtClean="0">
                <a:solidFill>
                  <a:srgbClr val="0066FF"/>
                </a:solidFill>
              </a:rPr>
              <a:t>    unsigned </a:t>
            </a:r>
            <a:r>
              <a:rPr lang="en-US" sz="1600" dirty="0" err="1" smtClean="0">
                <a:solidFill>
                  <a:srgbClr val="0066FF"/>
                </a:solidFill>
              </a:rPr>
              <a:t>frac</a:t>
            </a:r>
            <a:r>
              <a:rPr lang="en-US" sz="1600" dirty="0" smtClean="0">
                <a:solidFill>
                  <a:srgbClr val="0066FF"/>
                </a:solidFill>
              </a:rPr>
              <a:t>=f&amp;0x7FFFFF;</a:t>
            </a:r>
            <a:endParaRPr lang="zh-CN" altLang="en-US" sz="1600" dirty="0" smtClean="0">
              <a:solidFill>
                <a:srgbClr val="0066FF"/>
              </a:solidFill>
            </a:endParaRPr>
          </a:p>
          <a:p>
            <a:r>
              <a:rPr lang="en-US" sz="1600" dirty="0" smtClean="0">
                <a:solidFill>
                  <a:srgbClr val="0066FF"/>
                </a:solidFill>
              </a:rPr>
              <a:t>    if (exp==0xFF)&amp;&amp;(</a:t>
            </a:r>
            <a:r>
              <a:rPr lang="en-US" sz="1600" dirty="0" err="1" smtClean="0">
                <a:solidFill>
                  <a:srgbClr val="0066FF"/>
                </a:solidFill>
              </a:rPr>
              <a:t>frac</a:t>
            </a:r>
            <a:r>
              <a:rPr lang="en-US" sz="1600" dirty="0" smtClean="0">
                <a:solidFill>
                  <a:srgbClr val="0066FF"/>
                </a:solidFill>
              </a:rPr>
              <a:t>!=0)  /* f</a:t>
            </a:r>
            <a:r>
              <a:rPr lang="zh-CN" altLang="en-US" sz="1600" dirty="0" smtClean="0">
                <a:solidFill>
                  <a:srgbClr val="0066FF"/>
                </a:solidFill>
              </a:rPr>
              <a:t>为</a:t>
            </a:r>
            <a:r>
              <a:rPr lang="en-US" sz="1600" dirty="0" err="1" smtClean="0">
                <a:solidFill>
                  <a:srgbClr val="0066FF"/>
                </a:solidFill>
              </a:rPr>
              <a:t>NaN</a:t>
            </a:r>
            <a:r>
              <a:rPr lang="en-US" sz="1600" dirty="0" smtClean="0">
                <a:solidFill>
                  <a:srgbClr val="0066FF"/>
                </a:solidFill>
              </a:rPr>
              <a:t> */</a:t>
            </a:r>
            <a:endParaRPr lang="zh-CN" altLang="en-US" sz="1600" dirty="0" smtClean="0">
              <a:solidFill>
                <a:srgbClr val="0066FF"/>
              </a:solidFill>
            </a:endParaRPr>
          </a:p>
          <a:p>
            <a:r>
              <a:rPr lang="en-US" sz="1600" dirty="0" smtClean="0">
                <a:solidFill>
                  <a:srgbClr val="0066FF"/>
                </a:solidFill>
              </a:rPr>
              <a:t>        return f;</a:t>
            </a:r>
            <a:endParaRPr lang="zh-CN" altLang="en-US" sz="1600" dirty="0" smtClean="0">
              <a:solidFill>
                <a:srgbClr val="0066FF"/>
              </a:solidFill>
            </a:endParaRPr>
          </a:p>
          <a:p>
            <a:r>
              <a:rPr lang="en-US" sz="1600" dirty="0" smtClean="0">
                <a:solidFill>
                  <a:srgbClr val="0066FF"/>
                </a:solidFill>
              </a:rPr>
              <a:t>    else if ((exp==0)||(exp==0xFF)) &amp;&amp; (</a:t>
            </a:r>
            <a:r>
              <a:rPr lang="en-US" sz="1600" dirty="0" err="1" smtClean="0">
                <a:solidFill>
                  <a:srgbClr val="0066FF"/>
                </a:solidFill>
              </a:rPr>
              <a:t>frac</a:t>
            </a:r>
            <a:r>
              <a:rPr lang="en-US" sz="1600" dirty="0" smtClean="0">
                <a:solidFill>
                  <a:srgbClr val="0066FF"/>
                </a:solidFill>
              </a:rPr>
              <a:t>==0)  /* f</a:t>
            </a:r>
            <a:r>
              <a:rPr lang="zh-CN" altLang="en-US" sz="1600" dirty="0" smtClean="0">
                <a:solidFill>
                  <a:srgbClr val="0066FF"/>
                </a:solidFill>
              </a:rPr>
              <a:t>为</a:t>
            </a:r>
            <a:r>
              <a:rPr lang="en-US" sz="1600" dirty="0" smtClean="0">
                <a:solidFill>
                  <a:srgbClr val="0066FF"/>
                </a:solidFill>
              </a:rPr>
              <a:t>0 </a:t>
            </a:r>
            <a:r>
              <a:rPr lang="zh-CN" altLang="en-US" sz="1600" dirty="0" smtClean="0">
                <a:solidFill>
                  <a:srgbClr val="0066FF"/>
                </a:solidFill>
              </a:rPr>
              <a:t>或∞</a:t>
            </a:r>
            <a:r>
              <a:rPr lang="en-US" sz="1600" dirty="0" smtClean="0">
                <a:solidFill>
                  <a:srgbClr val="0066FF"/>
                </a:solidFill>
              </a:rPr>
              <a:t>*/</a:t>
            </a:r>
            <a:endParaRPr lang="zh-CN" altLang="en-US" sz="1600" dirty="0" smtClean="0">
              <a:solidFill>
                <a:srgbClr val="0066FF"/>
              </a:solidFill>
            </a:endParaRPr>
          </a:p>
          <a:p>
            <a:r>
              <a:rPr lang="en-US" sz="1600" dirty="0" smtClean="0">
                <a:solidFill>
                  <a:srgbClr val="0066FF"/>
                </a:solidFill>
              </a:rPr>
              <a:t>        return f;</a:t>
            </a:r>
            <a:endParaRPr lang="zh-CN" altLang="en-US" sz="1600" dirty="0" smtClean="0">
              <a:solidFill>
                <a:srgbClr val="0066FF"/>
              </a:solidFill>
            </a:endParaRPr>
          </a:p>
          <a:p>
            <a:r>
              <a:rPr lang="en-US" sz="1600" dirty="0" smtClean="0">
                <a:solidFill>
                  <a:srgbClr val="0066FF"/>
                </a:solidFill>
              </a:rPr>
              <a:t>    else if (exp==0) &amp;&amp; (</a:t>
            </a:r>
            <a:r>
              <a:rPr lang="en-US" sz="1600" dirty="0" err="1" smtClean="0">
                <a:solidFill>
                  <a:srgbClr val="0066FF"/>
                </a:solidFill>
              </a:rPr>
              <a:t>frac</a:t>
            </a:r>
            <a:r>
              <a:rPr lang="en-US" sz="1600" dirty="0" smtClean="0">
                <a:solidFill>
                  <a:srgbClr val="0066FF"/>
                </a:solidFill>
              </a:rPr>
              <a:t>!=0)  {  /* f</a:t>
            </a:r>
            <a:r>
              <a:rPr lang="zh-CN" altLang="en-US" sz="1600" dirty="0" smtClean="0">
                <a:solidFill>
                  <a:srgbClr val="0066FF"/>
                </a:solidFill>
              </a:rPr>
              <a:t>为非规格化数</a:t>
            </a:r>
            <a:r>
              <a:rPr lang="en-US" sz="1600" dirty="0" smtClean="0">
                <a:solidFill>
                  <a:srgbClr val="0066FF"/>
                </a:solidFill>
              </a:rPr>
              <a:t> */</a:t>
            </a:r>
          </a:p>
          <a:p>
            <a:r>
              <a:rPr lang="en-US" sz="1600" dirty="0" smtClean="0">
                <a:solidFill>
                  <a:srgbClr val="0066FF"/>
                </a:solidFill>
              </a:rPr>
              <a:t>        if (frac&amp;0x400000)  /* f</a:t>
            </a:r>
            <a:r>
              <a:rPr lang="zh-CN" altLang="en-US" sz="1600" dirty="0" smtClean="0">
                <a:solidFill>
                  <a:srgbClr val="0066FF"/>
                </a:solidFill>
              </a:rPr>
              <a:t>的尾数第一位为</a:t>
            </a:r>
            <a:r>
              <a:rPr lang="en-US" sz="1600" dirty="0" smtClean="0">
                <a:solidFill>
                  <a:srgbClr val="0066FF"/>
                </a:solidFill>
              </a:rPr>
              <a:t>1 */</a:t>
            </a:r>
            <a:endParaRPr lang="zh-CN" altLang="en-US" sz="1600" dirty="0" smtClean="0">
              <a:solidFill>
                <a:srgbClr val="0066FF"/>
              </a:solidFill>
            </a:endParaRPr>
          </a:p>
          <a:p>
            <a:r>
              <a:rPr lang="en-US" sz="1600" dirty="0" smtClean="0">
                <a:solidFill>
                  <a:srgbClr val="0066FF"/>
                </a:solidFill>
              </a:rPr>
              <a:t>            return sign&lt;&lt;31 | 1&lt;&lt;23 | (frac&amp;0x3FFFFF)&lt;&lt;1;</a:t>
            </a:r>
            <a:endParaRPr lang="zh-CN" altLang="en-US" sz="1600" dirty="0" smtClean="0">
              <a:solidFill>
                <a:srgbClr val="0066FF"/>
              </a:solidFill>
            </a:endParaRPr>
          </a:p>
          <a:p>
            <a:r>
              <a:rPr lang="en-US" sz="1600" dirty="0" smtClean="0">
                <a:solidFill>
                  <a:srgbClr val="0066FF"/>
                </a:solidFill>
              </a:rPr>
              <a:t>        else  /* f</a:t>
            </a:r>
            <a:r>
              <a:rPr lang="zh-CN" altLang="en-US" sz="1600" dirty="0" smtClean="0">
                <a:solidFill>
                  <a:srgbClr val="0066FF"/>
                </a:solidFill>
              </a:rPr>
              <a:t>的尾数第一位为</a:t>
            </a:r>
            <a:r>
              <a:rPr lang="en-US" sz="1600" dirty="0" smtClean="0">
                <a:solidFill>
                  <a:srgbClr val="0066FF"/>
                </a:solidFill>
              </a:rPr>
              <a:t>0 */</a:t>
            </a:r>
            <a:endParaRPr lang="zh-CN" altLang="en-US" sz="1600" dirty="0" smtClean="0">
              <a:solidFill>
                <a:srgbClr val="0066FF"/>
              </a:solidFill>
            </a:endParaRPr>
          </a:p>
          <a:p>
            <a:r>
              <a:rPr lang="en-US" sz="1600" dirty="0" smtClean="0">
                <a:solidFill>
                  <a:srgbClr val="0066FF"/>
                </a:solidFill>
              </a:rPr>
              <a:t>            return sign&lt;&lt;31 | </a:t>
            </a:r>
            <a:r>
              <a:rPr lang="en-US" sz="1600" dirty="0" err="1" smtClean="0">
                <a:solidFill>
                  <a:srgbClr val="0066FF"/>
                </a:solidFill>
              </a:rPr>
              <a:t>frac</a:t>
            </a:r>
            <a:r>
              <a:rPr lang="en-US" sz="1600" dirty="0" smtClean="0">
                <a:solidFill>
                  <a:srgbClr val="0066FF"/>
                </a:solidFill>
              </a:rPr>
              <a:t>&lt;&lt;1;</a:t>
            </a:r>
            <a:endParaRPr lang="zh-CN" altLang="en-US" sz="1600" dirty="0" smtClean="0">
              <a:solidFill>
                <a:srgbClr val="0066FF"/>
              </a:solidFill>
            </a:endParaRPr>
          </a:p>
          <a:p>
            <a:r>
              <a:rPr lang="en-US" sz="1600" dirty="0" smtClean="0">
                <a:solidFill>
                  <a:srgbClr val="0066FF"/>
                </a:solidFill>
              </a:rPr>
              <a:t>        }</a:t>
            </a:r>
            <a:endParaRPr lang="zh-CN" altLang="en-US" sz="1600" dirty="0" smtClean="0">
              <a:solidFill>
                <a:srgbClr val="0066FF"/>
              </a:solidFill>
            </a:endParaRPr>
          </a:p>
          <a:p>
            <a:r>
              <a:rPr lang="en-US" sz="1600" dirty="0" smtClean="0">
                <a:solidFill>
                  <a:srgbClr val="0066FF"/>
                </a:solidFill>
              </a:rPr>
              <a:t>    else {  /* f</a:t>
            </a:r>
            <a:r>
              <a:rPr lang="zh-CN" altLang="en-US" sz="1600" dirty="0" smtClean="0">
                <a:solidFill>
                  <a:srgbClr val="0066FF"/>
                </a:solidFill>
              </a:rPr>
              <a:t>为规格化数</a:t>
            </a:r>
            <a:r>
              <a:rPr lang="en-US" sz="1600" dirty="0" smtClean="0">
                <a:solidFill>
                  <a:srgbClr val="0066FF"/>
                </a:solidFill>
              </a:rPr>
              <a:t> */</a:t>
            </a:r>
            <a:endParaRPr lang="zh-CN" altLang="en-US" sz="1600" dirty="0" smtClean="0">
              <a:solidFill>
                <a:srgbClr val="0066FF"/>
              </a:solidFill>
            </a:endParaRPr>
          </a:p>
          <a:p>
            <a:r>
              <a:rPr lang="en-US" sz="1600" dirty="0" smtClean="0">
                <a:solidFill>
                  <a:srgbClr val="0066FF"/>
                </a:solidFill>
              </a:rPr>
              <a:t>        exp=exp+0x01;</a:t>
            </a:r>
            <a:endParaRPr lang="zh-CN" altLang="en-US" sz="1600" dirty="0" smtClean="0">
              <a:solidFill>
                <a:srgbClr val="0066FF"/>
              </a:solidFill>
            </a:endParaRPr>
          </a:p>
          <a:p>
            <a:r>
              <a:rPr lang="en-US" sz="1600" dirty="0" smtClean="0">
                <a:solidFill>
                  <a:srgbClr val="0066FF"/>
                </a:solidFill>
              </a:rPr>
              <a:t>        if (exp!=0xFF)  /* 2.0*f</a:t>
            </a:r>
            <a:r>
              <a:rPr lang="zh-CN" altLang="en-US" sz="1600" dirty="0" smtClean="0">
                <a:solidFill>
                  <a:srgbClr val="0066FF"/>
                </a:solidFill>
              </a:rPr>
              <a:t>为规格化数</a:t>
            </a:r>
            <a:r>
              <a:rPr lang="en-US" sz="1600" dirty="0" smtClean="0">
                <a:solidFill>
                  <a:srgbClr val="0066FF"/>
                </a:solidFill>
              </a:rPr>
              <a:t> */</a:t>
            </a:r>
            <a:endParaRPr lang="zh-CN" altLang="en-US" sz="1600" dirty="0" smtClean="0">
              <a:solidFill>
                <a:srgbClr val="0066FF"/>
              </a:solidFill>
            </a:endParaRPr>
          </a:p>
          <a:p>
            <a:r>
              <a:rPr lang="en-US" sz="1600" dirty="0" smtClean="0">
                <a:solidFill>
                  <a:srgbClr val="0066FF"/>
                </a:solidFill>
              </a:rPr>
              <a:t>            return  sign&lt;&lt;31 | exp &lt;&lt; 23 | </a:t>
            </a:r>
            <a:r>
              <a:rPr lang="en-US" sz="1600" dirty="0" err="1" smtClean="0">
                <a:solidFill>
                  <a:srgbClr val="0066FF"/>
                </a:solidFill>
              </a:rPr>
              <a:t>frac</a:t>
            </a:r>
            <a:r>
              <a:rPr lang="en-US" sz="1600" dirty="0" smtClean="0">
                <a:solidFill>
                  <a:srgbClr val="0066FF"/>
                </a:solidFill>
              </a:rPr>
              <a:t>;</a:t>
            </a:r>
            <a:endParaRPr lang="zh-CN" altLang="en-US" sz="1600" dirty="0" smtClean="0">
              <a:solidFill>
                <a:srgbClr val="0066FF"/>
              </a:solidFill>
            </a:endParaRPr>
          </a:p>
          <a:p>
            <a:r>
              <a:rPr lang="en-US" sz="1600" dirty="0" smtClean="0">
                <a:solidFill>
                  <a:srgbClr val="0066FF"/>
                </a:solidFill>
              </a:rPr>
              <a:t>        else  /* 2.0*f</a:t>
            </a:r>
            <a:r>
              <a:rPr lang="zh-CN" altLang="en-US" sz="1600" dirty="0" smtClean="0">
                <a:solidFill>
                  <a:srgbClr val="0066FF"/>
                </a:solidFill>
              </a:rPr>
              <a:t>发生阶码溢出</a:t>
            </a:r>
            <a:r>
              <a:rPr lang="en-US" sz="1600" dirty="0" smtClean="0">
                <a:solidFill>
                  <a:srgbClr val="0066FF"/>
                </a:solidFill>
              </a:rPr>
              <a:t>*/</a:t>
            </a:r>
            <a:endParaRPr lang="zh-CN" altLang="en-US" sz="1600" dirty="0" smtClean="0">
              <a:solidFill>
                <a:srgbClr val="0066FF"/>
              </a:solidFill>
            </a:endParaRPr>
          </a:p>
          <a:p>
            <a:r>
              <a:rPr lang="en-US" sz="1600" dirty="0" smtClean="0">
                <a:solidFill>
                  <a:srgbClr val="0066FF"/>
                </a:solidFill>
              </a:rPr>
              <a:t>            return sign&lt;&lt;31 | exp&lt;&lt;23 ;</a:t>
            </a:r>
          </a:p>
          <a:p>
            <a:r>
              <a:rPr lang="en-US" sz="1600" dirty="0" smtClean="0">
                <a:solidFill>
                  <a:srgbClr val="0066FF"/>
                </a:solidFill>
              </a:rPr>
              <a:t>    }</a:t>
            </a:r>
            <a:endParaRPr lang="zh-CN" altLang="en-US" sz="1600" dirty="0" smtClean="0">
              <a:solidFill>
                <a:srgbClr val="0066FF"/>
              </a:solidFill>
            </a:endParaRPr>
          </a:p>
          <a:p>
            <a:endParaRPr kumimoji="0" lang="zh-CN" altLang="en-US" sz="1600" b="1" i="0" u="none" strike="noStrike" kern="0" cap="none" spc="0" normalizeH="0" baseline="0" noProof="0" dirty="0">
              <a:ln>
                <a:noFill/>
              </a:ln>
              <a:solidFill>
                <a:srgbClr val="0066FF"/>
              </a:solidFill>
              <a:effectLst/>
              <a:uLnTx/>
              <a:uFillTx/>
              <a:latin typeface="+mn-lt"/>
              <a:ea typeface="+mn-ea"/>
              <a:cs typeface="+mn-cs"/>
            </a:endParaRPr>
          </a:p>
        </p:txBody>
      </p:sp>
    </p:spTree>
    <p:extLst>
      <p:ext uri="{BB962C8B-B14F-4D97-AF65-F5344CB8AC3E}">
        <p14:creationId xmlns:p14="http://schemas.microsoft.com/office/powerpoint/2010/main" val="159527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标题 1"/>
          <p:cNvSpPr>
            <a:spLocks noGrp="1"/>
          </p:cNvSpPr>
          <p:nvPr>
            <p:ph type="title"/>
          </p:nvPr>
        </p:nvSpPr>
        <p:spPr/>
        <p:txBody>
          <a:bodyPr/>
          <a:lstStyle/>
          <a:p>
            <a:r>
              <a:rPr lang="zh-CN" altLang="en-US" dirty="0" smtClean="0"/>
              <a:t>浮点数累加</a:t>
            </a:r>
          </a:p>
        </p:txBody>
      </p:sp>
      <p:pic>
        <p:nvPicPr>
          <p:cNvPr id="70659" name="Picture 3"/>
          <p:cNvPicPr>
            <a:picLocks noChangeAspect="1" noChangeArrowheads="1"/>
          </p:cNvPicPr>
          <p:nvPr/>
        </p:nvPicPr>
        <p:blipFill>
          <a:blip r:embed="rId2"/>
          <a:srcRect/>
          <a:stretch>
            <a:fillRect/>
          </a:stretch>
        </p:blipFill>
        <p:spPr bwMode="auto">
          <a:xfrm>
            <a:off x="349250" y="850900"/>
            <a:ext cx="5534025" cy="3886200"/>
          </a:xfrm>
          <a:prstGeom prst="rect">
            <a:avLst/>
          </a:prstGeom>
          <a:noFill/>
          <a:ln w="9525">
            <a:noFill/>
            <a:miter lim="800000"/>
            <a:headEnd/>
            <a:tailEnd/>
          </a:ln>
        </p:spPr>
      </p:pic>
      <p:pic>
        <p:nvPicPr>
          <p:cNvPr id="70661" name="Picture 5"/>
          <p:cNvPicPr>
            <a:picLocks noChangeAspect="1" noChangeArrowheads="1"/>
          </p:cNvPicPr>
          <p:nvPr/>
        </p:nvPicPr>
        <p:blipFill>
          <a:blip r:embed="rId3"/>
          <a:srcRect/>
          <a:stretch>
            <a:fillRect/>
          </a:stretch>
        </p:blipFill>
        <p:spPr bwMode="auto">
          <a:xfrm>
            <a:off x="2555875" y="4806950"/>
            <a:ext cx="6149975" cy="1998663"/>
          </a:xfrm>
          <a:prstGeom prst="rect">
            <a:avLst/>
          </a:prstGeom>
          <a:noFill/>
          <a:ln w="9525">
            <a:noFill/>
            <a:miter lim="800000"/>
            <a:headEnd/>
            <a:tailEnd/>
          </a:ln>
        </p:spPr>
      </p:pic>
      <p:sp>
        <p:nvSpPr>
          <p:cNvPr id="10" name="TextBox 9"/>
          <p:cNvSpPr txBox="1">
            <a:spLocks noChangeArrowheads="1"/>
          </p:cNvSpPr>
          <p:nvPr/>
        </p:nvSpPr>
        <p:spPr bwMode="auto">
          <a:xfrm>
            <a:off x="6438900" y="850900"/>
            <a:ext cx="2444750" cy="1569660"/>
          </a:xfrm>
          <a:prstGeom prst="rect">
            <a:avLst/>
          </a:prstGeom>
          <a:noFill/>
          <a:ln w="9525">
            <a:noFill/>
            <a:miter lim="800000"/>
            <a:headEnd/>
            <a:tailEnd/>
          </a:ln>
        </p:spPr>
        <p:txBody>
          <a:bodyPr wrap="square">
            <a:spAutoFit/>
          </a:bodyPr>
          <a:lstStyle/>
          <a:p>
            <a:r>
              <a:rPr lang="zh-CN" altLang="en-US" sz="2400" b="1" dirty="0" smtClean="0">
                <a:solidFill>
                  <a:srgbClr val="C00000"/>
                </a:solidFill>
                <a:latin typeface="微软雅黑" pitchFamily="34" charset="-122"/>
                <a:ea typeface="微软雅黑" pitchFamily="34" charset="-122"/>
              </a:rPr>
              <a:t>对阶引入精度损失，舍入误差</a:t>
            </a:r>
            <a:endParaRPr lang="en-US" altLang="zh-CN" sz="2400" b="1" dirty="0" smtClean="0">
              <a:solidFill>
                <a:srgbClr val="C00000"/>
              </a:solidFill>
              <a:latin typeface="微软雅黑" pitchFamily="34" charset="-122"/>
              <a:ea typeface="微软雅黑" pitchFamily="34" charset="-122"/>
            </a:endParaRPr>
          </a:p>
          <a:p>
            <a:endParaRPr lang="en-US" altLang="zh-CN" sz="2400" b="1" dirty="0" smtClean="0">
              <a:solidFill>
                <a:srgbClr val="C00000"/>
              </a:solidFill>
              <a:latin typeface="微软雅黑" pitchFamily="34" charset="-122"/>
              <a:ea typeface="微软雅黑" pitchFamily="34" charset="-122"/>
            </a:endParaRPr>
          </a:p>
          <a:p>
            <a:r>
              <a:rPr lang="zh-CN" altLang="en-US" sz="2400" b="1" dirty="0" smtClean="0">
                <a:solidFill>
                  <a:srgbClr val="C00000"/>
                </a:solidFill>
                <a:latin typeface="微软雅黑" pitchFamily="34" charset="-122"/>
                <a:ea typeface="微软雅黑" pitchFamily="34" charset="-122"/>
              </a:rPr>
              <a:t>大数吃小数</a:t>
            </a:r>
            <a:endParaRPr lang="zh-CN" altLang="en-US" sz="2400" b="1" dirty="0">
              <a:solidFill>
                <a:srgbClr val="C00000"/>
              </a:solidFill>
              <a:latin typeface="微软雅黑" pitchFamily="34" charset="-122"/>
              <a:ea typeface="微软雅黑" pitchFamily="34" charset="-122"/>
            </a:endParaRPr>
          </a:p>
        </p:txBody>
      </p:sp>
    </p:spTree>
    <p:extLst>
      <p:ext uri="{BB962C8B-B14F-4D97-AF65-F5344CB8AC3E}">
        <p14:creationId xmlns:p14="http://schemas.microsoft.com/office/powerpoint/2010/main" val="35571708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6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6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en-US" altLang="zh-CN" dirty="0" err="1" smtClean="0"/>
              <a:t>Kahan</a:t>
            </a:r>
            <a:r>
              <a:rPr lang="zh-CN" altLang="en-US" dirty="0" smtClean="0"/>
              <a:t>累加算法</a:t>
            </a:r>
          </a:p>
        </p:txBody>
      </p:sp>
      <p:sp>
        <p:nvSpPr>
          <p:cNvPr id="6" name="TextBox 5"/>
          <p:cNvSpPr txBox="1">
            <a:spLocks noChangeArrowheads="1"/>
          </p:cNvSpPr>
          <p:nvPr/>
        </p:nvSpPr>
        <p:spPr bwMode="auto">
          <a:xfrm>
            <a:off x="5283200" y="3206750"/>
            <a:ext cx="3600450" cy="1200150"/>
          </a:xfrm>
          <a:prstGeom prst="rect">
            <a:avLst/>
          </a:prstGeom>
          <a:noFill/>
          <a:ln w="9525">
            <a:noFill/>
            <a:miter lim="800000"/>
            <a:headEnd/>
            <a:tailEnd/>
          </a:ln>
        </p:spPr>
        <p:txBody>
          <a:bodyPr>
            <a:spAutoFit/>
          </a:bodyPr>
          <a:lstStyle/>
          <a:p>
            <a:r>
              <a:rPr lang="zh-CN" altLang="en-US" sz="2400" b="1" dirty="0">
                <a:solidFill>
                  <a:srgbClr val="C00000"/>
                </a:solidFill>
                <a:latin typeface="微软雅黑" pitchFamily="34" charset="-122"/>
                <a:ea typeface="微软雅黑" pitchFamily="34" charset="-122"/>
              </a:rPr>
              <a:t>将每次累加因舍入造成的截断误差保存起来，再加入到下一次的累加中。</a:t>
            </a:r>
          </a:p>
        </p:txBody>
      </p:sp>
      <p:pic>
        <p:nvPicPr>
          <p:cNvPr id="9" name="Picture 6"/>
          <p:cNvPicPr>
            <a:picLocks noChangeAspect="1" noChangeArrowheads="1"/>
          </p:cNvPicPr>
          <p:nvPr/>
        </p:nvPicPr>
        <p:blipFill>
          <a:blip r:embed="rId2"/>
          <a:srcRect r="30081" b="16117"/>
          <a:stretch>
            <a:fillRect/>
          </a:stretch>
        </p:blipFill>
        <p:spPr bwMode="auto">
          <a:xfrm>
            <a:off x="220662" y="1206500"/>
            <a:ext cx="4129088" cy="4362450"/>
          </a:xfrm>
          <a:prstGeom prst="rect">
            <a:avLst/>
          </a:prstGeom>
          <a:noFill/>
          <a:ln w="9525">
            <a:noFill/>
            <a:miter lim="800000"/>
            <a:headEnd/>
            <a:tailEnd/>
          </a:ln>
        </p:spPr>
      </p:pic>
      <p:pic>
        <p:nvPicPr>
          <p:cNvPr id="10" name="Picture 7"/>
          <p:cNvPicPr>
            <a:picLocks noChangeAspect="1" noChangeArrowheads="1"/>
          </p:cNvPicPr>
          <p:nvPr/>
        </p:nvPicPr>
        <p:blipFill>
          <a:blip r:embed="rId3"/>
          <a:srcRect b="35600"/>
          <a:stretch>
            <a:fillRect/>
          </a:stretch>
        </p:blipFill>
        <p:spPr bwMode="auto">
          <a:xfrm>
            <a:off x="215900" y="5607050"/>
            <a:ext cx="6170612" cy="1217613"/>
          </a:xfrm>
          <a:prstGeom prst="rect">
            <a:avLst/>
          </a:prstGeom>
          <a:noFill/>
          <a:ln w="9525">
            <a:noFill/>
            <a:miter lim="800000"/>
            <a:headEnd/>
            <a:tailEnd/>
          </a:ln>
        </p:spPr>
      </p:pic>
      <p:sp>
        <p:nvSpPr>
          <p:cNvPr id="11" name="矩形 4"/>
          <p:cNvSpPr>
            <a:spLocks noChangeArrowheads="1"/>
          </p:cNvSpPr>
          <p:nvPr/>
        </p:nvSpPr>
        <p:spPr bwMode="auto">
          <a:xfrm>
            <a:off x="571500" y="717550"/>
            <a:ext cx="7994650" cy="461963"/>
          </a:xfrm>
          <a:prstGeom prst="rect">
            <a:avLst/>
          </a:prstGeom>
          <a:noFill/>
          <a:ln w="9525">
            <a:noFill/>
            <a:miter lim="800000"/>
            <a:headEnd/>
            <a:tailEnd/>
          </a:ln>
        </p:spPr>
        <p:txBody>
          <a:bodyPr>
            <a:spAutoFit/>
          </a:bodyPr>
          <a:lstStyle/>
          <a:p>
            <a:r>
              <a:rPr lang="en-US" altLang="zh-CN" sz="2400" dirty="0"/>
              <a:t>http://</a:t>
            </a:r>
            <a:r>
              <a:rPr lang="en-US" altLang="zh-CN" sz="2400" dirty="0" smtClean="0"/>
              <a:t>en.wikipedia.org/wiki/Kahan_summation_algorithm</a:t>
            </a:r>
            <a:endParaRPr lang="zh-CN" altLang="en-US" sz="2400" dirty="0"/>
          </a:p>
        </p:txBody>
      </p:sp>
      <p:pic>
        <p:nvPicPr>
          <p:cNvPr id="12" name="Picture 2" descr="William Kahan.jpg">
            <a:hlinkClick r:id="rId4"/>
          </p:cNvPr>
          <p:cNvPicPr>
            <a:picLocks noChangeAspect="1" noChangeArrowheads="1"/>
          </p:cNvPicPr>
          <p:nvPr/>
        </p:nvPicPr>
        <p:blipFill>
          <a:blip r:embed="rId5"/>
          <a:srcRect/>
          <a:stretch>
            <a:fillRect/>
          </a:stretch>
        </p:blipFill>
        <p:spPr bwMode="auto">
          <a:xfrm>
            <a:off x="6572250" y="1384300"/>
            <a:ext cx="2095500" cy="1476375"/>
          </a:xfrm>
          <a:prstGeom prst="rect">
            <a:avLst/>
          </a:prstGeom>
          <a:noFill/>
          <a:ln w="9525">
            <a:noFill/>
            <a:miter lim="800000"/>
            <a:headEnd/>
            <a:tailEnd/>
          </a:ln>
        </p:spPr>
      </p:pic>
    </p:spTree>
    <p:extLst>
      <p:ext uri="{BB962C8B-B14F-4D97-AF65-F5344CB8AC3E}">
        <p14:creationId xmlns:p14="http://schemas.microsoft.com/office/powerpoint/2010/main" val="41526237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Data Alignment</a:t>
            </a:r>
            <a:endParaRPr lang="zh-CN" altLang="en-US" dirty="0"/>
          </a:p>
        </p:txBody>
      </p:sp>
      <p:sp>
        <p:nvSpPr>
          <p:cNvPr id="3" name="内容占位符 2"/>
          <p:cNvSpPr>
            <a:spLocks noGrp="1"/>
          </p:cNvSpPr>
          <p:nvPr>
            <p:ph idx="1"/>
          </p:nvPr>
        </p:nvSpPr>
        <p:spPr/>
        <p:txBody>
          <a:bodyPr/>
          <a:lstStyle/>
          <a:p>
            <a:r>
              <a:rPr lang="en-US" altLang="zh-CN" sz="2000" dirty="0" smtClean="0"/>
              <a:t>Why? </a:t>
            </a:r>
            <a:r>
              <a:rPr lang="en-US" altLang="zh-CN" sz="2000" b="0" dirty="0" smtClean="0"/>
              <a:t>The alignment conditions are imposed to improve memory system performance—the memory interface is designed in most processors to read or write aligned blocks that are 8 or 16 bytes long.</a:t>
            </a:r>
          </a:p>
          <a:p>
            <a:r>
              <a:rPr lang="en-US" altLang="zh-CN" sz="2000" b="0" dirty="0" smtClean="0"/>
              <a:t>Linux IA-32</a:t>
            </a:r>
            <a:r>
              <a:rPr lang="zh-CN" altLang="en-US" sz="2000" b="0" dirty="0" smtClean="0"/>
              <a:t>：</a:t>
            </a:r>
            <a:r>
              <a:rPr lang="en-US" altLang="zh-CN" sz="2000" b="0" dirty="0" smtClean="0"/>
              <a:t>2-byte data types must have an address that is a multiple of 2, while any larger data types must have an address that is a multiple of 4.</a:t>
            </a:r>
          </a:p>
          <a:p>
            <a:r>
              <a:rPr lang="en-US" altLang="zh-CN" sz="2000" b="0" dirty="0" smtClean="0"/>
              <a:t>Windows</a:t>
            </a:r>
            <a:r>
              <a:rPr lang="zh-CN" altLang="en-US" sz="2000" b="0" dirty="0" smtClean="0"/>
              <a:t>：</a:t>
            </a:r>
            <a:r>
              <a:rPr lang="en-US" altLang="zh-CN" sz="2000" b="0" dirty="0" smtClean="0"/>
              <a:t>For any scalar data type requiring K bytes, its starting address must be a multiple of K.</a:t>
            </a:r>
          </a:p>
          <a:p>
            <a:r>
              <a:rPr lang="en-US" altLang="zh-CN" sz="2000" dirty="0" smtClean="0"/>
              <a:t>How?</a:t>
            </a:r>
            <a:r>
              <a:rPr lang="en-US" altLang="zh-CN" sz="2000" b="0" dirty="0" smtClean="0"/>
              <a:t> The compiler: </a:t>
            </a:r>
          </a:p>
          <a:p>
            <a:pPr lvl="1"/>
            <a:r>
              <a:rPr lang="en-US" altLang="zh-CN" sz="1600" b="0" dirty="0" smtClean="0"/>
              <a:t>Insert gaps in the field allocation - to ensure that each structure element satisfies its alignment requirement.</a:t>
            </a:r>
          </a:p>
          <a:p>
            <a:pPr lvl="1"/>
            <a:r>
              <a:rPr lang="en-US" altLang="zh-CN" sz="1600" b="0" dirty="0" smtClean="0"/>
              <a:t>Add padding to the end of the structure - so that each element in an array of structures will satisfy its alignment requirement.</a:t>
            </a:r>
            <a:endParaRPr lang="zh-CN" altLang="en-US" sz="1600" b="0" dirty="0"/>
          </a:p>
        </p:txBody>
      </p:sp>
    </p:spTree>
    <p:extLst>
      <p:ext uri="{BB962C8B-B14F-4D97-AF65-F5344CB8AC3E}">
        <p14:creationId xmlns:p14="http://schemas.microsoft.com/office/powerpoint/2010/main" val="28427578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Data Alignment</a:t>
            </a:r>
            <a:endParaRPr lang="zh-CN" altLang="en-US" dirty="0"/>
          </a:p>
        </p:txBody>
      </p:sp>
      <p:sp>
        <p:nvSpPr>
          <p:cNvPr id="3" name="内容占位符 2"/>
          <p:cNvSpPr>
            <a:spLocks noGrp="1"/>
          </p:cNvSpPr>
          <p:nvPr>
            <p:ph idx="1"/>
          </p:nvPr>
        </p:nvSpPr>
        <p:spPr>
          <a:xfrm>
            <a:off x="468313" y="966788"/>
            <a:ext cx="3970337" cy="5218112"/>
          </a:xfrm>
        </p:spPr>
        <p:txBody>
          <a:bodyPr/>
          <a:lstStyle/>
          <a:p>
            <a:r>
              <a:rPr lang="zh-CN" altLang="en-US" dirty="0" smtClean="0"/>
              <a:t>对</a:t>
            </a:r>
            <a:r>
              <a:rPr lang="en-US" altLang="zh-CN" dirty="0" smtClean="0"/>
              <a:t>Linux IA-32</a:t>
            </a:r>
            <a:r>
              <a:rPr lang="zh-CN" altLang="en-US" dirty="0" smtClean="0"/>
              <a:t>上的一结构变量声明：</a:t>
            </a:r>
            <a:endParaRPr lang="en-US" altLang="zh-CN" dirty="0" smtClean="0"/>
          </a:p>
          <a:p>
            <a:pPr>
              <a:lnSpc>
                <a:spcPct val="100000"/>
              </a:lnSpc>
              <a:buNone/>
            </a:pPr>
            <a:r>
              <a:rPr lang="en-US" altLang="zh-CN" dirty="0" err="1" smtClean="0"/>
              <a:t>struct</a:t>
            </a:r>
            <a:r>
              <a:rPr lang="en-US" altLang="zh-CN" dirty="0" smtClean="0"/>
              <a:t> {</a:t>
            </a:r>
          </a:p>
          <a:p>
            <a:pPr>
              <a:lnSpc>
                <a:spcPct val="100000"/>
              </a:lnSpc>
              <a:buNone/>
            </a:pPr>
            <a:r>
              <a:rPr lang="en-US" altLang="zh-CN" dirty="0" smtClean="0"/>
              <a:t>	char a;</a:t>
            </a:r>
          </a:p>
          <a:p>
            <a:pPr>
              <a:lnSpc>
                <a:spcPct val="100000"/>
              </a:lnSpc>
              <a:buNone/>
            </a:pPr>
            <a:r>
              <a:rPr lang="en-US" altLang="zh-CN" dirty="0" smtClean="0"/>
              <a:t>	short b;</a:t>
            </a:r>
          </a:p>
          <a:p>
            <a:pPr>
              <a:lnSpc>
                <a:spcPct val="100000"/>
              </a:lnSpc>
              <a:buNone/>
            </a:pPr>
            <a:r>
              <a:rPr lang="en-US" altLang="zh-CN" dirty="0" smtClean="0"/>
              <a:t>	double c;</a:t>
            </a:r>
          </a:p>
          <a:p>
            <a:pPr>
              <a:lnSpc>
                <a:spcPct val="100000"/>
              </a:lnSpc>
              <a:buNone/>
            </a:pPr>
            <a:r>
              <a:rPr lang="en-US" altLang="zh-CN" dirty="0" smtClean="0"/>
              <a:t>	char</a:t>
            </a:r>
            <a:r>
              <a:rPr lang="zh-CN" altLang="en-US" dirty="0" smtClean="0"/>
              <a:t>*</a:t>
            </a:r>
            <a:r>
              <a:rPr lang="en-US" altLang="zh-CN" dirty="0" smtClean="0"/>
              <a:t> d;</a:t>
            </a:r>
          </a:p>
          <a:p>
            <a:pPr>
              <a:lnSpc>
                <a:spcPct val="100000"/>
              </a:lnSpc>
              <a:buNone/>
            </a:pPr>
            <a:r>
              <a:rPr lang="en-US" altLang="zh-CN" dirty="0" smtClean="0"/>
              <a:t>	float e;</a:t>
            </a:r>
          </a:p>
          <a:p>
            <a:pPr>
              <a:lnSpc>
                <a:spcPct val="100000"/>
              </a:lnSpc>
              <a:buNone/>
            </a:pPr>
            <a:r>
              <a:rPr lang="en-US" altLang="zh-CN" dirty="0" smtClean="0"/>
              <a:t>	char f;</a:t>
            </a:r>
          </a:p>
          <a:p>
            <a:pPr>
              <a:lnSpc>
                <a:spcPct val="100000"/>
              </a:lnSpc>
              <a:buNone/>
            </a:pPr>
            <a:r>
              <a:rPr lang="en-US" altLang="zh-CN" dirty="0" smtClean="0"/>
              <a:t>	long </a:t>
            </a:r>
            <a:r>
              <a:rPr lang="en-US" altLang="zh-CN" dirty="0" err="1" smtClean="0"/>
              <a:t>long</a:t>
            </a:r>
            <a:r>
              <a:rPr lang="en-US" altLang="zh-CN" dirty="0" smtClean="0"/>
              <a:t> g;</a:t>
            </a:r>
          </a:p>
          <a:p>
            <a:pPr>
              <a:lnSpc>
                <a:spcPct val="100000"/>
              </a:lnSpc>
              <a:buNone/>
            </a:pPr>
            <a:r>
              <a:rPr lang="en-US" altLang="zh-CN" dirty="0" smtClean="0"/>
              <a:t>	void* h;</a:t>
            </a:r>
          </a:p>
          <a:p>
            <a:pPr>
              <a:lnSpc>
                <a:spcPct val="100000"/>
              </a:lnSpc>
              <a:buNone/>
            </a:pPr>
            <a:r>
              <a:rPr lang="en-US" altLang="zh-CN" dirty="0" smtClean="0"/>
              <a:t>} </a:t>
            </a:r>
            <a:r>
              <a:rPr lang="en-US" altLang="zh-CN" dirty="0" err="1" smtClean="0"/>
              <a:t>foo</a:t>
            </a:r>
            <a:r>
              <a:rPr lang="en-US" altLang="zh-CN" dirty="0" smtClean="0"/>
              <a:t>;</a:t>
            </a:r>
          </a:p>
        </p:txBody>
      </p:sp>
      <p:sp>
        <p:nvSpPr>
          <p:cNvPr id="4" name="内容占位符 2"/>
          <p:cNvSpPr txBox="1">
            <a:spLocks/>
          </p:cNvSpPr>
          <p:nvPr/>
        </p:nvSpPr>
        <p:spPr bwMode="auto">
          <a:xfrm>
            <a:off x="4438650" y="984250"/>
            <a:ext cx="4445000" cy="52181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15000"/>
              </a:lnSpc>
              <a:spcBef>
                <a:spcPct val="20000"/>
              </a:spcBef>
              <a:spcAft>
                <a:spcPct val="0"/>
              </a:spcAft>
              <a:buClrTx/>
              <a:buSzTx/>
              <a:buFontTx/>
              <a:buChar char="•"/>
              <a:tabLst/>
              <a:defRPr/>
            </a:pPr>
            <a:r>
              <a:rPr kumimoji="0" lang="zh-CN" altLang="en-US" sz="2400" i="0" u="none" strike="noStrike" kern="0" cap="none" spc="0" normalizeH="0" baseline="0" noProof="0" dirty="0" smtClean="0">
                <a:ln>
                  <a:noFill/>
                </a:ln>
                <a:solidFill>
                  <a:schemeClr val="tx1"/>
                </a:solidFill>
                <a:effectLst/>
                <a:uLnTx/>
                <a:uFillTx/>
                <a:latin typeface="+mn-lt"/>
                <a:ea typeface="+mn-ea"/>
                <a:cs typeface="+mn-cs"/>
              </a:rPr>
              <a:t>每个结构成员相对结构起始存储位置的偏移是多少</a:t>
            </a:r>
            <a:r>
              <a:rPr lang="zh-CN" altLang="en-US" sz="2400" kern="0" dirty="0" smtClean="0">
                <a:latin typeface="+mn-lt"/>
                <a:ea typeface="+mn-ea"/>
              </a:rPr>
              <a:t>？</a:t>
            </a:r>
            <a:endParaRPr lang="en-US" altLang="zh-CN" sz="2400" kern="0" dirty="0" smtClean="0">
              <a:latin typeface="+mn-lt"/>
              <a:ea typeface="+mn-ea"/>
            </a:endParaRPr>
          </a:p>
          <a:p>
            <a:pPr marL="342900" marR="0" lvl="0" indent="-342900" algn="l" defTabSz="914400" rtl="0" eaLnBrk="0" fontAlgn="base" latinLnBrk="0" hangingPunct="0">
              <a:lnSpc>
                <a:spcPct val="115000"/>
              </a:lnSpc>
              <a:spcBef>
                <a:spcPct val="20000"/>
              </a:spcBef>
              <a:spcAft>
                <a:spcPct val="0"/>
              </a:spcAft>
              <a:buClrTx/>
              <a:buSzTx/>
              <a:buFontTx/>
              <a:buChar char="•"/>
              <a:tabLst/>
              <a:defRPr/>
            </a:pPr>
            <a:r>
              <a:rPr kumimoji="0" lang="en-US" altLang="zh-CN" sz="2400" b="1" i="0" u="none" strike="noStrike" kern="0" cap="none" spc="0" normalizeH="0" baseline="0" noProof="0" dirty="0" smtClean="0">
                <a:ln>
                  <a:noFill/>
                </a:ln>
                <a:solidFill>
                  <a:srgbClr val="FF0000"/>
                </a:solidFill>
                <a:effectLst/>
                <a:uLnTx/>
                <a:uFillTx/>
                <a:latin typeface="+mn-lt"/>
                <a:ea typeface="+mn-ea"/>
                <a:cs typeface="+mn-cs"/>
              </a:rPr>
              <a:t>0, 2, 4, 12, 16, 20, 24,</a:t>
            </a:r>
            <a:r>
              <a:rPr kumimoji="0" lang="en-US" altLang="zh-CN" sz="2400" b="1" i="0" u="none" strike="noStrike" kern="0" cap="none" spc="0" normalizeH="0" noProof="0" dirty="0" smtClean="0">
                <a:ln>
                  <a:noFill/>
                </a:ln>
                <a:solidFill>
                  <a:srgbClr val="FF0000"/>
                </a:solidFill>
                <a:effectLst/>
                <a:uLnTx/>
                <a:uFillTx/>
                <a:latin typeface="+mn-lt"/>
                <a:ea typeface="+mn-ea"/>
                <a:cs typeface="+mn-cs"/>
              </a:rPr>
              <a:t> 32</a:t>
            </a:r>
            <a:endParaRPr kumimoji="0" lang="en-US" altLang="zh-CN" sz="2400" b="1"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0" fontAlgn="base" latinLnBrk="0" hangingPunct="0">
              <a:lnSpc>
                <a:spcPct val="115000"/>
              </a:lnSpc>
              <a:spcBef>
                <a:spcPct val="20000"/>
              </a:spcBef>
              <a:spcAft>
                <a:spcPct val="0"/>
              </a:spcAft>
              <a:buClrTx/>
              <a:buSzTx/>
              <a:buFontTx/>
              <a:buChar char="•"/>
              <a:tabLst/>
              <a:defRPr/>
            </a:pPr>
            <a:endParaRPr kumimoji="0" lang="en-US" altLang="zh-CN" sz="240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15000"/>
              </a:lnSpc>
              <a:spcBef>
                <a:spcPct val="20000"/>
              </a:spcBef>
              <a:spcAft>
                <a:spcPct val="0"/>
              </a:spcAft>
              <a:buClrTx/>
              <a:buSzTx/>
              <a:buFontTx/>
              <a:buChar char="•"/>
              <a:tabLst/>
              <a:defRPr/>
            </a:pPr>
            <a:r>
              <a:rPr kumimoji="0" lang="zh-CN" altLang="en-US" sz="2400" i="0" u="none" strike="noStrike" kern="0" cap="none" spc="0" normalizeH="0" baseline="0" noProof="0" dirty="0" smtClean="0">
                <a:ln>
                  <a:noFill/>
                </a:ln>
                <a:solidFill>
                  <a:schemeClr val="tx1"/>
                </a:solidFill>
                <a:effectLst/>
                <a:uLnTx/>
                <a:uFillTx/>
                <a:latin typeface="+mn-lt"/>
                <a:ea typeface="+mn-ea"/>
                <a:cs typeface="+mn-cs"/>
              </a:rPr>
              <a:t>结构变量的总大小是多少？</a:t>
            </a:r>
            <a:endParaRPr kumimoji="0" lang="en-US" altLang="zh-CN" sz="2400" i="0" u="none" strike="noStrike" kern="0" cap="none" spc="0" normalizeH="0" baseline="0" noProof="0" dirty="0" smtClean="0">
              <a:ln>
                <a:noFill/>
              </a:ln>
              <a:solidFill>
                <a:schemeClr val="tx1"/>
              </a:solidFill>
              <a:effectLst/>
              <a:uLnTx/>
              <a:uFillTx/>
              <a:latin typeface="+mn-lt"/>
              <a:ea typeface="+mn-ea"/>
              <a:cs typeface="+mn-cs"/>
            </a:endParaRPr>
          </a:p>
          <a:p>
            <a:pPr marL="342900" lvl="0" indent="-342900" eaLnBrk="0" hangingPunct="0">
              <a:lnSpc>
                <a:spcPct val="115000"/>
              </a:lnSpc>
              <a:spcBef>
                <a:spcPct val="20000"/>
              </a:spcBef>
              <a:defRPr/>
            </a:pPr>
            <a:r>
              <a:rPr lang="en-US" altLang="zh-CN" sz="2400" b="1" kern="0" dirty="0" smtClean="0">
                <a:solidFill>
                  <a:srgbClr val="FF0000"/>
                </a:solidFill>
              </a:rPr>
              <a:t>	36</a:t>
            </a:r>
            <a:endParaRPr kumimoji="0" lang="en-US" altLang="zh-CN" sz="240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15000"/>
              </a:lnSpc>
              <a:spcBef>
                <a:spcPct val="20000"/>
              </a:spcBef>
              <a:spcAft>
                <a:spcPct val="0"/>
              </a:spcAft>
              <a:buClrTx/>
              <a:buSzTx/>
              <a:buFontTx/>
              <a:buChar char="•"/>
              <a:tabLst/>
              <a:defRPr/>
            </a:pPr>
            <a:endParaRPr kumimoji="0" lang="en-US" altLang="zh-CN" sz="240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15000"/>
              </a:lnSpc>
              <a:spcBef>
                <a:spcPct val="20000"/>
              </a:spcBef>
              <a:spcAft>
                <a:spcPct val="0"/>
              </a:spcAft>
              <a:buClrTx/>
              <a:buSzTx/>
              <a:buFontTx/>
              <a:buChar char="•"/>
              <a:tabLst/>
              <a:defRPr/>
            </a:pPr>
            <a:r>
              <a:rPr kumimoji="0" lang="zh-CN" altLang="en-US" sz="2400" i="0" u="none" strike="noStrike" kern="0" cap="none" spc="0" normalizeH="0" baseline="0" noProof="0" dirty="0" smtClean="0">
                <a:ln>
                  <a:noFill/>
                </a:ln>
                <a:solidFill>
                  <a:schemeClr val="tx1"/>
                </a:solidFill>
                <a:effectLst/>
                <a:uLnTx/>
                <a:uFillTx/>
                <a:latin typeface="+mn-lt"/>
                <a:ea typeface="+mn-ea"/>
                <a:cs typeface="+mn-cs"/>
              </a:rPr>
              <a:t>重新安排结构中各成员的顺序以使结构总大小最小。</a:t>
            </a:r>
            <a:endParaRPr kumimoji="0" lang="en-US" altLang="zh-CN" sz="2400" i="0" u="none" strike="noStrike" kern="0" cap="none" spc="0" normalizeH="0" baseline="0" noProof="0" dirty="0" smtClean="0">
              <a:ln>
                <a:noFill/>
              </a:ln>
              <a:solidFill>
                <a:schemeClr val="tx1"/>
              </a:solidFill>
              <a:effectLst/>
              <a:uLnTx/>
              <a:uFillTx/>
              <a:latin typeface="+mn-lt"/>
              <a:ea typeface="+mn-ea"/>
              <a:cs typeface="+mn-cs"/>
            </a:endParaRPr>
          </a:p>
          <a:p>
            <a:pPr marL="342900" lvl="0" indent="-342900" eaLnBrk="0" hangingPunct="0">
              <a:lnSpc>
                <a:spcPct val="115000"/>
              </a:lnSpc>
              <a:spcBef>
                <a:spcPct val="20000"/>
              </a:spcBef>
              <a:defRPr/>
            </a:pPr>
            <a:r>
              <a:rPr lang="en-US" altLang="zh-CN" sz="2400" b="1" kern="0" dirty="0" smtClean="0">
                <a:solidFill>
                  <a:srgbClr val="FF0000"/>
                </a:solidFill>
                <a:latin typeface="+mn-lt"/>
                <a:ea typeface="+mn-ea"/>
              </a:rPr>
              <a:t>	c g d e h b a f = 32</a:t>
            </a:r>
            <a:endParaRPr kumimoji="0" lang="en-US" altLang="zh-CN" sz="2400" b="1" i="0" u="none" strike="noStrike" kern="0" cap="none" spc="0" normalizeH="0" baseline="0" noProof="0" dirty="0" smtClean="0">
              <a:ln>
                <a:noFill/>
              </a:ln>
              <a:solidFill>
                <a:srgbClr val="FF0000"/>
              </a:solidFill>
              <a:effectLst/>
              <a:uLnTx/>
              <a:uFillTx/>
              <a:latin typeface="+mn-lt"/>
              <a:ea typeface="+mn-ea"/>
              <a:cs typeface="+mn-cs"/>
            </a:endParaRPr>
          </a:p>
        </p:txBody>
      </p:sp>
    </p:spTree>
    <p:extLst>
      <p:ext uri="{BB962C8B-B14F-4D97-AF65-F5344CB8AC3E}">
        <p14:creationId xmlns:p14="http://schemas.microsoft.com/office/powerpoint/2010/main" val="2952662848"/>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29363</TotalTime>
  <Words>2812</Words>
  <Application>Microsoft Office PowerPoint</Application>
  <PresentationFormat>全屏显示(4:3)</PresentationFormat>
  <Paragraphs>352</Paragraphs>
  <Slides>28</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28</vt:i4>
      </vt:variant>
    </vt:vector>
  </HeadingPairs>
  <TitlesOfParts>
    <vt:vector size="36" baseType="lpstr">
      <vt:lpstr>Monotype Sorts</vt:lpstr>
      <vt:lpstr>黑体</vt:lpstr>
      <vt:lpstr>宋体</vt:lpstr>
      <vt:lpstr>微软雅黑</vt:lpstr>
      <vt:lpstr>Arial</vt:lpstr>
      <vt:lpstr>Times New Roman</vt:lpstr>
      <vt:lpstr>Wingdings</vt:lpstr>
      <vt:lpstr>默认设计模板</vt:lpstr>
      <vt:lpstr>数据的表示与操作</vt:lpstr>
      <vt:lpstr>C语言中整数常量的类型</vt:lpstr>
      <vt:lpstr>C语言整数运算中的类型转换</vt:lpstr>
      <vt:lpstr>Usual Arithmetic Conversions</vt:lpstr>
      <vt:lpstr>Conversion During Assignment</vt:lpstr>
      <vt:lpstr>Type Casting in C</vt:lpstr>
      <vt:lpstr>整数的位扩展</vt:lpstr>
      <vt:lpstr>整数的位截断</vt:lpstr>
      <vt:lpstr>例题</vt:lpstr>
      <vt:lpstr>例题1</vt:lpstr>
      <vt:lpstr>例题2</vt:lpstr>
      <vt:lpstr>例题3</vt:lpstr>
      <vt:lpstr>例题3</vt:lpstr>
      <vt:lpstr>例题5</vt:lpstr>
      <vt:lpstr>整数变量与常数之间的除运算 </vt:lpstr>
      <vt:lpstr>例题5</vt:lpstr>
      <vt:lpstr>整数变量与常数之间的乘运算</vt:lpstr>
      <vt:lpstr>浮点数表示</vt:lpstr>
      <vt:lpstr>浮点数加减法基本要点 </vt:lpstr>
      <vt:lpstr>IEEE 754的舍入方式的说明</vt:lpstr>
      <vt:lpstr>浮点数加减</vt:lpstr>
      <vt:lpstr>浮点数运算</vt:lpstr>
      <vt:lpstr>浮点数运算</vt:lpstr>
      <vt:lpstr>浮点数运算</vt:lpstr>
      <vt:lpstr>浮点数累加</vt:lpstr>
      <vt:lpstr>Kahan累加算法</vt:lpstr>
      <vt:lpstr>Data Alignment</vt:lpstr>
      <vt:lpstr>Data Alignment</vt:lpstr>
    </vt:vector>
  </TitlesOfParts>
  <Company>Nanjing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《计算机组成原理》 精品课程建设的一点体会</dc:title>
  <dc:creator>Yuan Chunfeng</dc:creator>
  <cp:lastModifiedBy>苏丰</cp:lastModifiedBy>
  <cp:revision>2007</cp:revision>
  <dcterms:created xsi:type="dcterms:W3CDTF">2008-04-26T09:05:28Z</dcterms:created>
  <dcterms:modified xsi:type="dcterms:W3CDTF">2017-09-16T07:36:24Z</dcterms:modified>
</cp:coreProperties>
</file>